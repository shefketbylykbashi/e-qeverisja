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2.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3.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4.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86"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1E560B-033F-4FB7-BBBC-10827B4EDCD3}" v="131" dt="2026-10-19T21:04:26.6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Share of cloud infrastructure services</c:v>
                </c:pt>
              </c:strCache>
            </c:strRef>
          </c:tx>
          <c:spPr>
            <a:solidFill>
              <a:srgbClr val="3987E5"/>
            </a:solidFill>
            <a:ln w="19050">
              <a:solidFill>
                <a:srgbClr val="12213D"/>
              </a:solidFill>
            </a:ln>
          </c:spPr>
          <c:invertIfNegative val="1"/>
          <c:dPt>
            <c:idx val="0"/>
            <c:invertIfNegative val="1"/>
            <c:bubble3D val="0"/>
            <c:spPr>
              <a:solidFill>
                <a:srgbClr val="4A5B7D"/>
              </a:solidFill>
            </c:spPr>
            <c:extLst>
              <c:ext xmlns:c16="http://schemas.microsoft.com/office/drawing/2014/chart" uri="{C3380CC4-5D6E-409C-BE32-E72D297353CC}">
                <c16:uniqueId val="{00000001-D89E-4590-87AF-F9774033246E}"/>
              </c:ext>
            </c:extLst>
          </c:dPt>
          <c:dPt>
            <c:idx val="1"/>
            <c:invertIfNegative val="1"/>
            <c:bubble3D val="0"/>
            <c:spPr>
              <a:solidFill>
                <a:srgbClr val="4A5B7D"/>
              </a:solidFill>
            </c:spPr>
            <c:extLst>
              <c:ext xmlns:c16="http://schemas.microsoft.com/office/drawing/2014/chart" uri="{C3380CC4-5D6E-409C-BE32-E72D297353CC}">
                <c16:uniqueId val="{00000003-D89E-4590-87AF-F9774033246E}"/>
              </c:ext>
            </c:extLst>
          </c:dPt>
          <c:dPt>
            <c:idx val="2"/>
            <c:invertIfNegative val="1"/>
            <c:bubble3D val="0"/>
            <c:spPr>
              <a:solidFill>
                <a:srgbClr val="4A5B7D"/>
              </a:solidFill>
            </c:spPr>
            <c:extLst>
              <c:ext xmlns:c16="http://schemas.microsoft.com/office/drawing/2014/chart" uri="{C3380CC4-5D6E-409C-BE32-E72D297353CC}">
                <c16:uniqueId val="{00000005-D89E-4590-87AF-F9774033246E}"/>
              </c:ext>
            </c:extLst>
          </c:dPt>
          <c:dPt>
            <c:idx val="3"/>
            <c:invertIfNegative val="1"/>
            <c:bubble3D val="0"/>
            <c:spPr>
              <a:solidFill>
                <a:srgbClr val="3987E5"/>
              </a:solidFill>
            </c:spPr>
            <c:extLst>
              <c:ext xmlns:c16="http://schemas.microsoft.com/office/drawing/2014/chart" uri="{C3380CC4-5D6E-409C-BE32-E72D297353CC}">
                <c16:uniqueId val="{00000007-D89E-4590-87AF-F9774033246E}"/>
              </c:ext>
            </c:extLst>
          </c:dPt>
          <c:dPt>
            <c:idx val="4"/>
            <c:invertIfNegative val="1"/>
            <c:bubble3D val="0"/>
            <c:spPr>
              <a:solidFill>
                <a:srgbClr val="3987E5"/>
              </a:solidFill>
            </c:spPr>
            <c:extLst>
              <c:ext xmlns:c16="http://schemas.microsoft.com/office/drawing/2014/chart" uri="{C3380CC4-5D6E-409C-BE32-E72D297353CC}">
                <c16:uniqueId val="{00000009-D89E-4590-87AF-F9774033246E}"/>
              </c:ext>
            </c:extLst>
          </c:dPt>
          <c:dPt>
            <c:idx val="5"/>
            <c:invertIfNegative val="1"/>
            <c:bubble3D val="0"/>
            <c:spPr>
              <a:solidFill>
                <a:srgbClr val="3987E5"/>
              </a:solidFill>
            </c:spPr>
            <c:extLst>
              <c:ext xmlns:c16="http://schemas.microsoft.com/office/drawing/2014/chart" uri="{C3380CC4-5D6E-409C-BE32-E72D297353CC}">
                <c16:uniqueId val="{0000000B-D89E-4590-87AF-F9774033246E}"/>
              </c:ext>
            </c:extLst>
          </c:dPt>
          <c:dLbls>
            <c:numFmt formatCode="0&quot;%&quot;" sourceLinked="0"/>
            <c:spPr>
              <a:noFill/>
              <a:ln>
                <a:noFill/>
              </a:ln>
              <a:effectLst/>
            </c:spPr>
            <c:txPr>
              <a:bodyPr/>
              <a:lstStyle/>
              <a:p>
                <a:pPr>
                  <a:defRPr sz="1250">
                    <a:solidFill>
                      <a:srgbClr val="FFFFF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All others</c:v>
                </c:pt>
                <c:pt idx="1">
                  <c:v>Oracle</c:v>
                </c:pt>
                <c:pt idx="2">
                  <c:v>Alibaba Cloud</c:v>
                </c:pt>
                <c:pt idx="3">
                  <c:v>Google Cloud</c:v>
                </c:pt>
                <c:pt idx="4">
                  <c:v>Microsoft Azure</c:v>
                </c:pt>
                <c:pt idx="5">
                  <c:v>AWS</c:v>
                </c:pt>
              </c:strCache>
            </c:strRef>
          </c:cat>
          <c:val>
            <c:numRef>
              <c:f>Sheet1!$B$2:$B$7</c:f>
              <c:numCache>
                <c:formatCode>General</c:formatCode>
                <c:ptCount val="6"/>
                <c:pt idx="0">
                  <c:v>30</c:v>
                </c:pt>
                <c:pt idx="1">
                  <c:v>3</c:v>
                </c:pt>
                <c:pt idx="2">
                  <c:v>4</c:v>
                </c:pt>
                <c:pt idx="3">
                  <c:v>13</c:v>
                </c:pt>
                <c:pt idx="4">
                  <c:v>20</c:v>
                </c:pt>
                <c:pt idx="5">
                  <c:v>30</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12213D"/>
                    </a:solidFill>
                  </a:ln>
                </c14:spPr>
              </c14:invertSolidFillFmt>
            </c:ext>
            <c:ext xmlns:c16="http://schemas.microsoft.com/office/drawing/2014/chart" uri="{C3380CC4-5D6E-409C-BE32-E72D297353CC}">
              <c16:uniqueId val="{0000000C-D89E-4590-87AF-F9774033246E}"/>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3A5180"/>
            </a:solidFill>
          </a:ln>
        </c:spPr>
        <c:txPr>
          <a:bodyPr/>
          <a:lstStyle/>
          <a:p>
            <a:pPr>
              <a:defRPr sz="1250">
                <a:solidFill>
                  <a:srgbClr val="C9D2E3"/>
                </a:solidFill>
              </a:defRPr>
            </a:pPr>
            <a:endParaRPr lang="en-US"/>
          </a:p>
        </c:txPr>
        <c:crossAx val="-2113994440"/>
        <c:crosses val="autoZero"/>
        <c:auto val="1"/>
        <c:lblAlgn val="ctr"/>
        <c:lblOffset val="100"/>
        <c:noMultiLvlLbl val="0"/>
      </c:catAx>
      <c:valAx>
        <c:axId val="-2113994440"/>
        <c:scaling>
          <c:orientation val="minMax"/>
          <c:max val="36"/>
        </c:scaling>
        <c:delete val="1"/>
        <c:axPos val="b"/>
        <c:numFmt formatCode="General" sourceLinked="1"/>
        <c:majorTickMark val="out"/>
        <c:minorTickMark val="none"/>
        <c:tickLblPos val="nextTo"/>
        <c:crossAx val="-2068027336"/>
        <c:crosses val="autoZero"/>
        <c:crossBetween val="between"/>
      </c:valAx>
      <c:spPr>
        <a:noFill/>
        <a:ln>
          <a:noFill/>
        </a:ln>
      </c:spPr>
    </c:plotArea>
    <c:plotVisOnly val="1"/>
    <c:dispBlanksAs val="gap"/>
    <c:showDLblsOverMax val="1"/>
  </c:chart>
  <c:spPr>
    <a:noFill/>
    <a:ln>
      <a:noFill/>
    </a:ln>
  </c:spPr>
  <c:txPr>
    <a:bodyPr/>
    <a:lstStyle/>
    <a:p>
      <a:pPr>
        <a:defRPr sz="1100">
          <a:solidFill>
            <a:srgbClr val="8C9AB5"/>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Dominated solutions</c:v>
                </c:pt>
              </c:strCache>
            </c:strRef>
          </c:tx>
          <c:spPr>
            <a:ln w="47625">
              <a:noFill/>
            </a:ln>
          </c:spPr>
          <c:marker>
            <c:symbol val="circle"/>
            <c:size val="7"/>
            <c:spPr>
              <a:solidFill>
                <a:srgbClr val="5F7090"/>
              </a:solidFill>
              <a:ln w="19050">
                <a:solidFill>
                  <a:srgbClr val="13213D"/>
                </a:solidFill>
              </a:ln>
            </c:spPr>
          </c:marker>
          <c:xVal>
            <c:numRef>
              <c:f>Sheet1!$A$2:$A$49</c:f>
              <c:numCache>
                <c:formatCode>General</c:formatCode>
                <c:ptCount val="48"/>
                <c:pt idx="0">
                  <c:v>65.900000000000006</c:v>
                </c:pt>
                <c:pt idx="1">
                  <c:v>92.1</c:v>
                </c:pt>
                <c:pt idx="2">
                  <c:v>82.9</c:v>
                </c:pt>
                <c:pt idx="3">
                  <c:v>44.6</c:v>
                </c:pt>
                <c:pt idx="4">
                  <c:v>43</c:v>
                </c:pt>
                <c:pt idx="5">
                  <c:v>45.6</c:v>
                </c:pt>
                <c:pt idx="6">
                  <c:v>74</c:v>
                </c:pt>
                <c:pt idx="7">
                  <c:v>49.9</c:v>
                </c:pt>
                <c:pt idx="8">
                  <c:v>90.2</c:v>
                </c:pt>
                <c:pt idx="9">
                  <c:v>86.2</c:v>
                </c:pt>
                <c:pt idx="10">
                  <c:v>118.1</c:v>
                </c:pt>
                <c:pt idx="11">
                  <c:v>108.7</c:v>
                </c:pt>
                <c:pt idx="12">
                  <c:v>51.5</c:v>
                </c:pt>
                <c:pt idx="13">
                  <c:v>64.7</c:v>
                </c:pt>
                <c:pt idx="14">
                  <c:v>54.5</c:v>
                </c:pt>
                <c:pt idx="15">
                  <c:v>91.1</c:v>
                </c:pt>
                <c:pt idx="16">
                  <c:v>83.8</c:v>
                </c:pt>
                <c:pt idx="17">
                  <c:v>44.8</c:v>
                </c:pt>
                <c:pt idx="18">
                  <c:v>94.4</c:v>
                </c:pt>
                <c:pt idx="19">
                  <c:v>65.099999999999994</c:v>
                </c:pt>
                <c:pt idx="20">
                  <c:v>76.3</c:v>
                </c:pt>
                <c:pt idx="21">
                  <c:v>103.6</c:v>
                </c:pt>
                <c:pt idx="22">
                  <c:v>59.5</c:v>
                </c:pt>
                <c:pt idx="23">
                  <c:v>82</c:v>
                </c:pt>
                <c:pt idx="24">
                  <c:v>98.4</c:v>
                </c:pt>
                <c:pt idx="25">
                  <c:v>118.4</c:v>
                </c:pt>
                <c:pt idx="26">
                  <c:v>73.400000000000006</c:v>
                </c:pt>
                <c:pt idx="27">
                  <c:v>52.2</c:v>
                </c:pt>
                <c:pt idx="28">
                  <c:v>43.1</c:v>
                </c:pt>
                <c:pt idx="29">
                  <c:v>101.2</c:v>
                </c:pt>
                <c:pt idx="30">
                  <c:v>110</c:v>
                </c:pt>
                <c:pt idx="31">
                  <c:v>95.6</c:v>
                </c:pt>
                <c:pt idx="32">
                  <c:v>86.4</c:v>
                </c:pt>
                <c:pt idx="33">
                  <c:v>107.2</c:v>
                </c:pt>
                <c:pt idx="34">
                  <c:v>77.900000000000006</c:v>
                </c:pt>
                <c:pt idx="35">
                  <c:v>44.9</c:v>
                </c:pt>
                <c:pt idx="36">
                  <c:v>91.8</c:v>
                </c:pt>
                <c:pt idx="37">
                  <c:v>105.8</c:v>
                </c:pt>
                <c:pt idx="38">
                  <c:v>70.900000000000006</c:v>
                </c:pt>
                <c:pt idx="39">
                  <c:v>41.8</c:v>
                </c:pt>
                <c:pt idx="40">
                  <c:v>53.4</c:v>
                </c:pt>
                <c:pt idx="41">
                  <c:v>44.7</c:v>
                </c:pt>
                <c:pt idx="42">
                  <c:v>50.3</c:v>
                </c:pt>
                <c:pt idx="43">
                  <c:v>71.3</c:v>
                </c:pt>
                <c:pt idx="44">
                  <c:v>46.4</c:v>
                </c:pt>
                <c:pt idx="45">
                  <c:v>84</c:v>
                </c:pt>
                <c:pt idx="46">
                  <c:v>105.5</c:v>
                </c:pt>
                <c:pt idx="47">
                  <c:v>62.3</c:v>
                </c:pt>
              </c:numCache>
            </c:numRef>
          </c:xVal>
          <c:yVal>
            <c:numRef>
              <c:f>Sheet1!$B$2:$B$49</c:f>
              <c:numCache>
                <c:formatCode>General</c:formatCode>
                <c:ptCount val="48"/>
                <c:pt idx="0">
                  <c:v>82.3</c:v>
                </c:pt>
                <c:pt idx="1">
                  <c:v>58.9</c:v>
                </c:pt>
                <c:pt idx="2">
                  <c:v>79.5</c:v>
                </c:pt>
                <c:pt idx="3">
                  <c:v>144.5</c:v>
                </c:pt>
                <c:pt idx="4">
                  <c:v>147</c:v>
                </c:pt>
                <c:pt idx="5">
                  <c:v>119.1</c:v>
                </c:pt>
                <c:pt idx="6">
                  <c:v>110.3</c:v>
                </c:pt>
                <c:pt idx="7">
                  <c:v>113.3</c:v>
                </c:pt>
                <c:pt idx="8">
                  <c:v>106.2</c:v>
                </c:pt>
                <c:pt idx="9">
                  <c:v>79.2</c:v>
                </c:pt>
                <c:pt idx="10">
                  <c:v>48.4</c:v>
                </c:pt>
                <c:pt idx="11">
                  <c:v>64</c:v>
                </c:pt>
                <c:pt idx="12">
                  <c:v>103.8</c:v>
                </c:pt>
                <c:pt idx="13">
                  <c:v>119</c:v>
                </c:pt>
                <c:pt idx="14">
                  <c:v>122.1</c:v>
                </c:pt>
                <c:pt idx="15">
                  <c:v>75.3</c:v>
                </c:pt>
                <c:pt idx="16">
                  <c:v>62.8</c:v>
                </c:pt>
                <c:pt idx="17">
                  <c:v>128</c:v>
                </c:pt>
                <c:pt idx="18">
                  <c:v>76.7</c:v>
                </c:pt>
                <c:pt idx="19">
                  <c:v>106.2</c:v>
                </c:pt>
                <c:pt idx="20">
                  <c:v>80.5</c:v>
                </c:pt>
                <c:pt idx="21">
                  <c:v>87.4</c:v>
                </c:pt>
                <c:pt idx="22">
                  <c:v>113.1</c:v>
                </c:pt>
                <c:pt idx="23">
                  <c:v>107</c:v>
                </c:pt>
                <c:pt idx="24">
                  <c:v>67.599999999999994</c:v>
                </c:pt>
                <c:pt idx="25">
                  <c:v>52.2</c:v>
                </c:pt>
                <c:pt idx="26">
                  <c:v>107</c:v>
                </c:pt>
                <c:pt idx="27">
                  <c:v>122</c:v>
                </c:pt>
                <c:pt idx="28">
                  <c:v>158.9</c:v>
                </c:pt>
                <c:pt idx="29">
                  <c:v>81.599999999999994</c:v>
                </c:pt>
                <c:pt idx="30">
                  <c:v>64.900000000000006</c:v>
                </c:pt>
                <c:pt idx="31">
                  <c:v>85</c:v>
                </c:pt>
                <c:pt idx="32">
                  <c:v>82.2</c:v>
                </c:pt>
                <c:pt idx="33">
                  <c:v>99.2</c:v>
                </c:pt>
                <c:pt idx="34">
                  <c:v>98.6</c:v>
                </c:pt>
                <c:pt idx="35">
                  <c:v>154</c:v>
                </c:pt>
                <c:pt idx="36">
                  <c:v>107.9</c:v>
                </c:pt>
                <c:pt idx="37">
                  <c:v>64.7</c:v>
                </c:pt>
                <c:pt idx="38">
                  <c:v>104.6</c:v>
                </c:pt>
                <c:pt idx="39">
                  <c:v>153.69999999999999</c:v>
                </c:pt>
                <c:pt idx="40">
                  <c:v>99.6</c:v>
                </c:pt>
                <c:pt idx="41">
                  <c:v>158</c:v>
                </c:pt>
                <c:pt idx="42">
                  <c:v>113.5</c:v>
                </c:pt>
                <c:pt idx="43">
                  <c:v>115</c:v>
                </c:pt>
                <c:pt idx="44">
                  <c:v>135.19999999999999</c:v>
                </c:pt>
                <c:pt idx="45">
                  <c:v>106.2</c:v>
                </c:pt>
                <c:pt idx="46">
                  <c:v>95.5</c:v>
                </c:pt>
                <c:pt idx="47">
                  <c:v>100.7</c:v>
                </c:pt>
              </c:numCache>
            </c:numRef>
          </c:yVal>
          <c:smooth val="0"/>
          <c:extLst>
            <c:ext xmlns:c16="http://schemas.microsoft.com/office/drawing/2014/chart" uri="{C3380CC4-5D6E-409C-BE32-E72D297353CC}">
              <c16:uniqueId val="{00000000-7429-49ED-B4B8-1E79D30500F4}"/>
            </c:ext>
          </c:extLst>
        </c:ser>
        <c:ser>
          <c:idx val="1"/>
          <c:order val="1"/>
          <c:tx>
            <c:strRef>
              <c:f>Sheet1!$B$51</c:f>
              <c:strCache>
                <c:ptCount val="1"/>
                <c:pt idx="0">
                  <c:v>Pareto front (non-dominated)</c:v>
                </c:pt>
              </c:strCache>
            </c:strRef>
          </c:tx>
          <c:spPr>
            <a:ln w="25400">
              <a:solidFill>
                <a:srgbClr val="199E70"/>
              </a:solidFill>
            </a:ln>
          </c:spPr>
          <c:marker>
            <c:symbol val="circle"/>
            <c:size val="9"/>
            <c:spPr>
              <a:solidFill>
                <a:srgbClr val="199E70"/>
              </a:solidFill>
              <a:ln w="19050">
                <a:solidFill>
                  <a:srgbClr val="13213D"/>
                </a:solidFill>
              </a:ln>
            </c:spPr>
          </c:marker>
          <c:dLbls>
            <c:dLbl>
              <c:idx val="3"/>
              <c:tx>
                <c:rich>
                  <a:bodyPr/>
                  <a:lstStyle/>
                  <a:p>
                    <a:r>
                      <a:rPr lang="en-US" sz="1100" b="1">
                        <a:solidFill>
                          <a:srgbClr val="4FD1A1"/>
                        </a:solidFill>
                      </a:rPr>
                      <a:t>Knee: balanced choice</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7429-49ED-B4B8-1E79D30500F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Sheet1!$A$52:$A$59</c:f>
              <c:numCache>
                <c:formatCode>General</c:formatCode>
                <c:ptCount val="8"/>
                <c:pt idx="0">
                  <c:v>42</c:v>
                </c:pt>
                <c:pt idx="1">
                  <c:v>48</c:v>
                </c:pt>
                <c:pt idx="2">
                  <c:v>55</c:v>
                </c:pt>
                <c:pt idx="3">
                  <c:v>63</c:v>
                </c:pt>
                <c:pt idx="4">
                  <c:v>72</c:v>
                </c:pt>
                <c:pt idx="5">
                  <c:v>84</c:v>
                </c:pt>
                <c:pt idx="6">
                  <c:v>98</c:v>
                </c:pt>
                <c:pt idx="7">
                  <c:v>115</c:v>
                </c:pt>
              </c:numCache>
            </c:numRef>
          </c:xVal>
          <c:yVal>
            <c:numRef>
              <c:f>Sheet1!$B$52:$B$59</c:f>
              <c:numCache>
                <c:formatCode>General</c:formatCode>
                <c:ptCount val="8"/>
                <c:pt idx="0">
                  <c:v>125.3</c:v>
                </c:pt>
                <c:pt idx="1">
                  <c:v>103.7</c:v>
                </c:pt>
                <c:pt idx="2">
                  <c:v>87.3</c:v>
                </c:pt>
                <c:pt idx="3">
                  <c:v>74.8</c:v>
                </c:pt>
                <c:pt idx="4">
                  <c:v>65.099999999999994</c:v>
                </c:pt>
                <c:pt idx="5">
                  <c:v>56.4</c:v>
                </c:pt>
                <c:pt idx="6">
                  <c:v>49.5</c:v>
                </c:pt>
                <c:pt idx="7">
                  <c:v>43.8</c:v>
                </c:pt>
              </c:numCache>
            </c:numRef>
          </c:yVal>
          <c:smooth val="0"/>
          <c:extLst>
            <c:ext xmlns:c16="http://schemas.microsoft.com/office/drawing/2014/chart" uri="{C3380CC4-5D6E-409C-BE32-E72D297353CC}">
              <c16:uniqueId val="{00000002-7429-49ED-B4B8-1E79D30500F4}"/>
            </c:ext>
          </c:extLst>
        </c:ser>
        <c:dLbls>
          <c:showLegendKey val="0"/>
          <c:showVal val="0"/>
          <c:showCatName val="0"/>
          <c:showSerName val="0"/>
          <c:showPercent val="0"/>
          <c:showBubbleSize val="0"/>
        </c:dLbls>
        <c:axId val="-2128940872"/>
        <c:axId val="-2129643912"/>
      </c:scatterChart>
      <c:valAx>
        <c:axId val="-2128940872"/>
        <c:scaling>
          <c:orientation val="minMax"/>
          <c:max val="125"/>
          <c:min val="35"/>
        </c:scaling>
        <c:delete val="0"/>
        <c:axPos val="b"/>
        <c:title>
          <c:tx>
            <c:rich>
              <a:bodyPr/>
              <a:lstStyle/>
              <a:p>
                <a:r>
                  <a:rPr lang="en-GB" sz="1100" b="0">
                    <a:solidFill>
                      <a:srgbClr val="8C9AB5"/>
                    </a:solidFill>
                    <a:latin typeface="Segoe UI"/>
                  </a:rPr>
                  <a:t>Monthly cost ($k)</a:t>
                </a:r>
              </a:p>
            </c:rich>
          </c:tx>
          <c:overlay val="0"/>
        </c:title>
        <c:numFmt formatCode="General" sourceLinked="1"/>
        <c:majorTickMark val="out"/>
        <c:minorTickMark val="none"/>
        <c:tickLblPos val="nextTo"/>
        <c:spPr>
          <a:ln>
            <a:solidFill>
              <a:srgbClr val="3A5180"/>
            </a:solidFill>
          </a:ln>
        </c:spPr>
        <c:txPr>
          <a:bodyPr/>
          <a:lstStyle/>
          <a:p>
            <a:pPr>
              <a:defRPr sz="1100">
                <a:solidFill>
                  <a:srgbClr val="8C9AB5"/>
                </a:solidFill>
              </a:defRPr>
            </a:pPr>
            <a:endParaRPr lang="en-US"/>
          </a:p>
        </c:txPr>
        <c:crossAx val="-2129643912"/>
        <c:crosses val="autoZero"/>
        <c:crossBetween val="midCat"/>
      </c:valAx>
      <c:valAx>
        <c:axId val="-2129643912"/>
        <c:scaling>
          <c:orientation val="minMax"/>
          <c:max val="150"/>
          <c:min val="20"/>
        </c:scaling>
        <c:delete val="0"/>
        <c:axPos val="l"/>
        <c:majorGridlines>
          <c:spPr>
            <a:ln w="9525">
              <a:solidFill>
                <a:srgbClr val="223559"/>
              </a:solidFill>
            </a:ln>
          </c:spPr>
        </c:majorGridlines>
        <c:title>
          <c:tx>
            <c:rich>
              <a:bodyPr/>
              <a:lstStyle/>
              <a:p>
                <a:r>
                  <a:rPr lang="en-GB" sz="1100" b="0">
                    <a:solidFill>
                      <a:srgbClr val="8C9AB5"/>
                    </a:solidFill>
                    <a:latin typeface="Segoe UI"/>
                  </a:rPr>
                  <a:t>p95 latency (ms)</a:t>
                </a:r>
              </a:p>
            </c:rich>
          </c:tx>
          <c:overlay val="0"/>
        </c:title>
        <c:numFmt formatCode="General" sourceLinked="1"/>
        <c:majorTickMark val="out"/>
        <c:minorTickMark val="none"/>
        <c:tickLblPos val="nextTo"/>
        <c:spPr>
          <a:ln>
            <a:noFill/>
          </a:ln>
        </c:spPr>
        <c:txPr>
          <a:bodyPr/>
          <a:lstStyle/>
          <a:p>
            <a:pPr>
              <a:defRPr sz="1100">
                <a:solidFill>
                  <a:srgbClr val="8C9AB5"/>
                </a:solidFill>
              </a:defRPr>
            </a:pPr>
            <a:endParaRPr lang="en-US"/>
          </a:p>
        </c:txPr>
        <c:crossAx val="-2128940872"/>
        <c:crosses val="autoZero"/>
        <c:crossBetween val="midCat"/>
      </c:valAx>
      <c:spPr>
        <a:noFill/>
        <a:ln>
          <a:noFill/>
        </a:ln>
      </c:spPr>
    </c:plotArea>
    <c:legend>
      <c:legendPos val="t"/>
      <c:overlay val="0"/>
      <c:txPr>
        <a:bodyPr/>
        <a:lstStyle/>
        <a:p>
          <a:pPr>
            <a:defRPr sz="1200">
              <a:solidFill>
                <a:srgbClr val="C9D2E3"/>
              </a:solidFill>
            </a:defRPr>
          </a:pPr>
          <a:endParaRPr lang="en-US"/>
        </a:p>
      </c:txPr>
    </c:legend>
    <c:plotVisOnly val="1"/>
    <c:dispBlanksAs val="gap"/>
    <c:showDLblsOverMax val="0"/>
  </c:chart>
  <c:spPr>
    <a:noFill/>
    <a:ln>
      <a:noFill/>
    </a:ln>
  </c:spPr>
  <c:txPr>
    <a:bodyPr/>
    <a:lstStyle/>
    <a:p>
      <a:pPr>
        <a:defRPr sz="1100">
          <a:solidFill>
            <a:srgbClr val="8C9AB5"/>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Demand</c:v>
                </c:pt>
              </c:strCache>
            </c:strRef>
          </c:tx>
          <c:spPr>
            <a:ln w="34925">
              <a:solidFill>
                <a:srgbClr val="3987E5"/>
              </a:solidFill>
            </a:ln>
          </c:spPr>
          <c:marker>
            <c:symbol val="none"/>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Sheet1!$B$2:$B$25</c:f>
              <c:numCache>
                <c:formatCode>General</c:formatCode>
                <c:ptCount val="24"/>
                <c:pt idx="0">
                  <c:v>28</c:v>
                </c:pt>
                <c:pt idx="1">
                  <c:v>30.6</c:v>
                </c:pt>
                <c:pt idx="2">
                  <c:v>32.700000000000003</c:v>
                </c:pt>
                <c:pt idx="3">
                  <c:v>33.9</c:v>
                </c:pt>
                <c:pt idx="4">
                  <c:v>33.9</c:v>
                </c:pt>
                <c:pt idx="5">
                  <c:v>32.799999999999997</c:v>
                </c:pt>
                <c:pt idx="6">
                  <c:v>31.1</c:v>
                </c:pt>
                <c:pt idx="7">
                  <c:v>29.8</c:v>
                </c:pt>
                <c:pt idx="8">
                  <c:v>30.2</c:v>
                </c:pt>
                <c:pt idx="9">
                  <c:v>34</c:v>
                </c:pt>
                <c:pt idx="10">
                  <c:v>42.3</c:v>
                </c:pt>
                <c:pt idx="11">
                  <c:v>54.4</c:v>
                </c:pt>
                <c:pt idx="12">
                  <c:v>67.3</c:v>
                </c:pt>
                <c:pt idx="13">
                  <c:v>76.8</c:v>
                </c:pt>
                <c:pt idx="14">
                  <c:v>79.5</c:v>
                </c:pt>
                <c:pt idx="15">
                  <c:v>74.8</c:v>
                </c:pt>
                <c:pt idx="16">
                  <c:v>65.099999999999994</c:v>
                </c:pt>
                <c:pt idx="17">
                  <c:v>54.2</c:v>
                </c:pt>
                <c:pt idx="18">
                  <c:v>44.6</c:v>
                </c:pt>
                <c:pt idx="19">
                  <c:v>37.299999999999997</c:v>
                </c:pt>
                <c:pt idx="20">
                  <c:v>32</c:v>
                </c:pt>
                <c:pt idx="21">
                  <c:v>28</c:v>
                </c:pt>
                <c:pt idx="22">
                  <c:v>24.9</c:v>
                </c:pt>
                <c:pt idx="23">
                  <c:v>22.9</c:v>
                </c:pt>
              </c:numCache>
            </c:numRef>
          </c:val>
          <c:smooth val="1"/>
          <c:extLst>
            <c:ext xmlns:c16="http://schemas.microsoft.com/office/drawing/2014/chart" uri="{C3380CC4-5D6E-409C-BE32-E72D297353CC}">
              <c16:uniqueId val="{00000000-AF63-4C8C-A884-FD3FDA5F5B09}"/>
            </c:ext>
          </c:extLst>
        </c:ser>
        <c:ser>
          <c:idx val="1"/>
          <c:order val="1"/>
          <c:tx>
            <c:strRef>
              <c:f>Sheet1!$C$1</c:f>
              <c:strCache>
                <c:ptCount val="1"/>
                <c:pt idx="0">
                  <c:v>Reactive capacity</c:v>
                </c:pt>
              </c:strCache>
            </c:strRef>
          </c:tx>
          <c:spPr>
            <a:ln w="25400">
              <a:solidFill>
                <a:srgbClr val="D95926"/>
              </a:solidFill>
            </a:ln>
          </c:spPr>
          <c:marker>
            <c:symbol val="none"/>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Sheet1!$C$2:$C$25</c:f>
              <c:numCache>
                <c:formatCode>General</c:formatCode>
                <c:ptCount val="24"/>
                <c:pt idx="0">
                  <c:v>40</c:v>
                </c:pt>
                <c:pt idx="1">
                  <c:v>40</c:v>
                </c:pt>
                <c:pt idx="2">
                  <c:v>40</c:v>
                </c:pt>
                <c:pt idx="3">
                  <c:v>40</c:v>
                </c:pt>
                <c:pt idx="4">
                  <c:v>40</c:v>
                </c:pt>
                <c:pt idx="5">
                  <c:v>40</c:v>
                </c:pt>
                <c:pt idx="6">
                  <c:v>40</c:v>
                </c:pt>
                <c:pt idx="7">
                  <c:v>40</c:v>
                </c:pt>
                <c:pt idx="8">
                  <c:v>40</c:v>
                </c:pt>
                <c:pt idx="9">
                  <c:v>40</c:v>
                </c:pt>
                <c:pt idx="10">
                  <c:v>40</c:v>
                </c:pt>
                <c:pt idx="11">
                  <c:v>40</c:v>
                </c:pt>
                <c:pt idx="12">
                  <c:v>50</c:v>
                </c:pt>
                <c:pt idx="13">
                  <c:v>60</c:v>
                </c:pt>
                <c:pt idx="14">
                  <c:v>80</c:v>
                </c:pt>
                <c:pt idx="15">
                  <c:v>90</c:v>
                </c:pt>
                <c:pt idx="16">
                  <c:v>90</c:v>
                </c:pt>
                <c:pt idx="17">
                  <c:v>90</c:v>
                </c:pt>
                <c:pt idx="18">
                  <c:v>80</c:v>
                </c:pt>
                <c:pt idx="19">
                  <c:v>60</c:v>
                </c:pt>
                <c:pt idx="20">
                  <c:v>50</c:v>
                </c:pt>
                <c:pt idx="21">
                  <c:v>50</c:v>
                </c:pt>
                <c:pt idx="22">
                  <c:v>40</c:v>
                </c:pt>
                <c:pt idx="23">
                  <c:v>40</c:v>
                </c:pt>
              </c:numCache>
            </c:numRef>
          </c:val>
          <c:smooth val="0"/>
          <c:extLst>
            <c:ext xmlns:c16="http://schemas.microsoft.com/office/drawing/2014/chart" uri="{C3380CC4-5D6E-409C-BE32-E72D297353CC}">
              <c16:uniqueId val="{00000001-AF63-4C8C-A884-FD3FDA5F5B09}"/>
            </c:ext>
          </c:extLst>
        </c:ser>
        <c:ser>
          <c:idx val="2"/>
          <c:order val="2"/>
          <c:tx>
            <c:strRef>
              <c:f>Sheet1!$D$1</c:f>
              <c:strCache>
                <c:ptCount val="1"/>
                <c:pt idx="0">
                  <c:v>Predictive capacity</c:v>
                </c:pt>
              </c:strCache>
            </c:strRef>
          </c:tx>
          <c:spPr>
            <a:ln w="25400">
              <a:solidFill>
                <a:srgbClr val="199E70"/>
              </a:solidFill>
            </a:ln>
          </c:spPr>
          <c:marker>
            <c:symbol val="none"/>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Sheet1!$D$2:$D$25</c:f>
              <c:numCache>
                <c:formatCode>General</c:formatCode>
                <c:ptCount val="24"/>
                <c:pt idx="0">
                  <c:v>35</c:v>
                </c:pt>
                <c:pt idx="1">
                  <c:v>37.299999999999997</c:v>
                </c:pt>
                <c:pt idx="2">
                  <c:v>38.6</c:v>
                </c:pt>
                <c:pt idx="3">
                  <c:v>38.6</c:v>
                </c:pt>
                <c:pt idx="4">
                  <c:v>37.4</c:v>
                </c:pt>
                <c:pt idx="5">
                  <c:v>35.6</c:v>
                </c:pt>
                <c:pt idx="6">
                  <c:v>34.200000000000003</c:v>
                </c:pt>
                <c:pt idx="7">
                  <c:v>34.6</c:v>
                </c:pt>
                <c:pt idx="8">
                  <c:v>38.700000000000003</c:v>
                </c:pt>
                <c:pt idx="9">
                  <c:v>47.7</c:v>
                </c:pt>
                <c:pt idx="10">
                  <c:v>60.8</c:v>
                </c:pt>
                <c:pt idx="11">
                  <c:v>74.7</c:v>
                </c:pt>
                <c:pt idx="12">
                  <c:v>84.9</c:v>
                </c:pt>
                <c:pt idx="13">
                  <c:v>87.9</c:v>
                </c:pt>
                <c:pt idx="14">
                  <c:v>82.8</c:v>
                </c:pt>
                <c:pt idx="15">
                  <c:v>72.3</c:v>
                </c:pt>
                <c:pt idx="16">
                  <c:v>60.5</c:v>
                </c:pt>
                <c:pt idx="17">
                  <c:v>50.2</c:v>
                </c:pt>
                <c:pt idx="18">
                  <c:v>42.3</c:v>
                </c:pt>
                <c:pt idx="19">
                  <c:v>36.6</c:v>
                </c:pt>
                <c:pt idx="20">
                  <c:v>32.200000000000003</c:v>
                </c:pt>
                <c:pt idx="21">
                  <c:v>28.9</c:v>
                </c:pt>
                <c:pt idx="22">
                  <c:v>26.7</c:v>
                </c:pt>
                <c:pt idx="23">
                  <c:v>26.7</c:v>
                </c:pt>
              </c:numCache>
            </c:numRef>
          </c:val>
          <c:smooth val="1"/>
          <c:extLst>
            <c:ext xmlns:c16="http://schemas.microsoft.com/office/drawing/2014/chart" uri="{C3380CC4-5D6E-409C-BE32-E72D297353CC}">
              <c16:uniqueId val="{00000002-AF63-4C8C-A884-FD3FDA5F5B09}"/>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3A5180"/>
            </a:solidFill>
          </a:ln>
        </c:spPr>
        <c:txPr>
          <a:bodyPr/>
          <a:lstStyle/>
          <a:p>
            <a:pPr>
              <a:defRPr sz="1000">
                <a:solidFill>
                  <a:srgbClr val="C9D2E3"/>
                </a:solidFill>
              </a:defRPr>
            </a:pPr>
            <a:endParaRPr lang="en-US"/>
          </a:p>
        </c:txPr>
        <c:crossAx val="2140495176"/>
        <c:crosses val="autoZero"/>
        <c:auto val="1"/>
        <c:lblAlgn val="ctr"/>
        <c:lblOffset val="100"/>
        <c:tickLblSkip val="4"/>
        <c:noMultiLvlLbl val="0"/>
      </c:catAx>
      <c:valAx>
        <c:axId val="2140495176"/>
        <c:scaling>
          <c:orientation val="minMax"/>
          <c:min val="0"/>
        </c:scaling>
        <c:delete val="0"/>
        <c:axPos val="l"/>
        <c:majorGridlines>
          <c:spPr>
            <a:ln w="9525">
              <a:solidFill>
                <a:srgbClr val="223559"/>
              </a:solidFill>
            </a:ln>
          </c:spPr>
        </c:majorGridlines>
        <c:numFmt formatCode="General" sourceLinked="1"/>
        <c:majorTickMark val="out"/>
        <c:minorTickMark val="none"/>
        <c:tickLblPos val="nextTo"/>
        <c:spPr>
          <a:ln>
            <a:noFill/>
          </a:ln>
        </c:spPr>
        <c:txPr>
          <a:bodyPr/>
          <a:lstStyle/>
          <a:p>
            <a:pPr>
              <a:defRPr sz="1100">
                <a:solidFill>
                  <a:srgbClr val="8C9AB5"/>
                </a:solidFill>
              </a:defRPr>
            </a:pPr>
            <a:endParaRPr lang="en-US"/>
          </a:p>
        </c:txPr>
        <c:crossAx val="2118791784"/>
        <c:crosses val="autoZero"/>
        <c:crossBetween val="between"/>
      </c:valAx>
      <c:spPr>
        <a:noFill/>
        <a:ln>
          <a:noFill/>
        </a:ln>
      </c:spPr>
    </c:plotArea>
    <c:legend>
      <c:legendPos val="t"/>
      <c:overlay val="0"/>
      <c:txPr>
        <a:bodyPr/>
        <a:lstStyle/>
        <a:p>
          <a:pPr>
            <a:defRPr sz="1200">
              <a:solidFill>
                <a:srgbClr val="C9D2E3"/>
              </a:solidFill>
            </a:defRPr>
          </a:pPr>
          <a:endParaRPr lang="en-US"/>
        </a:p>
      </c:txPr>
    </c:legend>
    <c:plotVisOnly val="1"/>
    <c:dispBlanksAs val="gap"/>
    <c:showDLblsOverMax val="0"/>
  </c:chart>
  <c:spPr>
    <a:noFill/>
    <a:ln>
      <a:noFill/>
    </a:ln>
  </c:spPr>
  <c:txPr>
    <a:bodyPr/>
    <a:lstStyle/>
    <a:p>
      <a:pPr>
        <a:defRPr sz="1100">
          <a:solidFill>
            <a:srgbClr val="8C9AB5"/>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Before</c:v>
                </c:pt>
              </c:strCache>
            </c:strRef>
          </c:tx>
          <c:spPr>
            <a:solidFill>
              <a:srgbClr val="5A6B8C"/>
            </a:solidFill>
            <a:ln w="19050">
              <a:solidFill>
                <a:srgbClr val="12213D"/>
              </a:solidFill>
            </a:ln>
          </c:spPr>
          <c:invertIfNegative val="1"/>
          <c:dLbls>
            <c:numFmt formatCode="0" sourceLinked="0"/>
            <c:spPr>
              <a:noFill/>
              <a:ln>
                <a:noFill/>
              </a:ln>
              <a:effectLst/>
            </c:spPr>
            <c:txPr>
              <a:bodyPr/>
              <a:lstStyle/>
              <a:p>
                <a:pPr>
                  <a:defRPr sz="1050">
                    <a:solidFill>
                      <a:srgbClr val="C9D2E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Compute</c:v>
                </c:pt>
                <c:pt idx="1">
                  <c:v>Storage</c:v>
                </c:pt>
                <c:pt idx="2">
                  <c:v>Network &amp; egress</c:v>
                </c:pt>
                <c:pt idx="3">
                  <c:v>Licenses &amp; support</c:v>
                </c:pt>
              </c:strCache>
            </c:strRef>
          </c:cat>
          <c:val>
            <c:numRef>
              <c:f>Sheet1!$B$2:$B$5</c:f>
              <c:numCache>
                <c:formatCode>General</c:formatCode>
                <c:ptCount val="4"/>
                <c:pt idx="0">
                  <c:v>520</c:v>
                </c:pt>
                <c:pt idx="1">
                  <c:v>180</c:v>
                </c:pt>
                <c:pt idx="2">
                  <c:v>140</c:v>
                </c:pt>
                <c:pt idx="3">
                  <c:v>110</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12213D"/>
                    </a:solidFill>
                  </a:ln>
                </c14:spPr>
              </c14:invertSolidFillFmt>
            </c:ext>
            <c:ext xmlns:c16="http://schemas.microsoft.com/office/drawing/2014/chart" uri="{C3380CC4-5D6E-409C-BE32-E72D297353CC}">
              <c16:uniqueId val="{00000000-70E0-4C27-B0B7-4E29F0395A79}"/>
            </c:ext>
          </c:extLst>
        </c:ser>
        <c:ser>
          <c:idx val="1"/>
          <c:order val="1"/>
          <c:tx>
            <c:strRef>
              <c:f>Sheet1!$C$1</c:f>
              <c:strCache>
                <c:ptCount val="1"/>
                <c:pt idx="0">
                  <c:v>After 12 months</c:v>
                </c:pt>
              </c:strCache>
            </c:strRef>
          </c:tx>
          <c:spPr>
            <a:solidFill>
              <a:srgbClr val="3987E5"/>
            </a:solidFill>
            <a:ln w="19050">
              <a:solidFill>
                <a:srgbClr val="12213D"/>
              </a:solidFill>
            </a:ln>
          </c:spPr>
          <c:invertIfNegative val="1"/>
          <c:dLbls>
            <c:numFmt formatCode="0" sourceLinked="0"/>
            <c:spPr>
              <a:noFill/>
              <a:ln>
                <a:noFill/>
              </a:ln>
              <a:effectLst/>
            </c:spPr>
            <c:txPr>
              <a:bodyPr/>
              <a:lstStyle/>
              <a:p>
                <a:pPr>
                  <a:defRPr sz="1050">
                    <a:solidFill>
                      <a:srgbClr val="C9D2E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Compute</c:v>
                </c:pt>
                <c:pt idx="1">
                  <c:v>Storage</c:v>
                </c:pt>
                <c:pt idx="2">
                  <c:v>Network &amp; egress</c:v>
                </c:pt>
                <c:pt idx="3">
                  <c:v>Licenses &amp; support</c:v>
                </c:pt>
              </c:strCache>
            </c:strRef>
          </c:cat>
          <c:val>
            <c:numRef>
              <c:f>Sheet1!$C$2:$C$5</c:f>
              <c:numCache>
                <c:formatCode>General</c:formatCode>
                <c:ptCount val="4"/>
                <c:pt idx="0">
                  <c:v>330</c:v>
                </c:pt>
                <c:pt idx="1">
                  <c:v>125</c:v>
                </c:pt>
                <c:pt idx="2">
                  <c:v>95</c:v>
                </c:pt>
                <c:pt idx="3">
                  <c:v>95</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12213D"/>
                    </a:solidFill>
                  </a:ln>
                </c14:spPr>
              </c14:invertSolidFillFmt>
            </c:ext>
            <c:ext xmlns:c16="http://schemas.microsoft.com/office/drawing/2014/chart" uri="{C3380CC4-5D6E-409C-BE32-E72D297353CC}">
              <c16:uniqueId val="{00000001-70E0-4C27-B0B7-4E29F0395A79}"/>
            </c:ext>
          </c:extLst>
        </c:ser>
        <c:dLbls>
          <c:dLblPos val="outEnd"/>
          <c:showLegendKey val="0"/>
          <c:showVal val="1"/>
          <c:showCatName val="0"/>
          <c:showSerName val="0"/>
          <c:showPercent val="0"/>
          <c:showBubbleSize val="0"/>
        </c:dLbls>
        <c:gapWidth val="70"/>
        <c:overlap val="-8"/>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3A5180"/>
            </a:solidFill>
          </a:ln>
        </c:spPr>
        <c:txPr>
          <a:bodyPr/>
          <a:lstStyle/>
          <a:p>
            <a:pPr>
              <a:defRPr sz="1100">
                <a:solidFill>
                  <a:srgbClr val="C9D2E3"/>
                </a:solidFill>
              </a:defRPr>
            </a:pPr>
            <a:endParaRPr lang="en-US"/>
          </a:p>
        </c:txPr>
        <c:crossAx val="-2113994440"/>
        <c:crosses val="autoZero"/>
        <c:auto val="1"/>
        <c:lblAlgn val="ctr"/>
        <c:lblOffset val="100"/>
        <c:noMultiLvlLbl val="0"/>
      </c:catAx>
      <c:valAx>
        <c:axId val="-2113994440"/>
        <c:scaling>
          <c:orientation val="minMax"/>
          <c:max val="620"/>
        </c:scaling>
        <c:delete val="1"/>
        <c:axPos val="l"/>
        <c:numFmt formatCode="General" sourceLinked="1"/>
        <c:majorTickMark val="out"/>
        <c:minorTickMark val="none"/>
        <c:tickLblPos val="nextTo"/>
        <c:crossAx val="-2068027336"/>
        <c:crosses val="autoZero"/>
        <c:crossBetween val="between"/>
      </c:valAx>
      <c:spPr>
        <a:noFill/>
        <a:ln>
          <a:noFill/>
        </a:ln>
      </c:spPr>
    </c:plotArea>
    <c:legend>
      <c:legendPos val="t"/>
      <c:overlay val="0"/>
      <c:txPr>
        <a:bodyPr/>
        <a:lstStyle/>
        <a:p>
          <a:pPr>
            <a:defRPr sz="1150">
              <a:solidFill>
                <a:srgbClr val="C9D2E3"/>
              </a:solidFill>
            </a:defRPr>
          </a:pPr>
          <a:endParaRPr lang="en-US"/>
        </a:p>
      </c:txPr>
    </c:legend>
    <c:plotVisOnly val="1"/>
    <c:dispBlanksAs val="gap"/>
    <c:showDLblsOverMax val="1"/>
  </c:chart>
  <c:spPr>
    <a:noFill/>
    <a:ln>
      <a:noFill/>
    </a:ln>
  </c:spPr>
  <c:txPr>
    <a:bodyPr/>
    <a:lstStyle/>
    <a:p>
      <a:pPr>
        <a:defRPr sz="1050">
          <a:solidFill>
            <a:srgbClr val="8C9AB5"/>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62134C-D0F6-4088-A07A-690E960B692C}" type="datetimeFigureOut">
              <a:t>19/10/2026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6F68F6-9CA0-4860-B003-323E95D9F6BF}" type="slidenum">
              <a:t>‹#›</a:t>
            </a:fld>
            <a:endParaRPr lang="en-GB"/>
          </a:p>
        </p:txBody>
      </p:sp>
    </p:spTree>
    <p:extLst>
      <p:ext uri="{BB962C8B-B14F-4D97-AF65-F5344CB8AC3E}">
        <p14:creationId xmlns:p14="http://schemas.microsoft.com/office/powerpoint/2010/main" val="3969876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Today's topic is multi-cloud resource management: how organisations run workloads across several cloud providers and, crucially, how they decide where each workload should run.</a:t>
            </a:r>
          </a:p>
          <a:p>
            <a:endParaRPr/>
          </a:p>
          <a:p>
            <a:r>
              <a:t>The talk has two halves: first the state of the art (architectures, tools and research), then resource allocation (the optimisation problem and the algorithms used to solve it). We finish with a case study, a roadmap and key takeaways.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roadmap for the session. We start with why multi-cloud matters and define the key terms. Part one surveys the state of the art: how the field evolved, the reference architecture, and the tool categories in use today. Part two goes deep on resource allocation: the formal problem, objectives, and algorithm families from exact solvers to reinforcement learning. We close with a case study, a maturity roadmap and takeaways.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do organisations use more than one cloud? Six recurring drivers: avoiding lock-in, using the best service from each provider, resilience against provider-wide outages, regulatory and sovereignty requirements, commercial leverage, and geographic reach.</a:t>
            </a:r>
          </a:p>
          <a:p>
            <a:endParaRPr/>
          </a:p>
          <a:p>
            <a:r>
              <a:t>The numbers on the right show the scale: almost nine in ten enterprises report a multi-cloud strategy, public-cloud spend is forecast above 700 billion dollars, and around a quarter of that spend is self-reported as wasted. That waste is exactly what good resource management targets.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align on vocabulary, because these terms are often mixed up. Multi-cloud means using two or more public providers. Hybrid cloud combines public cloud with private or on-premises infrastructure. Federation, or inter-cloud, goes further: providers interoperate and share capacity under agreements. Sky computing is the research vision of a broker layer that makes the choice of cloud transparent.</a:t>
            </a:r>
          </a:p>
          <a:p>
            <a:endParaRPr/>
          </a:p>
          <a:p>
            <a:r>
              <a:t>Multi-cloud resource management, the subject of today, is the discipline of discovering, provisioning, allocating, monitoring, optimising and governing resources across all of these through one control plane.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provider landscape explains why multi-cloud is the norm. The three hyperscalers together hold roughly two-thirds of the infrastructure market, yet no single provider dominates, and each has distinct strengths: AWS in breadth, Microsoft in enterprise integration, Google in data and AI.</a:t>
            </a:r>
          </a:p>
          <a:p>
            <a:endParaRPr/>
          </a:p>
          <a:p>
            <a:r>
              <a:t>Regional and specialist providers, including sovereign clouds and GPU clouds, take the remaining third. The consequence for resource management: heterogeneous APIs, pricing models and services must be abstracted and compared.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Running multiple clouds is powerful but hard. Six challenges dominate. Heterogeneity: each provider has its own APIs, instance types and pricing. Interoperability and portability: moving workloads or data is not free. Data gravity and egress fees make data expensive to move. Security and compliance must be consistent everywhere. Cost visibility is fragmented across bills. And teams need skills for several platforms.</a:t>
            </a:r>
          </a:p>
          <a:p>
            <a:endParaRPr/>
          </a:p>
          <a:p>
            <a:r>
              <a:t>Everything that follows, the architectures, tools and allocation algorithms, is a response to these challenges.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one: the state of the art. We'll look at how the field evolved, the reference architecture most platforms share, the main architectural models, and the tooling for infrastructure, orchestration, operations and cost. We finish this part with open research directions.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brief history. Around 2009–2013, EU research projects such as RESERVOIR, mOSAIC and OPTIMIS prototyped federation and cloud brokering. In 2011 NIST standardised the definition of cloud and introduced the cloud broker role. 2014 brought Kubernetes and Terraform, which made infrastructure declarative and workloads portable.</a:t>
            </a:r>
          </a:p>
          <a:p>
            <a:endParaRPr/>
          </a:p>
          <a:p>
            <a:r>
              <a:t>From 2017 every hyperscaler offered managed Kubernetes and hybrid control planes like Anthos and Azure Arc appeared, along with the FinOps Foundation. In 2021 Berkeley articulated the sky computing vision. 2023–24 brought openness: SkyPilot, the OpenTofu fork and the FOCUS billing standard. Today the frontier is autonomous, AI-driven operations, sovereignty and carbon awareness.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reference architecture shared by most multi-cloud management platforms, read bottom-up. At the bottom are the resource providers: hyperscalers, private cloud and edge. Above them, an abstraction layer hides their differences through unified APIs, infrastructure-as-code providers and multi-cluster Kubernetes. The management plane is the brain: catalogue, policy engine, the scheduler or allocator, and the orchestrator. At the top, consumers interact through pipelines, portals and APIs.</a:t>
            </a:r>
          </a:p>
          <a:p>
            <a:endParaRPr/>
          </a:p>
          <a:p>
            <a:r>
              <a:t>On the right are the cross-cutting concerns, which must span every layer: security, observability, FinOps and governance. The allocator in the management plane is the focus of part two.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Within that architecture, there are five broad models for combining clouds. A broker sits between consumers and providers and selects or aggregates services. Federation means providers cooperate directly. In the independent multi-cloud model, the customer manages each cloud separately, often with shared tooling; this is the most common in practice. Hybrid control planes such as Anthos or Azure Arc extend one provider's management to everywhere. Sky computing is the research vision of an intercloud broker that makes clouds interchangeable.</a:t>
            </a:r>
          </a:p>
          <a:p>
            <a:endParaRPr/>
          </a:p>
          <a:p>
            <a:r>
              <a:t>The trade-off is generally between control and simplicity on one side, and depth of provider-native features on the other.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 name="Shape 883"/>
          <p:cNvSpPr>
            <a:spLocks noGrp="1" noRot="1" noChangeAspect="1"/>
          </p:cNvSpPr>
          <p:nvPr>
            <p:ph type="sldImg"/>
          </p:nvPr>
        </p:nvSpPr>
        <p:spPr>
          <a:xfrm>
            <a:off x="381000" y="685800"/>
            <a:ext cx="6096000" cy="3429000"/>
          </a:xfrm>
          <a:prstGeom prst="rect">
            <a:avLst/>
          </a:prstGeom>
        </p:spPr>
        <p:txBody>
          <a:bodyPr/>
          <a:lstStyle/>
          <a:p>
            <a:endParaRPr/>
          </a:p>
        </p:txBody>
      </p:sp>
      <p:sp>
        <p:nvSpPr>
          <p:cNvPr id="884" name="Shape 884"/>
          <p:cNvSpPr>
            <a:spLocks noGrp="1"/>
          </p:cNvSpPr>
          <p:nvPr>
            <p:ph type="body" sz="quarter" idx="1"/>
          </p:nvPr>
        </p:nvSpPr>
        <p:spPr>
          <a:prstGeom prst="rect">
            <a:avLst/>
          </a:prstGeom>
        </p:spPr>
        <p:txBody>
          <a:bodyPr/>
          <a:lstStyle/>
          <a:p>
            <a:r>
              <a:t>Within that architecture, there are five broad models for combining clouds. A broker sits between consumers and providers and selects or aggregates services. Federation means providers cooperate directly. In the independent multi-cloud model, the customer manages each cloud separately, often with shared tooling; this is the most common in practice. Hybrid control planes such as Anthos or Azure Arc extend one provider's management to everywhere. Sky computing is the research vision of an intercloud broker that makes clouds interchangeable.</a:t>
            </a:r>
          </a:p>
          <a:p>
            <a:endParaRPr/>
          </a:p>
          <a:p>
            <a:r>
              <a:t>The trade-off is generally between control and simplicity on one side, and depth of provider-native features on the other.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Infrastructure as Code is the foundation of any multi-cloud strategy, because it turns infrastructure into versioned, reviewable code. Four families exist. Terraform and its open-source fork OpenTofu are declarative and provider-agnostic. Pulumi uses general-purpose languages. Crossplane turns Kubernetes into a universal control plane with continuous reconciliation. Native tools like CloudFormation and Bicep offer the deepest single-cloud integration.</a:t>
            </a:r>
          </a:p>
          <a:p>
            <a:endParaRPr/>
          </a:p>
          <a:p>
            <a:r>
              <a:t>The key trend is the shift from one-shot provisioning to continuous reconciliation via GitOps: the desired state lives in Git and controllers keep reality in sync.</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Kubernetes has become the common runtime across clouds, so the management question becomes: how do we manage a fleet of clusters? A fleet control plane, such as Karmada, Google's GKE Enterprise, Azure Arc, Rancher or OpenShift, sits above member clusters in different clouds.</a:t>
            </a:r>
          </a:p>
          <a:p>
            <a:endParaRPr/>
          </a:p>
          <a:p>
            <a:r>
              <a:t>It propagates workloads and policies, schedules workloads across clusters based on capacity and placement rules, and fails over when a cluster or region is lost. A service mesh adds secure cross-cluster networking, and GitOps keeps everything declarative.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operational disciplines must be consistent across all clouds. Observability: OpenTelemetry has become the vendor-neutral standard for metrics, logs and traces, with AIOps adding anomaly detection. Security follows zero-trust principles: federated workload identity instead of long-lived keys, plus posture management (CSPM and CNAPP) that scans every cloud. Governance is increasingly implemented as policy as code with tools like Open Policy Agent, Kyverno or Sentinel, so rules are versioned, tested and enforced automatically.</a:t>
            </a:r>
          </a:p>
          <a:p>
            <a:endParaRPr/>
          </a:p>
          <a:p>
            <a:r>
              <a:t>The common thread: one standard, many clouds.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FinOps brings financial accountability to variable cloud spend. The FinOps Foundation describes a continuous loop of three phases. Inform: allocate every cost to a team or product through tagging and showback. Optimise: apply levers like rightsizing, commitments and spot. Operate: embed budgets, anomaly alerts and governance into everyday work.</a:t>
            </a:r>
          </a:p>
          <a:p>
            <a:endParaRPr/>
          </a:p>
          <a:p>
            <a:r>
              <a:t>In multi-cloud, the big step forward is FOCUS, the FinOps Open Cost and Usage Specification, which normalises billing data from all providers into one schema. On the right are the most impactful optimisation levers and their typical maximum savings versus on-demand pricing.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is research heading? Six active frontiers. Sky computing and intercloud brokers aim to make clouds interchangeable for jobs. Intent-based management lets operators state goals, not configurations. AI-driven and agentic operations use machine learning and large language model agents to plan and act. Carbon-aware scheduling shifts work in time and space to greener grids. Serverless and edge-to-cloud continuum extends allocation beyond data centres. And confidential computing and sovereignty enable sensitive workloads anywhere.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two: resource allocation, the heart of multi-cloud resource management. We'll formalise the problem, look at objectives and trade-offs, classify the approaches, and walk through each algorithm family before comparing them. We close this part with autoscaling and workload placement in practice.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Formally, resource allocation maps a set of workloads to a set of providers or regions. Each workload has resource demands, like CPU, memory or GPUs, plus latency and compliance requirements. Each provider has capacity and a price.</a:t>
            </a:r>
          </a:p>
          <a:p>
            <a:endParaRPr/>
          </a:p>
          <a:p>
            <a:r>
              <a:t>The classic formulation is a 0-1 integer program: minimise total cost, possibly plus a weighted latency term, subject to every workload being placed exactly once, capacity limits, latency SLAs and residency rules. This generalises bin packing and the generalised assignment problem, so it is NP-hard. That single fact explains why the field relies on heuristics, metaheuristics and learning at scale.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 allocators rarely optimise a single metric. These are the six objectives that show up most: cost, performance and latency, availability, energy and carbon, compliance and sovereignty, and utilisation.</a:t>
            </a:r>
          </a:p>
          <a:p>
            <a:endParaRPr/>
          </a:p>
          <a:p>
            <a:r>
              <a:t>They conflict. Cheaper often means slower; redundancy for availability costs money; the region closest to users may not satisfy data residency; and running hot improves utilisation but erodes the headroom that protects SLAs. Making these trade-offs explicit, with weights or a Pareto front, is what separates mature allocation from ad-hoc choices.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navigate the literature, it helps to classify allocation approaches along five dimensions. Timing: static planning versus dynamic, online decisions. Control: a centralised allocator versus decentralised agents. Trigger: reactive, responding to metrics, versus proactive, acting on forecasts. Objective: single versus multi-objective. Technique: exact and heuristic methods versus learning and market mechanisms.</a:t>
            </a:r>
          </a:p>
          <a:p>
            <a:endParaRPr/>
          </a:p>
          <a:p>
            <a:r>
              <a:t>Most production systems today are dynamic, centralised, mix reactive with predictive triggers, and use multi-objective heuristics.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start with the two classical families. Exact methods, such as integer linear programming, constraint programming and branch-and-bound, guarantee the optimal answer but their run time explodes as instances grow. They shine in offline capacity planning and as a benchmark for other methods.</a:t>
            </a:r>
          </a:p>
          <a:p>
            <a:endParaRPr/>
          </a:p>
          <a:p>
            <a:r>
              <a:t>Heuristics, such as first-fit decreasing, best-fit and greedy cost-aware placement, give good-enough answers in milliseconds, which is why Kubernetes and cloud schedulers rely on them. The spectrum at the bottom summarises the trade-off: moving right gains scalability and speed but gives up guaranteed optimality.</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Metaheuristics sit in the middle of the spectrum. Genetic algorithms evolve populations of allocations; particle swarm and ant colony optimisation mimic collective behaviour; simulated annealing escapes local optima by occasionally accepting worse moves. NSGA-II is the workhorse for multi-objective problems.</a:t>
            </a:r>
          </a:p>
          <a:p>
            <a:endParaRPr/>
          </a:p>
          <a:p>
            <a:r>
              <a:t>Their key output is a Pareto front, shown on the right: each aqua point is an allocation where you cannot reduce cost without increasing latency. The grey dots are dominated solutions. Rather than one answer, decision-makers get a menu of efficient trade-offs, and often pick the knee of the curve.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Machine learning contributes in two ways. First, forecasting: models from ARIMA and Prophet to LSTMs and transformers predict demand, so capacity can be provisioned before it's needed.</a:t>
            </a:r>
          </a:p>
          <a:p>
            <a:endParaRPr/>
          </a:p>
          <a:p>
            <a:r>
              <a:t>Second, deep reinforcement learning treats allocation as a sequential decision problem. The agent observes the state, like utilisation, queues and spot prices; it acts by placing, scaling or migrating workloads; and it receives a reward, typically negative cost minus SLA penalties. Over time it learns a policy that adapts to changing conditions. The catch: training cost, the gap between simulation and reality, safety constraints and explainability.</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Clouds are also markets, so economics offers a third lens. The pricing models at the top are the raw material: on-demand is flexible but most expensive; commitments trade flexibility for up to 72 percent off; spot capacity offers up to 90 percent off but can be reclaimed at short notice.</a:t>
            </a:r>
          </a:p>
          <a:p>
            <a:endParaRPr/>
          </a:p>
          <a:p>
            <a:r>
              <a:t>Mechanisms on the bottom row use this: auctions allocate scarce capacity to those who value it most; brokers arbitrage between providers; and game theory, for example Nash or Stackelberg models, analyses how self-interested tenants and providers behave, helping design fair and stable allocations.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matrix brings the five families together, rated from one to five on each criterion. Exact methods win on optimality and explainability but don't scale. Heuristics are the opposite: fast, simple, transparent, but not optimal. Metaheuristics are balanced and ideal for multi-objective batch problems. Learning-based methods adapt best to changing conditions but are hardest to build and explain. Market methods suit shared and spot environments.</a:t>
            </a:r>
          </a:p>
          <a:p>
            <a:endParaRPr/>
          </a:p>
          <a:p>
            <a:r>
              <a:t>The practical lesson: there is no single best algorithm; production systems combine them, for example heuristics online with periodic metaheuristic or ILP re-optimisation.</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Allocation is not a one-time decision; demand changes every minute, so elasticity matters. The chart shows a typical daily demand curve. A reactive autoscaler, in orange, waits for metrics to cross a threshold, so it lags behind the ramp, causing under-provisioning at the peak and waste on the way down. A predictive scaler, in aqua, follows the forecast and tracks demand closely.</a:t>
            </a:r>
          </a:p>
          <a:p>
            <a:endParaRPr/>
          </a:p>
          <a:p>
            <a:r>
              <a:t>On the right are the four scaling mechanisms you'll find in every major cloud and in Kubernetes: horizontal, vertical, node or cluster level, and predictive.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is a placement decision made in practice? Think of it as a funnel. We start with every region of every provider, often well over a hundred options. First we apply hard constraints, such as data residency and compliance, which simply eliminate options. Then capability fit: does the location offer the GPUs, managed services or quotas needed? Next, latency and data gravity: stay close to users and to the data, because moving data is slow and costs egress fees. Finally, we score what remains on cost and carbon intensity. The result is a ranked short-list, and the allocator picks the best, keeping a fallback for failover.</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bring it together, an illustrative case: a global retailer running about 1,200 workloads on AWS, Azure and Google Cloud, with fragmented tooling and rising bills. They introduced a unified control plane with Terraform and a Kubernetes fleet, adopted FOCUS-based cost allocation, and implemented policy-driven placement with a multi-objective scheduler, spot for batch jobs and predictive autoscaling.</a:t>
            </a:r>
          </a:p>
          <a:p>
            <a:endParaRPr/>
          </a:p>
          <a:p>
            <a:r>
              <a:t>The chart compares monthly spend by category before and after: compute drops the most thanks to rightsizing and spot. Overall spend falls by about a third while latency and availability improve. The numbers are illustrative, but in line with outcomes commonly reported for mature FinOps and allocation programmes.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you're starting this journey, here is a five-level maturity roadmap. Level one, assess: inventory every account, workload and cost. Level two, standardise: common landing zones, tagging and infrastructure as code. Level three, automate: GitOps, policy as code and autoscaling. Level four, optimise: FinOps practices and multi-objective placement. Level five, autonomous: predictive and AI-driven allocation operating within guardrails.</a:t>
            </a:r>
          </a:p>
          <a:p>
            <a:endParaRPr/>
          </a:p>
          <a:p>
            <a:r>
              <a:t>Each level builds on the previous one; skipping standardisation, for example, makes automation fragile.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things to remember. One: multi-cloud is now the default, so management must be deliberate. Two: a unified control plane built on open standards, such as Terraform, Kubernetes, OpenTelemetry and FOCUS, is the foundation. Three: resource allocation is an NP-hard, multi-objective problem; make trade-offs explicit. Four: no single algorithm wins; combine fast heuristics with periodic optimisation and learning. Five: the future is autonomous, intent-driven and carbon-aware, but always within human-defined guardrails.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your attention. I'm happy to take questions. The references on the right are a good starting point if you'd like to go deeper: the Sky Computing paper for the research vision, SkyPilot for a working intercloud broker, the FinOps Foundation and FOCUS for cost management, and the NIST documents for the foundational definitions.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6035040" y="-1828800"/>
            <a:ext cx="7498079" cy="7498079"/>
          </a:xfrm>
          <a:prstGeom prst="ellipse">
            <a:avLst/>
          </a:prstGeom>
          <a:gradFill rotWithShape="1">
            <a:gsLst>
              <a:gs pos="0">
                <a:srgbClr val="3987E5">
                  <a:alpha val="40000"/>
                </a:srgbClr>
              </a:gs>
              <a:gs pos="55000">
                <a:srgbClr val="3987E5">
                  <a:alpha val="13999"/>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743200" y="3474720"/>
            <a:ext cx="5852160" cy="5852160"/>
          </a:xfrm>
          <a:prstGeom prst="ellipse">
            <a:avLst/>
          </a:prstGeom>
          <a:gradFill rotWithShape="1">
            <a:gsLst>
              <a:gs pos="0">
                <a:srgbClr val="199E70">
                  <a:alpha val="20000"/>
                </a:srgbClr>
              </a:gs>
              <a:gs pos="55000">
                <a:srgbClr val="199E70">
                  <a:alpha val="69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9509760" y="3657600"/>
            <a:ext cx="4754880" cy="4754880"/>
          </a:xfrm>
          <a:prstGeom prst="ellipse">
            <a:avLst/>
          </a:prstGeom>
          <a:gradFill rotWithShape="1">
            <a:gsLst>
              <a:gs pos="0">
                <a:srgbClr val="9085E9">
                  <a:alpha val="22000"/>
                </a:srgbClr>
              </a:gs>
              <a:gs pos="55000">
                <a:srgbClr val="9085E9">
                  <a:alpha val="7700"/>
                </a:srgbClr>
              </a:gs>
              <a:gs pos="100000">
                <a:srgbClr val="9085E9">
                  <a:alpha val="0"/>
                </a:srgbClr>
              </a:gs>
            </a:gsLst>
            <a:path path="circle">
              <a:fillToRect l="50000" t="50000" r="50000" b="50000"/>
            </a:path>
          </a:gradFill>
          <a:ln>
            <a:noFill/>
          </a:ln>
        </p:spPr>
        <p:txBody>
          <a:bodyPr wrap="square" rtlCol="0" anchor="ctr"/>
          <a:lstStyle/>
          <a:p>
            <a:pPr algn="ctr"/>
            <a:endParaRPr/>
          </a:p>
        </p:txBody>
      </p:sp>
      <p:sp>
        <p:nvSpPr>
          <p:cNvPr id="5" name="Rounded Rectangle 4"/>
          <p:cNvSpPr/>
          <p:nvPr/>
        </p:nvSpPr>
        <p:spPr>
          <a:xfrm>
            <a:off x="731520" y="1325880"/>
            <a:ext cx="3931920" cy="347472"/>
          </a:xfrm>
          <a:prstGeom prst="roundRect">
            <a:avLst>
              <a:gd name="adj" fmla="val 50000"/>
            </a:avLst>
          </a:prstGeom>
          <a:solidFill>
            <a:srgbClr val="3987E5">
              <a:alpha val="16000"/>
            </a:srgbClr>
          </a:solidFill>
          <a:ln w="9525">
            <a:solidFill>
              <a:srgbClr val="3987E5"/>
            </a:solidFill>
          </a:ln>
        </p:spPr>
        <p:txBody>
          <a:bodyPr wrap="square" lIns="18288" tIns="18288" rIns="18288" bIns="18288" rtlCol="0" anchor="ctr">
            <a:noAutofit/>
          </a:bodyPr>
          <a:lstStyle/>
          <a:p>
            <a:pPr algn="ctr">
              <a:lnSpc>
                <a:spcPct val="112000"/>
              </a:lnSpc>
              <a:spcAft>
                <a:spcPts val="0"/>
              </a:spcAft>
            </a:pPr>
            <a:r>
              <a:rPr sz="1050" b="0" i="0">
                <a:solidFill>
                  <a:srgbClr val="FFFFFF"/>
                </a:solidFill>
                <a:latin typeface="Segoe UI Semibold"/>
              </a:rPr>
              <a:t>STATE OF THE ART   ·   RESOURCE ALLOCATION</a:t>
            </a:r>
          </a:p>
        </p:txBody>
      </p:sp>
      <p:sp>
        <p:nvSpPr>
          <p:cNvPr id="6" name="!!title"/>
          <p:cNvSpPr txBox="1"/>
          <p:nvPr/>
        </p:nvSpPr>
        <p:spPr>
          <a:xfrm>
            <a:off x="731520" y="1828800"/>
            <a:ext cx="5852160" cy="1737360"/>
          </a:xfrm>
          <a:prstGeom prst="rect">
            <a:avLst/>
          </a:prstGeom>
          <a:noFill/>
        </p:spPr>
        <p:txBody>
          <a:bodyPr wrap="square" lIns="0" tIns="0" rIns="0" bIns="0" anchor="t">
            <a:noAutofit/>
          </a:bodyPr>
          <a:lstStyle/>
          <a:p>
            <a:pPr algn="l">
              <a:lnSpc>
                <a:spcPct val="95000"/>
              </a:lnSpc>
              <a:spcAft>
                <a:spcPts val="0"/>
              </a:spcAft>
            </a:pPr>
            <a:r>
              <a:rPr sz="4200" b="0" i="0">
                <a:gradFill>
                  <a:gsLst>
                    <a:gs pos="0">
                      <a:srgbClr val="FFFFFF"/>
                    </a:gs>
                    <a:gs pos="55000">
                      <a:srgbClr val="D6E6FF"/>
                    </a:gs>
                    <a:gs pos="100000">
                      <a:srgbClr val="7DB3F5"/>
                    </a:gs>
                  </a:gsLst>
                  <a:lin ang="0" scaled="0"/>
                </a:gradFill>
                <a:latin typeface="Segoe UI Semibold"/>
              </a:rPr>
              <a:t>Multi-Cloud</a:t>
            </a:r>
          </a:p>
          <a:p>
            <a:pPr algn="l">
              <a:lnSpc>
                <a:spcPct val="95000"/>
              </a:lnSpc>
              <a:spcAft>
                <a:spcPts val="0"/>
              </a:spcAft>
            </a:pPr>
            <a:r>
              <a:rPr sz="4200" b="0" i="0">
                <a:gradFill>
                  <a:gsLst>
                    <a:gs pos="0">
                      <a:srgbClr val="FFFFFF"/>
                    </a:gs>
                    <a:gs pos="55000">
                      <a:srgbClr val="D6E6FF"/>
                    </a:gs>
                    <a:gs pos="100000">
                      <a:srgbClr val="7DB3F5"/>
                    </a:gs>
                  </a:gsLst>
                  <a:lin ang="0" scaled="0"/>
                </a:gradFill>
                <a:latin typeface="Segoe UI Semibold"/>
              </a:rPr>
              <a:t>Resource Management</a:t>
            </a:r>
          </a:p>
        </p:txBody>
      </p:sp>
      <p:sp>
        <p:nvSpPr>
          <p:cNvPr id="7" name="!!accent"/>
          <p:cNvSpPr/>
          <p:nvPr/>
        </p:nvSpPr>
        <p:spPr>
          <a:xfrm>
            <a:off x="768096" y="3611880"/>
            <a:ext cx="1188720" cy="64008"/>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sp>
        <p:nvSpPr>
          <p:cNvPr id="8" name="TextBox 7"/>
          <p:cNvSpPr txBox="1"/>
          <p:nvPr/>
        </p:nvSpPr>
        <p:spPr>
          <a:xfrm>
            <a:off x="731520" y="3886200"/>
            <a:ext cx="5486400" cy="914400"/>
          </a:xfrm>
          <a:prstGeom prst="rect">
            <a:avLst/>
          </a:prstGeom>
          <a:noFill/>
        </p:spPr>
        <p:txBody>
          <a:bodyPr wrap="square" lIns="0" tIns="0" rIns="0" bIns="0" anchor="t">
            <a:noAutofit/>
          </a:bodyPr>
          <a:lstStyle/>
          <a:p>
            <a:pPr algn="l">
              <a:lnSpc>
                <a:spcPct val="115000"/>
              </a:lnSpc>
              <a:spcAft>
                <a:spcPts val="0"/>
              </a:spcAft>
            </a:pPr>
            <a:r>
              <a:rPr sz="1700" b="0" i="0">
                <a:solidFill>
                  <a:srgbClr val="C9D2E3"/>
                </a:solidFill>
                <a:latin typeface="Segoe UI Light"/>
              </a:rPr>
              <a:t>Architectures, tools and optimization strategies for allocating resources across heterogeneous cloud providers</a:t>
            </a:r>
          </a:p>
        </p:txBody>
      </p:sp>
      <p:sp>
        <p:nvSpPr>
          <p:cNvPr id="9" name="TextBox 8"/>
          <p:cNvSpPr txBox="1"/>
          <p:nvPr/>
        </p:nvSpPr>
        <p:spPr>
          <a:xfrm>
            <a:off x="731520" y="5440680"/>
            <a:ext cx="6035040" cy="548640"/>
          </a:xfrm>
          <a:prstGeom prst="rect">
            <a:avLst/>
          </a:prstGeom>
          <a:noFill/>
        </p:spPr>
        <p:txBody>
          <a:bodyPr wrap="square" lIns="0" tIns="0" rIns="0" bIns="0" anchor="t">
            <a:noAutofit/>
          </a:bodyPr>
          <a:lstStyle/>
          <a:p>
            <a:pPr>
              <a:lnSpc>
                <a:spcPct val="112000"/>
              </a:lnSpc>
            </a:pPr>
            <a:r>
              <a:rPr lang="en-GB" sz="1250" dirty="0">
                <a:solidFill>
                  <a:srgbClr val="C9D2E3"/>
                </a:solidFill>
                <a:latin typeface="Segoe UI Semibold"/>
                <a:cs typeface="Segoe UI Semibold"/>
              </a:rPr>
              <a:t>Shefket </a:t>
            </a:r>
            <a:r>
              <a:rPr lang="en-GB" sz="1250" dirty="0" err="1">
                <a:solidFill>
                  <a:srgbClr val="C9D2E3"/>
                </a:solidFill>
                <a:latin typeface="Segoe UI Semibold"/>
                <a:cs typeface="Segoe UI Semibold"/>
              </a:rPr>
              <a:t>Bylygbashi</a:t>
            </a:r>
            <a:r>
              <a:rPr lang="en-GB" sz="1250" dirty="0">
                <a:solidFill>
                  <a:srgbClr val="C9D2E3"/>
                </a:solidFill>
                <a:latin typeface="Segoe UI Semibold"/>
                <a:cs typeface="Segoe UI Semibold"/>
              </a:rPr>
              <a:t>, Muhamed Zahiri </a:t>
            </a:r>
            <a:r>
              <a:rPr lang="en-GB" sz="1250" dirty="0">
                <a:solidFill>
                  <a:srgbClr val="8C9AB5"/>
                </a:solidFill>
                <a:latin typeface="Segoe UI"/>
              </a:rPr>
              <a:t> </a:t>
            </a:r>
            <a:r>
              <a:rPr sz="1250" b="0" i="0" dirty="0">
                <a:solidFill>
                  <a:srgbClr val="8C9AB5"/>
                </a:solidFill>
                <a:latin typeface="Segoe UI"/>
              </a:rPr>
              <a:t>· </a:t>
            </a:r>
            <a:r>
              <a:rPr lang="en-GB" sz="1250" dirty="0">
                <a:solidFill>
                  <a:srgbClr val="8C9AB5"/>
                </a:solidFill>
                <a:latin typeface="Segoe UI"/>
              </a:rPr>
              <a:t> Menaxhimi </a:t>
            </a:r>
            <a:r>
              <a:rPr lang="en-GB" sz="1250" dirty="0" err="1">
                <a:solidFill>
                  <a:srgbClr val="8C9AB5"/>
                </a:solidFill>
                <a:latin typeface="Segoe UI"/>
              </a:rPr>
              <a:t>i</a:t>
            </a:r>
            <a:r>
              <a:rPr lang="en-GB" sz="1250" dirty="0">
                <a:solidFill>
                  <a:srgbClr val="8C9AB5"/>
                </a:solidFill>
                <a:latin typeface="Segoe UI"/>
              </a:rPr>
              <a:t> </a:t>
            </a:r>
            <a:r>
              <a:rPr lang="en-GB" sz="1250" dirty="0" err="1">
                <a:solidFill>
                  <a:srgbClr val="8C9AB5"/>
                </a:solidFill>
                <a:latin typeface="Segoe UI"/>
              </a:rPr>
              <a:t>Burimeve</a:t>
            </a:r>
            <a:r>
              <a:rPr lang="en-GB" sz="1250" dirty="0">
                <a:solidFill>
                  <a:srgbClr val="8C9AB5"/>
                </a:solidFill>
                <a:latin typeface="Segoe UI"/>
              </a:rPr>
              <a:t> </a:t>
            </a:r>
            <a:r>
              <a:rPr lang="en-GB" sz="1250" dirty="0" err="1">
                <a:solidFill>
                  <a:srgbClr val="8C9AB5"/>
                </a:solidFill>
                <a:latin typeface="Segoe UI"/>
              </a:rPr>
              <a:t>në</a:t>
            </a:r>
            <a:r>
              <a:rPr lang="en-GB" sz="1250" dirty="0">
                <a:solidFill>
                  <a:srgbClr val="8C9AB5"/>
                </a:solidFill>
                <a:latin typeface="Segoe UI"/>
              </a:rPr>
              <a:t> Cloud Computing </a:t>
            </a:r>
            <a:r>
              <a:rPr sz="1250" b="0" i="0" dirty="0">
                <a:solidFill>
                  <a:srgbClr val="8C9AB5"/>
                </a:solidFill>
                <a:latin typeface="Segoe UI"/>
              </a:rPr>
              <a:t> ·   October 2026</a:t>
            </a:r>
          </a:p>
        </p:txBody>
      </p:sp>
      <p:sp>
        <p:nvSpPr>
          <p:cNvPr id="10" name="Oval 9"/>
          <p:cNvSpPr/>
          <p:nvPr/>
        </p:nvSpPr>
        <p:spPr>
          <a:xfrm>
            <a:off x="7178040" y="1371600"/>
            <a:ext cx="4114800" cy="4114800"/>
          </a:xfrm>
          <a:prstGeom prst="ellipse">
            <a:avLst/>
          </a:prstGeom>
          <a:noFill/>
          <a:ln w="12700">
            <a:solidFill>
              <a:srgbClr val="7DB3F5">
                <a:alpha val="35000"/>
              </a:srgbClr>
            </a:solidFill>
          </a:ln>
        </p:spPr>
        <p:txBody>
          <a:bodyPr wrap="square" rtlCol="0" anchor="ctr"/>
          <a:lstStyle/>
          <a:p>
            <a:pPr algn="ctr"/>
            <a:endParaRPr/>
          </a:p>
        </p:txBody>
      </p:sp>
      <p:sp>
        <p:nvSpPr>
          <p:cNvPr id="11" name="Oval 10"/>
          <p:cNvSpPr/>
          <p:nvPr/>
        </p:nvSpPr>
        <p:spPr>
          <a:xfrm>
            <a:off x="7863840" y="2057400"/>
            <a:ext cx="2743200" cy="2743200"/>
          </a:xfrm>
          <a:prstGeom prst="ellipse">
            <a:avLst/>
          </a:prstGeom>
          <a:noFill/>
          <a:ln w="12700">
            <a:solidFill>
              <a:srgbClr val="7DB3F5">
                <a:alpha val="25000"/>
              </a:srgbClr>
            </a:solidFill>
          </a:ln>
        </p:spPr>
        <p:txBody>
          <a:bodyPr wrap="square" rtlCol="0" anchor="ctr"/>
          <a:lstStyle/>
          <a:p>
            <a:pPr algn="ctr"/>
            <a:endParaRPr/>
          </a:p>
        </p:txBody>
      </p:sp>
      <p:cxnSp>
        <p:nvCxnSpPr>
          <p:cNvPr id="12" name="Connector 11"/>
          <p:cNvCxnSpPr/>
          <p:nvPr/>
        </p:nvCxnSpPr>
        <p:spPr>
          <a:xfrm flipV="1">
            <a:off x="9235440" y="1371600"/>
            <a:ext cx="0" cy="2057400"/>
          </a:xfrm>
          <a:prstGeom prst="line">
            <a:avLst/>
          </a:prstGeom>
          <a:ln w="19050">
            <a:solidFill>
              <a:srgbClr val="3987E5">
                <a:alpha val="60000"/>
              </a:srgbClr>
            </a:solidFill>
          </a:ln>
        </p:spPr>
      </p:cxnSp>
      <p:cxnSp>
        <p:nvCxnSpPr>
          <p:cNvPr id="13" name="Connector 12"/>
          <p:cNvCxnSpPr/>
          <p:nvPr/>
        </p:nvCxnSpPr>
        <p:spPr>
          <a:xfrm>
            <a:off x="9235440" y="3429000"/>
            <a:ext cx="2057400" cy="0"/>
          </a:xfrm>
          <a:prstGeom prst="line">
            <a:avLst/>
          </a:prstGeom>
          <a:ln w="19050">
            <a:solidFill>
              <a:srgbClr val="9085E9">
                <a:alpha val="60000"/>
              </a:srgbClr>
            </a:solidFill>
          </a:ln>
        </p:spPr>
      </p:cxnSp>
      <p:cxnSp>
        <p:nvCxnSpPr>
          <p:cNvPr id="14" name="Connector 13"/>
          <p:cNvCxnSpPr/>
          <p:nvPr/>
        </p:nvCxnSpPr>
        <p:spPr>
          <a:xfrm>
            <a:off x="9235440" y="3429000"/>
            <a:ext cx="0" cy="2057400"/>
          </a:xfrm>
          <a:prstGeom prst="line">
            <a:avLst/>
          </a:prstGeom>
          <a:ln w="19050">
            <a:solidFill>
              <a:srgbClr val="199E70">
                <a:alpha val="60000"/>
              </a:srgbClr>
            </a:solidFill>
          </a:ln>
        </p:spPr>
      </p:cxnSp>
      <p:cxnSp>
        <p:nvCxnSpPr>
          <p:cNvPr id="15" name="Connector 14"/>
          <p:cNvCxnSpPr/>
          <p:nvPr/>
        </p:nvCxnSpPr>
        <p:spPr>
          <a:xfrm flipH="1">
            <a:off x="7178040" y="3429000"/>
            <a:ext cx="2057400" cy="0"/>
          </a:xfrm>
          <a:prstGeom prst="line">
            <a:avLst/>
          </a:prstGeom>
          <a:ln w="19050">
            <a:solidFill>
              <a:srgbClr val="D95926">
                <a:alpha val="60000"/>
              </a:srgbClr>
            </a:solidFill>
          </a:ln>
        </p:spPr>
      </p:cxnSp>
      <p:sp>
        <p:nvSpPr>
          <p:cNvPr id="16" name="Oval 15"/>
          <p:cNvSpPr/>
          <p:nvPr/>
        </p:nvSpPr>
        <p:spPr>
          <a:xfrm>
            <a:off x="10141299" y="2330466"/>
            <a:ext cx="128016" cy="128016"/>
          </a:xfrm>
          <a:prstGeom prst="ellipse">
            <a:avLst/>
          </a:prstGeom>
          <a:solidFill>
            <a:srgbClr val="4FD1A1">
              <a:alpha val="80000"/>
            </a:srgbClr>
          </a:solidFill>
          <a:ln>
            <a:noFill/>
          </a:ln>
        </p:spPr>
        <p:txBody>
          <a:bodyPr wrap="square" rtlCol="0" anchor="ctr"/>
          <a:lstStyle/>
          <a:p>
            <a:pPr algn="ctr"/>
            <a:endParaRPr/>
          </a:p>
        </p:txBody>
      </p:sp>
      <p:sp>
        <p:nvSpPr>
          <p:cNvPr id="17" name="Oval 16"/>
          <p:cNvSpPr/>
          <p:nvPr/>
        </p:nvSpPr>
        <p:spPr>
          <a:xfrm>
            <a:off x="10141299" y="4399517"/>
            <a:ext cx="128016" cy="128016"/>
          </a:xfrm>
          <a:prstGeom prst="ellipse">
            <a:avLst/>
          </a:prstGeom>
          <a:solidFill>
            <a:srgbClr val="4FD1A1">
              <a:alpha val="80000"/>
            </a:srgbClr>
          </a:solidFill>
          <a:ln>
            <a:noFill/>
          </a:ln>
        </p:spPr>
        <p:txBody>
          <a:bodyPr wrap="square" rtlCol="0" anchor="ctr"/>
          <a:lstStyle/>
          <a:p>
            <a:pPr algn="ctr"/>
            <a:endParaRPr/>
          </a:p>
        </p:txBody>
      </p:sp>
      <p:sp>
        <p:nvSpPr>
          <p:cNvPr id="18" name="Oval 17"/>
          <p:cNvSpPr/>
          <p:nvPr/>
        </p:nvSpPr>
        <p:spPr>
          <a:xfrm>
            <a:off x="8201564" y="4399517"/>
            <a:ext cx="128016" cy="128016"/>
          </a:xfrm>
          <a:prstGeom prst="ellipse">
            <a:avLst/>
          </a:prstGeom>
          <a:solidFill>
            <a:srgbClr val="4FD1A1">
              <a:alpha val="80000"/>
            </a:srgbClr>
          </a:solidFill>
          <a:ln>
            <a:noFill/>
          </a:ln>
        </p:spPr>
        <p:txBody>
          <a:bodyPr wrap="square" rtlCol="0" anchor="ctr"/>
          <a:lstStyle/>
          <a:p>
            <a:pPr algn="ctr"/>
            <a:endParaRPr/>
          </a:p>
        </p:txBody>
      </p:sp>
      <p:sp>
        <p:nvSpPr>
          <p:cNvPr id="19" name="Oval 18"/>
          <p:cNvSpPr/>
          <p:nvPr/>
        </p:nvSpPr>
        <p:spPr>
          <a:xfrm>
            <a:off x="8201564" y="2330466"/>
            <a:ext cx="128016" cy="128016"/>
          </a:xfrm>
          <a:prstGeom prst="ellipse">
            <a:avLst/>
          </a:prstGeom>
          <a:solidFill>
            <a:srgbClr val="4FD1A1">
              <a:alpha val="80000"/>
            </a:srgbClr>
          </a:solidFill>
          <a:ln>
            <a:noFill/>
          </a:ln>
        </p:spPr>
        <p:txBody>
          <a:bodyPr wrap="square" rtlCol="0" anchor="ctr"/>
          <a:lstStyle/>
          <a:p>
            <a:pPr algn="ctr"/>
            <a:endParaRPr/>
          </a:p>
        </p:txBody>
      </p:sp>
      <p:sp>
        <p:nvSpPr>
          <p:cNvPr id="20" name="Oval 19"/>
          <p:cNvSpPr/>
          <p:nvPr/>
        </p:nvSpPr>
        <p:spPr>
          <a:xfrm>
            <a:off x="8522208" y="2715768"/>
            <a:ext cx="1426464" cy="1426464"/>
          </a:xfrm>
          <a:prstGeom prst="ellipse">
            <a:avLst/>
          </a:prstGeom>
          <a:gradFill rotWithShape="1">
            <a:gsLst>
              <a:gs pos="0">
                <a:srgbClr val="7DB3F5"/>
              </a:gs>
              <a:gs pos="100000">
                <a:srgbClr val="9085E9"/>
              </a:gs>
            </a:gsLst>
            <a:lin ang="2700000" scaled="0"/>
          </a:gradFill>
          <a:ln>
            <a:noFill/>
          </a:ln>
          <a:effectLst>
            <a:outerShdw blurRad="381000" dir="5400000" algn="t" rotWithShape="0">
              <a:srgbClr val="000000">
                <a:alpha val="50000"/>
              </a:srgbClr>
            </a:outerShdw>
          </a:effectLst>
        </p:spPr>
        <p:txBody>
          <a:bodyPr wrap="square" lIns="45720" tIns="45720" rIns="45720" bIns="45720" rtlCol="0" anchor="ctr">
            <a:noAutofit/>
          </a:bodyPr>
          <a:lstStyle/>
          <a:p>
            <a:pPr algn="ctr">
              <a:lnSpc>
                <a:spcPct val="95000"/>
              </a:lnSpc>
              <a:spcAft>
                <a:spcPts val="0"/>
              </a:spcAft>
            </a:pPr>
            <a:r>
              <a:rPr sz="1250" b="0" i="0">
                <a:solidFill>
                  <a:srgbClr val="FFFFFF"/>
                </a:solidFill>
                <a:latin typeface="Segoe UI Semibold"/>
              </a:rPr>
              <a:t>Unified</a:t>
            </a:r>
          </a:p>
          <a:p>
            <a:pPr algn="ctr">
              <a:lnSpc>
                <a:spcPct val="95000"/>
              </a:lnSpc>
              <a:spcAft>
                <a:spcPts val="0"/>
              </a:spcAft>
            </a:pPr>
            <a:r>
              <a:rPr sz="1250" b="0" i="0">
                <a:solidFill>
                  <a:srgbClr val="FFFFFF"/>
                </a:solidFill>
                <a:latin typeface="Segoe UI Semibold"/>
              </a:rPr>
              <a:t>Control Plane</a:t>
            </a:r>
          </a:p>
        </p:txBody>
      </p:sp>
      <p:sp>
        <p:nvSpPr>
          <p:cNvPr id="21" name="Rounded Rectangle 20"/>
          <p:cNvSpPr/>
          <p:nvPr/>
        </p:nvSpPr>
        <p:spPr>
          <a:xfrm>
            <a:off x="8522208" y="1069848"/>
            <a:ext cx="1426464" cy="603504"/>
          </a:xfrm>
          <a:prstGeom prst="roundRect">
            <a:avLst>
              <a:gd name="adj" fmla="val 50000"/>
            </a:avLst>
          </a:prstGeom>
          <a:solidFill>
            <a:srgbClr val="182A4C"/>
          </a:solidFill>
          <a:ln w="15875">
            <a:solidFill>
              <a:srgbClr val="3987E5"/>
            </a:solidFill>
          </a:ln>
          <a:effectLst>
            <a:outerShdw blurRad="177800" dist="38100" dir="5400000" algn="t" rotWithShape="0">
              <a:srgbClr val="000000">
                <a:alpha val="40000"/>
              </a:srgbClr>
            </a:outerShdw>
          </a:effectLst>
        </p:spPr>
        <p:txBody>
          <a:bodyPr wrap="square" lIns="36576" tIns="36576" rIns="36576" bIns="36576" rtlCol="0" anchor="ctr">
            <a:noAutofit/>
          </a:bodyPr>
          <a:lstStyle/>
          <a:p>
            <a:pPr algn="ctr">
              <a:lnSpc>
                <a:spcPct val="100000"/>
              </a:lnSpc>
              <a:spcAft>
                <a:spcPts val="0"/>
              </a:spcAft>
            </a:pPr>
            <a:r>
              <a:rPr sz="1200" b="0" i="0">
                <a:solidFill>
                  <a:srgbClr val="FFFFFF"/>
                </a:solidFill>
                <a:latin typeface="Segoe UI Semibold"/>
              </a:rPr>
              <a:t>AWS</a:t>
            </a:r>
          </a:p>
        </p:txBody>
      </p:sp>
      <p:sp>
        <p:nvSpPr>
          <p:cNvPr id="22" name="Rounded Rectangle 21"/>
          <p:cNvSpPr/>
          <p:nvPr/>
        </p:nvSpPr>
        <p:spPr>
          <a:xfrm>
            <a:off x="10579608" y="3127248"/>
            <a:ext cx="1426464" cy="603504"/>
          </a:xfrm>
          <a:prstGeom prst="roundRect">
            <a:avLst>
              <a:gd name="adj" fmla="val 50000"/>
            </a:avLst>
          </a:prstGeom>
          <a:solidFill>
            <a:srgbClr val="182A4C"/>
          </a:solidFill>
          <a:ln w="15875">
            <a:solidFill>
              <a:srgbClr val="9085E9"/>
            </a:solidFill>
          </a:ln>
          <a:effectLst>
            <a:outerShdw blurRad="177800" dist="38100" dir="5400000" algn="t" rotWithShape="0">
              <a:srgbClr val="000000">
                <a:alpha val="40000"/>
              </a:srgbClr>
            </a:outerShdw>
          </a:effectLst>
        </p:spPr>
        <p:txBody>
          <a:bodyPr wrap="square" lIns="36576" tIns="36576" rIns="36576" bIns="36576" rtlCol="0" anchor="ctr">
            <a:noAutofit/>
          </a:bodyPr>
          <a:lstStyle/>
          <a:p>
            <a:pPr algn="ctr">
              <a:lnSpc>
                <a:spcPct val="100000"/>
              </a:lnSpc>
              <a:spcAft>
                <a:spcPts val="0"/>
              </a:spcAft>
            </a:pPr>
            <a:r>
              <a:rPr sz="1200" b="0" i="0">
                <a:solidFill>
                  <a:srgbClr val="FFFFFF"/>
                </a:solidFill>
                <a:latin typeface="Segoe UI Semibold"/>
              </a:rPr>
              <a:t>Azure</a:t>
            </a:r>
          </a:p>
        </p:txBody>
      </p:sp>
      <p:sp>
        <p:nvSpPr>
          <p:cNvPr id="23" name="Rounded Rectangle 22"/>
          <p:cNvSpPr/>
          <p:nvPr/>
        </p:nvSpPr>
        <p:spPr>
          <a:xfrm>
            <a:off x="8522208" y="5184648"/>
            <a:ext cx="1426464" cy="603504"/>
          </a:xfrm>
          <a:prstGeom prst="roundRect">
            <a:avLst>
              <a:gd name="adj" fmla="val 50000"/>
            </a:avLst>
          </a:prstGeom>
          <a:solidFill>
            <a:srgbClr val="182A4C"/>
          </a:solidFill>
          <a:ln w="15875">
            <a:solidFill>
              <a:srgbClr val="199E70"/>
            </a:solidFill>
          </a:ln>
          <a:effectLst>
            <a:outerShdw blurRad="177800" dist="38100" dir="5400000" algn="t" rotWithShape="0">
              <a:srgbClr val="000000">
                <a:alpha val="40000"/>
              </a:srgbClr>
            </a:outerShdw>
          </a:effectLst>
        </p:spPr>
        <p:txBody>
          <a:bodyPr wrap="square" lIns="36576" tIns="36576" rIns="36576" bIns="36576" rtlCol="0" anchor="ctr">
            <a:noAutofit/>
          </a:bodyPr>
          <a:lstStyle/>
          <a:p>
            <a:pPr algn="ctr">
              <a:lnSpc>
                <a:spcPct val="100000"/>
              </a:lnSpc>
              <a:spcAft>
                <a:spcPts val="0"/>
              </a:spcAft>
            </a:pPr>
            <a:r>
              <a:rPr sz="1200" b="0" i="0">
                <a:solidFill>
                  <a:srgbClr val="FFFFFF"/>
                </a:solidFill>
                <a:latin typeface="Segoe UI Semibold"/>
              </a:rPr>
              <a:t>Google Cloud</a:t>
            </a:r>
          </a:p>
        </p:txBody>
      </p:sp>
      <p:sp>
        <p:nvSpPr>
          <p:cNvPr id="24" name="Rounded Rectangle 23"/>
          <p:cNvSpPr/>
          <p:nvPr/>
        </p:nvSpPr>
        <p:spPr>
          <a:xfrm>
            <a:off x="6464807" y="3127248"/>
            <a:ext cx="1426464" cy="603504"/>
          </a:xfrm>
          <a:prstGeom prst="roundRect">
            <a:avLst>
              <a:gd name="adj" fmla="val 50000"/>
            </a:avLst>
          </a:prstGeom>
          <a:solidFill>
            <a:srgbClr val="182A4C"/>
          </a:solidFill>
          <a:ln w="15875">
            <a:solidFill>
              <a:srgbClr val="D95926"/>
            </a:solidFill>
          </a:ln>
          <a:effectLst>
            <a:outerShdw blurRad="177800" dist="38100" dir="5400000" algn="t" rotWithShape="0">
              <a:srgbClr val="000000">
                <a:alpha val="40000"/>
              </a:srgbClr>
            </a:outerShdw>
          </a:effectLst>
        </p:spPr>
        <p:txBody>
          <a:bodyPr wrap="square" lIns="36576" tIns="36576" rIns="36576" bIns="36576" rtlCol="0" anchor="ctr">
            <a:noAutofit/>
          </a:bodyPr>
          <a:lstStyle/>
          <a:p>
            <a:pPr algn="ctr">
              <a:lnSpc>
                <a:spcPct val="100000"/>
              </a:lnSpc>
              <a:spcAft>
                <a:spcPts val="0"/>
              </a:spcAft>
            </a:pPr>
            <a:r>
              <a:rPr sz="1200" b="0" i="0">
                <a:solidFill>
                  <a:srgbClr val="FFFFFF"/>
                </a:solidFill>
                <a:latin typeface="Segoe UI Semibold"/>
              </a:rPr>
              <a:t>Private / Edge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42" presetClass="entr" presetSubtype="0" fill="hold" grpId="0" nodeType="withEffect">
                                  <p:stCondLst>
                                    <p:cond delay="41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800"/>
                                        <p:tgtEl>
                                          <p:spTgt spid="6"/>
                                        </p:tgtEl>
                                      </p:cBhvr>
                                    </p:animEffect>
                                    <p:anim calcmode="lin" valueType="num">
                                      <p:cBhvr>
                                        <p:cTn id="11" dur="800" fill="hold"/>
                                        <p:tgtEl>
                                          <p:spTgt spid="6"/>
                                        </p:tgtEl>
                                        <p:attrNameLst>
                                          <p:attrName>ppt_x</p:attrName>
                                        </p:attrNameLst>
                                      </p:cBhvr>
                                      <p:tavLst>
                                        <p:tav tm="0">
                                          <p:val>
                                            <p:strVal val="#ppt_x"/>
                                          </p:val>
                                        </p:tav>
                                        <p:tav tm="100000">
                                          <p:val>
                                            <p:strVal val="#ppt_x"/>
                                          </p:val>
                                        </p:tav>
                                      </p:tavLst>
                                    </p:anim>
                                    <p:anim calcmode="lin" valueType="num">
                                      <p:cBhvr>
                                        <p:cTn id="12" dur="800" fill="hold"/>
                                        <p:tgtEl>
                                          <p:spTgt spid="6"/>
                                        </p:tgtEl>
                                        <p:attrNameLst>
                                          <p:attrName>ppt_y</p:attrName>
                                        </p:attrNameLst>
                                      </p:cBhvr>
                                      <p:tavLst>
                                        <p:tav tm="0">
                                          <p:val>
                                            <p:strVal val="#ppt_y+.08"/>
                                          </p:val>
                                        </p:tav>
                                        <p:tav tm="100000">
                                          <p:val>
                                            <p:strVal val="#ppt_y"/>
                                          </p:val>
                                        </p:tav>
                                      </p:tavLst>
                                    </p:anim>
                                  </p:childTnLst>
                                </p:cTn>
                              </p:par>
                              <p:par>
                                <p:cTn id="13" presetID="22" presetClass="entr" presetSubtype="8" fill="hold" grpId="0" nodeType="withEffect">
                                  <p:stCondLst>
                                    <p:cond delay="57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600"/>
                                        <p:tgtEl>
                                          <p:spTgt spid="7"/>
                                        </p:tgtEl>
                                      </p:cBhvr>
                                    </p:animEffect>
                                  </p:childTnLst>
                                </p:cTn>
                              </p:par>
                              <p:par>
                                <p:cTn id="16" presetID="42" presetClass="entr" presetSubtype="0" fill="hold" grpId="0" nodeType="withEffect">
                                  <p:stCondLst>
                                    <p:cond delay="73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00"/>
                                        <p:tgtEl>
                                          <p:spTgt spid="8"/>
                                        </p:tgtEl>
                                      </p:cBhvr>
                                    </p:animEffect>
                                    <p:anim calcmode="lin" valueType="num">
                                      <p:cBhvr>
                                        <p:cTn id="19" dur="600" fill="hold"/>
                                        <p:tgtEl>
                                          <p:spTgt spid="8"/>
                                        </p:tgtEl>
                                        <p:attrNameLst>
                                          <p:attrName>ppt_x</p:attrName>
                                        </p:attrNameLst>
                                      </p:cBhvr>
                                      <p:tavLst>
                                        <p:tav tm="0">
                                          <p:val>
                                            <p:strVal val="#ppt_x"/>
                                          </p:val>
                                        </p:tav>
                                        <p:tav tm="100000">
                                          <p:val>
                                            <p:strVal val="#ppt_x"/>
                                          </p:val>
                                        </p:tav>
                                      </p:tavLst>
                                    </p:anim>
                                    <p:anim calcmode="lin" valueType="num">
                                      <p:cBhvr>
                                        <p:cTn id="20" dur="600" fill="hold"/>
                                        <p:tgtEl>
                                          <p:spTgt spid="8"/>
                                        </p:tgtEl>
                                        <p:attrNameLst>
                                          <p:attrName>ppt_y</p:attrName>
                                        </p:attrNameLst>
                                      </p:cBhvr>
                                      <p:tavLst>
                                        <p:tav tm="0">
                                          <p:val>
                                            <p:strVal val="#ppt_y+.08"/>
                                          </p:val>
                                        </p:tav>
                                        <p:tav tm="100000">
                                          <p:val>
                                            <p:strVal val="#ppt_y"/>
                                          </p:val>
                                        </p:tav>
                                      </p:tavLst>
                                    </p:anim>
                                  </p:childTnLst>
                                </p:cTn>
                              </p:par>
                              <p:par>
                                <p:cTn id="21" presetID="10" presetClass="entr" presetSubtype="0" fill="hold" grpId="0" nodeType="withEffect">
                                  <p:stCondLst>
                                    <p:cond delay="89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00"/>
                                        <p:tgtEl>
                                          <p:spTgt spid="9"/>
                                        </p:tgtEl>
                                      </p:cBhvr>
                                    </p:animEffect>
                                  </p:childTnLst>
                                </p:cTn>
                              </p:par>
                              <p:par>
                                <p:cTn id="24" presetID="53" presetClass="entr" presetSubtype="16" fill="hold" grpId="0" nodeType="withEffect">
                                  <p:stCondLst>
                                    <p:cond delay="570"/>
                                  </p:stCondLst>
                                  <p:childTnLst>
                                    <p:set>
                                      <p:cBhvr>
                                        <p:cTn id="25" dur="1" fill="hold">
                                          <p:stCondLst>
                                            <p:cond delay="0"/>
                                          </p:stCondLst>
                                        </p:cTn>
                                        <p:tgtEl>
                                          <p:spTgt spid="10"/>
                                        </p:tgtEl>
                                        <p:attrNameLst>
                                          <p:attrName>style.visibility</p:attrName>
                                        </p:attrNameLst>
                                      </p:cBhvr>
                                      <p:to>
                                        <p:strVal val="visible"/>
                                      </p:to>
                                    </p:set>
                                    <p:anim calcmode="lin" valueType="num">
                                      <p:cBhvr>
                                        <p:cTn id="26" dur="900" fill="hold"/>
                                        <p:tgtEl>
                                          <p:spTgt spid="10"/>
                                        </p:tgtEl>
                                        <p:attrNameLst>
                                          <p:attrName>ppt_w</p:attrName>
                                        </p:attrNameLst>
                                      </p:cBhvr>
                                      <p:tavLst>
                                        <p:tav tm="0">
                                          <p:val>
                                            <p:fltVal val="0"/>
                                          </p:val>
                                        </p:tav>
                                        <p:tav tm="100000">
                                          <p:val>
                                            <p:strVal val="#ppt_w"/>
                                          </p:val>
                                        </p:tav>
                                      </p:tavLst>
                                    </p:anim>
                                    <p:anim calcmode="lin" valueType="num">
                                      <p:cBhvr>
                                        <p:cTn id="27" dur="900" fill="hold"/>
                                        <p:tgtEl>
                                          <p:spTgt spid="10"/>
                                        </p:tgtEl>
                                        <p:attrNameLst>
                                          <p:attrName>ppt_h</p:attrName>
                                        </p:attrNameLst>
                                      </p:cBhvr>
                                      <p:tavLst>
                                        <p:tav tm="0">
                                          <p:val>
                                            <p:fltVal val="0"/>
                                          </p:val>
                                        </p:tav>
                                        <p:tav tm="100000">
                                          <p:val>
                                            <p:strVal val="#ppt_h"/>
                                          </p:val>
                                        </p:tav>
                                      </p:tavLst>
                                    </p:anim>
                                    <p:animEffect transition="in" filter="fade">
                                      <p:cBhvr>
                                        <p:cTn id="28" dur="900"/>
                                        <p:tgtEl>
                                          <p:spTgt spid="10"/>
                                        </p:tgtEl>
                                      </p:cBhvr>
                                    </p:animEffect>
                                  </p:childTnLst>
                                </p:cTn>
                              </p:par>
                              <p:par>
                                <p:cTn id="29" presetID="53" presetClass="entr" presetSubtype="16" fill="hold" grpId="0" nodeType="withEffect">
                                  <p:stCondLst>
                                    <p:cond delay="570"/>
                                  </p:stCondLst>
                                  <p:childTnLst>
                                    <p:set>
                                      <p:cBhvr>
                                        <p:cTn id="30" dur="1" fill="hold">
                                          <p:stCondLst>
                                            <p:cond delay="0"/>
                                          </p:stCondLst>
                                        </p:cTn>
                                        <p:tgtEl>
                                          <p:spTgt spid="11"/>
                                        </p:tgtEl>
                                        <p:attrNameLst>
                                          <p:attrName>style.visibility</p:attrName>
                                        </p:attrNameLst>
                                      </p:cBhvr>
                                      <p:to>
                                        <p:strVal val="visible"/>
                                      </p:to>
                                    </p:set>
                                    <p:anim calcmode="lin" valueType="num">
                                      <p:cBhvr>
                                        <p:cTn id="31" dur="900" fill="hold"/>
                                        <p:tgtEl>
                                          <p:spTgt spid="11"/>
                                        </p:tgtEl>
                                        <p:attrNameLst>
                                          <p:attrName>ppt_w</p:attrName>
                                        </p:attrNameLst>
                                      </p:cBhvr>
                                      <p:tavLst>
                                        <p:tav tm="0">
                                          <p:val>
                                            <p:fltVal val="0"/>
                                          </p:val>
                                        </p:tav>
                                        <p:tav tm="100000">
                                          <p:val>
                                            <p:strVal val="#ppt_w"/>
                                          </p:val>
                                        </p:tav>
                                      </p:tavLst>
                                    </p:anim>
                                    <p:anim calcmode="lin" valueType="num">
                                      <p:cBhvr>
                                        <p:cTn id="32" dur="900" fill="hold"/>
                                        <p:tgtEl>
                                          <p:spTgt spid="11"/>
                                        </p:tgtEl>
                                        <p:attrNameLst>
                                          <p:attrName>ppt_h</p:attrName>
                                        </p:attrNameLst>
                                      </p:cBhvr>
                                      <p:tavLst>
                                        <p:tav tm="0">
                                          <p:val>
                                            <p:fltVal val="0"/>
                                          </p:val>
                                        </p:tav>
                                        <p:tav tm="100000">
                                          <p:val>
                                            <p:strVal val="#ppt_h"/>
                                          </p:val>
                                        </p:tav>
                                      </p:tavLst>
                                    </p:anim>
                                    <p:animEffect transition="in" filter="fade">
                                      <p:cBhvr>
                                        <p:cTn id="33" dur="900"/>
                                        <p:tgtEl>
                                          <p:spTgt spid="11"/>
                                        </p:tgtEl>
                                      </p:cBhvr>
                                    </p:animEffect>
                                  </p:childTnLst>
                                </p:cTn>
                              </p:par>
                              <p:par>
                                <p:cTn id="34" presetID="10" presetClass="entr" presetSubtype="0" fill="hold" nodeType="withEffect">
                                  <p:stCondLst>
                                    <p:cond delay="89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105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nodeType="withEffect">
                                  <p:stCondLst>
                                    <p:cond delay="121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nodeType="withEffect">
                                  <p:stCondLst>
                                    <p:cond delay="137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53" presetClass="entr" presetSubtype="16" fill="hold" grpId="0" nodeType="withEffect">
                                  <p:stCondLst>
                                    <p:cond delay="890"/>
                                  </p:stCondLst>
                                  <p:childTnLst>
                                    <p:set>
                                      <p:cBhvr>
                                        <p:cTn id="47" dur="1" fill="hold">
                                          <p:stCondLst>
                                            <p:cond delay="0"/>
                                          </p:stCondLst>
                                        </p:cTn>
                                        <p:tgtEl>
                                          <p:spTgt spid="16"/>
                                        </p:tgtEl>
                                        <p:attrNameLst>
                                          <p:attrName>style.visibility</p:attrName>
                                        </p:attrNameLst>
                                      </p:cBhvr>
                                      <p:to>
                                        <p:strVal val="visible"/>
                                      </p:to>
                                    </p:set>
                                    <p:anim calcmode="lin" valueType="num">
                                      <p:cBhvr>
                                        <p:cTn id="48" dur="600" fill="hold"/>
                                        <p:tgtEl>
                                          <p:spTgt spid="16"/>
                                        </p:tgtEl>
                                        <p:attrNameLst>
                                          <p:attrName>ppt_w</p:attrName>
                                        </p:attrNameLst>
                                      </p:cBhvr>
                                      <p:tavLst>
                                        <p:tav tm="0">
                                          <p:val>
                                            <p:fltVal val="0"/>
                                          </p:val>
                                        </p:tav>
                                        <p:tav tm="100000">
                                          <p:val>
                                            <p:strVal val="#ppt_w"/>
                                          </p:val>
                                        </p:tav>
                                      </p:tavLst>
                                    </p:anim>
                                    <p:anim calcmode="lin" valueType="num">
                                      <p:cBhvr>
                                        <p:cTn id="49" dur="600" fill="hold"/>
                                        <p:tgtEl>
                                          <p:spTgt spid="16"/>
                                        </p:tgtEl>
                                        <p:attrNameLst>
                                          <p:attrName>ppt_h</p:attrName>
                                        </p:attrNameLst>
                                      </p:cBhvr>
                                      <p:tavLst>
                                        <p:tav tm="0">
                                          <p:val>
                                            <p:fltVal val="0"/>
                                          </p:val>
                                        </p:tav>
                                        <p:tav tm="100000">
                                          <p:val>
                                            <p:strVal val="#ppt_h"/>
                                          </p:val>
                                        </p:tav>
                                      </p:tavLst>
                                    </p:anim>
                                    <p:animEffect transition="in" filter="fade">
                                      <p:cBhvr>
                                        <p:cTn id="50" dur="600"/>
                                        <p:tgtEl>
                                          <p:spTgt spid="16"/>
                                        </p:tgtEl>
                                      </p:cBhvr>
                                    </p:animEffect>
                                  </p:childTnLst>
                                </p:cTn>
                              </p:par>
                              <p:par>
                                <p:cTn id="51" presetID="53" presetClass="entr" presetSubtype="16" fill="hold" grpId="0" nodeType="withEffect">
                                  <p:stCondLst>
                                    <p:cond delay="1050"/>
                                  </p:stCondLst>
                                  <p:childTnLst>
                                    <p:set>
                                      <p:cBhvr>
                                        <p:cTn id="52" dur="1" fill="hold">
                                          <p:stCondLst>
                                            <p:cond delay="0"/>
                                          </p:stCondLst>
                                        </p:cTn>
                                        <p:tgtEl>
                                          <p:spTgt spid="17"/>
                                        </p:tgtEl>
                                        <p:attrNameLst>
                                          <p:attrName>style.visibility</p:attrName>
                                        </p:attrNameLst>
                                      </p:cBhvr>
                                      <p:to>
                                        <p:strVal val="visible"/>
                                      </p:to>
                                    </p:set>
                                    <p:anim calcmode="lin" valueType="num">
                                      <p:cBhvr>
                                        <p:cTn id="53" dur="600" fill="hold"/>
                                        <p:tgtEl>
                                          <p:spTgt spid="17"/>
                                        </p:tgtEl>
                                        <p:attrNameLst>
                                          <p:attrName>ppt_w</p:attrName>
                                        </p:attrNameLst>
                                      </p:cBhvr>
                                      <p:tavLst>
                                        <p:tav tm="0">
                                          <p:val>
                                            <p:fltVal val="0"/>
                                          </p:val>
                                        </p:tav>
                                        <p:tav tm="100000">
                                          <p:val>
                                            <p:strVal val="#ppt_w"/>
                                          </p:val>
                                        </p:tav>
                                      </p:tavLst>
                                    </p:anim>
                                    <p:anim calcmode="lin" valueType="num">
                                      <p:cBhvr>
                                        <p:cTn id="54" dur="600" fill="hold"/>
                                        <p:tgtEl>
                                          <p:spTgt spid="17"/>
                                        </p:tgtEl>
                                        <p:attrNameLst>
                                          <p:attrName>ppt_h</p:attrName>
                                        </p:attrNameLst>
                                      </p:cBhvr>
                                      <p:tavLst>
                                        <p:tav tm="0">
                                          <p:val>
                                            <p:fltVal val="0"/>
                                          </p:val>
                                        </p:tav>
                                        <p:tav tm="100000">
                                          <p:val>
                                            <p:strVal val="#ppt_h"/>
                                          </p:val>
                                        </p:tav>
                                      </p:tavLst>
                                    </p:anim>
                                    <p:animEffect transition="in" filter="fade">
                                      <p:cBhvr>
                                        <p:cTn id="55" dur="600"/>
                                        <p:tgtEl>
                                          <p:spTgt spid="17"/>
                                        </p:tgtEl>
                                      </p:cBhvr>
                                    </p:animEffect>
                                  </p:childTnLst>
                                </p:cTn>
                              </p:par>
                              <p:par>
                                <p:cTn id="56" presetID="53" presetClass="entr" presetSubtype="16" fill="hold" grpId="0" nodeType="withEffect">
                                  <p:stCondLst>
                                    <p:cond delay="1210"/>
                                  </p:stCondLst>
                                  <p:childTnLst>
                                    <p:set>
                                      <p:cBhvr>
                                        <p:cTn id="57" dur="1" fill="hold">
                                          <p:stCondLst>
                                            <p:cond delay="0"/>
                                          </p:stCondLst>
                                        </p:cTn>
                                        <p:tgtEl>
                                          <p:spTgt spid="18"/>
                                        </p:tgtEl>
                                        <p:attrNameLst>
                                          <p:attrName>style.visibility</p:attrName>
                                        </p:attrNameLst>
                                      </p:cBhvr>
                                      <p:to>
                                        <p:strVal val="visible"/>
                                      </p:to>
                                    </p:set>
                                    <p:anim calcmode="lin" valueType="num">
                                      <p:cBhvr>
                                        <p:cTn id="58" dur="600" fill="hold"/>
                                        <p:tgtEl>
                                          <p:spTgt spid="18"/>
                                        </p:tgtEl>
                                        <p:attrNameLst>
                                          <p:attrName>ppt_w</p:attrName>
                                        </p:attrNameLst>
                                      </p:cBhvr>
                                      <p:tavLst>
                                        <p:tav tm="0">
                                          <p:val>
                                            <p:fltVal val="0"/>
                                          </p:val>
                                        </p:tav>
                                        <p:tav tm="100000">
                                          <p:val>
                                            <p:strVal val="#ppt_w"/>
                                          </p:val>
                                        </p:tav>
                                      </p:tavLst>
                                    </p:anim>
                                    <p:anim calcmode="lin" valueType="num">
                                      <p:cBhvr>
                                        <p:cTn id="59" dur="600" fill="hold"/>
                                        <p:tgtEl>
                                          <p:spTgt spid="18"/>
                                        </p:tgtEl>
                                        <p:attrNameLst>
                                          <p:attrName>ppt_h</p:attrName>
                                        </p:attrNameLst>
                                      </p:cBhvr>
                                      <p:tavLst>
                                        <p:tav tm="0">
                                          <p:val>
                                            <p:fltVal val="0"/>
                                          </p:val>
                                        </p:tav>
                                        <p:tav tm="100000">
                                          <p:val>
                                            <p:strVal val="#ppt_h"/>
                                          </p:val>
                                        </p:tav>
                                      </p:tavLst>
                                    </p:anim>
                                    <p:animEffect transition="in" filter="fade">
                                      <p:cBhvr>
                                        <p:cTn id="60" dur="600"/>
                                        <p:tgtEl>
                                          <p:spTgt spid="18"/>
                                        </p:tgtEl>
                                      </p:cBhvr>
                                    </p:animEffect>
                                  </p:childTnLst>
                                </p:cTn>
                              </p:par>
                              <p:par>
                                <p:cTn id="61" presetID="53" presetClass="entr" presetSubtype="16" fill="hold" grpId="0" nodeType="withEffect">
                                  <p:stCondLst>
                                    <p:cond delay="1370"/>
                                  </p:stCondLst>
                                  <p:childTnLst>
                                    <p:set>
                                      <p:cBhvr>
                                        <p:cTn id="62" dur="1" fill="hold">
                                          <p:stCondLst>
                                            <p:cond delay="0"/>
                                          </p:stCondLst>
                                        </p:cTn>
                                        <p:tgtEl>
                                          <p:spTgt spid="19"/>
                                        </p:tgtEl>
                                        <p:attrNameLst>
                                          <p:attrName>style.visibility</p:attrName>
                                        </p:attrNameLst>
                                      </p:cBhvr>
                                      <p:to>
                                        <p:strVal val="visible"/>
                                      </p:to>
                                    </p:set>
                                    <p:anim calcmode="lin" valueType="num">
                                      <p:cBhvr>
                                        <p:cTn id="63" dur="600" fill="hold"/>
                                        <p:tgtEl>
                                          <p:spTgt spid="19"/>
                                        </p:tgtEl>
                                        <p:attrNameLst>
                                          <p:attrName>ppt_w</p:attrName>
                                        </p:attrNameLst>
                                      </p:cBhvr>
                                      <p:tavLst>
                                        <p:tav tm="0">
                                          <p:val>
                                            <p:fltVal val="0"/>
                                          </p:val>
                                        </p:tav>
                                        <p:tav tm="100000">
                                          <p:val>
                                            <p:strVal val="#ppt_w"/>
                                          </p:val>
                                        </p:tav>
                                      </p:tavLst>
                                    </p:anim>
                                    <p:anim calcmode="lin" valueType="num">
                                      <p:cBhvr>
                                        <p:cTn id="64" dur="600" fill="hold"/>
                                        <p:tgtEl>
                                          <p:spTgt spid="19"/>
                                        </p:tgtEl>
                                        <p:attrNameLst>
                                          <p:attrName>ppt_h</p:attrName>
                                        </p:attrNameLst>
                                      </p:cBhvr>
                                      <p:tavLst>
                                        <p:tav tm="0">
                                          <p:val>
                                            <p:fltVal val="0"/>
                                          </p:val>
                                        </p:tav>
                                        <p:tav tm="100000">
                                          <p:val>
                                            <p:strVal val="#ppt_h"/>
                                          </p:val>
                                        </p:tav>
                                      </p:tavLst>
                                    </p:anim>
                                    <p:animEffect transition="in" filter="fade">
                                      <p:cBhvr>
                                        <p:cTn id="65" dur="600"/>
                                        <p:tgtEl>
                                          <p:spTgt spid="19"/>
                                        </p:tgtEl>
                                      </p:cBhvr>
                                    </p:animEffect>
                                  </p:childTnLst>
                                </p:cTn>
                              </p:par>
                              <p:par>
                                <p:cTn id="66" presetID="53" presetClass="entr" presetSubtype="16" fill="hold" grpId="0" nodeType="withEffect">
                                  <p:stCondLst>
                                    <p:cond delay="730"/>
                                  </p:stCondLst>
                                  <p:childTnLst>
                                    <p:set>
                                      <p:cBhvr>
                                        <p:cTn id="67" dur="1" fill="hold">
                                          <p:stCondLst>
                                            <p:cond delay="0"/>
                                          </p:stCondLst>
                                        </p:cTn>
                                        <p:tgtEl>
                                          <p:spTgt spid="20"/>
                                        </p:tgtEl>
                                        <p:attrNameLst>
                                          <p:attrName>style.visibility</p:attrName>
                                        </p:attrNameLst>
                                      </p:cBhvr>
                                      <p:to>
                                        <p:strVal val="visible"/>
                                      </p:to>
                                    </p:set>
                                    <p:anim calcmode="lin" valueType="num">
                                      <p:cBhvr>
                                        <p:cTn id="68" dur="700" fill="hold"/>
                                        <p:tgtEl>
                                          <p:spTgt spid="20"/>
                                        </p:tgtEl>
                                        <p:attrNameLst>
                                          <p:attrName>ppt_w</p:attrName>
                                        </p:attrNameLst>
                                      </p:cBhvr>
                                      <p:tavLst>
                                        <p:tav tm="0">
                                          <p:val>
                                            <p:fltVal val="0"/>
                                          </p:val>
                                        </p:tav>
                                        <p:tav tm="100000">
                                          <p:val>
                                            <p:strVal val="#ppt_w"/>
                                          </p:val>
                                        </p:tav>
                                      </p:tavLst>
                                    </p:anim>
                                    <p:anim calcmode="lin" valueType="num">
                                      <p:cBhvr>
                                        <p:cTn id="69" dur="700" fill="hold"/>
                                        <p:tgtEl>
                                          <p:spTgt spid="20"/>
                                        </p:tgtEl>
                                        <p:attrNameLst>
                                          <p:attrName>ppt_h</p:attrName>
                                        </p:attrNameLst>
                                      </p:cBhvr>
                                      <p:tavLst>
                                        <p:tav tm="0">
                                          <p:val>
                                            <p:fltVal val="0"/>
                                          </p:val>
                                        </p:tav>
                                        <p:tav tm="100000">
                                          <p:val>
                                            <p:strVal val="#ppt_h"/>
                                          </p:val>
                                        </p:tav>
                                      </p:tavLst>
                                    </p:anim>
                                    <p:animEffect transition="in" filter="fade">
                                      <p:cBhvr>
                                        <p:cTn id="70" dur="700"/>
                                        <p:tgtEl>
                                          <p:spTgt spid="20"/>
                                        </p:tgtEl>
                                      </p:cBhvr>
                                    </p:animEffect>
                                  </p:childTnLst>
                                </p:cTn>
                              </p:par>
                              <p:par>
                                <p:cTn id="71" presetID="53" presetClass="entr" presetSubtype="16" fill="hold" grpId="0" nodeType="withEffect">
                                  <p:stCondLst>
                                    <p:cond delay="1050"/>
                                  </p:stCondLst>
                                  <p:childTnLst>
                                    <p:set>
                                      <p:cBhvr>
                                        <p:cTn id="72" dur="1" fill="hold">
                                          <p:stCondLst>
                                            <p:cond delay="0"/>
                                          </p:stCondLst>
                                        </p:cTn>
                                        <p:tgtEl>
                                          <p:spTgt spid="21"/>
                                        </p:tgtEl>
                                        <p:attrNameLst>
                                          <p:attrName>style.visibility</p:attrName>
                                        </p:attrNameLst>
                                      </p:cBhvr>
                                      <p:to>
                                        <p:strVal val="visible"/>
                                      </p:to>
                                    </p:set>
                                    <p:anim calcmode="lin" valueType="num">
                                      <p:cBhvr>
                                        <p:cTn id="73" dur="500" fill="hold"/>
                                        <p:tgtEl>
                                          <p:spTgt spid="21"/>
                                        </p:tgtEl>
                                        <p:attrNameLst>
                                          <p:attrName>ppt_w</p:attrName>
                                        </p:attrNameLst>
                                      </p:cBhvr>
                                      <p:tavLst>
                                        <p:tav tm="0">
                                          <p:val>
                                            <p:fltVal val="0"/>
                                          </p:val>
                                        </p:tav>
                                        <p:tav tm="100000">
                                          <p:val>
                                            <p:strVal val="#ppt_w"/>
                                          </p:val>
                                        </p:tav>
                                      </p:tavLst>
                                    </p:anim>
                                    <p:anim calcmode="lin" valueType="num">
                                      <p:cBhvr>
                                        <p:cTn id="74" dur="500" fill="hold"/>
                                        <p:tgtEl>
                                          <p:spTgt spid="21"/>
                                        </p:tgtEl>
                                        <p:attrNameLst>
                                          <p:attrName>ppt_h</p:attrName>
                                        </p:attrNameLst>
                                      </p:cBhvr>
                                      <p:tavLst>
                                        <p:tav tm="0">
                                          <p:val>
                                            <p:fltVal val="0"/>
                                          </p:val>
                                        </p:tav>
                                        <p:tav tm="100000">
                                          <p:val>
                                            <p:strVal val="#ppt_h"/>
                                          </p:val>
                                        </p:tav>
                                      </p:tavLst>
                                    </p:anim>
                                    <p:animEffect transition="in" filter="fade">
                                      <p:cBhvr>
                                        <p:cTn id="75" dur="500"/>
                                        <p:tgtEl>
                                          <p:spTgt spid="21"/>
                                        </p:tgtEl>
                                      </p:cBhvr>
                                    </p:animEffect>
                                  </p:childTnLst>
                                </p:cTn>
                              </p:par>
                              <p:par>
                                <p:cTn id="76" presetID="53" presetClass="entr" presetSubtype="16" fill="hold" grpId="0" nodeType="withEffect">
                                  <p:stCondLst>
                                    <p:cond delay="1210"/>
                                  </p:stCondLst>
                                  <p:childTnLst>
                                    <p:set>
                                      <p:cBhvr>
                                        <p:cTn id="77" dur="1" fill="hold">
                                          <p:stCondLst>
                                            <p:cond delay="0"/>
                                          </p:stCondLst>
                                        </p:cTn>
                                        <p:tgtEl>
                                          <p:spTgt spid="22"/>
                                        </p:tgtEl>
                                        <p:attrNameLst>
                                          <p:attrName>style.visibility</p:attrName>
                                        </p:attrNameLst>
                                      </p:cBhvr>
                                      <p:to>
                                        <p:strVal val="visible"/>
                                      </p:to>
                                    </p:set>
                                    <p:anim calcmode="lin" valueType="num">
                                      <p:cBhvr>
                                        <p:cTn id="78" dur="500" fill="hold"/>
                                        <p:tgtEl>
                                          <p:spTgt spid="22"/>
                                        </p:tgtEl>
                                        <p:attrNameLst>
                                          <p:attrName>ppt_w</p:attrName>
                                        </p:attrNameLst>
                                      </p:cBhvr>
                                      <p:tavLst>
                                        <p:tav tm="0">
                                          <p:val>
                                            <p:fltVal val="0"/>
                                          </p:val>
                                        </p:tav>
                                        <p:tav tm="100000">
                                          <p:val>
                                            <p:strVal val="#ppt_w"/>
                                          </p:val>
                                        </p:tav>
                                      </p:tavLst>
                                    </p:anim>
                                    <p:anim calcmode="lin" valueType="num">
                                      <p:cBhvr>
                                        <p:cTn id="79" dur="500" fill="hold"/>
                                        <p:tgtEl>
                                          <p:spTgt spid="22"/>
                                        </p:tgtEl>
                                        <p:attrNameLst>
                                          <p:attrName>ppt_h</p:attrName>
                                        </p:attrNameLst>
                                      </p:cBhvr>
                                      <p:tavLst>
                                        <p:tav tm="0">
                                          <p:val>
                                            <p:fltVal val="0"/>
                                          </p:val>
                                        </p:tav>
                                        <p:tav tm="100000">
                                          <p:val>
                                            <p:strVal val="#ppt_h"/>
                                          </p:val>
                                        </p:tav>
                                      </p:tavLst>
                                    </p:anim>
                                    <p:animEffect transition="in" filter="fade">
                                      <p:cBhvr>
                                        <p:cTn id="80" dur="500"/>
                                        <p:tgtEl>
                                          <p:spTgt spid="22"/>
                                        </p:tgtEl>
                                      </p:cBhvr>
                                    </p:animEffect>
                                  </p:childTnLst>
                                </p:cTn>
                              </p:par>
                              <p:par>
                                <p:cTn id="81" presetID="53" presetClass="entr" presetSubtype="16" fill="hold" grpId="0" nodeType="withEffect">
                                  <p:stCondLst>
                                    <p:cond delay="1370"/>
                                  </p:stCondLst>
                                  <p:childTnLst>
                                    <p:set>
                                      <p:cBhvr>
                                        <p:cTn id="82" dur="1" fill="hold">
                                          <p:stCondLst>
                                            <p:cond delay="0"/>
                                          </p:stCondLst>
                                        </p:cTn>
                                        <p:tgtEl>
                                          <p:spTgt spid="23"/>
                                        </p:tgtEl>
                                        <p:attrNameLst>
                                          <p:attrName>style.visibility</p:attrName>
                                        </p:attrNameLst>
                                      </p:cBhvr>
                                      <p:to>
                                        <p:strVal val="visible"/>
                                      </p:to>
                                    </p:set>
                                    <p:anim calcmode="lin" valueType="num">
                                      <p:cBhvr>
                                        <p:cTn id="83" dur="500" fill="hold"/>
                                        <p:tgtEl>
                                          <p:spTgt spid="23"/>
                                        </p:tgtEl>
                                        <p:attrNameLst>
                                          <p:attrName>ppt_w</p:attrName>
                                        </p:attrNameLst>
                                      </p:cBhvr>
                                      <p:tavLst>
                                        <p:tav tm="0">
                                          <p:val>
                                            <p:fltVal val="0"/>
                                          </p:val>
                                        </p:tav>
                                        <p:tav tm="100000">
                                          <p:val>
                                            <p:strVal val="#ppt_w"/>
                                          </p:val>
                                        </p:tav>
                                      </p:tavLst>
                                    </p:anim>
                                    <p:anim calcmode="lin" valueType="num">
                                      <p:cBhvr>
                                        <p:cTn id="84" dur="500" fill="hold"/>
                                        <p:tgtEl>
                                          <p:spTgt spid="23"/>
                                        </p:tgtEl>
                                        <p:attrNameLst>
                                          <p:attrName>ppt_h</p:attrName>
                                        </p:attrNameLst>
                                      </p:cBhvr>
                                      <p:tavLst>
                                        <p:tav tm="0">
                                          <p:val>
                                            <p:fltVal val="0"/>
                                          </p:val>
                                        </p:tav>
                                        <p:tav tm="100000">
                                          <p:val>
                                            <p:strVal val="#ppt_h"/>
                                          </p:val>
                                        </p:tav>
                                      </p:tavLst>
                                    </p:anim>
                                    <p:animEffect transition="in" filter="fade">
                                      <p:cBhvr>
                                        <p:cTn id="85" dur="500"/>
                                        <p:tgtEl>
                                          <p:spTgt spid="23"/>
                                        </p:tgtEl>
                                      </p:cBhvr>
                                    </p:animEffect>
                                  </p:childTnLst>
                                </p:cTn>
                              </p:par>
                              <p:par>
                                <p:cTn id="86" presetID="53" presetClass="entr" presetSubtype="16" fill="hold" grpId="0" nodeType="withEffect">
                                  <p:stCondLst>
                                    <p:cond delay="1530"/>
                                  </p:stCondLst>
                                  <p:childTnLst>
                                    <p:set>
                                      <p:cBhvr>
                                        <p:cTn id="87" dur="1" fill="hold">
                                          <p:stCondLst>
                                            <p:cond delay="0"/>
                                          </p:stCondLst>
                                        </p:cTn>
                                        <p:tgtEl>
                                          <p:spTgt spid="24"/>
                                        </p:tgtEl>
                                        <p:attrNameLst>
                                          <p:attrName>style.visibility</p:attrName>
                                        </p:attrNameLst>
                                      </p:cBhvr>
                                      <p:to>
                                        <p:strVal val="visible"/>
                                      </p:to>
                                    </p:set>
                                    <p:anim calcmode="lin" valueType="num">
                                      <p:cBhvr>
                                        <p:cTn id="88" dur="500" fill="hold"/>
                                        <p:tgtEl>
                                          <p:spTgt spid="24"/>
                                        </p:tgtEl>
                                        <p:attrNameLst>
                                          <p:attrName>ppt_w</p:attrName>
                                        </p:attrNameLst>
                                      </p:cBhvr>
                                      <p:tavLst>
                                        <p:tav tm="0">
                                          <p:val>
                                            <p:fltVal val="0"/>
                                          </p:val>
                                        </p:tav>
                                        <p:tav tm="100000">
                                          <p:val>
                                            <p:strVal val="#ppt_w"/>
                                          </p:val>
                                        </p:tav>
                                      </p:tavLst>
                                    </p:anim>
                                    <p:anim calcmode="lin" valueType="num">
                                      <p:cBhvr>
                                        <p:cTn id="89" dur="500" fill="hold"/>
                                        <p:tgtEl>
                                          <p:spTgt spid="24"/>
                                        </p:tgtEl>
                                        <p:attrNameLst>
                                          <p:attrName>ppt_h</p:attrName>
                                        </p:attrNameLst>
                                      </p:cBhvr>
                                      <p:tavLst>
                                        <p:tav tm="0">
                                          <p:val>
                                            <p:fltVal val="0"/>
                                          </p:val>
                                        </p:tav>
                                        <p:tav tm="100000">
                                          <p:val>
                                            <p:strVal val="#ppt_h"/>
                                          </p:val>
                                        </p:tav>
                                      </p:tavLst>
                                    </p:anim>
                                    <p:animEffect transition="in" filter="fade">
                                      <p:cBhvr>
                                        <p:cTn id="9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802362" y="-2153089"/>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1956363" y="4052346"/>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484608" y="4904270"/>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OVERVIEW</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Agenda</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sz="1000" b="0" i="0">
                <a:solidFill>
                  <a:srgbClr val="C9D2E3"/>
                </a:solidFill>
                <a:latin typeface="Segoe UI Semibold"/>
              </a:rPr>
              <a:t>02</a:t>
            </a:r>
            <a:r>
              <a:rPr sz="1000" b="0" i="0">
                <a:solidFill>
                  <a:srgbClr val="8C9AB5"/>
                </a:solidFill>
                <a:latin typeface="Segoe UI"/>
              </a:rPr>
              <a:t> / 30</a:t>
            </a:r>
          </a:p>
        </p:txBody>
      </p:sp>
      <p:sp>
        <p:nvSpPr>
          <p:cNvPr id="36" name="TextBox 35"/>
          <p:cNvSpPr txBox="1"/>
          <p:nvPr/>
        </p:nvSpPr>
        <p:spPr>
          <a:xfrm>
            <a:off x="548640" y="1737360"/>
            <a:ext cx="3291840" cy="2377440"/>
          </a:xfrm>
          <a:prstGeom prst="rect">
            <a:avLst/>
          </a:prstGeom>
          <a:noFill/>
        </p:spPr>
        <p:txBody>
          <a:bodyPr wrap="square" lIns="0" tIns="0" rIns="0" bIns="0" anchor="t">
            <a:noAutofit/>
          </a:bodyPr>
          <a:lstStyle/>
          <a:p>
            <a:pPr algn="l">
              <a:lnSpc>
                <a:spcPct val="120000"/>
              </a:lnSpc>
              <a:spcAft>
                <a:spcPts val="1400"/>
              </a:spcAft>
            </a:pPr>
            <a:r>
              <a:rPr sz="1500" b="0" i="0" dirty="0">
                <a:solidFill>
                  <a:srgbClr val="C9D2E3"/>
                </a:solidFill>
                <a:latin typeface="Segoe UI"/>
              </a:rPr>
              <a:t>A structured journey from </a:t>
            </a:r>
            <a:r>
              <a:rPr sz="1500" b="0" i="0" dirty="0">
                <a:solidFill>
                  <a:srgbClr val="FFFFFF"/>
                </a:solidFill>
                <a:latin typeface="Segoe UI Semibold"/>
              </a:rPr>
              <a:t>why</a:t>
            </a:r>
            <a:r>
              <a:rPr sz="1500" b="0" i="0" dirty="0">
                <a:solidFill>
                  <a:srgbClr val="C9D2E3"/>
                </a:solidFill>
                <a:latin typeface="Segoe UI"/>
              </a:rPr>
              <a:t> </a:t>
            </a:r>
            <a:r>
              <a:rPr sz="1500" b="0" i="0" dirty="0" err="1">
                <a:solidFill>
                  <a:srgbClr val="C9D2E3"/>
                </a:solidFill>
                <a:latin typeface="Segoe UI"/>
              </a:rPr>
              <a:t>organisations</a:t>
            </a:r>
            <a:r>
              <a:rPr sz="1500" b="0" i="0" dirty="0">
                <a:solidFill>
                  <a:srgbClr val="C9D2E3"/>
                </a:solidFill>
                <a:latin typeface="Segoe UI"/>
              </a:rPr>
              <a:t> go multi-cloud to </a:t>
            </a:r>
            <a:r>
              <a:rPr sz="1500" b="0" i="0" dirty="0">
                <a:solidFill>
                  <a:srgbClr val="FFFFFF"/>
                </a:solidFill>
                <a:latin typeface="Segoe UI Semibold"/>
              </a:rPr>
              <a:t>how</a:t>
            </a:r>
            <a:r>
              <a:rPr sz="1500" b="0" i="0" dirty="0">
                <a:solidFill>
                  <a:srgbClr val="C9D2E3"/>
                </a:solidFill>
                <a:latin typeface="Segoe UI"/>
              </a:rPr>
              <a:t> they decide where every workload should run.</a:t>
            </a:r>
          </a:p>
          <a:p>
            <a:pPr algn="l">
              <a:lnSpc>
                <a:spcPct val="120000"/>
              </a:lnSpc>
              <a:spcAft>
                <a:spcPts val="0"/>
              </a:spcAft>
            </a:pPr>
            <a:r>
              <a:rPr sz="1250" b="0" i="0">
                <a:solidFill>
                  <a:srgbClr val="8C9AB5"/>
                </a:solidFill>
                <a:latin typeface="Segoe UI"/>
              </a:rPr>
              <a:t>≈ 35 minutes  ·  </a:t>
            </a:r>
            <a:r>
              <a:rPr lang="en-GB" sz="1250">
                <a:solidFill>
                  <a:srgbClr val="8C9AB5"/>
                </a:solidFill>
                <a:latin typeface="Segoe UI"/>
              </a:rPr>
              <a:t>31</a:t>
            </a:r>
            <a:r>
              <a:rPr sz="1250" b="0" i="0">
                <a:solidFill>
                  <a:srgbClr val="8C9AB5"/>
                </a:solidFill>
                <a:latin typeface="Segoe UI"/>
              </a:rPr>
              <a:t> slides</a:t>
            </a:r>
          </a:p>
        </p:txBody>
      </p:sp>
      <p:grpSp>
        <p:nvGrpSpPr>
          <p:cNvPr id="37" name="Group 36"/>
          <p:cNvGrpSpPr/>
          <p:nvPr/>
        </p:nvGrpSpPr>
        <p:grpSpPr>
          <a:xfrm>
            <a:off x="4206240" y="1645920"/>
            <a:ext cx="7434072" cy="786384"/>
            <a:chOff x="4206240" y="1645920"/>
            <a:chExt cx="7434072" cy="786384"/>
          </a:xfrm>
        </p:grpSpPr>
        <p:sp>
          <p:nvSpPr>
            <p:cNvPr id="38" name="Rounded Rectangle 37"/>
            <p:cNvSpPr/>
            <p:nvPr/>
          </p:nvSpPr>
          <p:spPr>
            <a:xfrm>
              <a:off x="4206240" y="1645920"/>
              <a:ext cx="7434072" cy="786384"/>
            </a:xfrm>
            <a:prstGeom prst="roundRect">
              <a:avLst>
                <a:gd name="adj" fmla="val 20000"/>
              </a:avLst>
            </a:prstGeom>
            <a:gradFill rotWithShape="1">
              <a:gsLst>
                <a:gs pos="0">
                  <a:srgbClr val="182A4C"/>
                </a:gs>
                <a:gs pos="100000">
                  <a:srgbClr val="13213D"/>
                </a:gs>
              </a:gsLst>
              <a:lin ang="0" scaled="0"/>
            </a:gradFill>
            <a:ln w="9525">
              <a:solidFill>
                <a:srgbClr val="2A3F69"/>
              </a:solidFill>
            </a:ln>
          </p:spPr>
          <p:txBody>
            <a:bodyPr wrap="square" rtlCol="0" anchor="ctr"/>
            <a:lstStyle/>
            <a:p>
              <a:pPr algn="ctr"/>
              <a:endParaRPr/>
            </a:p>
          </p:txBody>
        </p:sp>
        <p:sp>
          <p:nvSpPr>
            <p:cNvPr id="39" name="Oval 38"/>
            <p:cNvSpPr/>
            <p:nvPr/>
          </p:nvSpPr>
          <p:spPr>
            <a:xfrm>
              <a:off x="4389120" y="1783080"/>
              <a:ext cx="512064" cy="512064"/>
            </a:xfrm>
            <a:prstGeom prst="ellipse">
              <a:avLst/>
            </a:prstGeom>
            <a:gradFill rotWithShape="1">
              <a:gsLst>
                <a:gs pos="0">
                  <a:srgbClr val="7DB3F5"/>
                </a:gs>
                <a:gs pos="100000">
                  <a:srgbClr val="3987E5"/>
                </a:gs>
              </a:gsLst>
              <a:lin ang="2700000" scaled="0"/>
            </a:gradFill>
            <a:ln>
              <a:noFill/>
            </a:ln>
          </p:spPr>
          <p:txBody>
            <a:bodyPr wrap="square" lIns="0" tIns="0" rIns="0" bIns="0" rtlCol="0" anchor="ctr">
              <a:noAutofit/>
            </a:bodyPr>
            <a:lstStyle/>
            <a:p>
              <a:pPr algn="ctr">
                <a:lnSpc>
                  <a:spcPct val="112000"/>
                </a:lnSpc>
                <a:spcAft>
                  <a:spcPts val="0"/>
                </a:spcAft>
              </a:pPr>
              <a:r>
                <a:rPr sz="1300" b="0" i="0">
                  <a:solidFill>
                    <a:srgbClr val="FFFFFF"/>
                  </a:solidFill>
                  <a:latin typeface="Segoe UI Semibold"/>
                </a:rPr>
                <a:t>01</a:t>
              </a:r>
            </a:p>
          </p:txBody>
        </p:sp>
        <p:sp>
          <p:nvSpPr>
            <p:cNvPr id="40" name="TextBox 39"/>
            <p:cNvSpPr txBox="1"/>
            <p:nvPr/>
          </p:nvSpPr>
          <p:spPr>
            <a:xfrm>
              <a:off x="5120640" y="1737360"/>
              <a:ext cx="5120640" cy="365760"/>
            </a:xfrm>
            <a:prstGeom prst="rect">
              <a:avLst/>
            </a:prstGeom>
            <a:noFill/>
          </p:spPr>
          <p:txBody>
            <a:bodyPr wrap="square" lIns="0" tIns="0" rIns="0" bIns="0" anchor="t">
              <a:noAutofit/>
            </a:bodyPr>
            <a:lstStyle/>
            <a:p>
              <a:pPr algn="l">
                <a:lnSpc>
                  <a:spcPct val="112000"/>
                </a:lnSpc>
                <a:spcAft>
                  <a:spcPts val="0"/>
                </a:spcAft>
              </a:pPr>
              <a:r>
                <a:rPr sz="1650" b="0" i="0">
                  <a:solidFill>
                    <a:srgbClr val="FFFFFF"/>
                  </a:solidFill>
                  <a:latin typeface="Segoe UI Semibold"/>
                </a:rPr>
                <a:t>Introduction &amp; Motivation</a:t>
              </a:r>
            </a:p>
          </p:txBody>
        </p:sp>
        <p:sp>
          <p:nvSpPr>
            <p:cNvPr id="41" name="TextBox 40"/>
            <p:cNvSpPr txBox="1"/>
            <p:nvPr/>
          </p:nvSpPr>
          <p:spPr>
            <a:xfrm>
              <a:off x="5120640" y="2066544"/>
              <a:ext cx="5303520" cy="310896"/>
            </a:xfrm>
            <a:prstGeom prst="rect">
              <a:avLst/>
            </a:prstGeom>
            <a:noFill/>
          </p:spPr>
          <p:txBody>
            <a:bodyPr wrap="square" lIns="0" tIns="0" rIns="0" bIns="0" anchor="t">
              <a:noAutofit/>
            </a:bodyPr>
            <a:lstStyle/>
            <a:p>
              <a:pPr algn="l">
                <a:lnSpc>
                  <a:spcPct val="112000"/>
                </a:lnSpc>
                <a:spcAft>
                  <a:spcPts val="0"/>
                </a:spcAft>
              </a:pPr>
              <a:r>
                <a:rPr sz="1200" b="0" i="0">
                  <a:solidFill>
                    <a:srgbClr val="8C9AB5"/>
                  </a:solidFill>
                  <a:latin typeface="Segoe UI"/>
                </a:rPr>
                <a:t>Drivers, definitions, market landscape, key challenges</a:t>
              </a:r>
            </a:p>
          </p:txBody>
        </p:sp>
        <p:sp>
          <p:nvSpPr>
            <p:cNvPr id="42" name="Rounded Rectangle 41"/>
            <p:cNvSpPr/>
            <p:nvPr/>
          </p:nvSpPr>
          <p:spPr>
            <a:xfrm>
              <a:off x="10561320" y="1883664"/>
              <a:ext cx="896112" cy="310896"/>
            </a:xfrm>
            <a:prstGeom prst="roundRect">
              <a:avLst>
                <a:gd name="adj" fmla="val 50000"/>
              </a:avLst>
            </a:prstGeom>
            <a:solidFill>
              <a:srgbClr val="3987E5">
                <a:alpha val="16000"/>
              </a:srgbClr>
            </a:solidFill>
            <a:ln w="9525">
              <a:solidFill>
                <a:srgbClr val="3987E5"/>
              </a:solidFill>
            </a:ln>
          </p:spPr>
          <p:txBody>
            <a:bodyPr wrap="square" lIns="18288" tIns="18288" rIns="18288" bIns="18288" rtlCol="0" anchor="ctr">
              <a:noAutofit/>
            </a:bodyPr>
            <a:lstStyle/>
            <a:p>
              <a:pPr algn="ctr">
                <a:lnSpc>
                  <a:spcPct val="112000"/>
                </a:lnSpc>
                <a:spcAft>
                  <a:spcPts val="0"/>
                </a:spcAft>
              </a:pPr>
              <a:r>
                <a:rPr sz="1050" b="0" i="0">
                  <a:solidFill>
                    <a:srgbClr val="FFFFFF"/>
                  </a:solidFill>
                  <a:latin typeface="Segoe UI Semibold"/>
                </a:rPr>
                <a:t>03–06</a:t>
              </a:r>
            </a:p>
          </p:txBody>
        </p:sp>
      </p:grpSp>
      <p:grpSp>
        <p:nvGrpSpPr>
          <p:cNvPr id="43" name="Group 42"/>
          <p:cNvGrpSpPr/>
          <p:nvPr/>
        </p:nvGrpSpPr>
        <p:grpSpPr>
          <a:xfrm>
            <a:off x="4206240" y="2560320"/>
            <a:ext cx="7434072" cy="786384"/>
            <a:chOff x="4206240" y="2560320"/>
            <a:chExt cx="7434072" cy="786384"/>
          </a:xfrm>
        </p:grpSpPr>
        <p:sp>
          <p:nvSpPr>
            <p:cNvPr id="44" name="Rounded Rectangle 43"/>
            <p:cNvSpPr/>
            <p:nvPr/>
          </p:nvSpPr>
          <p:spPr>
            <a:xfrm>
              <a:off x="4206240" y="2560320"/>
              <a:ext cx="7434072" cy="786384"/>
            </a:xfrm>
            <a:prstGeom prst="roundRect">
              <a:avLst>
                <a:gd name="adj" fmla="val 20000"/>
              </a:avLst>
            </a:prstGeom>
            <a:gradFill rotWithShape="1">
              <a:gsLst>
                <a:gs pos="0">
                  <a:srgbClr val="182A4C"/>
                </a:gs>
                <a:gs pos="100000">
                  <a:srgbClr val="13213D"/>
                </a:gs>
              </a:gsLst>
              <a:lin ang="0" scaled="0"/>
            </a:gradFill>
            <a:ln w="9525">
              <a:solidFill>
                <a:srgbClr val="2A3F69"/>
              </a:solidFill>
            </a:ln>
          </p:spPr>
          <p:txBody>
            <a:bodyPr wrap="square" rtlCol="0" anchor="ctr"/>
            <a:lstStyle/>
            <a:p>
              <a:pPr algn="ctr"/>
              <a:endParaRPr/>
            </a:p>
          </p:txBody>
        </p:sp>
        <p:sp>
          <p:nvSpPr>
            <p:cNvPr id="45" name="Oval 44"/>
            <p:cNvSpPr/>
            <p:nvPr/>
          </p:nvSpPr>
          <p:spPr>
            <a:xfrm>
              <a:off x="4389120" y="2697479"/>
              <a:ext cx="512064" cy="512064"/>
            </a:xfrm>
            <a:prstGeom prst="ellipse">
              <a:avLst/>
            </a:prstGeom>
            <a:gradFill rotWithShape="1">
              <a:gsLst>
                <a:gs pos="0">
                  <a:srgbClr val="4FD1A1"/>
                </a:gs>
                <a:gs pos="100000">
                  <a:srgbClr val="199E70"/>
                </a:gs>
              </a:gsLst>
              <a:lin ang="2700000" scaled="0"/>
            </a:gradFill>
            <a:ln>
              <a:noFill/>
            </a:ln>
          </p:spPr>
          <p:txBody>
            <a:bodyPr wrap="square" lIns="0" tIns="0" rIns="0" bIns="0" rtlCol="0" anchor="ctr">
              <a:noAutofit/>
            </a:bodyPr>
            <a:lstStyle/>
            <a:p>
              <a:pPr algn="ctr">
                <a:lnSpc>
                  <a:spcPct val="112000"/>
                </a:lnSpc>
                <a:spcAft>
                  <a:spcPts val="0"/>
                </a:spcAft>
              </a:pPr>
              <a:r>
                <a:rPr sz="1300" b="0" i="0">
                  <a:solidFill>
                    <a:srgbClr val="FFFFFF"/>
                  </a:solidFill>
                  <a:latin typeface="Segoe UI Semibold"/>
                </a:rPr>
                <a:t>02</a:t>
              </a:r>
            </a:p>
          </p:txBody>
        </p:sp>
        <p:sp>
          <p:nvSpPr>
            <p:cNvPr id="46" name="TextBox 45"/>
            <p:cNvSpPr txBox="1"/>
            <p:nvPr/>
          </p:nvSpPr>
          <p:spPr>
            <a:xfrm>
              <a:off x="5120640" y="2651760"/>
              <a:ext cx="5120640" cy="365760"/>
            </a:xfrm>
            <a:prstGeom prst="rect">
              <a:avLst/>
            </a:prstGeom>
            <a:noFill/>
          </p:spPr>
          <p:txBody>
            <a:bodyPr wrap="square" lIns="0" tIns="0" rIns="0" bIns="0" anchor="t">
              <a:noAutofit/>
            </a:bodyPr>
            <a:lstStyle/>
            <a:p>
              <a:pPr algn="l">
                <a:lnSpc>
                  <a:spcPct val="112000"/>
                </a:lnSpc>
                <a:spcAft>
                  <a:spcPts val="0"/>
                </a:spcAft>
              </a:pPr>
              <a:r>
                <a:rPr sz="1650" b="0" i="0">
                  <a:solidFill>
                    <a:srgbClr val="FFFFFF"/>
                  </a:solidFill>
                  <a:latin typeface="Segoe UI Semibold"/>
                </a:rPr>
                <a:t>State of the Art</a:t>
              </a:r>
            </a:p>
          </p:txBody>
        </p:sp>
        <p:sp>
          <p:nvSpPr>
            <p:cNvPr id="47" name="TextBox 46"/>
            <p:cNvSpPr txBox="1"/>
            <p:nvPr/>
          </p:nvSpPr>
          <p:spPr>
            <a:xfrm>
              <a:off x="5120640" y="2980944"/>
              <a:ext cx="5303520" cy="310896"/>
            </a:xfrm>
            <a:prstGeom prst="rect">
              <a:avLst/>
            </a:prstGeom>
            <a:noFill/>
          </p:spPr>
          <p:txBody>
            <a:bodyPr wrap="square" lIns="0" tIns="0" rIns="0" bIns="0" anchor="t">
              <a:noAutofit/>
            </a:bodyPr>
            <a:lstStyle/>
            <a:p>
              <a:pPr algn="l">
                <a:lnSpc>
                  <a:spcPct val="112000"/>
                </a:lnSpc>
                <a:spcAft>
                  <a:spcPts val="0"/>
                </a:spcAft>
              </a:pPr>
              <a:r>
                <a:rPr sz="1200" b="0" i="0">
                  <a:solidFill>
                    <a:srgbClr val="8C9AB5"/>
                  </a:solidFill>
                  <a:latin typeface="Segoe UI"/>
                </a:rPr>
                <a:t>Evolution, reference architecture, tooling, research frontiers</a:t>
              </a:r>
            </a:p>
          </p:txBody>
        </p:sp>
        <p:sp>
          <p:nvSpPr>
            <p:cNvPr id="48" name="Rounded Rectangle 47"/>
            <p:cNvSpPr/>
            <p:nvPr/>
          </p:nvSpPr>
          <p:spPr>
            <a:xfrm>
              <a:off x="10561320" y="2798063"/>
              <a:ext cx="896112" cy="310896"/>
            </a:xfrm>
            <a:prstGeom prst="roundRect">
              <a:avLst>
                <a:gd name="adj" fmla="val 50000"/>
              </a:avLst>
            </a:prstGeom>
            <a:solidFill>
              <a:srgbClr val="199E70">
                <a:alpha val="16000"/>
              </a:srgbClr>
            </a:solidFill>
            <a:ln w="9525">
              <a:solidFill>
                <a:srgbClr val="199E70"/>
              </a:solidFill>
            </a:ln>
          </p:spPr>
          <p:txBody>
            <a:bodyPr wrap="square" lIns="18288" tIns="18288" rIns="18288" bIns="18288" rtlCol="0" anchor="ctr">
              <a:noAutofit/>
            </a:bodyPr>
            <a:lstStyle/>
            <a:p>
              <a:pPr algn="ctr">
                <a:lnSpc>
                  <a:spcPct val="112000"/>
                </a:lnSpc>
                <a:spcAft>
                  <a:spcPts val="0"/>
                </a:spcAft>
              </a:pPr>
              <a:r>
                <a:rPr sz="1050" b="0" i="0">
                  <a:solidFill>
                    <a:srgbClr val="FFFFFF"/>
                  </a:solidFill>
                  <a:latin typeface="Segoe UI Semibold"/>
                </a:rPr>
                <a:t>07–15</a:t>
              </a:r>
            </a:p>
          </p:txBody>
        </p:sp>
      </p:grpSp>
      <p:grpSp>
        <p:nvGrpSpPr>
          <p:cNvPr id="49" name="Group 48"/>
          <p:cNvGrpSpPr/>
          <p:nvPr/>
        </p:nvGrpSpPr>
        <p:grpSpPr>
          <a:xfrm>
            <a:off x="4206240" y="3474720"/>
            <a:ext cx="7434072" cy="786384"/>
            <a:chOff x="4206240" y="3474720"/>
            <a:chExt cx="7434072" cy="786384"/>
          </a:xfrm>
        </p:grpSpPr>
        <p:sp>
          <p:nvSpPr>
            <p:cNvPr id="50" name="Rounded Rectangle 49"/>
            <p:cNvSpPr/>
            <p:nvPr/>
          </p:nvSpPr>
          <p:spPr>
            <a:xfrm>
              <a:off x="4206240" y="3474720"/>
              <a:ext cx="7434072" cy="786384"/>
            </a:xfrm>
            <a:prstGeom prst="roundRect">
              <a:avLst>
                <a:gd name="adj" fmla="val 20000"/>
              </a:avLst>
            </a:prstGeom>
            <a:gradFill rotWithShape="1">
              <a:gsLst>
                <a:gs pos="0">
                  <a:srgbClr val="182A4C"/>
                </a:gs>
                <a:gs pos="100000">
                  <a:srgbClr val="13213D"/>
                </a:gs>
              </a:gsLst>
              <a:lin ang="0" scaled="0"/>
            </a:gradFill>
            <a:ln w="9525">
              <a:solidFill>
                <a:srgbClr val="2A3F69"/>
              </a:solidFill>
            </a:ln>
          </p:spPr>
          <p:txBody>
            <a:bodyPr wrap="square" rtlCol="0" anchor="ctr"/>
            <a:lstStyle/>
            <a:p>
              <a:pPr algn="ctr"/>
              <a:endParaRPr/>
            </a:p>
          </p:txBody>
        </p:sp>
        <p:sp>
          <p:nvSpPr>
            <p:cNvPr id="51" name="Oval 50"/>
            <p:cNvSpPr/>
            <p:nvPr/>
          </p:nvSpPr>
          <p:spPr>
            <a:xfrm>
              <a:off x="4389120" y="3611879"/>
              <a:ext cx="512064" cy="512064"/>
            </a:xfrm>
            <a:prstGeom prst="ellipse">
              <a:avLst/>
            </a:prstGeom>
            <a:gradFill rotWithShape="1">
              <a:gsLst>
                <a:gs pos="0">
                  <a:srgbClr val="F4925F"/>
                </a:gs>
                <a:gs pos="100000">
                  <a:srgbClr val="D95926"/>
                </a:gs>
              </a:gsLst>
              <a:lin ang="2700000" scaled="0"/>
            </a:gradFill>
            <a:ln>
              <a:noFill/>
            </a:ln>
          </p:spPr>
          <p:txBody>
            <a:bodyPr wrap="square" lIns="0" tIns="0" rIns="0" bIns="0" rtlCol="0" anchor="ctr">
              <a:noAutofit/>
            </a:bodyPr>
            <a:lstStyle/>
            <a:p>
              <a:pPr algn="ctr">
                <a:lnSpc>
                  <a:spcPct val="112000"/>
                </a:lnSpc>
                <a:spcAft>
                  <a:spcPts val="0"/>
                </a:spcAft>
              </a:pPr>
              <a:r>
                <a:rPr sz="1300" b="0" i="0">
                  <a:solidFill>
                    <a:srgbClr val="FFFFFF"/>
                  </a:solidFill>
                  <a:latin typeface="Segoe UI Semibold"/>
                </a:rPr>
                <a:t>03</a:t>
              </a:r>
            </a:p>
          </p:txBody>
        </p:sp>
        <p:sp>
          <p:nvSpPr>
            <p:cNvPr id="52" name="TextBox 51"/>
            <p:cNvSpPr txBox="1"/>
            <p:nvPr/>
          </p:nvSpPr>
          <p:spPr>
            <a:xfrm>
              <a:off x="5120640" y="3566160"/>
              <a:ext cx="5120640" cy="365760"/>
            </a:xfrm>
            <a:prstGeom prst="rect">
              <a:avLst/>
            </a:prstGeom>
            <a:noFill/>
          </p:spPr>
          <p:txBody>
            <a:bodyPr wrap="square" lIns="0" tIns="0" rIns="0" bIns="0" anchor="t">
              <a:noAutofit/>
            </a:bodyPr>
            <a:lstStyle/>
            <a:p>
              <a:pPr algn="l">
                <a:lnSpc>
                  <a:spcPct val="112000"/>
                </a:lnSpc>
                <a:spcAft>
                  <a:spcPts val="0"/>
                </a:spcAft>
              </a:pPr>
              <a:r>
                <a:rPr sz="1650" b="0" i="0">
                  <a:solidFill>
                    <a:srgbClr val="FFFFFF"/>
                  </a:solidFill>
                  <a:latin typeface="Segoe UI Semibold"/>
                </a:rPr>
                <a:t>Resource Allocation</a:t>
              </a:r>
            </a:p>
          </p:txBody>
        </p:sp>
        <p:sp>
          <p:nvSpPr>
            <p:cNvPr id="53" name="TextBox 52"/>
            <p:cNvSpPr txBox="1"/>
            <p:nvPr/>
          </p:nvSpPr>
          <p:spPr>
            <a:xfrm>
              <a:off x="5120640" y="3895344"/>
              <a:ext cx="5303520" cy="310896"/>
            </a:xfrm>
            <a:prstGeom prst="rect">
              <a:avLst/>
            </a:prstGeom>
            <a:noFill/>
          </p:spPr>
          <p:txBody>
            <a:bodyPr wrap="square" lIns="0" tIns="0" rIns="0" bIns="0" anchor="t">
              <a:noAutofit/>
            </a:bodyPr>
            <a:lstStyle/>
            <a:p>
              <a:pPr algn="l">
                <a:lnSpc>
                  <a:spcPct val="112000"/>
                </a:lnSpc>
                <a:spcAft>
                  <a:spcPts val="0"/>
                </a:spcAft>
              </a:pPr>
              <a:r>
                <a:rPr sz="1200" b="0" i="0">
                  <a:solidFill>
                    <a:srgbClr val="8C9AB5"/>
                  </a:solidFill>
                  <a:latin typeface="Segoe UI"/>
                </a:rPr>
                <a:t>Problem model, objectives, algorithm families, autoscaling</a:t>
              </a:r>
            </a:p>
          </p:txBody>
        </p:sp>
        <p:sp>
          <p:nvSpPr>
            <p:cNvPr id="54" name="Rounded Rectangle 53"/>
            <p:cNvSpPr/>
            <p:nvPr/>
          </p:nvSpPr>
          <p:spPr>
            <a:xfrm>
              <a:off x="10561320" y="3712463"/>
              <a:ext cx="896112" cy="310896"/>
            </a:xfrm>
            <a:prstGeom prst="roundRect">
              <a:avLst>
                <a:gd name="adj" fmla="val 50000"/>
              </a:avLst>
            </a:prstGeom>
            <a:solidFill>
              <a:srgbClr val="D95926">
                <a:alpha val="16000"/>
              </a:srgbClr>
            </a:solidFill>
            <a:ln w="9525">
              <a:solidFill>
                <a:srgbClr val="D95926"/>
              </a:solidFill>
            </a:ln>
          </p:spPr>
          <p:txBody>
            <a:bodyPr wrap="square" lIns="18288" tIns="18288" rIns="18288" bIns="18288" rtlCol="0" anchor="ctr">
              <a:noAutofit/>
            </a:bodyPr>
            <a:lstStyle/>
            <a:p>
              <a:pPr algn="ctr">
                <a:lnSpc>
                  <a:spcPct val="112000"/>
                </a:lnSpc>
                <a:spcAft>
                  <a:spcPts val="0"/>
                </a:spcAft>
              </a:pPr>
              <a:r>
                <a:rPr sz="1050" b="0" i="0">
                  <a:solidFill>
                    <a:srgbClr val="FFFFFF"/>
                  </a:solidFill>
                  <a:latin typeface="Segoe UI Semibold"/>
                </a:rPr>
                <a:t>16–26</a:t>
              </a:r>
            </a:p>
          </p:txBody>
        </p:sp>
      </p:grpSp>
      <p:grpSp>
        <p:nvGrpSpPr>
          <p:cNvPr id="55" name="Group 54"/>
          <p:cNvGrpSpPr/>
          <p:nvPr/>
        </p:nvGrpSpPr>
        <p:grpSpPr>
          <a:xfrm>
            <a:off x="4206240" y="4389120"/>
            <a:ext cx="7434072" cy="786384"/>
            <a:chOff x="4206240" y="4389120"/>
            <a:chExt cx="7434072" cy="786384"/>
          </a:xfrm>
        </p:grpSpPr>
        <p:sp>
          <p:nvSpPr>
            <p:cNvPr id="56" name="Rounded Rectangle 55"/>
            <p:cNvSpPr/>
            <p:nvPr/>
          </p:nvSpPr>
          <p:spPr>
            <a:xfrm>
              <a:off x="4206240" y="4389120"/>
              <a:ext cx="7434072" cy="786384"/>
            </a:xfrm>
            <a:prstGeom prst="roundRect">
              <a:avLst>
                <a:gd name="adj" fmla="val 20000"/>
              </a:avLst>
            </a:prstGeom>
            <a:gradFill rotWithShape="1">
              <a:gsLst>
                <a:gs pos="0">
                  <a:srgbClr val="182A4C"/>
                </a:gs>
                <a:gs pos="100000">
                  <a:srgbClr val="13213D"/>
                </a:gs>
              </a:gsLst>
              <a:lin ang="0" scaled="0"/>
            </a:gradFill>
            <a:ln w="9525">
              <a:solidFill>
                <a:srgbClr val="2A3F69"/>
              </a:solidFill>
            </a:ln>
          </p:spPr>
          <p:txBody>
            <a:bodyPr wrap="square" rtlCol="0" anchor="ctr"/>
            <a:lstStyle/>
            <a:p>
              <a:pPr algn="ctr"/>
              <a:endParaRPr/>
            </a:p>
          </p:txBody>
        </p:sp>
        <p:sp>
          <p:nvSpPr>
            <p:cNvPr id="57" name="Oval 56"/>
            <p:cNvSpPr/>
            <p:nvPr/>
          </p:nvSpPr>
          <p:spPr>
            <a:xfrm>
              <a:off x="4389120" y="4526280"/>
              <a:ext cx="512064" cy="512064"/>
            </a:xfrm>
            <a:prstGeom prst="ellipse">
              <a:avLst/>
            </a:prstGeom>
            <a:gradFill rotWithShape="1">
              <a:gsLst>
                <a:gs pos="0">
                  <a:srgbClr val="B5ADF5"/>
                </a:gs>
                <a:gs pos="100000">
                  <a:srgbClr val="9085E9"/>
                </a:gs>
              </a:gsLst>
              <a:lin ang="2700000" scaled="0"/>
            </a:gradFill>
            <a:ln>
              <a:noFill/>
            </a:ln>
          </p:spPr>
          <p:txBody>
            <a:bodyPr wrap="square" lIns="0" tIns="0" rIns="0" bIns="0" rtlCol="0" anchor="ctr">
              <a:noAutofit/>
            </a:bodyPr>
            <a:lstStyle/>
            <a:p>
              <a:pPr algn="ctr">
                <a:lnSpc>
                  <a:spcPct val="112000"/>
                </a:lnSpc>
                <a:spcAft>
                  <a:spcPts val="0"/>
                </a:spcAft>
              </a:pPr>
              <a:r>
                <a:rPr sz="1300" b="0" i="0">
                  <a:solidFill>
                    <a:srgbClr val="FFFFFF"/>
                  </a:solidFill>
                  <a:latin typeface="Segoe UI Semibold"/>
                </a:rPr>
                <a:t>04</a:t>
              </a:r>
            </a:p>
          </p:txBody>
        </p:sp>
        <p:sp>
          <p:nvSpPr>
            <p:cNvPr id="58" name="TextBox 57"/>
            <p:cNvSpPr txBox="1"/>
            <p:nvPr/>
          </p:nvSpPr>
          <p:spPr>
            <a:xfrm>
              <a:off x="5120640" y="4480559"/>
              <a:ext cx="5120640" cy="365760"/>
            </a:xfrm>
            <a:prstGeom prst="rect">
              <a:avLst/>
            </a:prstGeom>
            <a:noFill/>
          </p:spPr>
          <p:txBody>
            <a:bodyPr wrap="square" lIns="0" tIns="0" rIns="0" bIns="0" anchor="t">
              <a:noAutofit/>
            </a:bodyPr>
            <a:lstStyle/>
            <a:p>
              <a:pPr algn="l">
                <a:lnSpc>
                  <a:spcPct val="112000"/>
                </a:lnSpc>
                <a:spcAft>
                  <a:spcPts val="0"/>
                </a:spcAft>
              </a:pPr>
              <a:r>
                <a:rPr sz="1650" b="0" i="0">
                  <a:solidFill>
                    <a:srgbClr val="FFFFFF"/>
                  </a:solidFill>
                  <a:latin typeface="Segoe UI Semibold"/>
                </a:rPr>
                <a:t>Case Study &amp; Roadmap</a:t>
              </a:r>
            </a:p>
          </p:txBody>
        </p:sp>
        <p:sp>
          <p:nvSpPr>
            <p:cNvPr id="59" name="TextBox 58"/>
            <p:cNvSpPr txBox="1"/>
            <p:nvPr/>
          </p:nvSpPr>
          <p:spPr>
            <a:xfrm>
              <a:off x="5120640" y="4809744"/>
              <a:ext cx="5303520" cy="310896"/>
            </a:xfrm>
            <a:prstGeom prst="rect">
              <a:avLst/>
            </a:prstGeom>
            <a:noFill/>
          </p:spPr>
          <p:txBody>
            <a:bodyPr wrap="square" lIns="0" tIns="0" rIns="0" bIns="0" anchor="t">
              <a:noAutofit/>
            </a:bodyPr>
            <a:lstStyle/>
            <a:p>
              <a:pPr algn="l">
                <a:lnSpc>
                  <a:spcPct val="112000"/>
                </a:lnSpc>
                <a:spcAft>
                  <a:spcPts val="0"/>
                </a:spcAft>
              </a:pPr>
              <a:r>
                <a:rPr sz="1200" b="0" i="0">
                  <a:solidFill>
                    <a:srgbClr val="8C9AB5"/>
                  </a:solidFill>
                  <a:latin typeface="Segoe UI"/>
                </a:rPr>
                <a:t>Applying the concepts end-to-end; maturity model</a:t>
              </a:r>
            </a:p>
          </p:txBody>
        </p:sp>
        <p:sp>
          <p:nvSpPr>
            <p:cNvPr id="60" name="Rounded Rectangle 59"/>
            <p:cNvSpPr/>
            <p:nvPr/>
          </p:nvSpPr>
          <p:spPr>
            <a:xfrm>
              <a:off x="10561320" y="4626864"/>
              <a:ext cx="896112" cy="310896"/>
            </a:xfrm>
            <a:prstGeom prst="roundRect">
              <a:avLst>
                <a:gd name="adj" fmla="val 50000"/>
              </a:avLst>
            </a:prstGeom>
            <a:solidFill>
              <a:srgbClr val="9085E9">
                <a:alpha val="16000"/>
              </a:srgbClr>
            </a:solidFill>
            <a:ln w="9525">
              <a:solidFill>
                <a:srgbClr val="9085E9"/>
              </a:solidFill>
            </a:ln>
          </p:spPr>
          <p:txBody>
            <a:bodyPr wrap="square" lIns="18288" tIns="18288" rIns="18288" bIns="18288" rtlCol="0" anchor="ctr">
              <a:noAutofit/>
            </a:bodyPr>
            <a:lstStyle/>
            <a:p>
              <a:pPr algn="ctr">
                <a:lnSpc>
                  <a:spcPct val="112000"/>
                </a:lnSpc>
                <a:spcAft>
                  <a:spcPts val="0"/>
                </a:spcAft>
              </a:pPr>
              <a:r>
                <a:rPr sz="1050" b="0" i="0">
                  <a:solidFill>
                    <a:srgbClr val="FFFFFF"/>
                  </a:solidFill>
                  <a:latin typeface="Segoe UI Semibold"/>
                </a:rPr>
                <a:t>27–28</a:t>
              </a:r>
            </a:p>
          </p:txBody>
        </p:sp>
      </p:grpSp>
      <p:grpSp>
        <p:nvGrpSpPr>
          <p:cNvPr id="61" name="Group 60"/>
          <p:cNvGrpSpPr/>
          <p:nvPr/>
        </p:nvGrpSpPr>
        <p:grpSpPr>
          <a:xfrm>
            <a:off x="4206240" y="5303520"/>
            <a:ext cx="7434072" cy="786384"/>
            <a:chOff x="4206240" y="5303520"/>
            <a:chExt cx="7434072" cy="786384"/>
          </a:xfrm>
        </p:grpSpPr>
        <p:sp>
          <p:nvSpPr>
            <p:cNvPr id="62" name="Rounded Rectangle 61"/>
            <p:cNvSpPr/>
            <p:nvPr/>
          </p:nvSpPr>
          <p:spPr>
            <a:xfrm>
              <a:off x="4206240" y="5303520"/>
              <a:ext cx="7434072" cy="786384"/>
            </a:xfrm>
            <a:prstGeom prst="roundRect">
              <a:avLst>
                <a:gd name="adj" fmla="val 20000"/>
              </a:avLst>
            </a:prstGeom>
            <a:gradFill rotWithShape="1">
              <a:gsLst>
                <a:gs pos="0">
                  <a:srgbClr val="182A4C"/>
                </a:gs>
                <a:gs pos="100000">
                  <a:srgbClr val="13213D"/>
                </a:gs>
              </a:gsLst>
              <a:lin ang="0" scaled="0"/>
            </a:gradFill>
            <a:ln w="9525">
              <a:solidFill>
                <a:srgbClr val="2A3F69"/>
              </a:solidFill>
            </a:ln>
          </p:spPr>
          <p:txBody>
            <a:bodyPr wrap="square" rtlCol="0" anchor="ctr"/>
            <a:lstStyle/>
            <a:p>
              <a:pPr algn="ctr"/>
              <a:endParaRPr/>
            </a:p>
          </p:txBody>
        </p:sp>
        <p:sp>
          <p:nvSpPr>
            <p:cNvPr id="63" name="Oval 62"/>
            <p:cNvSpPr/>
            <p:nvPr/>
          </p:nvSpPr>
          <p:spPr>
            <a:xfrm>
              <a:off x="4389120" y="5440680"/>
              <a:ext cx="512064" cy="512064"/>
            </a:xfrm>
            <a:prstGeom prst="ellipse">
              <a:avLst/>
            </a:prstGeom>
            <a:gradFill rotWithShape="1">
              <a:gsLst>
                <a:gs pos="0">
                  <a:srgbClr val="7DB3F5"/>
                </a:gs>
                <a:gs pos="100000">
                  <a:srgbClr val="3987E5"/>
                </a:gs>
              </a:gsLst>
              <a:lin ang="2700000" scaled="0"/>
            </a:gradFill>
            <a:ln>
              <a:noFill/>
            </a:ln>
          </p:spPr>
          <p:txBody>
            <a:bodyPr wrap="square" lIns="0" tIns="0" rIns="0" bIns="0" rtlCol="0" anchor="ctr">
              <a:noAutofit/>
            </a:bodyPr>
            <a:lstStyle/>
            <a:p>
              <a:pPr algn="ctr">
                <a:lnSpc>
                  <a:spcPct val="112000"/>
                </a:lnSpc>
                <a:spcAft>
                  <a:spcPts val="0"/>
                </a:spcAft>
              </a:pPr>
              <a:r>
                <a:rPr sz="1300" b="0" i="0">
                  <a:solidFill>
                    <a:srgbClr val="FFFFFF"/>
                  </a:solidFill>
                  <a:latin typeface="Segoe UI Semibold"/>
                </a:rPr>
                <a:t>05</a:t>
              </a:r>
            </a:p>
          </p:txBody>
        </p:sp>
        <p:sp>
          <p:nvSpPr>
            <p:cNvPr id="64" name="TextBox 63"/>
            <p:cNvSpPr txBox="1"/>
            <p:nvPr/>
          </p:nvSpPr>
          <p:spPr>
            <a:xfrm>
              <a:off x="5120640" y="5394959"/>
              <a:ext cx="5120640" cy="365760"/>
            </a:xfrm>
            <a:prstGeom prst="rect">
              <a:avLst/>
            </a:prstGeom>
            <a:noFill/>
          </p:spPr>
          <p:txBody>
            <a:bodyPr wrap="square" lIns="0" tIns="0" rIns="0" bIns="0" anchor="t">
              <a:noAutofit/>
            </a:bodyPr>
            <a:lstStyle/>
            <a:p>
              <a:pPr algn="l">
                <a:lnSpc>
                  <a:spcPct val="112000"/>
                </a:lnSpc>
                <a:spcAft>
                  <a:spcPts val="0"/>
                </a:spcAft>
              </a:pPr>
              <a:r>
                <a:rPr sz="1650" b="0" i="0">
                  <a:solidFill>
                    <a:srgbClr val="FFFFFF"/>
                  </a:solidFill>
                  <a:latin typeface="Segoe UI Semibold"/>
                </a:rPr>
                <a:t>Key Takeaways &amp; Q&amp;A</a:t>
              </a:r>
            </a:p>
          </p:txBody>
        </p:sp>
        <p:sp>
          <p:nvSpPr>
            <p:cNvPr id="65" name="TextBox 64"/>
            <p:cNvSpPr txBox="1"/>
            <p:nvPr/>
          </p:nvSpPr>
          <p:spPr>
            <a:xfrm>
              <a:off x="5120640" y="5724144"/>
              <a:ext cx="5303520" cy="310896"/>
            </a:xfrm>
            <a:prstGeom prst="rect">
              <a:avLst/>
            </a:prstGeom>
            <a:noFill/>
          </p:spPr>
          <p:txBody>
            <a:bodyPr wrap="square" lIns="0" tIns="0" rIns="0" bIns="0" anchor="t">
              <a:noAutofit/>
            </a:bodyPr>
            <a:lstStyle/>
            <a:p>
              <a:pPr algn="l">
                <a:lnSpc>
                  <a:spcPct val="112000"/>
                </a:lnSpc>
                <a:spcAft>
                  <a:spcPts val="0"/>
                </a:spcAft>
              </a:pPr>
              <a:r>
                <a:rPr sz="1200" b="0" i="0">
                  <a:solidFill>
                    <a:srgbClr val="8C9AB5"/>
                  </a:solidFill>
                  <a:latin typeface="Segoe UI"/>
                </a:rPr>
                <a:t>What to remember and where the field is heading</a:t>
              </a:r>
            </a:p>
          </p:txBody>
        </p:sp>
        <p:sp>
          <p:nvSpPr>
            <p:cNvPr id="66" name="Rounded Rectangle 65"/>
            <p:cNvSpPr/>
            <p:nvPr/>
          </p:nvSpPr>
          <p:spPr>
            <a:xfrm>
              <a:off x="10561320" y="5541264"/>
              <a:ext cx="896112" cy="310896"/>
            </a:xfrm>
            <a:prstGeom prst="roundRect">
              <a:avLst>
                <a:gd name="adj" fmla="val 50000"/>
              </a:avLst>
            </a:prstGeom>
            <a:solidFill>
              <a:srgbClr val="3987E5">
                <a:alpha val="16000"/>
              </a:srgbClr>
            </a:solidFill>
            <a:ln w="9525">
              <a:solidFill>
                <a:srgbClr val="3987E5"/>
              </a:solidFill>
            </a:ln>
          </p:spPr>
          <p:txBody>
            <a:bodyPr wrap="square" lIns="18288" tIns="18288" rIns="18288" bIns="18288" rtlCol="0" anchor="ctr">
              <a:noAutofit/>
            </a:bodyPr>
            <a:lstStyle/>
            <a:p>
              <a:pPr algn="ctr">
                <a:lnSpc>
                  <a:spcPct val="112000"/>
                </a:lnSpc>
                <a:spcAft>
                  <a:spcPts val="0"/>
                </a:spcAft>
              </a:pPr>
              <a:r>
                <a:rPr sz="1050" b="0" i="0">
                  <a:solidFill>
                    <a:srgbClr val="FFFFFF"/>
                  </a:solidFill>
                  <a:latin typeface="Segoe UI Semibold"/>
                </a:rPr>
                <a:t>29–30</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600"/>
                                        <p:tgtEl>
                                          <p:spTgt spid="36"/>
                                        </p:tgtEl>
                                      </p:cBhvr>
                                    </p:animEffect>
                                    <p:anim calcmode="lin" valueType="num">
                                      <p:cBhvr>
                                        <p:cTn id="8" dur="600" fill="hold"/>
                                        <p:tgtEl>
                                          <p:spTgt spid="36"/>
                                        </p:tgtEl>
                                        <p:attrNameLst>
                                          <p:attrName>ppt_x</p:attrName>
                                        </p:attrNameLst>
                                      </p:cBhvr>
                                      <p:tavLst>
                                        <p:tav tm="0">
                                          <p:val>
                                            <p:strVal val="#ppt_x"/>
                                          </p:val>
                                        </p:tav>
                                        <p:tav tm="100000">
                                          <p:val>
                                            <p:strVal val="#ppt_x"/>
                                          </p:val>
                                        </p:tav>
                                      </p:tavLst>
                                    </p:anim>
                                    <p:anim calcmode="lin" valueType="num">
                                      <p:cBhvr>
                                        <p:cTn id="9" dur="600" fill="hold"/>
                                        <p:tgtEl>
                                          <p:spTgt spid="36"/>
                                        </p:tgtEl>
                                        <p:attrNameLst>
                                          <p:attrName>ppt_y</p:attrName>
                                        </p:attrNameLst>
                                      </p:cBhvr>
                                      <p:tavLst>
                                        <p:tav tm="0">
                                          <p:val>
                                            <p:strVal val="#ppt_y+.08"/>
                                          </p:val>
                                        </p:tav>
                                        <p:tav tm="100000">
                                          <p:val>
                                            <p:strVal val="#ppt_y"/>
                                          </p:val>
                                        </p:tav>
                                      </p:tavLst>
                                    </p:anim>
                                  </p:childTnLst>
                                </p:cTn>
                              </p:par>
                              <p:par>
                                <p:cTn id="10" presetID="42" presetClass="entr" presetSubtype="0" fill="hold" nodeType="withEffect">
                                  <p:stCondLst>
                                    <p:cond delay="41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600"/>
                                        <p:tgtEl>
                                          <p:spTgt spid="37"/>
                                        </p:tgtEl>
                                      </p:cBhvr>
                                    </p:animEffect>
                                    <p:anim calcmode="lin" valueType="num">
                                      <p:cBhvr>
                                        <p:cTn id="13" dur="600" fill="hold"/>
                                        <p:tgtEl>
                                          <p:spTgt spid="37"/>
                                        </p:tgtEl>
                                        <p:attrNameLst>
                                          <p:attrName>ppt_x</p:attrName>
                                        </p:attrNameLst>
                                      </p:cBhvr>
                                      <p:tavLst>
                                        <p:tav tm="0">
                                          <p:val>
                                            <p:strVal val="#ppt_x"/>
                                          </p:val>
                                        </p:tav>
                                        <p:tav tm="100000">
                                          <p:val>
                                            <p:strVal val="#ppt_x"/>
                                          </p:val>
                                        </p:tav>
                                      </p:tavLst>
                                    </p:anim>
                                    <p:anim calcmode="lin" valueType="num">
                                      <p:cBhvr>
                                        <p:cTn id="14" dur="600" fill="hold"/>
                                        <p:tgtEl>
                                          <p:spTgt spid="37"/>
                                        </p:tgtEl>
                                        <p:attrNameLst>
                                          <p:attrName>ppt_y</p:attrName>
                                        </p:attrNameLst>
                                      </p:cBhvr>
                                      <p:tavLst>
                                        <p:tav tm="0">
                                          <p:val>
                                            <p:strVal val="#ppt_y+.08"/>
                                          </p:val>
                                        </p:tav>
                                        <p:tav tm="100000">
                                          <p:val>
                                            <p:strVal val="#ppt_y"/>
                                          </p:val>
                                        </p:tav>
                                      </p:tavLst>
                                    </p:anim>
                                  </p:childTnLst>
                                </p:cTn>
                              </p:par>
                              <p:par>
                                <p:cTn id="15" presetID="42" presetClass="entr" presetSubtype="0" fill="hold" nodeType="withEffect">
                                  <p:stCondLst>
                                    <p:cond delay="57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600"/>
                                        <p:tgtEl>
                                          <p:spTgt spid="43"/>
                                        </p:tgtEl>
                                      </p:cBhvr>
                                    </p:animEffect>
                                    <p:anim calcmode="lin" valueType="num">
                                      <p:cBhvr>
                                        <p:cTn id="18" dur="600" fill="hold"/>
                                        <p:tgtEl>
                                          <p:spTgt spid="43"/>
                                        </p:tgtEl>
                                        <p:attrNameLst>
                                          <p:attrName>ppt_x</p:attrName>
                                        </p:attrNameLst>
                                      </p:cBhvr>
                                      <p:tavLst>
                                        <p:tav tm="0">
                                          <p:val>
                                            <p:strVal val="#ppt_x"/>
                                          </p:val>
                                        </p:tav>
                                        <p:tav tm="100000">
                                          <p:val>
                                            <p:strVal val="#ppt_x"/>
                                          </p:val>
                                        </p:tav>
                                      </p:tavLst>
                                    </p:anim>
                                    <p:anim calcmode="lin" valueType="num">
                                      <p:cBhvr>
                                        <p:cTn id="19" dur="600" fill="hold"/>
                                        <p:tgtEl>
                                          <p:spTgt spid="43"/>
                                        </p:tgtEl>
                                        <p:attrNameLst>
                                          <p:attrName>ppt_y</p:attrName>
                                        </p:attrNameLst>
                                      </p:cBhvr>
                                      <p:tavLst>
                                        <p:tav tm="0">
                                          <p:val>
                                            <p:strVal val="#ppt_y+.08"/>
                                          </p:val>
                                        </p:tav>
                                        <p:tav tm="100000">
                                          <p:val>
                                            <p:strVal val="#ppt_y"/>
                                          </p:val>
                                        </p:tav>
                                      </p:tavLst>
                                    </p:anim>
                                  </p:childTnLst>
                                </p:cTn>
                              </p:par>
                              <p:par>
                                <p:cTn id="20" presetID="42" presetClass="entr" presetSubtype="0" fill="hold" nodeType="withEffect">
                                  <p:stCondLst>
                                    <p:cond delay="730"/>
                                  </p:stCondLst>
                                  <p:childTnLst>
                                    <p:set>
                                      <p:cBhvr>
                                        <p:cTn id="21" dur="1" fill="hold">
                                          <p:stCondLst>
                                            <p:cond delay="0"/>
                                          </p:stCondLst>
                                        </p:cTn>
                                        <p:tgtEl>
                                          <p:spTgt spid="49"/>
                                        </p:tgtEl>
                                        <p:attrNameLst>
                                          <p:attrName>style.visibility</p:attrName>
                                        </p:attrNameLst>
                                      </p:cBhvr>
                                      <p:to>
                                        <p:strVal val="visible"/>
                                      </p:to>
                                    </p:set>
                                    <p:animEffect transition="in" filter="fade">
                                      <p:cBhvr>
                                        <p:cTn id="22" dur="600"/>
                                        <p:tgtEl>
                                          <p:spTgt spid="49"/>
                                        </p:tgtEl>
                                      </p:cBhvr>
                                    </p:animEffect>
                                    <p:anim calcmode="lin" valueType="num">
                                      <p:cBhvr>
                                        <p:cTn id="23" dur="600" fill="hold"/>
                                        <p:tgtEl>
                                          <p:spTgt spid="49"/>
                                        </p:tgtEl>
                                        <p:attrNameLst>
                                          <p:attrName>ppt_x</p:attrName>
                                        </p:attrNameLst>
                                      </p:cBhvr>
                                      <p:tavLst>
                                        <p:tav tm="0">
                                          <p:val>
                                            <p:strVal val="#ppt_x"/>
                                          </p:val>
                                        </p:tav>
                                        <p:tav tm="100000">
                                          <p:val>
                                            <p:strVal val="#ppt_x"/>
                                          </p:val>
                                        </p:tav>
                                      </p:tavLst>
                                    </p:anim>
                                    <p:anim calcmode="lin" valueType="num">
                                      <p:cBhvr>
                                        <p:cTn id="24" dur="600" fill="hold"/>
                                        <p:tgtEl>
                                          <p:spTgt spid="49"/>
                                        </p:tgtEl>
                                        <p:attrNameLst>
                                          <p:attrName>ppt_y</p:attrName>
                                        </p:attrNameLst>
                                      </p:cBhvr>
                                      <p:tavLst>
                                        <p:tav tm="0">
                                          <p:val>
                                            <p:strVal val="#ppt_y+.08"/>
                                          </p:val>
                                        </p:tav>
                                        <p:tav tm="100000">
                                          <p:val>
                                            <p:strVal val="#ppt_y"/>
                                          </p:val>
                                        </p:tav>
                                      </p:tavLst>
                                    </p:anim>
                                  </p:childTnLst>
                                </p:cTn>
                              </p:par>
                              <p:par>
                                <p:cTn id="25" presetID="42" presetClass="entr" presetSubtype="0" fill="hold" nodeType="withEffect">
                                  <p:stCondLst>
                                    <p:cond delay="89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600"/>
                                        <p:tgtEl>
                                          <p:spTgt spid="55"/>
                                        </p:tgtEl>
                                      </p:cBhvr>
                                    </p:animEffect>
                                    <p:anim calcmode="lin" valueType="num">
                                      <p:cBhvr>
                                        <p:cTn id="28" dur="600" fill="hold"/>
                                        <p:tgtEl>
                                          <p:spTgt spid="55"/>
                                        </p:tgtEl>
                                        <p:attrNameLst>
                                          <p:attrName>ppt_x</p:attrName>
                                        </p:attrNameLst>
                                      </p:cBhvr>
                                      <p:tavLst>
                                        <p:tav tm="0">
                                          <p:val>
                                            <p:strVal val="#ppt_x"/>
                                          </p:val>
                                        </p:tav>
                                        <p:tav tm="100000">
                                          <p:val>
                                            <p:strVal val="#ppt_x"/>
                                          </p:val>
                                        </p:tav>
                                      </p:tavLst>
                                    </p:anim>
                                    <p:anim calcmode="lin" valueType="num">
                                      <p:cBhvr>
                                        <p:cTn id="29" dur="600" fill="hold"/>
                                        <p:tgtEl>
                                          <p:spTgt spid="55"/>
                                        </p:tgtEl>
                                        <p:attrNameLst>
                                          <p:attrName>ppt_y</p:attrName>
                                        </p:attrNameLst>
                                      </p:cBhvr>
                                      <p:tavLst>
                                        <p:tav tm="0">
                                          <p:val>
                                            <p:strVal val="#ppt_y+.08"/>
                                          </p:val>
                                        </p:tav>
                                        <p:tav tm="100000">
                                          <p:val>
                                            <p:strVal val="#ppt_y"/>
                                          </p:val>
                                        </p:tav>
                                      </p:tavLst>
                                    </p:anim>
                                  </p:childTnLst>
                                </p:cTn>
                              </p:par>
                              <p:par>
                                <p:cTn id="30" presetID="42" presetClass="entr" presetSubtype="0" fill="hold" nodeType="withEffect">
                                  <p:stCondLst>
                                    <p:cond delay="1050"/>
                                  </p:stCondLst>
                                  <p:childTnLst>
                                    <p:set>
                                      <p:cBhvr>
                                        <p:cTn id="31" dur="1" fill="hold">
                                          <p:stCondLst>
                                            <p:cond delay="0"/>
                                          </p:stCondLst>
                                        </p:cTn>
                                        <p:tgtEl>
                                          <p:spTgt spid="61"/>
                                        </p:tgtEl>
                                        <p:attrNameLst>
                                          <p:attrName>style.visibility</p:attrName>
                                        </p:attrNameLst>
                                      </p:cBhvr>
                                      <p:to>
                                        <p:strVal val="visible"/>
                                      </p:to>
                                    </p:set>
                                    <p:animEffect transition="in" filter="fade">
                                      <p:cBhvr>
                                        <p:cTn id="32" dur="600"/>
                                        <p:tgtEl>
                                          <p:spTgt spid="61"/>
                                        </p:tgtEl>
                                      </p:cBhvr>
                                    </p:animEffect>
                                    <p:anim calcmode="lin" valueType="num">
                                      <p:cBhvr>
                                        <p:cTn id="33" dur="600" fill="hold"/>
                                        <p:tgtEl>
                                          <p:spTgt spid="61"/>
                                        </p:tgtEl>
                                        <p:attrNameLst>
                                          <p:attrName>ppt_x</p:attrName>
                                        </p:attrNameLst>
                                      </p:cBhvr>
                                      <p:tavLst>
                                        <p:tav tm="0">
                                          <p:val>
                                            <p:strVal val="#ppt_x"/>
                                          </p:val>
                                        </p:tav>
                                        <p:tav tm="100000">
                                          <p:val>
                                            <p:strVal val="#ppt_x"/>
                                          </p:val>
                                        </p:tav>
                                      </p:tavLst>
                                    </p:anim>
                                    <p:anim calcmode="lin" valueType="num">
                                      <p:cBhvr>
                                        <p:cTn id="34" dur="600" fill="hold"/>
                                        <p:tgtEl>
                                          <p:spTgt spid="6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9011239" y="-2128869"/>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667677" y="4570743"/>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9961560" y="4879887"/>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INTRODUCTION</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Why Multi-Cloud?</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Introduction</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sz="1000" b="0" i="0">
                <a:solidFill>
                  <a:srgbClr val="C9D2E3"/>
                </a:solidFill>
                <a:latin typeface="Segoe UI Semibold"/>
              </a:rPr>
              <a:t>03</a:t>
            </a:r>
            <a:r>
              <a:rPr sz="1000" b="0" i="0">
                <a:solidFill>
                  <a:srgbClr val="8C9AB5"/>
                </a:solidFill>
                <a:latin typeface="Segoe UI"/>
              </a:rPr>
              <a:t> / 30</a:t>
            </a:r>
          </a:p>
        </p:txBody>
      </p:sp>
      <p:grpSp>
        <p:nvGrpSpPr>
          <p:cNvPr id="36" name="Group 35"/>
          <p:cNvGrpSpPr/>
          <p:nvPr/>
        </p:nvGrpSpPr>
        <p:grpSpPr>
          <a:xfrm>
            <a:off x="548640" y="1600200"/>
            <a:ext cx="3364992" cy="1353312"/>
            <a:chOff x="548640" y="1600200"/>
            <a:chExt cx="3364992" cy="1353312"/>
          </a:xfrm>
        </p:grpSpPr>
        <p:sp>
          <p:nvSpPr>
            <p:cNvPr id="37" name="Rounded Rectangle 36"/>
            <p:cNvSpPr/>
            <p:nvPr/>
          </p:nvSpPr>
          <p:spPr>
            <a:xfrm>
              <a:off x="548640" y="1600200"/>
              <a:ext cx="3364992" cy="1353312"/>
            </a:xfrm>
            <a:prstGeom prst="roundRect">
              <a:avLst>
                <a:gd name="adj" fmla="val 12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38" name="Rectangle 37"/>
            <p:cNvSpPr/>
            <p:nvPr/>
          </p:nvSpPr>
          <p:spPr>
            <a:xfrm>
              <a:off x="548640" y="1856232"/>
              <a:ext cx="45720" cy="384048"/>
            </a:xfrm>
            <a:prstGeom prst="rect">
              <a:avLst/>
            </a:prstGeom>
            <a:solidFill>
              <a:srgbClr val="3987E5"/>
            </a:solidFill>
            <a:ln>
              <a:noFill/>
            </a:ln>
          </p:spPr>
          <p:txBody>
            <a:bodyPr wrap="square" rtlCol="0" anchor="ctr"/>
            <a:lstStyle/>
            <a:p>
              <a:pPr algn="ctr"/>
              <a:endParaRPr/>
            </a:p>
          </p:txBody>
        </p:sp>
        <p:sp>
          <p:nvSpPr>
            <p:cNvPr id="39" name="TextBox 38"/>
            <p:cNvSpPr txBox="1"/>
            <p:nvPr/>
          </p:nvSpPr>
          <p:spPr>
            <a:xfrm>
              <a:off x="804672" y="1801368"/>
              <a:ext cx="2926080" cy="411480"/>
            </a:xfrm>
            <a:prstGeom prst="rect">
              <a:avLst/>
            </a:prstGeom>
            <a:noFill/>
          </p:spPr>
          <p:txBody>
            <a:bodyPr wrap="square" lIns="0" tIns="0" rIns="0" bIns="0" anchor="t">
              <a:noAutofit/>
            </a:bodyPr>
            <a:lstStyle/>
            <a:p>
              <a:pPr algn="l">
                <a:lnSpc>
                  <a:spcPct val="112000"/>
                </a:lnSpc>
                <a:spcAft>
                  <a:spcPts val="0"/>
                </a:spcAft>
              </a:pPr>
              <a:r>
                <a:rPr sz="1500" b="0" i="0">
                  <a:solidFill>
                    <a:srgbClr val="FFFFFF"/>
                  </a:solidFill>
                  <a:latin typeface="Segoe UI Semibold"/>
                </a:rPr>
                <a:t>Avoid vendor lock-in</a:t>
              </a:r>
            </a:p>
          </p:txBody>
        </p:sp>
        <p:sp>
          <p:nvSpPr>
            <p:cNvPr id="40" name="TextBox 39"/>
            <p:cNvSpPr txBox="1"/>
            <p:nvPr/>
          </p:nvSpPr>
          <p:spPr>
            <a:xfrm>
              <a:off x="822959" y="2423160"/>
              <a:ext cx="2862072" cy="393192"/>
            </a:xfrm>
            <a:prstGeom prst="rect">
              <a:avLst/>
            </a:prstGeom>
            <a:noFill/>
          </p:spPr>
          <p:txBody>
            <a:bodyPr wrap="square" lIns="0" tIns="0" rIns="0" bIns="0" anchor="t">
              <a:noAutofit/>
            </a:bodyPr>
            <a:lstStyle/>
            <a:p>
              <a:pPr algn="l">
                <a:lnSpc>
                  <a:spcPct val="115000"/>
                </a:lnSpc>
                <a:spcAft>
                  <a:spcPts val="400"/>
                </a:spcAft>
              </a:pPr>
              <a:r>
                <a:rPr sz="1200" b="0" i="0">
                  <a:solidFill>
                    <a:srgbClr val="C9D2E3"/>
                  </a:solidFill>
                  <a:latin typeface="Segoe UI"/>
                </a:rPr>
                <a:t>Keep negotiating power and exit options; reduce dependency on one roadmap.</a:t>
              </a:r>
            </a:p>
          </p:txBody>
        </p:sp>
      </p:grpSp>
      <p:grpSp>
        <p:nvGrpSpPr>
          <p:cNvPr id="41" name="Group 40"/>
          <p:cNvGrpSpPr/>
          <p:nvPr/>
        </p:nvGrpSpPr>
        <p:grpSpPr>
          <a:xfrm>
            <a:off x="4050791" y="1600200"/>
            <a:ext cx="3364992" cy="1353312"/>
            <a:chOff x="4050791" y="1600200"/>
            <a:chExt cx="3364992" cy="1353312"/>
          </a:xfrm>
        </p:grpSpPr>
        <p:sp>
          <p:nvSpPr>
            <p:cNvPr id="42" name="Rounded Rectangle 41"/>
            <p:cNvSpPr/>
            <p:nvPr/>
          </p:nvSpPr>
          <p:spPr>
            <a:xfrm>
              <a:off x="4050791" y="1600200"/>
              <a:ext cx="3364992" cy="1353312"/>
            </a:xfrm>
            <a:prstGeom prst="roundRect">
              <a:avLst>
                <a:gd name="adj" fmla="val 12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43" name="Rectangle 42"/>
            <p:cNvSpPr/>
            <p:nvPr/>
          </p:nvSpPr>
          <p:spPr>
            <a:xfrm>
              <a:off x="4050791" y="1856232"/>
              <a:ext cx="45720" cy="384048"/>
            </a:xfrm>
            <a:prstGeom prst="rect">
              <a:avLst/>
            </a:prstGeom>
            <a:solidFill>
              <a:srgbClr val="199E70"/>
            </a:solidFill>
            <a:ln>
              <a:noFill/>
            </a:ln>
          </p:spPr>
          <p:txBody>
            <a:bodyPr wrap="square" rtlCol="0" anchor="ctr"/>
            <a:lstStyle/>
            <a:p>
              <a:pPr algn="ctr"/>
              <a:endParaRPr/>
            </a:p>
          </p:txBody>
        </p:sp>
        <p:sp>
          <p:nvSpPr>
            <p:cNvPr id="44" name="TextBox 43"/>
            <p:cNvSpPr txBox="1"/>
            <p:nvPr/>
          </p:nvSpPr>
          <p:spPr>
            <a:xfrm>
              <a:off x="4306824" y="1801368"/>
              <a:ext cx="2926079" cy="411480"/>
            </a:xfrm>
            <a:prstGeom prst="rect">
              <a:avLst/>
            </a:prstGeom>
            <a:noFill/>
          </p:spPr>
          <p:txBody>
            <a:bodyPr wrap="square" lIns="0" tIns="0" rIns="0" bIns="0" anchor="t">
              <a:noAutofit/>
            </a:bodyPr>
            <a:lstStyle/>
            <a:p>
              <a:pPr algn="l">
                <a:lnSpc>
                  <a:spcPct val="112000"/>
                </a:lnSpc>
                <a:spcAft>
                  <a:spcPts val="0"/>
                </a:spcAft>
              </a:pPr>
              <a:r>
                <a:rPr sz="1500" b="0" i="0">
                  <a:solidFill>
                    <a:srgbClr val="FFFFFF"/>
                  </a:solidFill>
                  <a:latin typeface="Segoe UI Semibold"/>
                </a:rPr>
                <a:t>Best-of-breed services</a:t>
              </a:r>
            </a:p>
          </p:txBody>
        </p:sp>
        <p:sp>
          <p:nvSpPr>
            <p:cNvPr id="45" name="TextBox 44"/>
            <p:cNvSpPr txBox="1"/>
            <p:nvPr/>
          </p:nvSpPr>
          <p:spPr>
            <a:xfrm>
              <a:off x="4325112" y="2423160"/>
              <a:ext cx="2862072" cy="393192"/>
            </a:xfrm>
            <a:prstGeom prst="rect">
              <a:avLst/>
            </a:prstGeom>
            <a:noFill/>
          </p:spPr>
          <p:txBody>
            <a:bodyPr wrap="square" lIns="0" tIns="0" rIns="0" bIns="0" anchor="t">
              <a:noAutofit/>
            </a:bodyPr>
            <a:lstStyle/>
            <a:p>
              <a:pPr algn="l">
                <a:lnSpc>
                  <a:spcPct val="115000"/>
                </a:lnSpc>
                <a:spcAft>
                  <a:spcPts val="400"/>
                </a:spcAft>
              </a:pPr>
              <a:r>
                <a:rPr sz="1200" b="0" i="0">
                  <a:solidFill>
                    <a:srgbClr val="C9D2E3"/>
                  </a:solidFill>
                  <a:latin typeface="Segoe UI"/>
                </a:rPr>
                <a:t>Pick the strongest AI, data or analytics service per provider.</a:t>
              </a:r>
            </a:p>
          </p:txBody>
        </p:sp>
      </p:grpSp>
      <p:grpSp>
        <p:nvGrpSpPr>
          <p:cNvPr id="46" name="Group 45"/>
          <p:cNvGrpSpPr/>
          <p:nvPr/>
        </p:nvGrpSpPr>
        <p:grpSpPr>
          <a:xfrm>
            <a:off x="548640" y="3081528"/>
            <a:ext cx="3364992" cy="1353312"/>
            <a:chOff x="548640" y="3081528"/>
            <a:chExt cx="3364992" cy="1353312"/>
          </a:xfrm>
        </p:grpSpPr>
        <p:sp>
          <p:nvSpPr>
            <p:cNvPr id="47" name="Rounded Rectangle 46"/>
            <p:cNvSpPr/>
            <p:nvPr/>
          </p:nvSpPr>
          <p:spPr>
            <a:xfrm>
              <a:off x="548640" y="3081528"/>
              <a:ext cx="3364992" cy="1353312"/>
            </a:xfrm>
            <a:prstGeom prst="roundRect">
              <a:avLst>
                <a:gd name="adj" fmla="val 12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48" name="Rectangle 47"/>
            <p:cNvSpPr/>
            <p:nvPr/>
          </p:nvSpPr>
          <p:spPr>
            <a:xfrm>
              <a:off x="548640" y="3337560"/>
              <a:ext cx="45720" cy="384048"/>
            </a:xfrm>
            <a:prstGeom prst="rect">
              <a:avLst/>
            </a:prstGeom>
            <a:solidFill>
              <a:srgbClr val="9085E9"/>
            </a:solidFill>
            <a:ln>
              <a:noFill/>
            </a:ln>
          </p:spPr>
          <p:txBody>
            <a:bodyPr wrap="square" rtlCol="0" anchor="ctr"/>
            <a:lstStyle/>
            <a:p>
              <a:pPr algn="ctr"/>
              <a:endParaRPr/>
            </a:p>
          </p:txBody>
        </p:sp>
        <p:sp>
          <p:nvSpPr>
            <p:cNvPr id="49" name="TextBox 48"/>
            <p:cNvSpPr txBox="1"/>
            <p:nvPr/>
          </p:nvSpPr>
          <p:spPr>
            <a:xfrm>
              <a:off x="804672" y="3282696"/>
              <a:ext cx="2926080" cy="411480"/>
            </a:xfrm>
            <a:prstGeom prst="rect">
              <a:avLst/>
            </a:prstGeom>
            <a:noFill/>
          </p:spPr>
          <p:txBody>
            <a:bodyPr wrap="square" lIns="0" tIns="0" rIns="0" bIns="0" anchor="t">
              <a:noAutofit/>
            </a:bodyPr>
            <a:lstStyle/>
            <a:p>
              <a:pPr algn="l">
                <a:lnSpc>
                  <a:spcPct val="112000"/>
                </a:lnSpc>
                <a:spcAft>
                  <a:spcPts val="0"/>
                </a:spcAft>
              </a:pPr>
              <a:r>
                <a:rPr sz="1500" b="0" i="0">
                  <a:solidFill>
                    <a:srgbClr val="FFFFFF"/>
                  </a:solidFill>
                  <a:latin typeface="Segoe UI Semibold"/>
                </a:rPr>
                <a:t>Resilience &amp; availability</a:t>
              </a:r>
            </a:p>
          </p:txBody>
        </p:sp>
        <p:sp>
          <p:nvSpPr>
            <p:cNvPr id="50" name="TextBox 49"/>
            <p:cNvSpPr txBox="1"/>
            <p:nvPr/>
          </p:nvSpPr>
          <p:spPr>
            <a:xfrm>
              <a:off x="822959" y="3904488"/>
              <a:ext cx="2862072" cy="393191"/>
            </a:xfrm>
            <a:prstGeom prst="rect">
              <a:avLst/>
            </a:prstGeom>
            <a:noFill/>
          </p:spPr>
          <p:txBody>
            <a:bodyPr wrap="square" lIns="0" tIns="0" rIns="0" bIns="0" anchor="t">
              <a:noAutofit/>
            </a:bodyPr>
            <a:lstStyle/>
            <a:p>
              <a:pPr algn="l">
                <a:lnSpc>
                  <a:spcPct val="115000"/>
                </a:lnSpc>
                <a:spcAft>
                  <a:spcPts val="400"/>
                </a:spcAft>
              </a:pPr>
              <a:r>
                <a:rPr sz="1200" b="0" i="0">
                  <a:solidFill>
                    <a:srgbClr val="C9D2E3"/>
                  </a:solidFill>
                  <a:latin typeface="Segoe UI"/>
                </a:rPr>
                <a:t>Survive region- or provider-wide outages with cross-cloud failover.</a:t>
              </a:r>
            </a:p>
          </p:txBody>
        </p:sp>
      </p:grpSp>
      <p:grpSp>
        <p:nvGrpSpPr>
          <p:cNvPr id="51" name="Group 50"/>
          <p:cNvGrpSpPr/>
          <p:nvPr/>
        </p:nvGrpSpPr>
        <p:grpSpPr>
          <a:xfrm>
            <a:off x="4050791" y="3081528"/>
            <a:ext cx="3364992" cy="1353312"/>
            <a:chOff x="4050791" y="3081528"/>
            <a:chExt cx="3364992" cy="1353312"/>
          </a:xfrm>
        </p:grpSpPr>
        <p:sp>
          <p:nvSpPr>
            <p:cNvPr id="52" name="Rounded Rectangle 51"/>
            <p:cNvSpPr/>
            <p:nvPr/>
          </p:nvSpPr>
          <p:spPr>
            <a:xfrm>
              <a:off x="4050791" y="3081528"/>
              <a:ext cx="3364992" cy="1353312"/>
            </a:xfrm>
            <a:prstGeom prst="roundRect">
              <a:avLst>
                <a:gd name="adj" fmla="val 12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53" name="Rectangle 52"/>
            <p:cNvSpPr/>
            <p:nvPr/>
          </p:nvSpPr>
          <p:spPr>
            <a:xfrm>
              <a:off x="4050791" y="3337560"/>
              <a:ext cx="45720" cy="384048"/>
            </a:xfrm>
            <a:prstGeom prst="rect">
              <a:avLst/>
            </a:prstGeom>
            <a:solidFill>
              <a:srgbClr val="D95926"/>
            </a:solidFill>
            <a:ln>
              <a:noFill/>
            </a:ln>
          </p:spPr>
          <p:txBody>
            <a:bodyPr wrap="square" rtlCol="0" anchor="ctr"/>
            <a:lstStyle/>
            <a:p>
              <a:pPr algn="ctr"/>
              <a:endParaRPr/>
            </a:p>
          </p:txBody>
        </p:sp>
        <p:sp>
          <p:nvSpPr>
            <p:cNvPr id="54" name="TextBox 53"/>
            <p:cNvSpPr txBox="1"/>
            <p:nvPr/>
          </p:nvSpPr>
          <p:spPr>
            <a:xfrm>
              <a:off x="4306824" y="3282696"/>
              <a:ext cx="2926079" cy="411480"/>
            </a:xfrm>
            <a:prstGeom prst="rect">
              <a:avLst/>
            </a:prstGeom>
            <a:noFill/>
          </p:spPr>
          <p:txBody>
            <a:bodyPr wrap="square" lIns="0" tIns="0" rIns="0" bIns="0" anchor="t">
              <a:noAutofit/>
            </a:bodyPr>
            <a:lstStyle/>
            <a:p>
              <a:pPr algn="l">
                <a:lnSpc>
                  <a:spcPct val="112000"/>
                </a:lnSpc>
                <a:spcAft>
                  <a:spcPts val="0"/>
                </a:spcAft>
              </a:pPr>
              <a:r>
                <a:rPr sz="1500" b="0" i="0">
                  <a:solidFill>
                    <a:srgbClr val="FFFFFF"/>
                  </a:solidFill>
                  <a:latin typeface="Segoe UI Semibold"/>
                </a:rPr>
                <a:t>Compliance &amp; sovereignty</a:t>
              </a:r>
            </a:p>
          </p:txBody>
        </p:sp>
        <p:sp>
          <p:nvSpPr>
            <p:cNvPr id="55" name="TextBox 54"/>
            <p:cNvSpPr txBox="1"/>
            <p:nvPr/>
          </p:nvSpPr>
          <p:spPr>
            <a:xfrm>
              <a:off x="4325112" y="3904488"/>
              <a:ext cx="2862072" cy="393191"/>
            </a:xfrm>
            <a:prstGeom prst="rect">
              <a:avLst/>
            </a:prstGeom>
            <a:noFill/>
          </p:spPr>
          <p:txBody>
            <a:bodyPr wrap="square" lIns="0" tIns="0" rIns="0" bIns="0" anchor="t">
              <a:noAutofit/>
            </a:bodyPr>
            <a:lstStyle/>
            <a:p>
              <a:pPr algn="l">
                <a:lnSpc>
                  <a:spcPct val="115000"/>
                </a:lnSpc>
                <a:spcAft>
                  <a:spcPts val="400"/>
                </a:spcAft>
              </a:pPr>
              <a:r>
                <a:rPr sz="1200" b="0" i="0">
                  <a:solidFill>
                    <a:srgbClr val="C9D2E3"/>
                  </a:solidFill>
                  <a:latin typeface="Segoe UI"/>
                </a:rPr>
                <a:t>Keep regulated data in approved jurisdictions and sovereign clouds.</a:t>
              </a:r>
            </a:p>
          </p:txBody>
        </p:sp>
      </p:grpSp>
      <p:grpSp>
        <p:nvGrpSpPr>
          <p:cNvPr id="56" name="Group 55"/>
          <p:cNvGrpSpPr/>
          <p:nvPr/>
        </p:nvGrpSpPr>
        <p:grpSpPr>
          <a:xfrm>
            <a:off x="548640" y="4562856"/>
            <a:ext cx="3364992" cy="1353312"/>
            <a:chOff x="548640" y="4562856"/>
            <a:chExt cx="3364992" cy="1353312"/>
          </a:xfrm>
        </p:grpSpPr>
        <p:sp>
          <p:nvSpPr>
            <p:cNvPr id="57" name="Rounded Rectangle 56"/>
            <p:cNvSpPr/>
            <p:nvPr/>
          </p:nvSpPr>
          <p:spPr>
            <a:xfrm>
              <a:off x="548640" y="4562856"/>
              <a:ext cx="3364992" cy="1353312"/>
            </a:xfrm>
            <a:prstGeom prst="roundRect">
              <a:avLst>
                <a:gd name="adj" fmla="val 12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58" name="Rectangle 57"/>
            <p:cNvSpPr/>
            <p:nvPr/>
          </p:nvSpPr>
          <p:spPr>
            <a:xfrm>
              <a:off x="548640" y="4818888"/>
              <a:ext cx="45720" cy="384048"/>
            </a:xfrm>
            <a:prstGeom prst="rect">
              <a:avLst/>
            </a:prstGeom>
            <a:solidFill>
              <a:srgbClr val="199E70"/>
            </a:solidFill>
            <a:ln>
              <a:noFill/>
            </a:ln>
          </p:spPr>
          <p:txBody>
            <a:bodyPr wrap="square" rtlCol="0" anchor="ctr"/>
            <a:lstStyle/>
            <a:p>
              <a:pPr algn="ctr"/>
              <a:endParaRPr/>
            </a:p>
          </p:txBody>
        </p:sp>
        <p:sp>
          <p:nvSpPr>
            <p:cNvPr id="59" name="TextBox 58"/>
            <p:cNvSpPr txBox="1"/>
            <p:nvPr/>
          </p:nvSpPr>
          <p:spPr>
            <a:xfrm>
              <a:off x="804672" y="4764024"/>
              <a:ext cx="2926080" cy="411480"/>
            </a:xfrm>
            <a:prstGeom prst="rect">
              <a:avLst/>
            </a:prstGeom>
            <a:noFill/>
          </p:spPr>
          <p:txBody>
            <a:bodyPr wrap="square" lIns="0" tIns="0" rIns="0" bIns="0" anchor="t">
              <a:noAutofit/>
            </a:bodyPr>
            <a:lstStyle/>
            <a:p>
              <a:pPr algn="l">
                <a:lnSpc>
                  <a:spcPct val="112000"/>
                </a:lnSpc>
                <a:spcAft>
                  <a:spcPts val="0"/>
                </a:spcAft>
              </a:pPr>
              <a:r>
                <a:rPr sz="1500" b="0" i="0">
                  <a:solidFill>
                    <a:srgbClr val="FFFFFF"/>
                  </a:solidFill>
                  <a:latin typeface="Segoe UI Semibold"/>
                </a:rPr>
                <a:t>Cost optimization</a:t>
              </a:r>
            </a:p>
          </p:txBody>
        </p:sp>
        <p:sp>
          <p:nvSpPr>
            <p:cNvPr id="60" name="TextBox 59"/>
            <p:cNvSpPr txBox="1"/>
            <p:nvPr/>
          </p:nvSpPr>
          <p:spPr>
            <a:xfrm>
              <a:off x="822959" y="5385816"/>
              <a:ext cx="2862072" cy="393192"/>
            </a:xfrm>
            <a:prstGeom prst="rect">
              <a:avLst/>
            </a:prstGeom>
            <a:noFill/>
          </p:spPr>
          <p:txBody>
            <a:bodyPr wrap="square" lIns="0" tIns="0" rIns="0" bIns="0" anchor="t">
              <a:noAutofit/>
            </a:bodyPr>
            <a:lstStyle/>
            <a:p>
              <a:pPr algn="l">
                <a:lnSpc>
                  <a:spcPct val="115000"/>
                </a:lnSpc>
                <a:spcAft>
                  <a:spcPts val="400"/>
                </a:spcAft>
              </a:pPr>
              <a:r>
                <a:rPr sz="1200" b="0" i="0">
                  <a:solidFill>
                    <a:srgbClr val="C9D2E3"/>
                  </a:solidFill>
                  <a:latin typeface="Segoe UI"/>
                </a:rPr>
                <a:t>Exploit price differences, discounts and spot capacity across providers.</a:t>
              </a:r>
            </a:p>
          </p:txBody>
        </p:sp>
      </p:grpSp>
      <p:grpSp>
        <p:nvGrpSpPr>
          <p:cNvPr id="61" name="Group 60"/>
          <p:cNvGrpSpPr/>
          <p:nvPr/>
        </p:nvGrpSpPr>
        <p:grpSpPr>
          <a:xfrm>
            <a:off x="4050791" y="4562856"/>
            <a:ext cx="3364992" cy="1353312"/>
            <a:chOff x="4050791" y="4562856"/>
            <a:chExt cx="3364992" cy="1353312"/>
          </a:xfrm>
        </p:grpSpPr>
        <p:sp>
          <p:nvSpPr>
            <p:cNvPr id="62" name="Rounded Rectangle 61"/>
            <p:cNvSpPr/>
            <p:nvPr/>
          </p:nvSpPr>
          <p:spPr>
            <a:xfrm>
              <a:off x="4050791" y="4562856"/>
              <a:ext cx="3364992" cy="1353312"/>
            </a:xfrm>
            <a:prstGeom prst="roundRect">
              <a:avLst>
                <a:gd name="adj" fmla="val 12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63" name="Rectangle 62"/>
            <p:cNvSpPr/>
            <p:nvPr/>
          </p:nvSpPr>
          <p:spPr>
            <a:xfrm>
              <a:off x="4050791" y="4818888"/>
              <a:ext cx="45720" cy="384048"/>
            </a:xfrm>
            <a:prstGeom prst="rect">
              <a:avLst/>
            </a:prstGeom>
            <a:solidFill>
              <a:srgbClr val="3987E5"/>
            </a:solidFill>
            <a:ln>
              <a:noFill/>
            </a:ln>
          </p:spPr>
          <p:txBody>
            <a:bodyPr wrap="square" rtlCol="0" anchor="ctr"/>
            <a:lstStyle/>
            <a:p>
              <a:pPr algn="ctr"/>
              <a:endParaRPr/>
            </a:p>
          </p:txBody>
        </p:sp>
        <p:sp>
          <p:nvSpPr>
            <p:cNvPr id="64" name="TextBox 63"/>
            <p:cNvSpPr txBox="1"/>
            <p:nvPr/>
          </p:nvSpPr>
          <p:spPr>
            <a:xfrm>
              <a:off x="4306824" y="4764024"/>
              <a:ext cx="2926079" cy="411480"/>
            </a:xfrm>
            <a:prstGeom prst="rect">
              <a:avLst/>
            </a:prstGeom>
            <a:noFill/>
          </p:spPr>
          <p:txBody>
            <a:bodyPr wrap="square" lIns="0" tIns="0" rIns="0" bIns="0" anchor="t">
              <a:noAutofit/>
            </a:bodyPr>
            <a:lstStyle/>
            <a:p>
              <a:pPr algn="l">
                <a:lnSpc>
                  <a:spcPct val="112000"/>
                </a:lnSpc>
                <a:spcAft>
                  <a:spcPts val="0"/>
                </a:spcAft>
              </a:pPr>
              <a:r>
                <a:rPr sz="1500" b="0" i="0">
                  <a:solidFill>
                    <a:srgbClr val="FFFFFF"/>
                  </a:solidFill>
                  <a:latin typeface="Segoe UI Semibold"/>
                </a:rPr>
                <a:t>Global reach &amp; latency</a:t>
              </a:r>
            </a:p>
          </p:txBody>
        </p:sp>
        <p:sp>
          <p:nvSpPr>
            <p:cNvPr id="65" name="TextBox 64"/>
            <p:cNvSpPr txBox="1"/>
            <p:nvPr/>
          </p:nvSpPr>
          <p:spPr>
            <a:xfrm>
              <a:off x="4325112" y="5385816"/>
              <a:ext cx="2862072" cy="393192"/>
            </a:xfrm>
            <a:prstGeom prst="rect">
              <a:avLst/>
            </a:prstGeom>
            <a:noFill/>
          </p:spPr>
          <p:txBody>
            <a:bodyPr wrap="square" lIns="0" tIns="0" rIns="0" bIns="0" anchor="t">
              <a:noAutofit/>
            </a:bodyPr>
            <a:lstStyle/>
            <a:p>
              <a:pPr algn="l">
                <a:lnSpc>
                  <a:spcPct val="115000"/>
                </a:lnSpc>
                <a:spcAft>
                  <a:spcPts val="400"/>
                </a:spcAft>
              </a:pPr>
              <a:r>
                <a:rPr sz="1200" b="0" i="0">
                  <a:solidFill>
                    <a:srgbClr val="C9D2E3"/>
                  </a:solidFill>
                  <a:latin typeface="Segoe UI"/>
                </a:rPr>
                <a:t>Serve users from the closest region or edge location of any provider.</a:t>
              </a:r>
            </a:p>
          </p:txBody>
        </p:sp>
      </p:grpSp>
      <p:grpSp>
        <p:nvGrpSpPr>
          <p:cNvPr id="66" name="Group 65"/>
          <p:cNvGrpSpPr/>
          <p:nvPr/>
        </p:nvGrpSpPr>
        <p:grpSpPr>
          <a:xfrm>
            <a:off x="7772400" y="1600200"/>
            <a:ext cx="3867912" cy="1353312"/>
            <a:chOff x="7772400" y="1600200"/>
            <a:chExt cx="3867912" cy="1353312"/>
          </a:xfrm>
        </p:grpSpPr>
        <p:sp>
          <p:nvSpPr>
            <p:cNvPr id="67" name="Rounded Rectangle 66"/>
            <p:cNvSpPr/>
            <p:nvPr/>
          </p:nvSpPr>
          <p:spPr>
            <a:xfrm>
              <a:off x="7772400" y="1600200"/>
              <a:ext cx="3867912" cy="1353312"/>
            </a:xfrm>
            <a:prstGeom prst="roundRect">
              <a:avLst>
                <a:gd name="adj" fmla="val 10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68" name="Rectangle 67"/>
            <p:cNvSpPr/>
            <p:nvPr/>
          </p:nvSpPr>
          <p:spPr>
            <a:xfrm>
              <a:off x="7772400" y="1828800"/>
              <a:ext cx="45720" cy="896112"/>
            </a:xfrm>
            <a:prstGeom prst="rect">
              <a:avLst/>
            </a:prstGeom>
            <a:solidFill>
              <a:srgbClr val="3987E5"/>
            </a:solidFill>
            <a:ln>
              <a:noFill/>
            </a:ln>
          </p:spPr>
          <p:txBody>
            <a:bodyPr wrap="square" rtlCol="0" anchor="ctr"/>
            <a:lstStyle/>
            <a:p>
              <a:pPr algn="ctr"/>
              <a:endParaRPr/>
            </a:p>
          </p:txBody>
        </p:sp>
        <p:sp>
          <p:nvSpPr>
            <p:cNvPr id="69" name="TextBox 68"/>
            <p:cNvSpPr txBox="1"/>
            <p:nvPr/>
          </p:nvSpPr>
          <p:spPr>
            <a:xfrm>
              <a:off x="8046720" y="1709928"/>
              <a:ext cx="3410712" cy="685800"/>
            </a:xfrm>
            <a:prstGeom prst="rect">
              <a:avLst/>
            </a:prstGeom>
            <a:noFill/>
          </p:spPr>
          <p:txBody>
            <a:bodyPr wrap="square" lIns="0" tIns="0" rIns="0" bIns="0" anchor="ctr">
              <a:noAutofit/>
            </a:bodyPr>
            <a:lstStyle/>
            <a:p>
              <a:pPr algn="l">
                <a:lnSpc>
                  <a:spcPct val="112000"/>
                </a:lnSpc>
                <a:spcAft>
                  <a:spcPts val="0"/>
                </a:spcAft>
              </a:pPr>
              <a:r>
                <a:rPr sz="3600" b="0" i="0">
                  <a:gradFill>
                    <a:gsLst>
                      <a:gs pos="0">
                        <a:srgbClr val="FFFFFF"/>
                      </a:gs>
                      <a:gs pos="100000">
                        <a:srgbClr val="7DB3F5"/>
                      </a:gs>
                    </a:gsLst>
                    <a:lin ang="0" scaled="0"/>
                  </a:gradFill>
                  <a:latin typeface="Segoe UI Semibold"/>
                </a:rPr>
                <a:t>89%</a:t>
              </a:r>
            </a:p>
          </p:txBody>
        </p:sp>
        <p:sp>
          <p:nvSpPr>
            <p:cNvPr id="70" name="TextBox 69"/>
            <p:cNvSpPr txBox="1"/>
            <p:nvPr/>
          </p:nvSpPr>
          <p:spPr>
            <a:xfrm>
              <a:off x="8046720" y="2386584"/>
              <a:ext cx="3410712" cy="484632"/>
            </a:xfrm>
            <a:prstGeom prst="rect">
              <a:avLst/>
            </a:prstGeom>
            <a:noFill/>
          </p:spPr>
          <p:txBody>
            <a:bodyPr wrap="square" lIns="0" tIns="0" rIns="0" bIns="0" anchor="t">
              <a:noAutofit/>
            </a:bodyPr>
            <a:lstStyle/>
            <a:p>
              <a:pPr algn="l">
                <a:lnSpc>
                  <a:spcPct val="110000"/>
                </a:lnSpc>
                <a:spcAft>
                  <a:spcPts val="0"/>
                </a:spcAft>
              </a:pPr>
              <a:r>
                <a:rPr sz="1200" b="0" i="0">
                  <a:solidFill>
                    <a:srgbClr val="C9D2E3"/>
                  </a:solidFill>
                  <a:latin typeface="Segoe UI"/>
                </a:rPr>
                <a:t>of organisations report a multi-cloud strategy</a:t>
              </a:r>
            </a:p>
          </p:txBody>
        </p:sp>
      </p:grpSp>
      <p:grpSp>
        <p:nvGrpSpPr>
          <p:cNvPr id="71" name="Group 70"/>
          <p:cNvGrpSpPr/>
          <p:nvPr/>
        </p:nvGrpSpPr>
        <p:grpSpPr>
          <a:xfrm>
            <a:off x="7772400" y="3081528"/>
            <a:ext cx="3867912" cy="1353312"/>
            <a:chOff x="7772400" y="3081528"/>
            <a:chExt cx="3867912" cy="1353312"/>
          </a:xfrm>
        </p:grpSpPr>
        <p:sp>
          <p:nvSpPr>
            <p:cNvPr id="72" name="Rounded Rectangle 71"/>
            <p:cNvSpPr/>
            <p:nvPr/>
          </p:nvSpPr>
          <p:spPr>
            <a:xfrm>
              <a:off x="7772400" y="3081528"/>
              <a:ext cx="3867912" cy="1353312"/>
            </a:xfrm>
            <a:prstGeom prst="roundRect">
              <a:avLst>
                <a:gd name="adj" fmla="val 10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73" name="Rectangle 72"/>
            <p:cNvSpPr/>
            <p:nvPr/>
          </p:nvSpPr>
          <p:spPr>
            <a:xfrm>
              <a:off x="7772400" y="3310128"/>
              <a:ext cx="45720" cy="896112"/>
            </a:xfrm>
            <a:prstGeom prst="rect">
              <a:avLst/>
            </a:prstGeom>
            <a:solidFill>
              <a:srgbClr val="199E70"/>
            </a:solidFill>
            <a:ln>
              <a:noFill/>
            </a:ln>
          </p:spPr>
          <p:txBody>
            <a:bodyPr wrap="square" rtlCol="0" anchor="ctr"/>
            <a:lstStyle/>
            <a:p>
              <a:pPr algn="ctr"/>
              <a:endParaRPr/>
            </a:p>
          </p:txBody>
        </p:sp>
        <p:sp>
          <p:nvSpPr>
            <p:cNvPr id="74" name="TextBox 73"/>
            <p:cNvSpPr txBox="1"/>
            <p:nvPr/>
          </p:nvSpPr>
          <p:spPr>
            <a:xfrm>
              <a:off x="8046720" y="3191256"/>
              <a:ext cx="3410712" cy="685800"/>
            </a:xfrm>
            <a:prstGeom prst="rect">
              <a:avLst/>
            </a:prstGeom>
            <a:noFill/>
          </p:spPr>
          <p:txBody>
            <a:bodyPr wrap="square" lIns="0" tIns="0" rIns="0" bIns="0" anchor="ctr">
              <a:noAutofit/>
            </a:bodyPr>
            <a:lstStyle/>
            <a:p>
              <a:pPr algn="l">
                <a:lnSpc>
                  <a:spcPct val="112000"/>
                </a:lnSpc>
                <a:spcAft>
                  <a:spcPts val="0"/>
                </a:spcAft>
              </a:pPr>
              <a:r>
                <a:rPr sz="3600" b="0" i="0">
                  <a:gradFill>
                    <a:gsLst>
                      <a:gs pos="0">
                        <a:srgbClr val="FFFFFF"/>
                      </a:gs>
                      <a:gs pos="100000">
                        <a:srgbClr val="4FD1A1"/>
                      </a:gs>
                    </a:gsLst>
                    <a:lin ang="0" scaled="0"/>
                  </a:gradFill>
                  <a:latin typeface="Segoe UI Semibold"/>
                </a:rPr>
                <a:t>$723B</a:t>
              </a:r>
            </a:p>
          </p:txBody>
        </p:sp>
        <p:sp>
          <p:nvSpPr>
            <p:cNvPr id="75" name="TextBox 74"/>
            <p:cNvSpPr txBox="1"/>
            <p:nvPr/>
          </p:nvSpPr>
          <p:spPr>
            <a:xfrm>
              <a:off x="8046720" y="3867912"/>
              <a:ext cx="3410712" cy="484632"/>
            </a:xfrm>
            <a:prstGeom prst="rect">
              <a:avLst/>
            </a:prstGeom>
            <a:noFill/>
          </p:spPr>
          <p:txBody>
            <a:bodyPr wrap="square" lIns="0" tIns="0" rIns="0" bIns="0" anchor="t">
              <a:noAutofit/>
            </a:bodyPr>
            <a:lstStyle/>
            <a:p>
              <a:pPr algn="l">
                <a:lnSpc>
                  <a:spcPct val="110000"/>
                </a:lnSpc>
                <a:spcAft>
                  <a:spcPts val="0"/>
                </a:spcAft>
              </a:pPr>
              <a:r>
                <a:rPr sz="1200" b="0" i="0">
                  <a:solidFill>
                    <a:srgbClr val="C9D2E3"/>
                  </a:solidFill>
                  <a:latin typeface="Segoe UI"/>
                </a:rPr>
                <a:t>forecast worldwide end-user spending on public cloud in 2025</a:t>
              </a:r>
            </a:p>
          </p:txBody>
        </p:sp>
      </p:grpSp>
      <p:grpSp>
        <p:nvGrpSpPr>
          <p:cNvPr id="76" name="Group 75"/>
          <p:cNvGrpSpPr/>
          <p:nvPr/>
        </p:nvGrpSpPr>
        <p:grpSpPr>
          <a:xfrm>
            <a:off x="7772400" y="4562856"/>
            <a:ext cx="3867912" cy="1353312"/>
            <a:chOff x="7772400" y="4562856"/>
            <a:chExt cx="3867912" cy="1353312"/>
          </a:xfrm>
        </p:grpSpPr>
        <p:sp>
          <p:nvSpPr>
            <p:cNvPr id="77" name="Rounded Rectangle 76"/>
            <p:cNvSpPr/>
            <p:nvPr/>
          </p:nvSpPr>
          <p:spPr>
            <a:xfrm>
              <a:off x="7772400" y="4562856"/>
              <a:ext cx="3867912" cy="1353312"/>
            </a:xfrm>
            <a:prstGeom prst="roundRect">
              <a:avLst>
                <a:gd name="adj" fmla="val 10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78" name="Rectangle 77"/>
            <p:cNvSpPr/>
            <p:nvPr/>
          </p:nvSpPr>
          <p:spPr>
            <a:xfrm>
              <a:off x="7772400" y="4791456"/>
              <a:ext cx="45720" cy="896112"/>
            </a:xfrm>
            <a:prstGeom prst="rect">
              <a:avLst/>
            </a:prstGeom>
            <a:solidFill>
              <a:srgbClr val="D95926"/>
            </a:solidFill>
            <a:ln>
              <a:noFill/>
            </a:ln>
          </p:spPr>
          <p:txBody>
            <a:bodyPr wrap="square" rtlCol="0" anchor="ctr"/>
            <a:lstStyle/>
            <a:p>
              <a:pPr algn="ctr"/>
              <a:endParaRPr/>
            </a:p>
          </p:txBody>
        </p:sp>
        <p:sp>
          <p:nvSpPr>
            <p:cNvPr id="79" name="TextBox 78"/>
            <p:cNvSpPr txBox="1"/>
            <p:nvPr/>
          </p:nvSpPr>
          <p:spPr>
            <a:xfrm>
              <a:off x="8046720" y="4672584"/>
              <a:ext cx="3410712" cy="685800"/>
            </a:xfrm>
            <a:prstGeom prst="rect">
              <a:avLst/>
            </a:prstGeom>
            <a:noFill/>
          </p:spPr>
          <p:txBody>
            <a:bodyPr wrap="square" lIns="0" tIns="0" rIns="0" bIns="0" anchor="ctr">
              <a:noAutofit/>
            </a:bodyPr>
            <a:lstStyle/>
            <a:p>
              <a:pPr algn="l">
                <a:lnSpc>
                  <a:spcPct val="112000"/>
                </a:lnSpc>
                <a:spcAft>
                  <a:spcPts val="0"/>
                </a:spcAft>
              </a:pPr>
              <a:r>
                <a:rPr sz="3600" b="0" i="0">
                  <a:gradFill>
                    <a:gsLst>
                      <a:gs pos="0">
                        <a:srgbClr val="FFFFFF"/>
                      </a:gs>
                      <a:gs pos="100000">
                        <a:srgbClr val="F4925F"/>
                      </a:gs>
                    </a:gsLst>
                    <a:lin ang="0" scaled="0"/>
                  </a:gradFill>
                  <a:latin typeface="Segoe UI Semibold"/>
                </a:rPr>
                <a:t>~27%</a:t>
              </a:r>
            </a:p>
          </p:txBody>
        </p:sp>
        <p:sp>
          <p:nvSpPr>
            <p:cNvPr id="80" name="TextBox 79"/>
            <p:cNvSpPr txBox="1"/>
            <p:nvPr/>
          </p:nvSpPr>
          <p:spPr>
            <a:xfrm>
              <a:off x="8046720" y="5349240"/>
              <a:ext cx="3410712" cy="484632"/>
            </a:xfrm>
            <a:prstGeom prst="rect">
              <a:avLst/>
            </a:prstGeom>
            <a:noFill/>
          </p:spPr>
          <p:txBody>
            <a:bodyPr wrap="square" lIns="0" tIns="0" rIns="0" bIns="0" anchor="t">
              <a:noAutofit/>
            </a:bodyPr>
            <a:lstStyle/>
            <a:p>
              <a:pPr algn="l">
                <a:lnSpc>
                  <a:spcPct val="110000"/>
                </a:lnSpc>
                <a:spcAft>
                  <a:spcPts val="0"/>
                </a:spcAft>
              </a:pPr>
              <a:r>
                <a:rPr sz="1200" b="0" i="0">
                  <a:solidFill>
                    <a:srgbClr val="C9D2E3"/>
                  </a:solidFill>
                  <a:latin typeface="Segoe UI"/>
                </a:rPr>
                <a:t>of cloud spend self-reported as wasted — the core target of resource management</a:t>
              </a:r>
            </a:p>
          </p:txBody>
        </p:sp>
      </p:grpSp>
      <p:sp>
        <p:nvSpPr>
          <p:cNvPr id="81" name="TextBox 80"/>
          <p:cNvSpPr txBox="1"/>
          <p:nvPr/>
        </p:nvSpPr>
        <p:spPr>
          <a:xfrm>
            <a:off x="548640" y="6089904"/>
            <a:ext cx="11064240" cy="256032"/>
          </a:xfrm>
          <a:prstGeom prst="rect">
            <a:avLst/>
          </a:prstGeom>
          <a:noFill/>
        </p:spPr>
        <p:txBody>
          <a:bodyPr wrap="square" lIns="0" tIns="0" rIns="0" bIns="0" anchor="t">
            <a:noAutofit/>
          </a:bodyPr>
          <a:lstStyle/>
          <a:p>
            <a:pPr algn="l">
              <a:lnSpc>
                <a:spcPct val="112000"/>
              </a:lnSpc>
              <a:spcAft>
                <a:spcPts val="0"/>
              </a:spcAft>
            </a:pPr>
            <a:r>
              <a:rPr sz="900" b="0" i="0">
                <a:solidFill>
                  <a:srgbClr val="8C9AB5"/>
                </a:solidFill>
                <a:latin typeface="Segoe UI"/>
              </a:rPr>
              <a:t>Sources: Flexera 2024 State of the Cloud Report (89% multi-cloud; 27% waste); Gartner public cloud forecast, Nov 2024.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600"/>
                                        <p:tgtEl>
                                          <p:spTgt spid="36"/>
                                        </p:tgtEl>
                                      </p:cBhvr>
                                    </p:animEffect>
                                    <p:anim calcmode="lin" valueType="num">
                                      <p:cBhvr>
                                        <p:cTn id="8" dur="600" fill="hold"/>
                                        <p:tgtEl>
                                          <p:spTgt spid="36"/>
                                        </p:tgtEl>
                                        <p:attrNameLst>
                                          <p:attrName>ppt_x</p:attrName>
                                        </p:attrNameLst>
                                      </p:cBhvr>
                                      <p:tavLst>
                                        <p:tav tm="0">
                                          <p:val>
                                            <p:strVal val="#ppt_x"/>
                                          </p:val>
                                        </p:tav>
                                        <p:tav tm="100000">
                                          <p:val>
                                            <p:strVal val="#ppt_x"/>
                                          </p:val>
                                        </p:tav>
                                      </p:tavLst>
                                    </p:anim>
                                    <p:anim calcmode="lin" valueType="num">
                                      <p:cBhvr>
                                        <p:cTn id="9" dur="600" fill="hold"/>
                                        <p:tgtEl>
                                          <p:spTgt spid="36"/>
                                        </p:tgtEl>
                                        <p:attrNameLst>
                                          <p:attrName>ppt_y</p:attrName>
                                        </p:attrNameLst>
                                      </p:cBhvr>
                                      <p:tavLst>
                                        <p:tav tm="0">
                                          <p:val>
                                            <p:strVal val="#ppt_y+.08"/>
                                          </p:val>
                                        </p:tav>
                                        <p:tav tm="100000">
                                          <p:val>
                                            <p:strVal val="#ppt_y"/>
                                          </p:val>
                                        </p:tav>
                                      </p:tavLst>
                                    </p:anim>
                                  </p:childTnLst>
                                </p:cTn>
                              </p:par>
                              <p:par>
                                <p:cTn id="10" presetID="42" presetClass="entr" presetSubtype="0" fill="hold" nodeType="withEffect">
                                  <p:stCondLst>
                                    <p:cond delay="410"/>
                                  </p:stCondLst>
                                  <p:childTnLst>
                                    <p:set>
                                      <p:cBhvr>
                                        <p:cTn id="11" dur="1" fill="hold">
                                          <p:stCondLst>
                                            <p:cond delay="0"/>
                                          </p:stCondLst>
                                        </p:cTn>
                                        <p:tgtEl>
                                          <p:spTgt spid="41"/>
                                        </p:tgtEl>
                                        <p:attrNameLst>
                                          <p:attrName>style.visibility</p:attrName>
                                        </p:attrNameLst>
                                      </p:cBhvr>
                                      <p:to>
                                        <p:strVal val="visible"/>
                                      </p:to>
                                    </p:set>
                                    <p:animEffect transition="in" filter="fade">
                                      <p:cBhvr>
                                        <p:cTn id="12" dur="600"/>
                                        <p:tgtEl>
                                          <p:spTgt spid="41"/>
                                        </p:tgtEl>
                                      </p:cBhvr>
                                    </p:animEffect>
                                    <p:anim calcmode="lin" valueType="num">
                                      <p:cBhvr>
                                        <p:cTn id="13" dur="600" fill="hold"/>
                                        <p:tgtEl>
                                          <p:spTgt spid="41"/>
                                        </p:tgtEl>
                                        <p:attrNameLst>
                                          <p:attrName>ppt_x</p:attrName>
                                        </p:attrNameLst>
                                      </p:cBhvr>
                                      <p:tavLst>
                                        <p:tav tm="0">
                                          <p:val>
                                            <p:strVal val="#ppt_x"/>
                                          </p:val>
                                        </p:tav>
                                        <p:tav tm="100000">
                                          <p:val>
                                            <p:strVal val="#ppt_x"/>
                                          </p:val>
                                        </p:tav>
                                      </p:tavLst>
                                    </p:anim>
                                    <p:anim calcmode="lin" valueType="num">
                                      <p:cBhvr>
                                        <p:cTn id="14" dur="600" fill="hold"/>
                                        <p:tgtEl>
                                          <p:spTgt spid="41"/>
                                        </p:tgtEl>
                                        <p:attrNameLst>
                                          <p:attrName>ppt_y</p:attrName>
                                        </p:attrNameLst>
                                      </p:cBhvr>
                                      <p:tavLst>
                                        <p:tav tm="0">
                                          <p:val>
                                            <p:strVal val="#ppt_y+.08"/>
                                          </p:val>
                                        </p:tav>
                                        <p:tav tm="100000">
                                          <p:val>
                                            <p:strVal val="#ppt_y"/>
                                          </p:val>
                                        </p:tav>
                                      </p:tavLst>
                                    </p:anim>
                                  </p:childTnLst>
                                </p:cTn>
                              </p:par>
                              <p:par>
                                <p:cTn id="15" presetID="42" presetClass="entr" presetSubtype="0" fill="hold" nodeType="withEffect">
                                  <p:stCondLst>
                                    <p:cond delay="570"/>
                                  </p:stCondLst>
                                  <p:childTnLst>
                                    <p:set>
                                      <p:cBhvr>
                                        <p:cTn id="16" dur="1" fill="hold">
                                          <p:stCondLst>
                                            <p:cond delay="0"/>
                                          </p:stCondLst>
                                        </p:cTn>
                                        <p:tgtEl>
                                          <p:spTgt spid="46"/>
                                        </p:tgtEl>
                                        <p:attrNameLst>
                                          <p:attrName>style.visibility</p:attrName>
                                        </p:attrNameLst>
                                      </p:cBhvr>
                                      <p:to>
                                        <p:strVal val="visible"/>
                                      </p:to>
                                    </p:set>
                                    <p:animEffect transition="in" filter="fade">
                                      <p:cBhvr>
                                        <p:cTn id="17" dur="600"/>
                                        <p:tgtEl>
                                          <p:spTgt spid="46"/>
                                        </p:tgtEl>
                                      </p:cBhvr>
                                    </p:animEffect>
                                    <p:anim calcmode="lin" valueType="num">
                                      <p:cBhvr>
                                        <p:cTn id="18" dur="600" fill="hold"/>
                                        <p:tgtEl>
                                          <p:spTgt spid="46"/>
                                        </p:tgtEl>
                                        <p:attrNameLst>
                                          <p:attrName>ppt_x</p:attrName>
                                        </p:attrNameLst>
                                      </p:cBhvr>
                                      <p:tavLst>
                                        <p:tav tm="0">
                                          <p:val>
                                            <p:strVal val="#ppt_x"/>
                                          </p:val>
                                        </p:tav>
                                        <p:tav tm="100000">
                                          <p:val>
                                            <p:strVal val="#ppt_x"/>
                                          </p:val>
                                        </p:tav>
                                      </p:tavLst>
                                    </p:anim>
                                    <p:anim calcmode="lin" valueType="num">
                                      <p:cBhvr>
                                        <p:cTn id="19" dur="600" fill="hold"/>
                                        <p:tgtEl>
                                          <p:spTgt spid="46"/>
                                        </p:tgtEl>
                                        <p:attrNameLst>
                                          <p:attrName>ppt_y</p:attrName>
                                        </p:attrNameLst>
                                      </p:cBhvr>
                                      <p:tavLst>
                                        <p:tav tm="0">
                                          <p:val>
                                            <p:strVal val="#ppt_y+.08"/>
                                          </p:val>
                                        </p:tav>
                                        <p:tav tm="100000">
                                          <p:val>
                                            <p:strVal val="#ppt_y"/>
                                          </p:val>
                                        </p:tav>
                                      </p:tavLst>
                                    </p:anim>
                                  </p:childTnLst>
                                </p:cTn>
                              </p:par>
                              <p:par>
                                <p:cTn id="20" presetID="42" presetClass="entr" presetSubtype="0" fill="hold" nodeType="withEffect">
                                  <p:stCondLst>
                                    <p:cond delay="730"/>
                                  </p:stCondLst>
                                  <p:childTnLst>
                                    <p:set>
                                      <p:cBhvr>
                                        <p:cTn id="21" dur="1" fill="hold">
                                          <p:stCondLst>
                                            <p:cond delay="0"/>
                                          </p:stCondLst>
                                        </p:cTn>
                                        <p:tgtEl>
                                          <p:spTgt spid="51"/>
                                        </p:tgtEl>
                                        <p:attrNameLst>
                                          <p:attrName>style.visibility</p:attrName>
                                        </p:attrNameLst>
                                      </p:cBhvr>
                                      <p:to>
                                        <p:strVal val="visible"/>
                                      </p:to>
                                    </p:set>
                                    <p:animEffect transition="in" filter="fade">
                                      <p:cBhvr>
                                        <p:cTn id="22" dur="600"/>
                                        <p:tgtEl>
                                          <p:spTgt spid="51"/>
                                        </p:tgtEl>
                                      </p:cBhvr>
                                    </p:animEffect>
                                    <p:anim calcmode="lin" valueType="num">
                                      <p:cBhvr>
                                        <p:cTn id="23" dur="600" fill="hold"/>
                                        <p:tgtEl>
                                          <p:spTgt spid="51"/>
                                        </p:tgtEl>
                                        <p:attrNameLst>
                                          <p:attrName>ppt_x</p:attrName>
                                        </p:attrNameLst>
                                      </p:cBhvr>
                                      <p:tavLst>
                                        <p:tav tm="0">
                                          <p:val>
                                            <p:strVal val="#ppt_x"/>
                                          </p:val>
                                        </p:tav>
                                        <p:tav tm="100000">
                                          <p:val>
                                            <p:strVal val="#ppt_x"/>
                                          </p:val>
                                        </p:tav>
                                      </p:tavLst>
                                    </p:anim>
                                    <p:anim calcmode="lin" valueType="num">
                                      <p:cBhvr>
                                        <p:cTn id="24" dur="600" fill="hold"/>
                                        <p:tgtEl>
                                          <p:spTgt spid="51"/>
                                        </p:tgtEl>
                                        <p:attrNameLst>
                                          <p:attrName>ppt_y</p:attrName>
                                        </p:attrNameLst>
                                      </p:cBhvr>
                                      <p:tavLst>
                                        <p:tav tm="0">
                                          <p:val>
                                            <p:strVal val="#ppt_y+.08"/>
                                          </p:val>
                                        </p:tav>
                                        <p:tav tm="100000">
                                          <p:val>
                                            <p:strVal val="#ppt_y"/>
                                          </p:val>
                                        </p:tav>
                                      </p:tavLst>
                                    </p:anim>
                                  </p:childTnLst>
                                </p:cTn>
                              </p:par>
                              <p:par>
                                <p:cTn id="25" presetID="42" presetClass="entr" presetSubtype="0" fill="hold" nodeType="withEffect">
                                  <p:stCondLst>
                                    <p:cond delay="890"/>
                                  </p:stCondLst>
                                  <p:childTnLst>
                                    <p:set>
                                      <p:cBhvr>
                                        <p:cTn id="26" dur="1" fill="hold">
                                          <p:stCondLst>
                                            <p:cond delay="0"/>
                                          </p:stCondLst>
                                        </p:cTn>
                                        <p:tgtEl>
                                          <p:spTgt spid="56"/>
                                        </p:tgtEl>
                                        <p:attrNameLst>
                                          <p:attrName>style.visibility</p:attrName>
                                        </p:attrNameLst>
                                      </p:cBhvr>
                                      <p:to>
                                        <p:strVal val="visible"/>
                                      </p:to>
                                    </p:set>
                                    <p:animEffect transition="in" filter="fade">
                                      <p:cBhvr>
                                        <p:cTn id="27" dur="600"/>
                                        <p:tgtEl>
                                          <p:spTgt spid="56"/>
                                        </p:tgtEl>
                                      </p:cBhvr>
                                    </p:animEffect>
                                    <p:anim calcmode="lin" valueType="num">
                                      <p:cBhvr>
                                        <p:cTn id="28" dur="600" fill="hold"/>
                                        <p:tgtEl>
                                          <p:spTgt spid="56"/>
                                        </p:tgtEl>
                                        <p:attrNameLst>
                                          <p:attrName>ppt_x</p:attrName>
                                        </p:attrNameLst>
                                      </p:cBhvr>
                                      <p:tavLst>
                                        <p:tav tm="0">
                                          <p:val>
                                            <p:strVal val="#ppt_x"/>
                                          </p:val>
                                        </p:tav>
                                        <p:tav tm="100000">
                                          <p:val>
                                            <p:strVal val="#ppt_x"/>
                                          </p:val>
                                        </p:tav>
                                      </p:tavLst>
                                    </p:anim>
                                    <p:anim calcmode="lin" valueType="num">
                                      <p:cBhvr>
                                        <p:cTn id="29" dur="600" fill="hold"/>
                                        <p:tgtEl>
                                          <p:spTgt spid="56"/>
                                        </p:tgtEl>
                                        <p:attrNameLst>
                                          <p:attrName>ppt_y</p:attrName>
                                        </p:attrNameLst>
                                      </p:cBhvr>
                                      <p:tavLst>
                                        <p:tav tm="0">
                                          <p:val>
                                            <p:strVal val="#ppt_y+.08"/>
                                          </p:val>
                                        </p:tav>
                                        <p:tav tm="100000">
                                          <p:val>
                                            <p:strVal val="#ppt_y"/>
                                          </p:val>
                                        </p:tav>
                                      </p:tavLst>
                                    </p:anim>
                                  </p:childTnLst>
                                </p:cTn>
                              </p:par>
                              <p:par>
                                <p:cTn id="30" presetID="42" presetClass="entr" presetSubtype="0" fill="hold" nodeType="withEffect">
                                  <p:stCondLst>
                                    <p:cond delay="1050"/>
                                  </p:stCondLst>
                                  <p:childTnLst>
                                    <p:set>
                                      <p:cBhvr>
                                        <p:cTn id="31" dur="1" fill="hold">
                                          <p:stCondLst>
                                            <p:cond delay="0"/>
                                          </p:stCondLst>
                                        </p:cTn>
                                        <p:tgtEl>
                                          <p:spTgt spid="61"/>
                                        </p:tgtEl>
                                        <p:attrNameLst>
                                          <p:attrName>style.visibility</p:attrName>
                                        </p:attrNameLst>
                                      </p:cBhvr>
                                      <p:to>
                                        <p:strVal val="visible"/>
                                      </p:to>
                                    </p:set>
                                    <p:animEffect transition="in" filter="fade">
                                      <p:cBhvr>
                                        <p:cTn id="32" dur="600"/>
                                        <p:tgtEl>
                                          <p:spTgt spid="61"/>
                                        </p:tgtEl>
                                      </p:cBhvr>
                                    </p:animEffect>
                                    <p:anim calcmode="lin" valueType="num">
                                      <p:cBhvr>
                                        <p:cTn id="33" dur="600" fill="hold"/>
                                        <p:tgtEl>
                                          <p:spTgt spid="61"/>
                                        </p:tgtEl>
                                        <p:attrNameLst>
                                          <p:attrName>ppt_x</p:attrName>
                                        </p:attrNameLst>
                                      </p:cBhvr>
                                      <p:tavLst>
                                        <p:tav tm="0">
                                          <p:val>
                                            <p:strVal val="#ppt_x"/>
                                          </p:val>
                                        </p:tav>
                                        <p:tav tm="100000">
                                          <p:val>
                                            <p:strVal val="#ppt_x"/>
                                          </p:val>
                                        </p:tav>
                                      </p:tavLst>
                                    </p:anim>
                                    <p:anim calcmode="lin" valueType="num">
                                      <p:cBhvr>
                                        <p:cTn id="34" dur="600" fill="hold"/>
                                        <p:tgtEl>
                                          <p:spTgt spid="61"/>
                                        </p:tgtEl>
                                        <p:attrNameLst>
                                          <p:attrName>ppt_y</p:attrName>
                                        </p:attrNameLst>
                                      </p:cBhvr>
                                      <p:tavLst>
                                        <p:tav tm="0">
                                          <p:val>
                                            <p:strVal val="#ppt_y+.08"/>
                                          </p:val>
                                        </p:tav>
                                        <p:tav tm="100000">
                                          <p:val>
                                            <p:strVal val="#ppt_y"/>
                                          </p:val>
                                        </p:tav>
                                      </p:tavLst>
                                    </p:anim>
                                  </p:childTnLst>
                                </p:cTn>
                              </p:par>
                              <p:par>
                                <p:cTn id="35" presetID="42" presetClass="entr" presetSubtype="0" fill="hold" nodeType="withEffect">
                                  <p:stCondLst>
                                    <p:cond delay="1210"/>
                                  </p:stCondLst>
                                  <p:childTnLst>
                                    <p:set>
                                      <p:cBhvr>
                                        <p:cTn id="36" dur="1" fill="hold">
                                          <p:stCondLst>
                                            <p:cond delay="0"/>
                                          </p:stCondLst>
                                        </p:cTn>
                                        <p:tgtEl>
                                          <p:spTgt spid="66"/>
                                        </p:tgtEl>
                                        <p:attrNameLst>
                                          <p:attrName>style.visibility</p:attrName>
                                        </p:attrNameLst>
                                      </p:cBhvr>
                                      <p:to>
                                        <p:strVal val="visible"/>
                                      </p:to>
                                    </p:set>
                                    <p:animEffect transition="in" filter="fade">
                                      <p:cBhvr>
                                        <p:cTn id="37" dur="600"/>
                                        <p:tgtEl>
                                          <p:spTgt spid="66"/>
                                        </p:tgtEl>
                                      </p:cBhvr>
                                    </p:animEffect>
                                    <p:anim calcmode="lin" valueType="num">
                                      <p:cBhvr>
                                        <p:cTn id="38" dur="600" fill="hold"/>
                                        <p:tgtEl>
                                          <p:spTgt spid="66"/>
                                        </p:tgtEl>
                                        <p:attrNameLst>
                                          <p:attrName>ppt_x</p:attrName>
                                        </p:attrNameLst>
                                      </p:cBhvr>
                                      <p:tavLst>
                                        <p:tav tm="0">
                                          <p:val>
                                            <p:strVal val="#ppt_x"/>
                                          </p:val>
                                        </p:tav>
                                        <p:tav tm="100000">
                                          <p:val>
                                            <p:strVal val="#ppt_x"/>
                                          </p:val>
                                        </p:tav>
                                      </p:tavLst>
                                    </p:anim>
                                    <p:anim calcmode="lin" valueType="num">
                                      <p:cBhvr>
                                        <p:cTn id="39" dur="600" fill="hold"/>
                                        <p:tgtEl>
                                          <p:spTgt spid="66"/>
                                        </p:tgtEl>
                                        <p:attrNameLst>
                                          <p:attrName>ppt_y</p:attrName>
                                        </p:attrNameLst>
                                      </p:cBhvr>
                                      <p:tavLst>
                                        <p:tav tm="0">
                                          <p:val>
                                            <p:strVal val="#ppt_y+.08"/>
                                          </p:val>
                                        </p:tav>
                                        <p:tav tm="100000">
                                          <p:val>
                                            <p:strVal val="#ppt_y"/>
                                          </p:val>
                                        </p:tav>
                                      </p:tavLst>
                                    </p:anim>
                                  </p:childTnLst>
                                </p:cTn>
                              </p:par>
                              <p:par>
                                <p:cTn id="40" presetID="42" presetClass="entr" presetSubtype="0" fill="hold" nodeType="withEffect">
                                  <p:stCondLst>
                                    <p:cond delay="1370"/>
                                  </p:stCondLst>
                                  <p:childTnLst>
                                    <p:set>
                                      <p:cBhvr>
                                        <p:cTn id="41" dur="1" fill="hold">
                                          <p:stCondLst>
                                            <p:cond delay="0"/>
                                          </p:stCondLst>
                                        </p:cTn>
                                        <p:tgtEl>
                                          <p:spTgt spid="71"/>
                                        </p:tgtEl>
                                        <p:attrNameLst>
                                          <p:attrName>style.visibility</p:attrName>
                                        </p:attrNameLst>
                                      </p:cBhvr>
                                      <p:to>
                                        <p:strVal val="visible"/>
                                      </p:to>
                                    </p:set>
                                    <p:animEffect transition="in" filter="fade">
                                      <p:cBhvr>
                                        <p:cTn id="42" dur="600"/>
                                        <p:tgtEl>
                                          <p:spTgt spid="71"/>
                                        </p:tgtEl>
                                      </p:cBhvr>
                                    </p:animEffect>
                                    <p:anim calcmode="lin" valueType="num">
                                      <p:cBhvr>
                                        <p:cTn id="43" dur="600" fill="hold"/>
                                        <p:tgtEl>
                                          <p:spTgt spid="71"/>
                                        </p:tgtEl>
                                        <p:attrNameLst>
                                          <p:attrName>ppt_x</p:attrName>
                                        </p:attrNameLst>
                                      </p:cBhvr>
                                      <p:tavLst>
                                        <p:tav tm="0">
                                          <p:val>
                                            <p:strVal val="#ppt_x"/>
                                          </p:val>
                                        </p:tav>
                                        <p:tav tm="100000">
                                          <p:val>
                                            <p:strVal val="#ppt_x"/>
                                          </p:val>
                                        </p:tav>
                                      </p:tavLst>
                                    </p:anim>
                                    <p:anim calcmode="lin" valueType="num">
                                      <p:cBhvr>
                                        <p:cTn id="44" dur="600" fill="hold"/>
                                        <p:tgtEl>
                                          <p:spTgt spid="71"/>
                                        </p:tgtEl>
                                        <p:attrNameLst>
                                          <p:attrName>ppt_y</p:attrName>
                                        </p:attrNameLst>
                                      </p:cBhvr>
                                      <p:tavLst>
                                        <p:tav tm="0">
                                          <p:val>
                                            <p:strVal val="#ppt_y+.08"/>
                                          </p:val>
                                        </p:tav>
                                        <p:tav tm="100000">
                                          <p:val>
                                            <p:strVal val="#ppt_y"/>
                                          </p:val>
                                        </p:tav>
                                      </p:tavLst>
                                    </p:anim>
                                  </p:childTnLst>
                                </p:cTn>
                              </p:par>
                              <p:par>
                                <p:cTn id="45" presetID="42" presetClass="entr" presetSubtype="0" fill="hold" nodeType="withEffect">
                                  <p:stCondLst>
                                    <p:cond delay="1530"/>
                                  </p:stCondLst>
                                  <p:childTnLst>
                                    <p:set>
                                      <p:cBhvr>
                                        <p:cTn id="46" dur="1" fill="hold">
                                          <p:stCondLst>
                                            <p:cond delay="0"/>
                                          </p:stCondLst>
                                        </p:cTn>
                                        <p:tgtEl>
                                          <p:spTgt spid="76"/>
                                        </p:tgtEl>
                                        <p:attrNameLst>
                                          <p:attrName>style.visibility</p:attrName>
                                        </p:attrNameLst>
                                      </p:cBhvr>
                                      <p:to>
                                        <p:strVal val="visible"/>
                                      </p:to>
                                    </p:set>
                                    <p:animEffect transition="in" filter="fade">
                                      <p:cBhvr>
                                        <p:cTn id="47" dur="600"/>
                                        <p:tgtEl>
                                          <p:spTgt spid="76"/>
                                        </p:tgtEl>
                                      </p:cBhvr>
                                    </p:animEffect>
                                    <p:anim calcmode="lin" valueType="num">
                                      <p:cBhvr>
                                        <p:cTn id="48" dur="600" fill="hold"/>
                                        <p:tgtEl>
                                          <p:spTgt spid="76"/>
                                        </p:tgtEl>
                                        <p:attrNameLst>
                                          <p:attrName>ppt_x</p:attrName>
                                        </p:attrNameLst>
                                      </p:cBhvr>
                                      <p:tavLst>
                                        <p:tav tm="0">
                                          <p:val>
                                            <p:strVal val="#ppt_x"/>
                                          </p:val>
                                        </p:tav>
                                        <p:tav tm="100000">
                                          <p:val>
                                            <p:strVal val="#ppt_x"/>
                                          </p:val>
                                        </p:tav>
                                      </p:tavLst>
                                    </p:anim>
                                    <p:anim calcmode="lin" valueType="num">
                                      <p:cBhvr>
                                        <p:cTn id="49" dur="600" fill="hold"/>
                                        <p:tgtEl>
                                          <p:spTgt spid="7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243072" y="-2660977"/>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475429" y="4340740"/>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9910898" y="4471374"/>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INTRODUCTION</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Key Concepts &amp; Definitions</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Introduction</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sz="1000" b="0" i="0">
                <a:solidFill>
                  <a:srgbClr val="C9D2E3"/>
                </a:solidFill>
                <a:latin typeface="Segoe UI Semibold"/>
              </a:rPr>
              <a:t>04</a:t>
            </a:r>
            <a:r>
              <a:rPr sz="1000" b="0" i="0">
                <a:solidFill>
                  <a:srgbClr val="8C9AB5"/>
                </a:solidFill>
                <a:latin typeface="Segoe UI"/>
              </a:rPr>
              <a:t> / 30</a:t>
            </a:r>
          </a:p>
        </p:txBody>
      </p:sp>
      <p:grpSp>
        <p:nvGrpSpPr>
          <p:cNvPr id="36" name="Group 35"/>
          <p:cNvGrpSpPr/>
          <p:nvPr/>
        </p:nvGrpSpPr>
        <p:grpSpPr>
          <a:xfrm>
            <a:off x="548640" y="1600200"/>
            <a:ext cx="11091672" cy="960120"/>
            <a:chOff x="548640" y="1600200"/>
            <a:chExt cx="11091672" cy="960120"/>
          </a:xfrm>
        </p:grpSpPr>
        <p:sp>
          <p:nvSpPr>
            <p:cNvPr id="37" name="Rounded Rectangle 36"/>
            <p:cNvSpPr/>
            <p:nvPr/>
          </p:nvSpPr>
          <p:spPr>
            <a:xfrm>
              <a:off x="548640" y="1600200"/>
              <a:ext cx="11091672" cy="960120"/>
            </a:xfrm>
            <a:prstGeom prst="roundRect">
              <a:avLst>
                <a:gd name="adj" fmla="val 14000"/>
              </a:avLst>
            </a:prstGeom>
            <a:solidFill>
              <a:srgbClr val="3987E5">
                <a:alpha val="12000"/>
              </a:srgbClr>
            </a:solidFill>
            <a:ln w="12700">
              <a:solidFill>
                <a:srgbClr val="3987E5">
                  <a:alpha val="60000"/>
                </a:srgbClr>
              </a:solidFill>
            </a:ln>
          </p:spPr>
          <p:txBody>
            <a:bodyPr wrap="square" rtlCol="0" anchor="ctr"/>
            <a:lstStyle/>
            <a:p>
              <a:pPr algn="ctr"/>
              <a:endParaRPr/>
            </a:p>
          </p:txBody>
        </p:sp>
        <p:sp>
          <p:nvSpPr>
            <p:cNvPr id="38" name="TextBox 37"/>
            <p:cNvSpPr txBox="1"/>
            <p:nvPr/>
          </p:nvSpPr>
          <p:spPr>
            <a:xfrm>
              <a:off x="822960" y="1682496"/>
              <a:ext cx="2103120" cy="804672"/>
            </a:xfrm>
            <a:prstGeom prst="rect">
              <a:avLst/>
            </a:prstGeom>
            <a:noFill/>
          </p:spPr>
          <p:txBody>
            <a:bodyPr wrap="square" lIns="0" tIns="0" rIns="0" bIns="0" anchor="ctr">
              <a:noAutofit/>
            </a:bodyPr>
            <a:lstStyle/>
            <a:p>
              <a:pPr algn="l">
                <a:lnSpc>
                  <a:spcPct val="112000"/>
                </a:lnSpc>
                <a:spcAft>
                  <a:spcPts val="0"/>
                </a:spcAft>
              </a:pPr>
              <a:r>
                <a:rPr sz="3000" b="0" i="0">
                  <a:solidFill>
                    <a:srgbClr val="7DB3F5"/>
                  </a:solidFill>
                  <a:latin typeface="Segoe UI Semibold"/>
                </a:rPr>
                <a:t>MCRM</a:t>
              </a:r>
            </a:p>
          </p:txBody>
        </p:sp>
        <p:sp>
          <p:nvSpPr>
            <p:cNvPr id="39" name="TextBox 38"/>
            <p:cNvSpPr txBox="1"/>
            <p:nvPr/>
          </p:nvSpPr>
          <p:spPr>
            <a:xfrm>
              <a:off x="2606040" y="1682496"/>
              <a:ext cx="8869680" cy="804672"/>
            </a:xfrm>
            <a:prstGeom prst="rect">
              <a:avLst/>
            </a:prstGeom>
            <a:noFill/>
          </p:spPr>
          <p:txBody>
            <a:bodyPr wrap="square" lIns="0" tIns="0" rIns="0" bIns="0" anchor="ctr">
              <a:noAutofit/>
            </a:bodyPr>
            <a:lstStyle/>
            <a:p>
              <a:pPr algn="l">
                <a:lnSpc>
                  <a:spcPct val="115000"/>
                </a:lnSpc>
                <a:spcAft>
                  <a:spcPts val="0"/>
                </a:spcAft>
              </a:pPr>
              <a:r>
                <a:rPr sz="1400" b="0" i="0">
                  <a:solidFill>
                    <a:srgbClr val="FFFFFF"/>
                  </a:solidFill>
                  <a:latin typeface="Segoe UI Semibold"/>
                </a:rPr>
                <a:t>Multi-Cloud Resource Management</a:t>
              </a:r>
              <a:r>
                <a:rPr sz="1400" b="0" i="0">
                  <a:solidFill>
                    <a:srgbClr val="C9D2E3"/>
                  </a:solidFill>
                  <a:latin typeface="Segoe UI"/>
                </a:rPr>
                <a:t> — the processes and tooling to discover, provision, allocate, monitor, optimize and govern resources across two or more cloud environments through a unified control plane.</a:t>
              </a:r>
            </a:p>
          </p:txBody>
        </p:sp>
      </p:grpSp>
      <p:grpSp>
        <p:nvGrpSpPr>
          <p:cNvPr id="40" name="Group 39"/>
          <p:cNvGrpSpPr/>
          <p:nvPr/>
        </p:nvGrpSpPr>
        <p:grpSpPr>
          <a:xfrm>
            <a:off x="548640" y="2743200"/>
            <a:ext cx="2679192" cy="3246120"/>
            <a:chOff x="548640" y="2743200"/>
            <a:chExt cx="2679192" cy="3246120"/>
          </a:xfrm>
        </p:grpSpPr>
        <p:sp>
          <p:nvSpPr>
            <p:cNvPr id="41" name="Rounded Rectangle 40"/>
            <p:cNvSpPr/>
            <p:nvPr/>
          </p:nvSpPr>
          <p:spPr>
            <a:xfrm>
              <a:off x="548640" y="2743200"/>
              <a:ext cx="2679192" cy="3246120"/>
            </a:xfrm>
            <a:prstGeom prst="roundRect">
              <a:avLst>
                <a:gd name="adj" fmla="val 7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42" name="Rectangle 41"/>
            <p:cNvSpPr/>
            <p:nvPr/>
          </p:nvSpPr>
          <p:spPr>
            <a:xfrm>
              <a:off x="548640" y="2743200"/>
              <a:ext cx="2679192" cy="45720"/>
            </a:xfrm>
            <a:prstGeom prst="rect">
              <a:avLst/>
            </a:prstGeom>
            <a:solidFill>
              <a:srgbClr val="3987E5"/>
            </a:solidFill>
            <a:ln>
              <a:noFill/>
            </a:ln>
          </p:spPr>
          <p:txBody>
            <a:bodyPr wrap="square" rtlCol="0" anchor="ctr"/>
            <a:lstStyle/>
            <a:p>
              <a:pPr algn="ctr"/>
              <a:endParaRPr/>
            </a:p>
          </p:txBody>
        </p:sp>
        <p:sp>
          <p:nvSpPr>
            <p:cNvPr id="43" name="Cloud 42"/>
            <p:cNvSpPr/>
            <p:nvPr/>
          </p:nvSpPr>
          <p:spPr>
            <a:xfrm>
              <a:off x="822959" y="3017520"/>
              <a:ext cx="566928" cy="384048"/>
            </a:xfrm>
            <a:prstGeom prst="cloud">
              <a:avLst/>
            </a:prstGeom>
            <a:solidFill>
              <a:srgbClr val="3987E5">
                <a:alpha val="85000"/>
              </a:srgbClr>
            </a:solidFill>
            <a:ln>
              <a:noFill/>
            </a:ln>
          </p:spPr>
          <p:txBody>
            <a:bodyPr wrap="square" rtlCol="0" anchor="ctr"/>
            <a:lstStyle/>
            <a:p>
              <a:pPr algn="ctr"/>
              <a:endParaRPr/>
            </a:p>
          </p:txBody>
        </p:sp>
        <p:sp>
          <p:nvSpPr>
            <p:cNvPr id="44" name="Cloud 43"/>
            <p:cNvSpPr/>
            <p:nvPr/>
          </p:nvSpPr>
          <p:spPr>
            <a:xfrm>
              <a:off x="1389888" y="3017520"/>
              <a:ext cx="566928" cy="384048"/>
            </a:xfrm>
            <a:prstGeom prst="cloud">
              <a:avLst/>
            </a:prstGeom>
            <a:solidFill>
              <a:srgbClr val="199E70">
                <a:alpha val="85000"/>
              </a:srgbClr>
            </a:solidFill>
            <a:ln>
              <a:noFill/>
            </a:ln>
          </p:spPr>
          <p:txBody>
            <a:bodyPr wrap="square" rtlCol="0" anchor="ctr"/>
            <a:lstStyle/>
            <a:p>
              <a:pPr algn="ctr"/>
              <a:endParaRPr/>
            </a:p>
          </p:txBody>
        </p:sp>
        <p:sp>
          <p:nvSpPr>
            <p:cNvPr id="45" name="Cloud 44"/>
            <p:cNvSpPr/>
            <p:nvPr/>
          </p:nvSpPr>
          <p:spPr>
            <a:xfrm>
              <a:off x="1956815" y="3017520"/>
              <a:ext cx="566928" cy="384048"/>
            </a:xfrm>
            <a:prstGeom prst="cloud">
              <a:avLst/>
            </a:prstGeom>
            <a:solidFill>
              <a:srgbClr val="9085E9">
                <a:alpha val="85000"/>
              </a:srgbClr>
            </a:solidFill>
            <a:ln>
              <a:noFill/>
            </a:ln>
          </p:spPr>
          <p:txBody>
            <a:bodyPr wrap="square" rtlCol="0" anchor="ctr"/>
            <a:lstStyle/>
            <a:p>
              <a:pPr algn="ctr"/>
              <a:endParaRPr/>
            </a:p>
          </p:txBody>
        </p:sp>
        <p:sp>
          <p:nvSpPr>
            <p:cNvPr id="46" name="TextBox 45"/>
            <p:cNvSpPr txBox="1"/>
            <p:nvPr/>
          </p:nvSpPr>
          <p:spPr>
            <a:xfrm>
              <a:off x="822959" y="3611880"/>
              <a:ext cx="2240280" cy="411480"/>
            </a:xfrm>
            <a:prstGeom prst="rect">
              <a:avLst/>
            </a:prstGeom>
            <a:noFill/>
          </p:spPr>
          <p:txBody>
            <a:bodyPr wrap="square" lIns="0" tIns="0" rIns="0" bIns="0" anchor="t">
              <a:noAutofit/>
            </a:bodyPr>
            <a:lstStyle/>
            <a:p>
              <a:pPr algn="l">
                <a:lnSpc>
                  <a:spcPct val="112000"/>
                </a:lnSpc>
                <a:spcAft>
                  <a:spcPts val="0"/>
                </a:spcAft>
              </a:pPr>
              <a:r>
                <a:rPr sz="1600" b="0" i="0">
                  <a:solidFill>
                    <a:srgbClr val="FFFFFF"/>
                  </a:solidFill>
                  <a:latin typeface="Segoe UI Semibold"/>
                </a:rPr>
                <a:t>Multi-cloud</a:t>
              </a:r>
            </a:p>
          </p:txBody>
        </p:sp>
        <p:sp>
          <p:nvSpPr>
            <p:cNvPr id="47" name="TextBox 46"/>
            <p:cNvSpPr txBox="1"/>
            <p:nvPr/>
          </p:nvSpPr>
          <p:spPr>
            <a:xfrm>
              <a:off x="822959" y="4041648"/>
              <a:ext cx="2240280" cy="1188720"/>
            </a:xfrm>
            <a:prstGeom prst="rect">
              <a:avLst/>
            </a:prstGeom>
            <a:noFill/>
          </p:spPr>
          <p:txBody>
            <a:bodyPr wrap="square" lIns="0" tIns="0" rIns="0" bIns="0" anchor="t">
              <a:noAutofit/>
            </a:bodyPr>
            <a:lstStyle/>
            <a:p>
              <a:pPr algn="l">
                <a:lnSpc>
                  <a:spcPct val="115000"/>
                </a:lnSpc>
                <a:spcAft>
                  <a:spcPts val="0"/>
                </a:spcAft>
              </a:pPr>
              <a:r>
                <a:rPr sz="1250" b="0" i="0">
                  <a:solidFill>
                    <a:srgbClr val="C9D2E3"/>
                  </a:solidFill>
                  <a:latin typeface="Segoe UI"/>
                </a:rPr>
                <a:t>Two or more public cloud providers used for different or the same workloads.</a:t>
              </a:r>
            </a:p>
          </p:txBody>
        </p:sp>
        <p:cxnSp>
          <p:nvCxnSpPr>
            <p:cNvPr id="48" name="Connector 47"/>
            <p:cNvCxnSpPr/>
            <p:nvPr/>
          </p:nvCxnSpPr>
          <p:spPr>
            <a:xfrm>
              <a:off x="822959" y="5321808"/>
              <a:ext cx="2130553" cy="0"/>
            </a:xfrm>
            <a:prstGeom prst="line">
              <a:avLst/>
            </a:prstGeom>
            <a:ln w="9525">
              <a:solidFill>
                <a:srgbClr val="2A3F69"/>
              </a:solidFill>
            </a:ln>
          </p:spPr>
        </p:cxnSp>
        <p:sp>
          <p:nvSpPr>
            <p:cNvPr id="49" name="TextBox 48"/>
            <p:cNvSpPr txBox="1"/>
            <p:nvPr/>
          </p:nvSpPr>
          <p:spPr>
            <a:xfrm>
              <a:off x="822959" y="5394960"/>
              <a:ext cx="2240280" cy="502920"/>
            </a:xfrm>
            <a:prstGeom prst="rect">
              <a:avLst/>
            </a:prstGeom>
            <a:noFill/>
          </p:spPr>
          <p:txBody>
            <a:bodyPr wrap="square" lIns="0" tIns="0" rIns="0" bIns="0" anchor="t">
              <a:noAutofit/>
            </a:bodyPr>
            <a:lstStyle/>
            <a:p>
              <a:pPr algn="l">
                <a:lnSpc>
                  <a:spcPct val="110000"/>
                </a:lnSpc>
                <a:spcAft>
                  <a:spcPts val="0"/>
                </a:spcAft>
              </a:pPr>
              <a:r>
                <a:rPr sz="1100" b="0" i="0">
                  <a:solidFill>
                    <a:srgbClr val="7DB3F5"/>
                  </a:solidFill>
                  <a:latin typeface="Segoe UI"/>
                </a:rPr>
                <a:t>e.g. AWS for core apps + GCP for analytics</a:t>
              </a:r>
            </a:p>
          </p:txBody>
        </p:sp>
      </p:grpSp>
      <p:grpSp>
        <p:nvGrpSpPr>
          <p:cNvPr id="50" name="Group 49"/>
          <p:cNvGrpSpPr/>
          <p:nvPr/>
        </p:nvGrpSpPr>
        <p:grpSpPr>
          <a:xfrm>
            <a:off x="3364992" y="2743200"/>
            <a:ext cx="2679192" cy="3246120"/>
            <a:chOff x="3364992" y="2743200"/>
            <a:chExt cx="2679192" cy="3246120"/>
          </a:xfrm>
        </p:grpSpPr>
        <p:sp>
          <p:nvSpPr>
            <p:cNvPr id="51" name="Rounded Rectangle 50"/>
            <p:cNvSpPr/>
            <p:nvPr/>
          </p:nvSpPr>
          <p:spPr>
            <a:xfrm>
              <a:off x="3364992" y="2743200"/>
              <a:ext cx="2679192" cy="3246120"/>
            </a:xfrm>
            <a:prstGeom prst="roundRect">
              <a:avLst>
                <a:gd name="adj" fmla="val 7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52" name="Rectangle 51"/>
            <p:cNvSpPr/>
            <p:nvPr/>
          </p:nvSpPr>
          <p:spPr>
            <a:xfrm>
              <a:off x="3364992" y="2743200"/>
              <a:ext cx="2679192" cy="45720"/>
            </a:xfrm>
            <a:prstGeom prst="rect">
              <a:avLst/>
            </a:prstGeom>
            <a:solidFill>
              <a:srgbClr val="199E70"/>
            </a:solidFill>
            <a:ln>
              <a:noFill/>
            </a:ln>
          </p:spPr>
          <p:txBody>
            <a:bodyPr wrap="square" rtlCol="0" anchor="ctr"/>
            <a:lstStyle/>
            <a:p>
              <a:pPr algn="ctr"/>
              <a:endParaRPr/>
            </a:p>
          </p:txBody>
        </p:sp>
        <p:sp>
          <p:nvSpPr>
            <p:cNvPr id="53" name="Cloud 52"/>
            <p:cNvSpPr/>
            <p:nvPr/>
          </p:nvSpPr>
          <p:spPr>
            <a:xfrm>
              <a:off x="3639312" y="3017520"/>
              <a:ext cx="658368" cy="420624"/>
            </a:xfrm>
            <a:prstGeom prst="cloud">
              <a:avLst/>
            </a:prstGeom>
            <a:solidFill>
              <a:srgbClr val="199E70">
                <a:alpha val="85000"/>
              </a:srgbClr>
            </a:solidFill>
            <a:ln>
              <a:noFill/>
            </a:ln>
          </p:spPr>
          <p:txBody>
            <a:bodyPr wrap="square" rtlCol="0" anchor="ctr"/>
            <a:lstStyle/>
            <a:p>
              <a:pPr algn="ctr"/>
              <a:endParaRPr/>
            </a:p>
          </p:txBody>
        </p:sp>
        <p:cxnSp>
          <p:nvCxnSpPr>
            <p:cNvPr id="54" name="Connector 53"/>
            <p:cNvCxnSpPr/>
            <p:nvPr/>
          </p:nvCxnSpPr>
          <p:spPr>
            <a:xfrm>
              <a:off x="4325112" y="3227832"/>
              <a:ext cx="365760" cy="0"/>
            </a:xfrm>
            <a:prstGeom prst="line">
              <a:avLst/>
            </a:prstGeom>
            <a:ln w="19050">
              <a:solidFill>
                <a:srgbClr val="4FD1A1"/>
              </a:solidFill>
            </a:ln>
          </p:spPr>
        </p:cxnSp>
        <p:sp>
          <p:nvSpPr>
            <p:cNvPr id="55" name="Rounded Rectangle 54"/>
            <p:cNvSpPr/>
            <p:nvPr/>
          </p:nvSpPr>
          <p:spPr>
            <a:xfrm>
              <a:off x="4736592" y="3017520"/>
              <a:ext cx="457200" cy="100584"/>
            </a:xfrm>
            <a:prstGeom prst="roundRect">
              <a:avLst>
                <a:gd name="adj" fmla="val 30000"/>
              </a:avLst>
            </a:prstGeom>
            <a:solidFill>
              <a:srgbClr val="8C9AB5"/>
            </a:solidFill>
            <a:ln>
              <a:noFill/>
            </a:ln>
          </p:spPr>
          <p:txBody>
            <a:bodyPr wrap="square" rtlCol="0" anchor="ctr"/>
            <a:lstStyle/>
            <a:p>
              <a:pPr algn="ctr"/>
              <a:endParaRPr/>
            </a:p>
          </p:txBody>
        </p:sp>
        <p:sp>
          <p:nvSpPr>
            <p:cNvPr id="56" name="Rounded Rectangle 55"/>
            <p:cNvSpPr/>
            <p:nvPr/>
          </p:nvSpPr>
          <p:spPr>
            <a:xfrm>
              <a:off x="4736592" y="3154679"/>
              <a:ext cx="457200" cy="100584"/>
            </a:xfrm>
            <a:prstGeom prst="roundRect">
              <a:avLst>
                <a:gd name="adj" fmla="val 30000"/>
              </a:avLst>
            </a:prstGeom>
            <a:solidFill>
              <a:srgbClr val="8C9AB5"/>
            </a:solidFill>
            <a:ln>
              <a:noFill/>
            </a:ln>
          </p:spPr>
          <p:txBody>
            <a:bodyPr wrap="square" rtlCol="0" anchor="ctr"/>
            <a:lstStyle/>
            <a:p>
              <a:pPr algn="ctr"/>
              <a:endParaRPr/>
            </a:p>
          </p:txBody>
        </p:sp>
        <p:sp>
          <p:nvSpPr>
            <p:cNvPr id="57" name="Rounded Rectangle 56"/>
            <p:cNvSpPr/>
            <p:nvPr/>
          </p:nvSpPr>
          <p:spPr>
            <a:xfrm>
              <a:off x="4736592" y="3291839"/>
              <a:ext cx="457200" cy="100584"/>
            </a:xfrm>
            <a:prstGeom prst="roundRect">
              <a:avLst>
                <a:gd name="adj" fmla="val 30000"/>
              </a:avLst>
            </a:prstGeom>
            <a:solidFill>
              <a:srgbClr val="8C9AB5"/>
            </a:solidFill>
            <a:ln>
              <a:noFill/>
            </a:ln>
          </p:spPr>
          <p:txBody>
            <a:bodyPr wrap="square" rtlCol="0" anchor="ctr"/>
            <a:lstStyle/>
            <a:p>
              <a:pPr algn="ctr"/>
              <a:endParaRPr/>
            </a:p>
          </p:txBody>
        </p:sp>
        <p:sp>
          <p:nvSpPr>
            <p:cNvPr id="58" name="TextBox 57"/>
            <p:cNvSpPr txBox="1"/>
            <p:nvPr/>
          </p:nvSpPr>
          <p:spPr>
            <a:xfrm>
              <a:off x="3639312" y="3611880"/>
              <a:ext cx="2240280" cy="411480"/>
            </a:xfrm>
            <a:prstGeom prst="rect">
              <a:avLst/>
            </a:prstGeom>
            <a:noFill/>
          </p:spPr>
          <p:txBody>
            <a:bodyPr wrap="square" lIns="0" tIns="0" rIns="0" bIns="0" anchor="t">
              <a:noAutofit/>
            </a:bodyPr>
            <a:lstStyle/>
            <a:p>
              <a:pPr algn="l">
                <a:lnSpc>
                  <a:spcPct val="112000"/>
                </a:lnSpc>
                <a:spcAft>
                  <a:spcPts val="0"/>
                </a:spcAft>
              </a:pPr>
              <a:r>
                <a:rPr sz="1600" b="0" i="0">
                  <a:solidFill>
                    <a:srgbClr val="FFFFFF"/>
                  </a:solidFill>
                  <a:latin typeface="Segoe UI Semibold"/>
                </a:rPr>
                <a:t>Hybrid cloud</a:t>
              </a:r>
            </a:p>
          </p:txBody>
        </p:sp>
        <p:sp>
          <p:nvSpPr>
            <p:cNvPr id="59" name="TextBox 58"/>
            <p:cNvSpPr txBox="1"/>
            <p:nvPr/>
          </p:nvSpPr>
          <p:spPr>
            <a:xfrm>
              <a:off x="3639312" y="4041648"/>
              <a:ext cx="2240280" cy="1188720"/>
            </a:xfrm>
            <a:prstGeom prst="rect">
              <a:avLst/>
            </a:prstGeom>
            <a:noFill/>
          </p:spPr>
          <p:txBody>
            <a:bodyPr wrap="square" lIns="0" tIns="0" rIns="0" bIns="0" anchor="t">
              <a:noAutofit/>
            </a:bodyPr>
            <a:lstStyle/>
            <a:p>
              <a:pPr algn="l">
                <a:lnSpc>
                  <a:spcPct val="115000"/>
                </a:lnSpc>
                <a:spcAft>
                  <a:spcPts val="0"/>
                </a:spcAft>
              </a:pPr>
              <a:r>
                <a:rPr sz="1250" b="0" i="0">
                  <a:solidFill>
                    <a:srgbClr val="C9D2E3"/>
                  </a:solidFill>
                  <a:latin typeface="Segoe UI"/>
                </a:rPr>
                <a:t>Public cloud combined with private cloud or on-premises data centres, integrated.</a:t>
              </a:r>
            </a:p>
          </p:txBody>
        </p:sp>
        <p:cxnSp>
          <p:nvCxnSpPr>
            <p:cNvPr id="60" name="Connector 59"/>
            <p:cNvCxnSpPr/>
            <p:nvPr/>
          </p:nvCxnSpPr>
          <p:spPr>
            <a:xfrm>
              <a:off x="3639312" y="5321808"/>
              <a:ext cx="2130552" cy="0"/>
            </a:xfrm>
            <a:prstGeom prst="line">
              <a:avLst/>
            </a:prstGeom>
            <a:ln w="9525">
              <a:solidFill>
                <a:srgbClr val="2A3F69"/>
              </a:solidFill>
            </a:ln>
          </p:spPr>
        </p:cxnSp>
        <p:sp>
          <p:nvSpPr>
            <p:cNvPr id="61" name="TextBox 60"/>
            <p:cNvSpPr txBox="1"/>
            <p:nvPr/>
          </p:nvSpPr>
          <p:spPr>
            <a:xfrm>
              <a:off x="3639312" y="5394960"/>
              <a:ext cx="2240280" cy="502920"/>
            </a:xfrm>
            <a:prstGeom prst="rect">
              <a:avLst/>
            </a:prstGeom>
            <a:noFill/>
          </p:spPr>
          <p:txBody>
            <a:bodyPr wrap="square" lIns="0" tIns="0" rIns="0" bIns="0" anchor="t">
              <a:noAutofit/>
            </a:bodyPr>
            <a:lstStyle/>
            <a:p>
              <a:pPr algn="l">
                <a:lnSpc>
                  <a:spcPct val="110000"/>
                </a:lnSpc>
                <a:spcAft>
                  <a:spcPts val="0"/>
                </a:spcAft>
              </a:pPr>
              <a:r>
                <a:rPr sz="1100" b="0" i="0">
                  <a:solidFill>
                    <a:srgbClr val="4FD1A1"/>
                  </a:solidFill>
                  <a:latin typeface="Segoe UI"/>
                </a:rPr>
                <a:t>e.g. Azure + on-prem with Azure Arc</a:t>
              </a:r>
            </a:p>
          </p:txBody>
        </p:sp>
      </p:grpSp>
      <p:grpSp>
        <p:nvGrpSpPr>
          <p:cNvPr id="62" name="Group 61"/>
          <p:cNvGrpSpPr/>
          <p:nvPr/>
        </p:nvGrpSpPr>
        <p:grpSpPr>
          <a:xfrm>
            <a:off x="6181344" y="2743200"/>
            <a:ext cx="2679192" cy="3246120"/>
            <a:chOff x="6181344" y="2743200"/>
            <a:chExt cx="2679192" cy="3246120"/>
          </a:xfrm>
        </p:grpSpPr>
        <p:sp>
          <p:nvSpPr>
            <p:cNvPr id="63" name="Rounded Rectangle 62"/>
            <p:cNvSpPr/>
            <p:nvPr/>
          </p:nvSpPr>
          <p:spPr>
            <a:xfrm>
              <a:off x="6181344" y="2743200"/>
              <a:ext cx="2679192" cy="3246120"/>
            </a:xfrm>
            <a:prstGeom prst="roundRect">
              <a:avLst>
                <a:gd name="adj" fmla="val 7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64" name="Rectangle 63"/>
            <p:cNvSpPr/>
            <p:nvPr/>
          </p:nvSpPr>
          <p:spPr>
            <a:xfrm>
              <a:off x="6181344" y="2743200"/>
              <a:ext cx="2679192" cy="45720"/>
            </a:xfrm>
            <a:prstGeom prst="rect">
              <a:avLst/>
            </a:prstGeom>
            <a:solidFill>
              <a:srgbClr val="9085E9"/>
            </a:solidFill>
            <a:ln>
              <a:noFill/>
            </a:ln>
          </p:spPr>
          <p:txBody>
            <a:bodyPr wrap="square" rtlCol="0" anchor="ctr"/>
            <a:lstStyle/>
            <a:p>
              <a:pPr algn="ctr"/>
              <a:endParaRPr/>
            </a:p>
          </p:txBody>
        </p:sp>
        <p:cxnSp>
          <p:nvCxnSpPr>
            <p:cNvPr id="65" name="Connector 64"/>
            <p:cNvCxnSpPr/>
            <p:nvPr/>
          </p:nvCxnSpPr>
          <p:spPr>
            <a:xfrm>
              <a:off x="6729983" y="3291840"/>
              <a:ext cx="1371600" cy="0"/>
            </a:xfrm>
            <a:prstGeom prst="line">
              <a:avLst/>
            </a:prstGeom>
            <a:ln w="15875">
              <a:solidFill>
                <a:srgbClr val="B5ADF5"/>
              </a:solidFill>
              <a:prstDash val="dash"/>
            </a:ln>
          </p:spPr>
        </p:cxnSp>
        <p:sp>
          <p:nvSpPr>
            <p:cNvPr id="66" name="Cloud 65"/>
            <p:cNvSpPr/>
            <p:nvPr/>
          </p:nvSpPr>
          <p:spPr>
            <a:xfrm>
              <a:off x="6455664" y="3108960"/>
              <a:ext cx="548640" cy="365760"/>
            </a:xfrm>
            <a:prstGeom prst="cloud">
              <a:avLst/>
            </a:prstGeom>
            <a:solidFill>
              <a:srgbClr val="9085E9">
                <a:alpha val="90000"/>
              </a:srgbClr>
            </a:solidFill>
            <a:ln>
              <a:noFill/>
            </a:ln>
          </p:spPr>
          <p:txBody>
            <a:bodyPr wrap="square" rtlCol="0" anchor="ctr"/>
            <a:lstStyle/>
            <a:p>
              <a:pPr algn="ctr"/>
              <a:endParaRPr/>
            </a:p>
          </p:txBody>
        </p:sp>
        <p:sp>
          <p:nvSpPr>
            <p:cNvPr id="67" name="Cloud 66"/>
            <p:cNvSpPr/>
            <p:nvPr/>
          </p:nvSpPr>
          <p:spPr>
            <a:xfrm>
              <a:off x="7141464" y="2971800"/>
              <a:ext cx="548640" cy="365760"/>
            </a:xfrm>
            <a:prstGeom prst="cloud">
              <a:avLst/>
            </a:prstGeom>
            <a:solidFill>
              <a:srgbClr val="9085E9">
                <a:alpha val="90000"/>
              </a:srgbClr>
            </a:solidFill>
            <a:ln>
              <a:noFill/>
            </a:ln>
          </p:spPr>
          <p:txBody>
            <a:bodyPr wrap="square" rtlCol="0" anchor="ctr"/>
            <a:lstStyle/>
            <a:p>
              <a:pPr algn="ctr"/>
              <a:endParaRPr/>
            </a:p>
          </p:txBody>
        </p:sp>
        <p:sp>
          <p:nvSpPr>
            <p:cNvPr id="68" name="Cloud 67"/>
            <p:cNvSpPr/>
            <p:nvPr/>
          </p:nvSpPr>
          <p:spPr>
            <a:xfrm>
              <a:off x="7827263" y="3108960"/>
              <a:ext cx="548640" cy="365760"/>
            </a:xfrm>
            <a:prstGeom prst="cloud">
              <a:avLst/>
            </a:prstGeom>
            <a:solidFill>
              <a:srgbClr val="9085E9">
                <a:alpha val="90000"/>
              </a:srgbClr>
            </a:solidFill>
            <a:ln>
              <a:noFill/>
            </a:ln>
          </p:spPr>
          <p:txBody>
            <a:bodyPr wrap="square" rtlCol="0" anchor="ctr"/>
            <a:lstStyle/>
            <a:p>
              <a:pPr algn="ctr"/>
              <a:endParaRPr/>
            </a:p>
          </p:txBody>
        </p:sp>
        <p:sp>
          <p:nvSpPr>
            <p:cNvPr id="69" name="TextBox 68"/>
            <p:cNvSpPr txBox="1"/>
            <p:nvPr/>
          </p:nvSpPr>
          <p:spPr>
            <a:xfrm>
              <a:off x="6455664" y="3611880"/>
              <a:ext cx="2240280" cy="411480"/>
            </a:xfrm>
            <a:prstGeom prst="rect">
              <a:avLst/>
            </a:prstGeom>
            <a:noFill/>
          </p:spPr>
          <p:txBody>
            <a:bodyPr wrap="square" lIns="0" tIns="0" rIns="0" bIns="0" anchor="t">
              <a:noAutofit/>
            </a:bodyPr>
            <a:lstStyle/>
            <a:p>
              <a:pPr algn="l">
                <a:lnSpc>
                  <a:spcPct val="112000"/>
                </a:lnSpc>
                <a:spcAft>
                  <a:spcPts val="0"/>
                </a:spcAft>
              </a:pPr>
              <a:r>
                <a:rPr sz="1600" b="0" i="0">
                  <a:solidFill>
                    <a:srgbClr val="FFFFFF"/>
                  </a:solidFill>
                  <a:latin typeface="Segoe UI Semibold"/>
                </a:rPr>
                <a:t>Federation / Inter-cloud</a:t>
              </a:r>
            </a:p>
          </p:txBody>
        </p:sp>
        <p:sp>
          <p:nvSpPr>
            <p:cNvPr id="70" name="TextBox 69"/>
            <p:cNvSpPr txBox="1"/>
            <p:nvPr/>
          </p:nvSpPr>
          <p:spPr>
            <a:xfrm>
              <a:off x="6455664" y="4041648"/>
              <a:ext cx="2240280" cy="1188720"/>
            </a:xfrm>
            <a:prstGeom prst="rect">
              <a:avLst/>
            </a:prstGeom>
            <a:noFill/>
          </p:spPr>
          <p:txBody>
            <a:bodyPr wrap="square" lIns="0" tIns="0" rIns="0" bIns="0" anchor="t">
              <a:noAutofit/>
            </a:bodyPr>
            <a:lstStyle/>
            <a:p>
              <a:pPr algn="l">
                <a:lnSpc>
                  <a:spcPct val="115000"/>
                </a:lnSpc>
                <a:spcAft>
                  <a:spcPts val="0"/>
                </a:spcAft>
              </a:pPr>
              <a:r>
                <a:rPr sz="1250" b="0" i="0">
                  <a:solidFill>
                    <a:srgbClr val="C9D2E3"/>
                  </a:solidFill>
                  <a:latin typeface="Segoe UI"/>
                </a:rPr>
                <a:t>Providers interoperate and share capacity under agreed policies and SLAs.</a:t>
              </a:r>
            </a:p>
          </p:txBody>
        </p:sp>
        <p:cxnSp>
          <p:nvCxnSpPr>
            <p:cNvPr id="71" name="Connector 70"/>
            <p:cNvCxnSpPr/>
            <p:nvPr/>
          </p:nvCxnSpPr>
          <p:spPr>
            <a:xfrm>
              <a:off x="6455664" y="5321808"/>
              <a:ext cx="2130552" cy="0"/>
            </a:xfrm>
            <a:prstGeom prst="line">
              <a:avLst/>
            </a:prstGeom>
            <a:ln w="9525">
              <a:solidFill>
                <a:srgbClr val="2A3F69"/>
              </a:solidFill>
            </a:ln>
          </p:spPr>
        </p:cxnSp>
        <p:sp>
          <p:nvSpPr>
            <p:cNvPr id="72" name="TextBox 71"/>
            <p:cNvSpPr txBox="1"/>
            <p:nvPr/>
          </p:nvSpPr>
          <p:spPr>
            <a:xfrm>
              <a:off x="6455664" y="5394960"/>
              <a:ext cx="2240280" cy="502920"/>
            </a:xfrm>
            <a:prstGeom prst="rect">
              <a:avLst/>
            </a:prstGeom>
            <a:noFill/>
          </p:spPr>
          <p:txBody>
            <a:bodyPr wrap="square" lIns="0" tIns="0" rIns="0" bIns="0" anchor="t">
              <a:noAutofit/>
            </a:bodyPr>
            <a:lstStyle/>
            <a:p>
              <a:pPr algn="l">
                <a:lnSpc>
                  <a:spcPct val="110000"/>
                </a:lnSpc>
                <a:spcAft>
                  <a:spcPts val="0"/>
                </a:spcAft>
              </a:pPr>
              <a:r>
                <a:rPr sz="1100" b="0" i="0">
                  <a:solidFill>
                    <a:srgbClr val="B5ADF5"/>
                  </a:solidFill>
                  <a:latin typeface="Segoe UI"/>
                </a:rPr>
                <a:t>e.g. research &amp; sovereign federations</a:t>
              </a:r>
            </a:p>
          </p:txBody>
        </p:sp>
      </p:grpSp>
      <p:grpSp>
        <p:nvGrpSpPr>
          <p:cNvPr id="73" name="Group 72"/>
          <p:cNvGrpSpPr/>
          <p:nvPr/>
        </p:nvGrpSpPr>
        <p:grpSpPr>
          <a:xfrm>
            <a:off x="8997696" y="2743200"/>
            <a:ext cx="2679192" cy="3246120"/>
            <a:chOff x="8997696" y="2743200"/>
            <a:chExt cx="2679192" cy="3246120"/>
          </a:xfrm>
        </p:grpSpPr>
        <p:sp>
          <p:nvSpPr>
            <p:cNvPr id="74" name="Rounded Rectangle 73"/>
            <p:cNvSpPr/>
            <p:nvPr/>
          </p:nvSpPr>
          <p:spPr>
            <a:xfrm>
              <a:off x="8997696" y="2743200"/>
              <a:ext cx="2679192" cy="3246120"/>
            </a:xfrm>
            <a:prstGeom prst="roundRect">
              <a:avLst>
                <a:gd name="adj" fmla="val 7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75" name="Rectangle 74"/>
            <p:cNvSpPr/>
            <p:nvPr/>
          </p:nvSpPr>
          <p:spPr>
            <a:xfrm>
              <a:off x="8997696" y="2743200"/>
              <a:ext cx="2679192" cy="45720"/>
            </a:xfrm>
            <a:prstGeom prst="rect">
              <a:avLst/>
            </a:prstGeom>
            <a:solidFill>
              <a:srgbClr val="D95926"/>
            </a:solidFill>
            <a:ln>
              <a:noFill/>
            </a:ln>
          </p:spPr>
          <p:txBody>
            <a:bodyPr wrap="square" rtlCol="0" anchor="ctr"/>
            <a:lstStyle/>
            <a:p>
              <a:pPr algn="ctr"/>
              <a:endParaRPr/>
            </a:p>
          </p:txBody>
        </p:sp>
        <p:sp>
          <p:nvSpPr>
            <p:cNvPr id="76" name="Rounded Rectangle 75"/>
            <p:cNvSpPr/>
            <p:nvPr/>
          </p:nvSpPr>
          <p:spPr>
            <a:xfrm>
              <a:off x="9272016" y="2971800"/>
              <a:ext cx="1783080" cy="182880"/>
            </a:xfrm>
            <a:prstGeom prst="roundRect">
              <a:avLst>
                <a:gd name="adj" fmla="val 50000"/>
              </a:avLst>
            </a:prstGeom>
            <a:solidFill>
              <a:srgbClr val="D95926">
                <a:alpha val="90000"/>
              </a:srgbClr>
            </a:solidFill>
            <a:ln>
              <a:noFill/>
            </a:ln>
          </p:spPr>
          <p:txBody>
            <a:bodyPr wrap="square" rtlCol="0" anchor="ctr"/>
            <a:lstStyle/>
            <a:p>
              <a:pPr algn="ctr"/>
              <a:endParaRPr/>
            </a:p>
          </p:txBody>
        </p:sp>
        <p:sp>
          <p:nvSpPr>
            <p:cNvPr id="77" name="Cloud 76"/>
            <p:cNvSpPr/>
            <p:nvPr/>
          </p:nvSpPr>
          <p:spPr>
            <a:xfrm>
              <a:off x="9317736" y="3218688"/>
              <a:ext cx="475488" cy="310896"/>
            </a:xfrm>
            <a:prstGeom prst="cloud">
              <a:avLst/>
            </a:prstGeom>
            <a:solidFill>
              <a:srgbClr val="D95926">
                <a:alpha val="55000"/>
              </a:srgbClr>
            </a:solidFill>
            <a:ln>
              <a:noFill/>
            </a:ln>
          </p:spPr>
          <p:txBody>
            <a:bodyPr wrap="square" rtlCol="0" anchor="ctr"/>
            <a:lstStyle/>
            <a:p>
              <a:pPr algn="ctr"/>
              <a:endParaRPr/>
            </a:p>
          </p:txBody>
        </p:sp>
        <p:sp>
          <p:nvSpPr>
            <p:cNvPr id="78" name="Cloud 77"/>
            <p:cNvSpPr/>
            <p:nvPr/>
          </p:nvSpPr>
          <p:spPr>
            <a:xfrm>
              <a:off x="9912096" y="3218688"/>
              <a:ext cx="475488" cy="310896"/>
            </a:xfrm>
            <a:prstGeom prst="cloud">
              <a:avLst/>
            </a:prstGeom>
            <a:solidFill>
              <a:srgbClr val="D95926">
                <a:alpha val="55000"/>
              </a:srgbClr>
            </a:solidFill>
            <a:ln>
              <a:noFill/>
            </a:ln>
          </p:spPr>
          <p:txBody>
            <a:bodyPr wrap="square" rtlCol="0" anchor="ctr"/>
            <a:lstStyle/>
            <a:p>
              <a:pPr algn="ctr"/>
              <a:endParaRPr/>
            </a:p>
          </p:txBody>
        </p:sp>
        <p:sp>
          <p:nvSpPr>
            <p:cNvPr id="79" name="Cloud 78"/>
            <p:cNvSpPr/>
            <p:nvPr/>
          </p:nvSpPr>
          <p:spPr>
            <a:xfrm>
              <a:off x="10506456" y="3218688"/>
              <a:ext cx="475488" cy="310896"/>
            </a:xfrm>
            <a:prstGeom prst="cloud">
              <a:avLst/>
            </a:prstGeom>
            <a:solidFill>
              <a:srgbClr val="D95926">
                <a:alpha val="55000"/>
              </a:srgbClr>
            </a:solidFill>
            <a:ln>
              <a:noFill/>
            </a:ln>
          </p:spPr>
          <p:txBody>
            <a:bodyPr wrap="square" rtlCol="0" anchor="ctr"/>
            <a:lstStyle/>
            <a:p>
              <a:pPr algn="ctr"/>
              <a:endParaRPr/>
            </a:p>
          </p:txBody>
        </p:sp>
        <p:sp>
          <p:nvSpPr>
            <p:cNvPr id="80" name="TextBox 79"/>
            <p:cNvSpPr txBox="1"/>
            <p:nvPr/>
          </p:nvSpPr>
          <p:spPr>
            <a:xfrm>
              <a:off x="9272016" y="3611880"/>
              <a:ext cx="2240280" cy="411480"/>
            </a:xfrm>
            <a:prstGeom prst="rect">
              <a:avLst/>
            </a:prstGeom>
            <a:noFill/>
          </p:spPr>
          <p:txBody>
            <a:bodyPr wrap="square" lIns="0" tIns="0" rIns="0" bIns="0" anchor="t">
              <a:noAutofit/>
            </a:bodyPr>
            <a:lstStyle/>
            <a:p>
              <a:pPr algn="l">
                <a:lnSpc>
                  <a:spcPct val="112000"/>
                </a:lnSpc>
                <a:spcAft>
                  <a:spcPts val="0"/>
                </a:spcAft>
              </a:pPr>
              <a:r>
                <a:rPr sz="1600" b="0" i="0">
                  <a:solidFill>
                    <a:srgbClr val="FFFFFF"/>
                  </a:solidFill>
                  <a:latin typeface="Segoe UI Semibold"/>
                </a:rPr>
                <a:t>Sky computing</a:t>
              </a:r>
            </a:p>
          </p:txBody>
        </p:sp>
        <p:sp>
          <p:nvSpPr>
            <p:cNvPr id="81" name="TextBox 80"/>
            <p:cNvSpPr txBox="1"/>
            <p:nvPr/>
          </p:nvSpPr>
          <p:spPr>
            <a:xfrm>
              <a:off x="9272016" y="4041648"/>
              <a:ext cx="2240280" cy="1188720"/>
            </a:xfrm>
            <a:prstGeom prst="rect">
              <a:avLst/>
            </a:prstGeom>
            <a:noFill/>
          </p:spPr>
          <p:txBody>
            <a:bodyPr wrap="square" lIns="0" tIns="0" rIns="0" bIns="0" anchor="t">
              <a:noAutofit/>
            </a:bodyPr>
            <a:lstStyle/>
            <a:p>
              <a:pPr algn="l">
                <a:lnSpc>
                  <a:spcPct val="115000"/>
                </a:lnSpc>
                <a:spcAft>
                  <a:spcPts val="0"/>
                </a:spcAft>
              </a:pPr>
              <a:r>
                <a:rPr sz="1250" b="0" i="0">
                  <a:solidFill>
                    <a:srgbClr val="C9D2E3"/>
                  </a:solidFill>
                  <a:latin typeface="Segoe UI"/>
                </a:rPr>
                <a:t>A broker layer that hides provider differences and picks the best cloud per job.</a:t>
              </a:r>
            </a:p>
          </p:txBody>
        </p:sp>
        <p:cxnSp>
          <p:nvCxnSpPr>
            <p:cNvPr id="82" name="Connector 81"/>
            <p:cNvCxnSpPr/>
            <p:nvPr/>
          </p:nvCxnSpPr>
          <p:spPr>
            <a:xfrm>
              <a:off x="9272016" y="5321808"/>
              <a:ext cx="2130551" cy="0"/>
            </a:xfrm>
            <a:prstGeom prst="line">
              <a:avLst/>
            </a:prstGeom>
            <a:ln w="9525">
              <a:solidFill>
                <a:srgbClr val="2A3F69"/>
              </a:solidFill>
            </a:ln>
          </p:spPr>
        </p:cxnSp>
        <p:sp>
          <p:nvSpPr>
            <p:cNvPr id="83" name="TextBox 82"/>
            <p:cNvSpPr txBox="1"/>
            <p:nvPr/>
          </p:nvSpPr>
          <p:spPr>
            <a:xfrm>
              <a:off x="9272016" y="5394960"/>
              <a:ext cx="2240280" cy="502920"/>
            </a:xfrm>
            <a:prstGeom prst="rect">
              <a:avLst/>
            </a:prstGeom>
            <a:noFill/>
          </p:spPr>
          <p:txBody>
            <a:bodyPr wrap="square" lIns="0" tIns="0" rIns="0" bIns="0" anchor="t">
              <a:noAutofit/>
            </a:bodyPr>
            <a:lstStyle/>
            <a:p>
              <a:pPr algn="l">
                <a:lnSpc>
                  <a:spcPct val="110000"/>
                </a:lnSpc>
                <a:spcAft>
                  <a:spcPts val="0"/>
                </a:spcAft>
              </a:pPr>
              <a:r>
                <a:rPr sz="1100" b="0" i="0">
                  <a:solidFill>
                    <a:srgbClr val="F4925F"/>
                  </a:solidFill>
                  <a:latin typeface="Segoe UI"/>
                </a:rPr>
                <a:t>e.g. SkyPilot (UC Berkeley)</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600"/>
                                        <p:tgtEl>
                                          <p:spTgt spid="36"/>
                                        </p:tgtEl>
                                      </p:cBhvr>
                                    </p:animEffect>
                                    <p:anim calcmode="lin" valueType="num">
                                      <p:cBhvr>
                                        <p:cTn id="8" dur="600" fill="hold"/>
                                        <p:tgtEl>
                                          <p:spTgt spid="36"/>
                                        </p:tgtEl>
                                        <p:attrNameLst>
                                          <p:attrName>ppt_x</p:attrName>
                                        </p:attrNameLst>
                                      </p:cBhvr>
                                      <p:tavLst>
                                        <p:tav tm="0">
                                          <p:val>
                                            <p:strVal val="#ppt_x"/>
                                          </p:val>
                                        </p:tav>
                                        <p:tav tm="100000">
                                          <p:val>
                                            <p:strVal val="#ppt_x"/>
                                          </p:val>
                                        </p:tav>
                                      </p:tavLst>
                                    </p:anim>
                                    <p:anim calcmode="lin" valueType="num">
                                      <p:cBhvr>
                                        <p:cTn id="9" dur="600" fill="hold"/>
                                        <p:tgtEl>
                                          <p:spTgt spid="36"/>
                                        </p:tgtEl>
                                        <p:attrNameLst>
                                          <p:attrName>ppt_y</p:attrName>
                                        </p:attrNameLst>
                                      </p:cBhvr>
                                      <p:tavLst>
                                        <p:tav tm="0">
                                          <p:val>
                                            <p:strVal val="#ppt_y+.08"/>
                                          </p:val>
                                        </p:tav>
                                        <p:tav tm="100000">
                                          <p:val>
                                            <p:strVal val="#ppt_y"/>
                                          </p:val>
                                        </p:tav>
                                      </p:tavLst>
                                    </p:anim>
                                  </p:childTnLst>
                                </p:cTn>
                              </p:par>
                              <p:par>
                                <p:cTn id="10" presetID="42" presetClass="entr" presetSubtype="0" fill="hold" nodeType="withEffect">
                                  <p:stCondLst>
                                    <p:cond delay="41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600"/>
                                        <p:tgtEl>
                                          <p:spTgt spid="40"/>
                                        </p:tgtEl>
                                      </p:cBhvr>
                                    </p:animEffect>
                                    <p:anim calcmode="lin" valueType="num">
                                      <p:cBhvr>
                                        <p:cTn id="13" dur="600" fill="hold"/>
                                        <p:tgtEl>
                                          <p:spTgt spid="40"/>
                                        </p:tgtEl>
                                        <p:attrNameLst>
                                          <p:attrName>ppt_x</p:attrName>
                                        </p:attrNameLst>
                                      </p:cBhvr>
                                      <p:tavLst>
                                        <p:tav tm="0">
                                          <p:val>
                                            <p:strVal val="#ppt_x"/>
                                          </p:val>
                                        </p:tav>
                                        <p:tav tm="100000">
                                          <p:val>
                                            <p:strVal val="#ppt_x"/>
                                          </p:val>
                                        </p:tav>
                                      </p:tavLst>
                                    </p:anim>
                                    <p:anim calcmode="lin" valueType="num">
                                      <p:cBhvr>
                                        <p:cTn id="14" dur="600" fill="hold"/>
                                        <p:tgtEl>
                                          <p:spTgt spid="40"/>
                                        </p:tgtEl>
                                        <p:attrNameLst>
                                          <p:attrName>ppt_y</p:attrName>
                                        </p:attrNameLst>
                                      </p:cBhvr>
                                      <p:tavLst>
                                        <p:tav tm="0">
                                          <p:val>
                                            <p:strVal val="#ppt_y+.08"/>
                                          </p:val>
                                        </p:tav>
                                        <p:tav tm="100000">
                                          <p:val>
                                            <p:strVal val="#ppt_y"/>
                                          </p:val>
                                        </p:tav>
                                      </p:tavLst>
                                    </p:anim>
                                  </p:childTnLst>
                                </p:cTn>
                              </p:par>
                              <p:par>
                                <p:cTn id="15" presetID="42" presetClass="entr" presetSubtype="0" fill="hold" nodeType="withEffect">
                                  <p:stCondLst>
                                    <p:cond delay="57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600"/>
                                        <p:tgtEl>
                                          <p:spTgt spid="50"/>
                                        </p:tgtEl>
                                      </p:cBhvr>
                                    </p:animEffect>
                                    <p:anim calcmode="lin" valueType="num">
                                      <p:cBhvr>
                                        <p:cTn id="18" dur="600" fill="hold"/>
                                        <p:tgtEl>
                                          <p:spTgt spid="50"/>
                                        </p:tgtEl>
                                        <p:attrNameLst>
                                          <p:attrName>ppt_x</p:attrName>
                                        </p:attrNameLst>
                                      </p:cBhvr>
                                      <p:tavLst>
                                        <p:tav tm="0">
                                          <p:val>
                                            <p:strVal val="#ppt_x"/>
                                          </p:val>
                                        </p:tav>
                                        <p:tav tm="100000">
                                          <p:val>
                                            <p:strVal val="#ppt_x"/>
                                          </p:val>
                                        </p:tav>
                                      </p:tavLst>
                                    </p:anim>
                                    <p:anim calcmode="lin" valueType="num">
                                      <p:cBhvr>
                                        <p:cTn id="19" dur="600" fill="hold"/>
                                        <p:tgtEl>
                                          <p:spTgt spid="50"/>
                                        </p:tgtEl>
                                        <p:attrNameLst>
                                          <p:attrName>ppt_y</p:attrName>
                                        </p:attrNameLst>
                                      </p:cBhvr>
                                      <p:tavLst>
                                        <p:tav tm="0">
                                          <p:val>
                                            <p:strVal val="#ppt_y+.08"/>
                                          </p:val>
                                        </p:tav>
                                        <p:tav tm="100000">
                                          <p:val>
                                            <p:strVal val="#ppt_y"/>
                                          </p:val>
                                        </p:tav>
                                      </p:tavLst>
                                    </p:anim>
                                  </p:childTnLst>
                                </p:cTn>
                              </p:par>
                              <p:par>
                                <p:cTn id="20" presetID="42" presetClass="entr" presetSubtype="0" fill="hold" nodeType="withEffect">
                                  <p:stCondLst>
                                    <p:cond delay="730"/>
                                  </p:stCondLst>
                                  <p:childTnLst>
                                    <p:set>
                                      <p:cBhvr>
                                        <p:cTn id="21" dur="1" fill="hold">
                                          <p:stCondLst>
                                            <p:cond delay="0"/>
                                          </p:stCondLst>
                                        </p:cTn>
                                        <p:tgtEl>
                                          <p:spTgt spid="62"/>
                                        </p:tgtEl>
                                        <p:attrNameLst>
                                          <p:attrName>style.visibility</p:attrName>
                                        </p:attrNameLst>
                                      </p:cBhvr>
                                      <p:to>
                                        <p:strVal val="visible"/>
                                      </p:to>
                                    </p:set>
                                    <p:animEffect transition="in" filter="fade">
                                      <p:cBhvr>
                                        <p:cTn id="22" dur="600"/>
                                        <p:tgtEl>
                                          <p:spTgt spid="62"/>
                                        </p:tgtEl>
                                      </p:cBhvr>
                                    </p:animEffect>
                                    <p:anim calcmode="lin" valueType="num">
                                      <p:cBhvr>
                                        <p:cTn id="23" dur="600" fill="hold"/>
                                        <p:tgtEl>
                                          <p:spTgt spid="62"/>
                                        </p:tgtEl>
                                        <p:attrNameLst>
                                          <p:attrName>ppt_x</p:attrName>
                                        </p:attrNameLst>
                                      </p:cBhvr>
                                      <p:tavLst>
                                        <p:tav tm="0">
                                          <p:val>
                                            <p:strVal val="#ppt_x"/>
                                          </p:val>
                                        </p:tav>
                                        <p:tav tm="100000">
                                          <p:val>
                                            <p:strVal val="#ppt_x"/>
                                          </p:val>
                                        </p:tav>
                                      </p:tavLst>
                                    </p:anim>
                                    <p:anim calcmode="lin" valueType="num">
                                      <p:cBhvr>
                                        <p:cTn id="24" dur="600" fill="hold"/>
                                        <p:tgtEl>
                                          <p:spTgt spid="62"/>
                                        </p:tgtEl>
                                        <p:attrNameLst>
                                          <p:attrName>ppt_y</p:attrName>
                                        </p:attrNameLst>
                                      </p:cBhvr>
                                      <p:tavLst>
                                        <p:tav tm="0">
                                          <p:val>
                                            <p:strVal val="#ppt_y+.08"/>
                                          </p:val>
                                        </p:tav>
                                        <p:tav tm="100000">
                                          <p:val>
                                            <p:strVal val="#ppt_y"/>
                                          </p:val>
                                        </p:tav>
                                      </p:tavLst>
                                    </p:anim>
                                  </p:childTnLst>
                                </p:cTn>
                              </p:par>
                              <p:par>
                                <p:cTn id="25" presetID="42" presetClass="entr" presetSubtype="0" fill="hold" nodeType="withEffect">
                                  <p:stCondLst>
                                    <p:cond delay="890"/>
                                  </p:stCondLst>
                                  <p:childTnLst>
                                    <p:set>
                                      <p:cBhvr>
                                        <p:cTn id="26" dur="1" fill="hold">
                                          <p:stCondLst>
                                            <p:cond delay="0"/>
                                          </p:stCondLst>
                                        </p:cTn>
                                        <p:tgtEl>
                                          <p:spTgt spid="73"/>
                                        </p:tgtEl>
                                        <p:attrNameLst>
                                          <p:attrName>style.visibility</p:attrName>
                                        </p:attrNameLst>
                                      </p:cBhvr>
                                      <p:to>
                                        <p:strVal val="visible"/>
                                      </p:to>
                                    </p:set>
                                    <p:animEffect transition="in" filter="fade">
                                      <p:cBhvr>
                                        <p:cTn id="27" dur="600"/>
                                        <p:tgtEl>
                                          <p:spTgt spid="73"/>
                                        </p:tgtEl>
                                      </p:cBhvr>
                                    </p:animEffect>
                                    <p:anim calcmode="lin" valueType="num">
                                      <p:cBhvr>
                                        <p:cTn id="28" dur="600" fill="hold"/>
                                        <p:tgtEl>
                                          <p:spTgt spid="73"/>
                                        </p:tgtEl>
                                        <p:attrNameLst>
                                          <p:attrName>ppt_x</p:attrName>
                                        </p:attrNameLst>
                                      </p:cBhvr>
                                      <p:tavLst>
                                        <p:tav tm="0">
                                          <p:val>
                                            <p:strVal val="#ppt_x"/>
                                          </p:val>
                                        </p:tav>
                                        <p:tav tm="100000">
                                          <p:val>
                                            <p:strVal val="#ppt_x"/>
                                          </p:val>
                                        </p:tav>
                                      </p:tavLst>
                                    </p:anim>
                                    <p:anim calcmode="lin" valueType="num">
                                      <p:cBhvr>
                                        <p:cTn id="29" dur="600" fill="hold"/>
                                        <p:tgtEl>
                                          <p:spTgt spid="7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931281" y="-2429362"/>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172341" y="3888929"/>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422205" y="4663390"/>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INTRODUCTION</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Market Landscape: No Single Winner</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Introduction</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sz="1000" b="0" i="0">
                <a:solidFill>
                  <a:srgbClr val="C9D2E3"/>
                </a:solidFill>
                <a:latin typeface="Segoe UI Semibold"/>
              </a:rPr>
              <a:t>05</a:t>
            </a:r>
            <a:r>
              <a:rPr sz="1000" b="0" i="0">
                <a:solidFill>
                  <a:srgbClr val="8C9AB5"/>
                </a:solidFill>
                <a:latin typeface="Segoe UI"/>
              </a:rPr>
              <a:t> / 30</a:t>
            </a:r>
          </a:p>
        </p:txBody>
      </p:sp>
      <p:sp>
        <p:nvSpPr>
          <p:cNvPr id="36" name="Rounded Rectangle 35"/>
          <p:cNvSpPr/>
          <p:nvPr/>
        </p:nvSpPr>
        <p:spPr>
          <a:xfrm>
            <a:off x="548640" y="1600200"/>
            <a:ext cx="6766560" cy="4389120"/>
          </a:xfrm>
          <a:prstGeom prst="roundRect">
            <a:avLst>
              <a:gd name="adj" fmla="val 5000"/>
            </a:avLst>
          </a:prstGeom>
          <a:gradFill rotWithShape="1">
            <a:gsLst>
              <a:gs pos="0">
                <a:srgbClr val="182A4C"/>
              </a:gs>
              <a:gs pos="100000">
                <a:srgbClr val="13213D"/>
              </a:gs>
            </a:gsLst>
            <a:lin ang="5400000" scaled="0"/>
          </a:gradFill>
          <a:ln w="9525">
            <a:solidFill>
              <a:srgbClr val="2A3F69"/>
            </a:solidFill>
          </a:ln>
        </p:spPr>
        <p:txBody>
          <a:bodyPr wrap="square" rtlCol="0" anchor="ctr"/>
          <a:lstStyle/>
          <a:p>
            <a:pPr algn="ctr"/>
            <a:endParaRPr/>
          </a:p>
        </p:txBody>
      </p:sp>
      <p:sp>
        <p:nvSpPr>
          <p:cNvPr id="37" name="TextBox 36"/>
          <p:cNvSpPr txBox="1"/>
          <p:nvPr/>
        </p:nvSpPr>
        <p:spPr>
          <a:xfrm>
            <a:off x="822960" y="1737360"/>
            <a:ext cx="6217920" cy="365760"/>
          </a:xfrm>
          <a:prstGeom prst="rect">
            <a:avLst/>
          </a:prstGeom>
          <a:noFill/>
        </p:spPr>
        <p:txBody>
          <a:bodyPr wrap="square" lIns="0" tIns="0" rIns="0" bIns="0" anchor="t">
            <a:noAutofit/>
          </a:bodyPr>
          <a:lstStyle/>
          <a:p>
            <a:pPr algn="l">
              <a:lnSpc>
                <a:spcPct val="112000"/>
              </a:lnSpc>
              <a:spcAft>
                <a:spcPts val="0"/>
              </a:spcAft>
            </a:pPr>
            <a:r>
              <a:rPr sz="1400" b="0" i="0">
                <a:solidFill>
                  <a:srgbClr val="FFFFFF"/>
                </a:solidFill>
                <a:latin typeface="Segoe UI Semibold"/>
              </a:rPr>
              <a:t>Worldwide cloud infrastructure market share, Q2 2025 (approx.)</a:t>
            </a:r>
          </a:p>
        </p:txBody>
      </p:sp>
      <p:graphicFrame>
        <p:nvGraphicFramePr>
          <p:cNvPr id="38" name="Chart 37"/>
          <p:cNvGraphicFramePr>
            <a:graphicFrameLocks noGrp="1"/>
          </p:cNvGraphicFramePr>
          <p:nvPr/>
        </p:nvGraphicFramePr>
        <p:xfrm>
          <a:off x="731520" y="2148840"/>
          <a:ext cx="6400800" cy="3703320"/>
        </p:xfrm>
        <a:graphic>
          <a:graphicData uri="http://schemas.openxmlformats.org/drawingml/2006/chart">
            <c:chart xmlns:c="http://schemas.openxmlformats.org/drawingml/2006/chart" xmlns:r="http://schemas.openxmlformats.org/officeDocument/2006/relationships" r:id="rId3"/>
          </a:graphicData>
        </a:graphic>
      </p:graphicFrame>
      <p:grpSp>
        <p:nvGrpSpPr>
          <p:cNvPr id="39" name="Group 38"/>
          <p:cNvGrpSpPr/>
          <p:nvPr/>
        </p:nvGrpSpPr>
        <p:grpSpPr>
          <a:xfrm>
            <a:off x="7589520" y="1600200"/>
            <a:ext cx="4050791" cy="1371600"/>
            <a:chOff x="7589520" y="1600200"/>
            <a:chExt cx="4050791" cy="1371600"/>
          </a:xfrm>
        </p:grpSpPr>
        <p:sp>
          <p:nvSpPr>
            <p:cNvPr id="40" name="Rounded Rectangle 39"/>
            <p:cNvSpPr/>
            <p:nvPr/>
          </p:nvSpPr>
          <p:spPr>
            <a:xfrm>
              <a:off x="7589520" y="1600200"/>
              <a:ext cx="4050791" cy="1371600"/>
            </a:xfrm>
            <a:prstGeom prst="roundRect">
              <a:avLst>
                <a:gd name="adj" fmla="val 10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41" name="Rectangle 40"/>
            <p:cNvSpPr/>
            <p:nvPr/>
          </p:nvSpPr>
          <p:spPr>
            <a:xfrm>
              <a:off x="7589520" y="1828800"/>
              <a:ext cx="45720" cy="914400"/>
            </a:xfrm>
            <a:prstGeom prst="rect">
              <a:avLst/>
            </a:prstGeom>
            <a:solidFill>
              <a:srgbClr val="3987E5"/>
            </a:solidFill>
            <a:ln>
              <a:noFill/>
            </a:ln>
          </p:spPr>
          <p:txBody>
            <a:bodyPr wrap="square" rtlCol="0" anchor="ctr"/>
            <a:lstStyle/>
            <a:p>
              <a:pPr algn="ctr"/>
              <a:endParaRPr/>
            </a:p>
          </p:txBody>
        </p:sp>
        <p:sp>
          <p:nvSpPr>
            <p:cNvPr id="42" name="TextBox 41"/>
            <p:cNvSpPr txBox="1"/>
            <p:nvPr/>
          </p:nvSpPr>
          <p:spPr>
            <a:xfrm>
              <a:off x="7863840" y="1709928"/>
              <a:ext cx="3593591" cy="685800"/>
            </a:xfrm>
            <a:prstGeom prst="rect">
              <a:avLst/>
            </a:prstGeom>
            <a:noFill/>
          </p:spPr>
          <p:txBody>
            <a:bodyPr wrap="square" lIns="0" tIns="0" rIns="0" bIns="0" anchor="ctr">
              <a:noAutofit/>
            </a:bodyPr>
            <a:lstStyle/>
            <a:p>
              <a:pPr algn="l">
                <a:lnSpc>
                  <a:spcPct val="112000"/>
                </a:lnSpc>
                <a:spcAft>
                  <a:spcPts val="0"/>
                </a:spcAft>
              </a:pPr>
              <a:r>
                <a:rPr sz="3600" b="0" i="0">
                  <a:gradFill>
                    <a:gsLst>
                      <a:gs pos="0">
                        <a:srgbClr val="FFFFFF"/>
                      </a:gs>
                      <a:gs pos="100000">
                        <a:srgbClr val="7DB3F5"/>
                      </a:gs>
                    </a:gsLst>
                    <a:lin ang="0" scaled="0"/>
                  </a:gradFill>
                  <a:latin typeface="Segoe UI Semibold"/>
                </a:rPr>
                <a:t>~63%</a:t>
              </a:r>
            </a:p>
          </p:txBody>
        </p:sp>
        <p:sp>
          <p:nvSpPr>
            <p:cNvPr id="43" name="TextBox 42"/>
            <p:cNvSpPr txBox="1"/>
            <p:nvPr/>
          </p:nvSpPr>
          <p:spPr>
            <a:xfrm>
              <a:off x="7863840" y="2386584"/>
              <a:ext cx="3593591" cy="502920"/>
            </a:xfrm>
            <a:prstGeom prst="rect">
              <a:avLst/>
            </a:prstGeom>
            <a:noFill/>
          </p:spPr>
          <p:txBody>
            <a:bodyPr wrap="square" lIns="0" tIns="0" rIns="0" bIns="0" anchor="t">
              <a:noAutofit/>
            </a:bodyPr>
            <a:lstStyle/>
            <a:p>
              <a:pPr algn="l">
                <a:lnSpc>
                  <a:spcPct val="110000"/>
                </a:lnSpc>
                <a:spcAft>
                  <a:spcPts val="0"/>
                </a:spcAft>
              </a:pPr>
              <a:r>
                <a:rPr sz="1200" b="0" i="0">
                  <a:solidFill>
                    <a:srgbClr val="C9D2E3"/>
                  </a:solidFill>
                  <a:latin typeface="Segoe UI"/>
                </a:rPr>
                <a:t>held by the top three hyperscalers combined</a:t>
              </a:r>
            </a:p>
          </p:txBody>
        </p:sp>
      </p:grpSp>
      <p:grpSp>
        <p:nvGrpSpPr>
          <p:cNvPr id="44" name="Group 43"/>
          <p:cNvGrpSpPr/>
          <p:nvPr/>
        </p:nvGrpSpPr>
        <p:grpSpPr>
          <a:xfrm>
            <a:off x="7589520" y="3108960"/>
            <a:ext cx="4050791" cy="1371600"/>
            <a:chOff x="7589520" y="3108960"/>
            <a:chExt cx="4050791" cy="1371600"/>
          </a:xfrm>
        </p:grpSpPr>
        <p:sp>
          <p:nvSpPr>
            <p:cNvPr id="45" name="Rounded Rectangle 44"/>
            <p:cNvSpPr/>
            <p:nvPr/>
          </p:nvSpPr>
          <p:spPr>
            <a:xfrm>
              <a:off x="7589520" y="3108960"/>
              <a:ext cx="4050791" cy="1371600"/>
            </a:xfrm>
            <a:prstGeom prst="roundRect">
              <a:avLst>
                <a:gd name="adj" fmla="val 10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46" name="Rectangle 45"/>
            <p:cNvSpPr/>
            <p:nvPr/>
          </p:nvSpPr>
          <p:spPr>
            <a:xfrm>
              <a:off x="7589520" y="3337560"/>
              <a:ext cx="45720" cy="914400"/>
            </a:xfrm>
            <a:prstGeom prst="rect">
              <a:avLst/>
            </a:prstGeom>
            <a:solidFill>
              <a:srgbClr val="199E70"/>
            </a:solidFill>
            <a:ln>
              <a:noFill/>
            </a:ln>
          </p:spPr>
          <p:txBody>
            <a:bodyPr wrap="square" rtlCol="0" anchor="ctr"/>
            <a:lstStyle/>
            <a:p>
              <a:pPr algn="ctr"/>
              <a:endParaRPr/>
            </a:p>
          </p:txBody>
        </p:sp>
        <p:sp>
          <p:nvSpPr>
            <p:cNvPr id="47" name="TextBox 46"/>
            <p:cNvSpPr txBox="1"/>
            <p:nvPr/>
          </p:nvSpPr>
          <p:spPr>
            <a:xfrm>
              <a:off x="7863840" y="3218688"/>
              <a:ext cx="3593591" cy="685800"/>
            </a:xfrm>
            <a:prstGeom prst="rect">
              <a:avLst/>
            </a:prstGeom>
            <a:noFill/>
          </p:spPr>
          <p:txBody>
            <a:bodyPr wrap="square" lIns="0" tIns="0" rIns="0" bIns="0" anchor="ctr">
              <a:noAutofit/>
            </a:bodyPr>
            <a:lstStyle/>
            <a:p>
              <a:pPr algn="l">
                <a:lnSpc>
                  <a:spcPct val="112000"/>
                </a:lnSpc>
                <a:spcAft>
                  <a:spcPts val="0"/>
                </a:spcAft>
              </a:pPr>
              <a:r>
                <a:rPr sz="3600" b="0" i="0">
                  <a:gradFill>
                    <a:gsLst>
                      <a:gs pos="0">
                        <a:srgbClr val="FFFFFF"/>
                      </a:gs>
                      <a:gs pos="100000">
                        <a:srgbClr val="4FD1A1"/>
                      </a:gs>
                    </a:gsLst>
                    <a:lin ang="0" scaled="0"/>
                  </a:gradFill>
                  <a:latin typeface="Segoe UI Semibold"/>
                </a:rPr>
                <a:t>3 ecosystems</a:t>
              </a:r>
            </a:p>
          </p:txBody>
        </p:sp>
        <p:sp>
          <p:nvSpPr>
            <p:cNvPr id="48" name="TextBox 47"/>
            <p:cNvSpPr txBox="1"/>
            <p:nvPr/>
          </p:nvSpPr>
          <p:spPr>
            <a:xfrm>
              <a:off x="7863840" y="3895344"/>
              <a:ext cx="3593591" cy="502920"/>
            </a:xfrm>
            <a:prstGeom prst="rect">
              <a:avLst/>
            </a:prstGeom>
            <a:noFill/>
          </p:spPr>
          <p:txBody>
            <a:bodyPr wrap="square" lIns="0" tIns="0" rIns="0" bIns="0" anchor="t">
              <a:noAutofit/>
            </a:bodyPr>
            <a:lstStyle/>
            <a:p>
              <a:pPr algn="l">
                <a:lnSpc>
                  <a:spcPct val="110000"/>
                </a:lnSpc>
                <a:spcAft>
                  <a:spcPts val="0"/>
                </a:spcAft>
              </a:pPr>
              <a:r>
                <a:rPr sz="1200" b="0" i="0">
                  <a:solidFill>
                    <a:srgbClr val="C9D2E3"/>
                  </a:solidFill>
                  <a:latin typeface="Segoe UI"/>
                </a:rPr>
                <a:t>with different APIs, pricing models and service catalogues</a:t>
              </a:r>
            </a:p>
          </p:txBody>
        </p:sp>
      </p:grpSp>
      <p:grpSp>
        <p:nvGrpSpPr>
          <p:cNvPr id="49" name="Group 48"/>
          <p:cNvGrpSpPr/>
          <p:nvPr/>
        </p:nvGrpSpPr>
        <p:grpSpPr>
          <a:xfrm>
            <a:off x="7589520" y="4617720"/>
            <a:ext cx="4050791" cy="1371600"/>
            <a:chOff x="7589520" y="4617720"/>
            <a:chExt cx="4050791" cy="1371600"/>
          </a:xfrm>
        </p:grpSpPr>
        <p:sp>
          <p:nvSpPr>
            <p:cNvPr id="50" name="Rounded Rectangle 49"/>
            <p:cNvSpPr/>
            <p:nvPr/>
          </p:nvSpPr>
          <p:spPr>
            <a:xfrm>
              <a:off x="7589520" y="4617720"/>
              <a:ext cx="4050791" cy="1371600"/>
            </a:xfrm>
            <a:prstGeom prst="roundRect">
              <a:avLst>
                <a:gd name="adj" fmla="val 10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51" name="Rectangle 50"/>
            <p:cNvSpPr/>
            <p:nvPr/>
          </p:nvSpPr>
          <p:spPr>
            <a:xfrm>
              <a:off x="7589520" y="4846320"/>
              <a:ext cx="45720" cy="914400"/>
            </a:xfrm>
            <a:prstGeom prst="rect">
              <a:avLst/>
            </a:prstGeom>
            <a:solidFill>
              <a:srgbClr val="9085E9"/>
            </a:solidFill>
            <a:ln>
              <a:noFill/>
            </a:ln>
          </p:spPr>
          <p:txBody>
            <a:bodyPr wrap="square" rtlCol="0" anchor="ctr"/>
            <a:lstStyle/>
            <a:p>
              <a:pPr algn="ctr"/>
              <a:endParaRPr/>
            </a:p>
          </p:txBody>
        </p:sp>
        <p:sp>
          <p:nvSpPr>
            <p:cNvPr id="52" name="TextBox 51"/>
            <p:cNvSpPr txBox="1"/>
            <p:nvPr/>
          </p:nvSpPr>
          <p:spPr>
            <a:xfrm>
              <a:off x="7863840" y="4727448"/>
              <a:ext cx="3593591" cy="685800"/>
            </a:xfrm>
            <a:prstGeom prst="rect">
              <a:avLst/>
            </a:prstGeom>
            <a:noFill/>
          </p:spPr>
          <p:txBody>
            <a:bodyPr wrap="square" lIns="0" tIns="0" rIns="0" bIns="0" anchor="ctr">
              <a:noAutofit/>
            </a:bodyPr>
            <a:lstStyle/>
            <a:p>
              <a:pPr algn="l">
                <a:lnSpc>
                  <a:spcPct val="112000"/>
                </a:lnSpc>
                <a:spcAft>
                  <a:spcPts val="0"/>
                </a:spcAft>
              </a:pPr>
              <a:r>
                <a:rPr sz="3600" b="0" i="0">
                  <a:gradFill>
                    <a:gsLst>
                      <a:gs pos="0">
                        <a:srgbClr val="FFFFFF"/>
                      </a:gs>
                      <a:gs pos="100000">
                        <a:srgbClr val="B5ADF5"/>
                      </a:gs>
                    </a:gsLst>
                    <a:lin ang="0" scaled="0"/>
                  </a:gradFill>
                  <a:latin typeface="Segoe UI Semibold"/>
                </a:rPr>
                <a:t>Rising niche</a:t>
              </a:r>
            </a:p>
          </p:txBody>
        </p:sp>
        <p:sp>
          <p:nvSpPr>
            <p:cNvPr id="53" name="TextBox 52"/>
            <p:cNvSpPr txBox="1"/>
            <p:nvPr/>
          </p:nvSpPr>
          <p:spPr>
            <a:xfrm>
              <a:off x="7863840" y="5404104"/>
              <a:ext cx="3593591" cy="502920"/>
            </a:xfrm>
            <a:prstGeom prst="rect">
              <a:avLst/>
            </a:prstGeom>
            <a:noFill/>
          </p:spPr>
          <p:txBody>
            <a:bodyPr wrap="square" lIns="0" tIns="0" rIns="0" bIns="0" anchor="t">
              <a:noAutofit/>
            </a:bodyPr>
            <a:lstStyle/>
            <a:p>
              <a:pPr algn="l">
                <a:lnSpc>
                  <a:spcPct val="110000"/>
                </a:lnSpc>
                <a:spcAft>
                  <a:spcPts val="0"/>
                </a:spcAft>
              </a:pPr>
              <a:r>
                <a:rPr sz="1200" b="0" i="0">
                  <a:solidFill>
                    <a:srgbClr val="C9D2E3"/>
                  </a:solidFill>
                  <a:latin typeface="Segoe UI"/>
                </a:rPr>
                <a:t>sovereign, regional and GPU-specialist clouds keep growing</a:t>
              </a:r>
            </a:p>
          </p:txBody>
        </p:sp>
      </p:grpSp>
      <p:sp>
        <p:nvSpPr>
          <p:cNvPr id="54" name="TextBox 53"/>
          <p:cNvSpPr txBox="1"/>
          <p:nvPr/>
        </p:nvSpPr>
        <p:spPr>
          <a:xfrm>
            <a:off x="548640" y="6089904"/>
            <a:ext cx="11064240" cy="256032"/>
          </a:xfrm>
          <a:prstGeom prst="rect">
            <a:avLst/>
          </a:prstGeom>
          <a:noFill/>
        </p:spPr>
        <p:txBody>
          <a:bodyPr wrap="square" lIns="0" tIns="0" rIns="0" bIns="0" anchor="t">
            <a:noAutofit/>
          </a:bodyPr>
          <a:lstStyle/>
          <a:p>
            <a:pPr algn="l">
              <a:lnSpc>
                <a:spcPct val="112000"/>
              </a:lnSpc>
              <a:spcAft>
                <a:spcPts val="0"/>
              </a:spcAft>
            </a:pPr>
            <a:r>
              <a:rPr sz="900" b="0" i="0">
                <a:solidFill>
                  <a:srgbClr val="8C9AB5"/>
                </a:solidFill>
                <a:latin typeface="Segoe UI"/>
              </a:rPr>
              <a:t>Source: Synergy Research Group, Q2 2025 (rounded). Grey bars = providers outside the top three.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600"/>
                                        <p:tgtEl>
                                          <p:spTgt spid="36"/>
                                        </p:tgtEl>
                                      </p:cBhvr>
                                    </p:animEffect>
                                  </p:childTnLst>
                                </p:cTn>
                              </p:par>
                              <p:par>
                                <p:cTn id="8" presetID="10" presetClass="entr" presetSubtype="0" fill="hold" grpId="0" nodeType="withEffect">
                                  <p:stCondLst>
                                    <p:cond delay="41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600"/>
                                        <p:tgtEl>
                                          <p:spTgt spid="37"/>
                                        </p:tgtEl>
                                      </p:cBhvr>
                                    </p:animEffect>
                                  </p:childTnLst>
                                </p:cTn>
                              </p:par>
                              <p:par>
                                <p:cTn id="11" presetID="22" presetClass="entr" presetSubtype="8" fill="hold" nodeType="withEffect">
                                  <p:stCondLst>
                                    <p:cond delay="570"/>
                                  </p:stCondLst>
                                  <p:childTnLst>
                                    <p:set>
                                      <p:cBhvr>
                                        <p:cTn id="12" dur="1" fill="hold">
                                          <p:stCondLst>
                                            <p:cond delay="0"/>
                                          </p:stCondLst>
                                        </p:cTn>
                                        <p:tgtEl>
                                          <p:spTgt spid="38"/>
                                        </p:tgtEl>
                                        <p:attrNameLst>
                                          <p:attrName>style.visibility</p:attrName>
                                        </p:attrNameLst>
                                      </p:cBhvr>
                                      <p:to>
                                        <p:strVal val="visible"/>
                                      </p:to>
                                    </p:set>
                                    <p:animEffect transition="in" filter="wipe(left)">
                                      <p:cBhvr>
                                        <p:cTn id="13" dur="900"/>
                                        <p:tgtEl>
                                          <p:spTgt spid="38"/>
                                        </p:tgtEl>
                                      </p:cBhvr>
                                    </p:animEffect>
                                  </p:childTnLst>
                                </p:cTn>
                              </p:par>
                              <p:par>
                                <p:cTn id="14" presetID="42" presetClass="entr" presetSubtype="0" fill="hold" nodeType="withEffect">
                                  <p:stCondLst>
                                    <p:cond delay="73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600"/>
                                        <p:tgtEl>
                                          <p:spTgt spid="39"/>
                                        </p:tgtEl>
                                      </p:cBhvr>
                                    </p:animEffect>
                                    <p:anim calcmode="lin" valueType="num">
                                      <p:cBhvr>
                                        <p:cTn id="17" dur="600" fill="hold"/>
                                        <p:tgtEl>
                                          <p:spTgt spid="39"/>
                                        </p:tgtEl>
                                        <p:attrNameLst>
                                          <p:attrName>ppt_x</p:attrName>
                                        </p:attrNameLst>
                                      </p:cBhvr>
                                      <p:tavLst>
                                        <p:tav tm="0">
                                          <p:val>
                                            <p:strVal val="#ppt_x"/>
                                          </p:val>
                                        </p:tav>
                                        <p:tav tm="100000">
                                          <p:val>
                                            <p:strVal val="#ppt_x"/>
                                          </p:val>
                                        </p:tav>
                                      </p:tavLst>
                                    </p:anim>
                                    <p:anim calcmode="lin" valueType="num">
                                      <p:cBhvr>
                                        <p:cTn id="18" dur="600" fill="hold"/>
                                        <p:tgtEl>
                                          <p:spTgt spid="39"/>
                                        </p:tgtEl>
                                        <p:attrNameLst>
                                          <p:attrName>ppt_y</p:attrName>
                                        </p:attrNameLst>
                                      </p:cBhvr>
                                      <p:tavLst>
                                        <p:tav tm="0">
                                          <p:val>
                                            <p:strVal val="#ppt_y+.08"/>
                                          </p:val>
                                        </p:tav>
                                        <p:tav tm="100000">
                                          <p:val>
                                            <p:strVal val="#ppt_y"/>
                                          </p:val>
                                        </p:tav>
                                      </p:tavLst>
                                    </p:anim>
                                  </p:childTnLst>
                                </p:cTn>
                              </p:par>
                              <p:par>
                                <p:cTn id="19" presetID="42" presetClass="entr" presetSubtype="0" fill="hold" nodeType="withEffect">
                                  <p:stCondLst>
                                    <p:cond delay="890"/>
                                  </p:stCondLst>
                                  <p:childTnLst>
                                    <p:set>
                                      <p:cBhvr>
                                        <p:cTn id="20" dur="1" fill="hold">
                                          <p:stCondLst>
                                            <p:cond delay="0"/>
                                          </p:stCondLst>
                                        </p:cTn>
                                        <p:tgtEl>
                                          <p:spTgt spid="44"/>
                                        </p:tgtEl>
                                        <p:attrNameLst>
                                          <p:attrName>style.visibility</p:attrName>
                                        </p:attrNameLst>
                                      </p:cBhvr>
                                      <p:to>
                                        <p:strVal val="visible"/>
                                      </p:to>
                                    </p:set>
                                    <p:animEffect transition="in" filter="fade">
                                      <p:cBhvr>
                                        <p:cTn id="21" dur="600"/>
                                        <p:tgtEl>
                                          <p:spTgt spid="44"/>
                                        </p:tgtEl>
                                      </p:cBhvr>
                                    </p:animEffect>
                                    <p:anim calcmode="lin" valueType="num">
                                      <p:cBhvr>
                                        <p:cTn id="22" dur="600" fill="hold"/>
                                        <p:tgtEl>
                                          <p:spTgt spid="44"/>
                                        </p:tgtEl>
                                        <p:attrNameLst>
                                          <p:attrName>ppt_x</p:attrName>
                                        </p:attrNameLst>
                                      </p:cBhvr>
                                      <p:tavLst>
                                        <p:tav tm="0">
                                          <p:val>
                                            <p:strVal val="#ppt_x"/>
                                          </p:val>
                                        </p:tav>
                                        <p:tav tm="100000">
                                          <p:val>
                                            <p:strVal val="#ppt_x"/>
                                          </p:val>
                                        </p:tav>
                                      </p:tavLst>
                                    </p:anim>
                                    <p:anim calcmode="lin" valueType="num">
                                      <p:cBhvr>
                                        <p:cTn id="23" dur="600" fill="hold"/>
                                        <p:tgtEl>
                                          <p:spTgt spid="44"/>
                                        </p:tgtEl>
                                        <p:attrNameLst>
                                          <p:attrName>ppt_y</p:attrName>
                                        </p:attrNameLst>
                                      </p:cBhvr>
                                      <p:tavLst>
                                        <p:tav tm="0">
                                          <p:val>
                                            <p:strVal val="#ppt_y+.08"/>
                                          </p:val>
                                        </p:tav>
                                        <p:tav tm="100000">
                                          <p:val>
                                            <p:strVal val="#ppt_y"/>
                                          </p:val>
                                        </p:tav>
                                      </p:tavLst>
                                    </p:anim>
                                  </p:childTnLst>
                                </p:cTn>
                              </p:par>
                              <p:par>
                                <p:cTn id="24" presetID="42" presetClass="entr" presetSubtype="0" fill="hold" nodeType="withEffect">
                                  <p:stCondLst>
                                    <p:cond delay="1050"/>
                                  </p:stCondLst>
                                  <p:childTnLst>
                                    <p:set>
                                      <p:cBhvr>
                                        <p:cTn id="25" dur="1" fill="hold">
                                          <p:stCondLst>
                                            <p:cond delay="0"/>
                                          </p:stCondLst>
                                        </p:cTn>
                                        <p:tgtEl>
                                          <p:spTgt spid="49"/>
                                        </p:tgtEl>
                                        <p:attrNameLst>
                                          <p:attrName>style.visibility</p:attrName>
                                        </p:attrNameLst>
                                      </p:cBhvr>
                                      <p:to>
                                        <p:strVal val="visible"/>
                                      </p:to>
                                    </p:set>
                                    <p:animEffect transition="in" filter="fade">
                                      <p:cBhvr>
                                        <p:cTn id="26" dur="600"/>
                                        <p:tgtEl>
                                          <p:spTgt spid="49"/>
                                        </p:tgtEl>
                                      </p:cBhvr>
                                    </p:animEffect>
                                    <p:anim calcmode="lin" valueType="num">
                                      <p:cBhvr>
                                        <p:cTn id="27" dur="600" fill="hold"/>
                                        <p:tgtEl>
                                          <p:spTgt spid="49"/>
                                        </p:tgtEl>
                                        <p:attrNameLst>
                                          <p:attrName>ppt_x</p:attrName>
                                        </p:attrNameLst>
                                      </p:cBhvr>
                                      <p:tavLst>
                                        <p:tav tm="0">
                                          <p:val>
                                            <p:strVal val="#ppt_x"/>
                                          </p:val>
                                        </p:tav>
                                        <p:tav tm="100000">
                                          <p:val>
                                            <p:strVal val="#ppt_x"/>
                                          </p:val>
                                        </p:tav>
                                      </p:tavLst>
                                    </p:anim>
                                    <p:anim calcmode="lin" valueType="num">
                                      <p:cBhvr>
                                        <p:cTn id="28" dur="600" fill="hold"/>
                                        <p:tgtEl>
                                          <p:spTgt spid="4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527923" y="-2386197"/>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759769" y="4088270"/>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9850221" y="4397193"/>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INTRODUCTION</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Key Challenges of Multi-Cloud Management</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Introduction</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sz="1000" b="0" i="0">
                <a:solidFill>
                  <a:srgbClr val="C9D2E3"/>
                </a:solidFill>
                <a:latin typeface="Segoe UI Semibold"/>
              </a:rPr>
              <a:t>06</a:t>
            </a:r>
            <a:r>
              <a:rPr sz="1000" b="0" i="0">
                <a:solidFill>
                  <a:srgbClr val="8C9AB5"/>
                </a:solidFill>
                <a:latin typeface="Segoe UI"/>
              </a:rPr>
              <a:t> / 30</a:t>
            </a:r>
          </a:p>
        </p:txBody>
      </p:sp>
      <p:grpSp>
        <p:nvGrpSpPr>
          <p:cNvPr id="36" name="Group 35"/>
          <p:cNvGrpSpPr/>
          <p:nvPr/>
        </p:nvGrpSpPr>
        <p:grpSpPr>
          <a:xfrm>
            <a:off x="548640" y="1645920"/>
            <a:ext cx="3593592" cy="2084831"/>
            <a:chOff x="548640" y="1645920"/>
            <a:chExt cx="3593592" cy="2084831"/>
          </a:xfrm>
        </p:grpSpPr>
        <p:sp>
          <p:nvSpPr>
            <p:cNvPr id="37" name="Rounded Rectangle 36"/>
            <p:cNvSpPr/>
            <p:nvPr/>
          </p:nvSpPr>
          <p:spPr>
            <a:xfrm>
              <a:off x="548640" y="1645920"/>
              <a:ext cx="3593592" cy="2084831"/>
            </a:xfrm>
            <a:prstGeom prst="roundRect">
              <a:avLst>
                <a:gd name="adj" fmla="val 7894"/>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38" name="Rectangle 37"/>
            <p:cNvSpPr/>
            <p:nvPr/>
          </p:nvSpPr>
          <p:spPr>
            <a:xfrm>
              <a:off x="548640" y="1901952"/>
              <a:ext cx="45720" cy="384048"/>
            </a:xfrm>
            <a:prstGeom prst="rect">
              <a:avLst/>
            </a:prstGeom>
            <a:solidFill>
              <a:srgbClr val="3987E5"/>
            </a:solidFill>
            <a:ln>
              <a:noFill/>
            </a:ln>
          </p:spPr>
          <p:txBody>
            <a:bodyPr wrap="square" rtlCol="0" anchor="ctr"/>
            <a:lstStyle/>
            <a:p>
              <a:pPr algn="ctr"/>
              <a:endParaRPr/>
            </a:p>
          </p:txBody>
        </p:sp>
        <p:sp>
          <p:nvSpPr>
            <p:cNvPr id="39" name="Oval 38"/>
            <p:cNvSpPr/>
            <p:nvPr/>
          </p:nvSpPr>
          <p:spPr>
            <a:xfrm>
              <a:off x="804672" y="1865376"/>
              <a:ext cx="457200" cy="457200"/>
            </a:xfrm>
            <a:prstGeom prst="ellipse">
              <a:avLst/>
            </a:prstGeom>
            <a:gradFill rotWithShape="1">
              <a:gsLst>
                <a:gs pos="0">
                  <a:srgbClr val="3987E5"/>
                </a:gs>
                <a:gs pos="100000">
                  <a:srgbClr val="3987E5">
                    <a:alpha val="55000"/>
                  </a:srgbClr>
                </a:gs>
              </a:gsLst>
              <a:lin ang="2700000" scaled="0"/>
            </a:gradFill>
            <a:ln>
              <a:noFill/>
            </a:ln>
          </p:spPr>
          <p:txBody>
            <a:bodyPr wrap="square" lIns="0" tIns="0" rIns="0" bIns="0" rtlCol="0" anchor="ctr">
              <a:noAutofit/>
            </a:bodyPr>
            <a:lstStyle/>
            <a:p>
              <a:pPr algn="ctr">
                <a:lnSpc>
                  <a:spcPct val="112000"/>
                </a:lnSpc>
                <a:spcAft>
                  <a:spcPts val="0"/>
                </a:spcAft>
              </a:pPr>
              <a:r>
                <a:rPr sz="1300" b="0" i="0">
                  <a:solidFill>
                    <a:srgbClr val="FFFFFF"/>
                  </a:solidFill>
                  <a:latin typeface="Segoe UI Semibold"/>
                </a:rPr>
                <a:t>1</a:t>
              </a:r>
            </a:p>
          </p:txBody>
        </p:sp>
        <p:sp>
          <p:nvSpPr>
            <p:cNvPr id="40" name="TextBox 39"/>
            <p:cNvSpPr txBox="1"/>
            <p:nvPr/>
          </p:nvSpPr>
          <p:spPr>
            <a:xfrm>
              <a:off x="1389888" y="1865376"/>
              <a:ext cx="2569464" cy="457200"/>
            </a:xfrm>
            <a:prstGeom prst="rect">
              <a:avLst/>
            </a:prstGeom>
            <a:noFill/>
          </p:spPr>
          <p:txBody>
            <a:bodyPr wrap="square" lIns="0" tIns="0" rIns="0" bIns="0" anchor="ctr">
              <a:noAutofit/>
            </a:bodyPr>
            <a:lstStyle/>
            <a:p>
              <a:pPr algn="l">
                <a:lnSpc>
                  <a:spcPct val="112000"/>
                </a:lnSpc>
                <a:spcAft>
                  <a:spcPts val="0"/>
                </a:spcAft>
              </a:pPr>
              <a:r>
                <a:rPr sz="1550" b="0" i="0">
                  <a:solidFill>
                    <a:srgbClr val="FFFFFF"/>
                  </a:solidFill>
                  <a:latin typeface="Segoe UI Semibold"/>
                </a:rPr>
                <a:t>Heterogeneity</a:t>
              </a:r>
            </a:p>
          </p:txBody>
        </p:sp>
        <p:sp>
          <p:nvSpPr>
            <p:cNvPr id="41" name="TextBox 40"/>
            <p:cNvSpPr txBox="1"/>
            <p:nvPr/>
          </p:nvSpPr>
          <p:spPr>
            <a:xfrm>
              <a:off x="822959" y="2514600"/>
              <a:ext cx="3090672" cy="1078992"/>
            </a:xfrm>
            <a:prstGeom prst="rect">
              <a:avLst/>
            </a:prstGeom>
            <a:noFill/>
          </p:spPr>
          <p:txBody>
            <a:bodyPr wrap="square" lIns="0" tIns="0" rIns="0" bIns="0" anchor="t">
              <a:noAutofit/>
            </a:bodyPr>
            <a:lstStyle/>
            <a:p>
              <a:pPr algn="l">
                <a:lnSpc>
                  <a:spcPct val="115000"/>
                </a:lnSpc>
                <a:spcAft>
                  <a:spcPts val="400"/>
                </a:spcAft>
              </a:pPr>
              <a:r>
                <a:rPr sz="1300" b="0" i="0">
                  <a:solidFill>
                    <a:srgbClr val="C9D2E3"/>
                  </a:solidFill>
                  <a:latin typeface="Segoe UI"/>
                </a:rPr>
                <a:t>Different APIs, instance families, quotas and pricing per provider.</a:t>
              </a:r>
            </a:p>
          </p:txBody>
        </p:sp>
      </p:grpSp>
      <p:sp>
        <p:nvSpPr>
          <p:cNvPr id="42" name="Rounded Rectangle 41"/>
          <p:cNvSpPr/>
          <p:nvPr/>
        </p:nvSpPr>
        <p:spPr>
          <a:xfrm>
            <a:off x="822959" y="3227832"/>
            <a:ext cx="1417320" cy="274320"/>
          </a:xfrm>
          <a:prstGeom prst="roundRect">
            <a:avLst>
              <a:gd name="adj" fmla="val 50000"/>
            </a:avLst>
          </a:prstGeom>
          <a:solidFill>
            <a:srgbClr val="3987E5">
              <a:alpha val="16000"/>
            </a:srgbClr>
          </a:solidFill>
          <a:ln w="9525">
            <a:solidFill>
              <a:srgbClr val="3987E5"/>
            </a:solidFill>
          </a:ln>
        </p:spPr>
        <p:txBody>
          <a:bodyPr wrap="square" lIns="18288" tIns="18288" rIns="18288" bIns="18288" rtlCol="0" anchor="ctr">
            <a:noAutofit/>
          </a:bodyPr>
          <a:lstStyle/>
          <a:p>
            <a:pPr algn="ctr">
              <a:lnSpc>
                <a:spcPct val="112000"/>
              </a:lnSpc>
              <a:spcAft>
                <a:spcPts val="0"/>
              </a:spcAft>
            </a:pPr>
            <a:r>
              <a:rPr sz="900" b="0" i="0">
                <a:solidFill>
                  <a:srgbClr val="FFFFFF"/>
                </a:solidFill>
                <a:latin typeface="Segoe UI Semibold"/>
              </a:rPr>
              <a:t>TECHNICAL</a:t>
            </a:r>
          </a:p>
        </p:txBody>
      </p:sp>
      <p:grpSp>
        <p:nvGrpSpPr>
          <p:cNvPr id="43" name="Group 42"/>
          <p:cNvGrpSpPr/>
          <p:nvPr/>
        </p:nvGrpSpPr>
        <p:grpSpPr>
          <a:xfrm>
            <a:off x="4297679" y="1645920"/>
            <a:ext cx="3593592" cy="2084831"/>
            <a:chOff x="4297679" y="1645920"/>
            <a:chExt cx="3593592" cy="2084831"/>
          </a:xfrm>
        </p:grpSpPr>
        <p:sp>
          <p:nvSpPr>
            <p:cNvPr id="44" name="Rounded Rectangle 43"/>
            <p:cNvSpPr/>
            <p:nvPr/>
          </p:nvSpPr>
          <p:spPr>
            <a:xfrm>
              <a:off x="4297679" y="1645920"/>
              <a:ext cx="3593592" cy="2084831"/>
            </a:xfrm>
            <a:prstGeom prst="roundRect">
              <a:avLst>
                <a:gd name="adj" fmla="val 7894"/>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45" name="Rectangle 44"/>
            <p:cNvSpPr/>
            <p:nvPr/>
          </p:nvSpPr>
          <p:spPr>
            <a:xfrm>
              <a:off x="4297679" y="1901952"/>
              <a:ext cx="45720" cy="384048"/>
            </a:xfrm>
            <a:prstGeom prst="rect">
              <a:avLst/>
            </a:prstGeom>
            <a:solidFill>
              <a:srgbClr val="3987E5"/>
            </a:solidFill>
            <a:ln>
              <a:noFill/>
            </a:ln>
          </p:spPr>
          <p:txBody>
            <a:bodyPr wrap="square" rtlCol="0" anchor="ctr"/>
            <a:lstStyle/>
            <a:p>
              <a:pPr algn="ctr"/>
              <a:endParaRPr/>
            </a:p>
          </p:txBody>
        </p:sp>
        <p:sp>
          <p:nvSpPr>
            <p:cNvPr id="46" name="Oval 45"/>
            <p:cNvSpPr/>
            <p:nvPr/>
          </p:nvSpPr>
          <p:spPr>
            <a:xfrm>
              <a:off x="4553712" y="1865376"/>
              <a:ext cx="457200" cy="457200"/>
            </a:xfrm>
            <a:prstGeom prst="ellipse">
              <a:avLst/>
            </a:prstGeom>
            <a:gradFill rotWithShape="1">
              <a:gsLst>
                <a:gs pos="0">
                  <a:srgbClr val="3987E5"/>
                </a:gs>
                <a:gs pos="100000">
                  <a:srgbClr val="3987E5">
                    <a:alpha val="55000"/>
                  </a:srgbClr>
                </a:gs>
              </a:gsLst>
              <a:lin ang="2700000" scaled="0"/>
            </a:gradFill>
            <a:ln>
              <a:noFill/>
            </a:ln>
          </p:spPr>
          <p:txBody>
            <a:bodyPr wrap="square" lIns="0" tIns="0" rIns="0" bIns="0" rtlCol="0" anchor="ctr">
              <a:noAutofit/>
            </a:bodyPr>
            <a:lstStyle/>
            <a:p>
              <a:pPr algn="ctr">
                <a:lnSpc>
                  <a:spcPct val="112000"/>
                </a:lnSpc>
                <a:spcAft>
                  <a:spcPts val="0"/>
                </a:spcAft>
              </a:pPr>
              <a:r>
                <a:rPr sz="1300" b="0" i="0">
                  <a:solidFill>
                    <a:srgbClr val="FFFFFF"/>
                  </a:solidFill>
                  <a:latin typeface="Segoe UI Semibold"/>
                </a:rPr>
                <a:t>2</a:t>
              </a:r>
            </a:p>
          </p:txBody>
        </p:sp>
        <p:sp>
          <p:nvSpPr>
            <p:cNvPr id="47" name="TextBox 46"/>
            <p:cNvSpPr txBox="1"/>
            <p:nvPr/>
          </p:nvSpPr>
          <p:spPr>
            <a:xfrm>
              <a:off x="5138927" y="1865376"/>
              <a:ext cx="2569463" cy="457200"/>
            </a:xfrm>
            <a:prstGeom prst="rect">
              <a:avLst/>
            </a:prstGeom>
            <a:noFill/>
          </p:spPr>
          <p:txBody>
            <a:bodyPr wrap="square" lIns="0" tIns="0" rIns="0" bIns="0" anchor="ctr">
              <a:noAutofit/>
            </a:bodyPr>
            <a:lstStyle/>
            <a:p>
              <a:pPr algn="l">
                <a:lnSpc>
                  <a:spcPct val="112000"/>
                </a:lnSpc>
                <a:spcAft>
                  <a:spcPts val="0"/>
                </a:spcAft>
              </a:pPr>
              <a:r>
                <a:rPr sz="1550" b="0" i="0">
                  <a:solidFill>
                    <a:srgbClr val="FFFFFF"/>
                  </a:solidFill>
                  <a:latin typeface="Segoe UI Semibold"/>
                </a:rPr>
                <a:t>Interoperability &amp; portability</a:t>
              </a:r>
            </a:p>
          </p:txBody>
        </p:sp>
        <p:sp>
          <p:nvSpPr>
            <p:cNvPr id="48" name="TextBox 47"/>
            <p:cNvSpPr txBox="1"/>
            <p:nvPr/>
          </p:nvSpPr>
          <p:spPr>
            <a:xfrm>
              <a:off x="4571999" y="2514600"/>
              <a:ext cx="3090672" cy="1078992"/>
            </a:xfrm>
            <a:prstGeom prst="rect">
              <a:avLst/>
            </a:prstGeom>
            <a:noFill/>
          </p:spPr>
          <p:txBody>
            <a:bodyPr wrap="square" lIns="0" tIns="0" rIns="0" bIns="0" anchor="t">
              <a:noAutofit/>
            </a:bodyPr>
            <a:lstStyle/>
            <a:p>
              <a:pPr algn="l">
                <a:lnSpc>
                  <a:spcPct val="115000"/>
                </a:lnSpc>
                <a:spcAft>
                  <a:spcPts val="400"/>
                </a:spcAft>
              </a:pPr>
              <a:r>
                <a:rPr sz="1300" b="0" i="0">
                  <a:solidFill>
                    <a:srgbClr val="C9D2E3"/>
                  </a:solidFill>
                  <a:latin typeface="Segoe UI"/>
                </a:rPr>
                <a:t>Proprietary services and formats hinder workload mobility.</a:t>
              </a:r>
            </a:p>
          </p:txBody>
        </p:sp>
      </p:grpSp>
      <p:sp>
        <p:nvSpPr>
          <p:cNvPr id="49" name="Rounded Rectangle 48"/>
          <p:cNvSpPr/>
          <p:nvPr/>
        </p:nvSpPr>
        <p:spPr>
          <a:xfrm>
            <a:off x="4571999" y="3227832"/>
            <a:ext cx="1417320" cy="274320"/>
          </a:xfrm>
          <a:prstGeom prst="roundRect">
            <a:avLst>
              <a:gd name="adj" fmla="val 50000"/>
            </a:avLst>
          </a:prstGeom>
          <a:solidFill>
            <a:srgbClr val="3987E5">
              <a:alpha val="16000"/>
            </a:srgbClr>
          </a:solidFill>
          <a:ln w="9525">
            <a:solidFill>
              <a:srgbClr val="3987E5"/>
            </a:solidFill>
          </a:ln>
        </p:spPr>
        <p:txBody>
          <a:bodyPr wrap="square" lIns="18288" tIns="18288" rIns="18288" bIns="18288" rtlCol="0" anchor="ctr">
            <a:noAutofit/>
          </a:bodyPr>
          <a:lstStyle/>
          <a:p>
            <a:pPr algn="ctr">
              <a:lnSpc>
                <a:spcPct val="112000"/>
              </a:lnSpc>
              <a:spcAft>
                <a:spcPts val="0"/>
              </a:spcAft>
            </a:pPr>
            <a:r>
              <a:rPr sz="900" b="0" i="0">
                <a:solidFill>
                  <a:srgbClr val="FFFFFF"/>
                </a:solidFill>
                <a:latin typeface="Segoe UI Semibold"/>
              </a:rPr>
              <a:t>TECHNICAL</a:t>
            </a:r>
          </a:p>
        </p:txBody>
      </p:sp>
      <p:grpSp>
        <p:nvGrpSpPr>
          <p:cNvPr id="50" name="Group 49"/>
          <p:cNvGrpSpPr/>
          <p:nvPr/>
        </p:nvGrpSpPr>
        <p:grpSpPr>
          <a:xfrm>
            <a:off x="8046719" y="1645920"/>
            <a:ext cx="3593592" cy="2084831"/>
            <a:chOff x="8046719" y="1645920"/>
            <a:chExt cx="3593592" cy="2084831"/>
          </a:xfrm>
        </p:grpSpPr>
        <p:sp>
          <p:nvSpPr>
            <p:cNvPr id="51" name="Rounded Rectangle 50"/>
            <p:cNvSpPr/>
            <p:nvPr/>
          </p:nvSpPr>
          <p:spPr>
            <a:xfrm>
              <a:off x="8046719" y="1645920"/>
              <a:ext cx="3593592" cy="2084831"/>
            </a:xfrm>
            <a:prstGeom prst="roundRect">
              <a:avLst>
                <a:gd name="adj" fmla="val 7894"/>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52" name="Rectangle 51"/>
            <p:cNvSpPr/>
            <p:nvPr/>
          </p:nvSpPr>
          <p:spPr>
            <a:xfrm>
              <a:off x="8046719" y="1901952"/>
              <a:ext cx="45720" cy="384048"/>
            </a:xfrm>
            <a:prstGeom prst="rect">
              <a:avLst/>
            </a:prstGeom>
            <a:solidFill>
              <a:srgbClr val="D95926"/>
            </a:solidFill>
            <a:ln>
              <a:noFill/>
            </a:ln>
          </p:spPr>
          <p:txBody>
            <a:bodyPr wrap="square" rtlCol="0" anchor="ctr"/>
            <a:lstStyle/>
            <a:p>
              <a:pPr algn="ctr"/>
              <a:endParaRPr/>
            </a:p>
          </p:txBody>
        </p:sp>
        <p:sp>
          <p:nvSpPr>
            <p:cNvPr id="53" name="Oval 52"/>
            <p:cNvSpPr/>
            <p:nvPr/>
          </p:nvSpPr>
          <p:spPr>
            <a:xfrm>
              <a:off x="8302751" y="1865376"/>
              <a:ext cx="457200" cy="457200"/>
            </a:xfrm>
            <a:prstGeom prst="ellipse">
              <a:avLst/>
            </a:prstGeom>
            <a:gradFill rotWithShape="1">
              <a:gsLst>
                <a:gs pos="0">
                  <a:srgbClr val="D95926"/>
                </a:gs>
                <a:gs pos="100000">
                  <a:srgbClr val="D95926">
                    <a:alpha val="55000"/>
                  </a:srgbClr>
                </a:gs>
              </a:gsLst>
              <a:lin ang="2700000" scaled="0"/>
            </a:gradFill>
            <a:ln>
              <a:noFill/>
            </a:ln>
          </p:spPr>
          <p:txBody>
            <a:bodyPr wrap="square" lIns="0" tIns="0" rIns="0" bIns="0" rtlCol="0" anchor="ctr">
              <a:noAutofit/>
            </a:bodyPr>
            <a:lstStyle/>
            <a:p>
              <a:pPr algn="ctr">
                <a:lnSpc>
                  <a:spcPct val="112000"/>
                </a:lnSpc>
                <a:spcAft>
                  <a:spcPts val="0"/>
                </a:spcAft>
              </a:pPr>
              <a:r>
                <a:rPr sz="1300" b="0" i="0">
                  <a:solidFill>
                    <a:srgbClr val="FFFFFF"/>
                  </a:solidFill>
                  <a:latin typeface="Segoe UI Semibold"/>
                </a:rPr>
                <a:t>3</a:t>
              </a:r>
            </a:p>
          </p:txBody>
        </p:sp>
        <p:sp>
          <p:nvSpPr>
            <p:cNvPr id="54" name="TextBox 53"/>
            <p:cNvSpPr txBox="1"/>
            <p:nvPr/>
          </p:nvSpPr>
          <p:spPr>
            <a:xfrm>
              <a:off x="8887967" y="1865376"/>
              <a:ext cx="2569463" cy="457200"/>
            </a:xfrm>
            <a:prstGeom prst="rect">
              <a:avLst/>
            </a:prstGeom>
            <a:noFill/>
          </p:spPr>
          <p:txBody>
            <a:bodyPr wrap="square" lIns="0" tIns="0" rIns="0" bIns="0" anchor="ctr">
              <a:noAutofit/>
            </a:bodyPr>
            <a:lstStyle/>
            <a:p>
              <a:pPr algn="l">
                <a:lnSpc>
                  <a:spcPct val="112000"/>
                </a:lnSpc>
                <a:spcAft>
                  <a:spcPts val="0"/>
                </a:spcAft>
              </a:pPr>
              <a:r>
                <a:rPr sz="1550" b="0" i="0">
                  <a:solidFill>
                    <a:srgbClr val="FFFFFF"/>
                  </a:solidFill>
                  <a:latin typeface="Segoe UI Semibold"/>
                </a:rPr>
                <a:t>Data gravity &amp; egress</a:t>
              </a:r>
            </a:p>
          </p:txBody>
        </p:sp>
        <p:sp>
          <p:nvSpPr>
            <p:cNvPr id="55" name="TextBox 54"/>
            <p:cNvSpPr txBox="1"/>
            <p:nvPr/>
          </p:nvSpPr>
          <p:spPr>
            <a:xfrm>
              <a:off x="8321040" y="2514600"/>
              <a:ext cx="3090672" cy="1078992"/>
            </a:xfrm>
            <a:prstGeom prst="rect">
              <a:avLst/>
            </a:prstGeom>
            <a:noFill/>
          </p:spPr>
          <p:txBody>
            <a:bodyPr wrap="square" lIns="0" tIns="0" rIns="0" bIns="0" anchor="t">
              <a:noAutofit/>
            </a:bodyPr>
            <a:lstStyle/>
            <a:p>
              <a:pPr algn="l">
                <a:lnSpc>
                  <a:spcPct val="115000"/>
                </a:lnSpc>
                <a:spcAft>
                  <a:spcPts val="400"/>
                </a:spcAft>
              </a:pPr>
              <a:r>
                <a:rPr sz="1300" b="0" i="0">
                  <a:solidFill>
                    <a:srgbClr val="C9D2E3"/>
                  </a:solidFill>
                  <a:latin typeface="Segoe UI"/>
                </a:rPr>
                <a:t>Moving data across clouds adds latency and per-GB transfer fees.</a:t>
              </a:r>
            </a:p>
          </p:txBody>
        </p:sp>
      </p:grpSp>
      <p:sp>
        <p:nvSpPr>
          <p:cNvPr id="56" name="Rounded Rectangle 55"/>
          <p:cNvSpPr/>
          <p:nvPr/>
        </p:nvSpPr>
        <p:spPr>
          <a:xfrm>
            <a:off x="8321040" y="3227832"/>
            <a:ext cx="1417320" cy="274320"/>
          </a:xfrm>
          <a:prstGeom prst="roundRect">
            <a:avLst>
              <a:gd name="adj" fmla="val 50000"/>
            </a:avLst>
          </a:prstGeom>
          <a:solidFill>
            <a:srgbClr val="D95926">
              <a:alpha val="16000"/>
            </a:srgbClr>
          </a:solidFill>
          <a:ln w="9525">
            <a:solidFill>
              <a:srgbClr val="D95926"/>
            </a:solidFill>
          </a:ln>
        </p:spPr>
        <p:txBody>
          <a:bodyPr wrap="square" lIns="18288" tIns="18288" rIns="18288" bIns="18288" rtlCol="0" anchor="ctr">
            <a:noAutofit/>
          </a:bodyPr>
          <a:lstStyle/>
          <a:p>
            <a:pPr algn="ctr">
              <a:lnSpc>
                <a:spcPct val="112000"/>
              </a:lnSpc>
              <a:spcAft>
                <a:spcPts val="0"/>
              </a:spcAft>
            </a:pPr>
            <a:r>
              <a:rPr sz="900" b="0" i="0">
                <a:solidFill>
                  <a:srgbClr val="FFFFFF"/>
                </a:solidFill>
                <a:latin typeface="Segoe UI Semibold"/>
              </a:rPr>
              <a:t>FINANCIAL</a:t>
            </a:r>
          </a:p>
        </p:txBody>
      </p:sp>
      <p:grpSp>
        <p:nvGrpSpPr>
          <p:cNvPr id="57" name="Group 56"/>
          <p:cNvGrpSpPr/>
          <p:nvPr/>
        </p:nvGrpSpPr>
        <p:grpSpPr>
          <a:xfrm>
            <a:off x="548640" y="3867912"/>
            <a:ext cx="3593592" cy="2084831"/>
            <a:chOff x="548640" y="3867912"/>
            <a:chExt cx="3593592" cy="2084831"/>
          </a:xfrm>
        </p:grpSpPr>
        <p:sp>
          <p:nvSpPr>
            <p:cNvPr id="58" name="Rounded Rectangle 57"/>
            <p:cNvSpPr/>
            <p:nvPr/>
          </p:nvSpPr>
          <p:spPr>
            <a:xfrm>
              <a:off x="548640" y="3867912"/>
              <a:ext cx="3593592" cy="2084831"/>
            </a:xfrm>
            <a:prstGeom prst="roundRect">
              <a:avLst>
                <a:gd name="adj" fmla="val 7894"/>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59" name="Rectangle 58"/>
            <p:cNvSpPr/>
            <p:nvPr/>
          </p:nvSpPr>
          <p:spPr>
            <a:xfrm>
              <a:off x="548640" y="4123944"/>
              <a:ext cx="45720" cy="384048"/>
            </a:xfrm>
            <a:prstGeom prst="rect">
              <a:avLst/>
            </a:prstGeom>
            <a:solidFill>
              <a:srgbClr val="9085E9"/>
            </a:solidFill>
            <a:ln>
              <a:noFill/>
            </a:ln>
          </p:spPr>
          <p:txBody>
            <a:bodyPr wrap="square" rtlCol="0" anchor="ctr"/>
            <a:lstStyle/>
            <a:p>
              <a:pPr algn="ctr"/>
              <a:endParaRPr/>
            </a:p>
          </p:txBody>
        </p:sp>
        <p:sp>
          <p:nvSpPr>
            <p:cNvPr id="60" name="Oval 59"/>
            <p:cNvSpPr/>
            <p:nvPr/>
          </p:nvSpPr>
          <p:spPr>
            <a:xfrm>
              <a:off x="804672" y="4087368"/>
              <a:ext cx="457200" cy="457200"/>
            </a:xfrm>
            <a:prstGeom prst="ellipse">
              <a:avLst/>
            </a:prstGeom>
            <a:gradFill rotWithShape="1">
              <a:gsLst>
                <a:gs pos="0">
                  <a:srgbClr val="9085E9"/>
                </a:gs>
                <a:gs pos="100000">
                  <a:srgbClr val="9085E9">
                    <a:alpha val="55000"/>
                  </a:srgbClr>
                </a:gs>
              </a:gsLst>
              <a:lin ang="2700000" scaled="0"/>
            </a:gradFill>
            <a:ln>
              <a:noFill/>
            </a:ln>
          </p:spPr>
          <p:txBody>
            <a:bodyPr wrap="square" lIns="0" tIns="0" rIns="0" bIns="0" rtlCol="0" anchor="ctr">
              <a:noAutofit/>
            </a:bodyPr>
            <a:lstStyle/>
            <a:p>
              <a:pPr algn="ctr">
                <a:lnSpc>
                  <a:spcPct val="112000"/>
                </a:lnSpc>
                <a:spcAft>
                  <a:spcPts val="0"/>
                </a:spcAft>
              </a:pPr>
              <a:r>
                <a:rPr sz="1300" b="0" i="0">
                  <a:solidFill>
                    <a:srgbClr val="FFFFFF"/>
                  </a:solidFill>
                  <a:latin typeface="Segoe UI Semibold"/>
                </a:rPr>
                <a:t>4</a:t>
              </a:r>
            </a:p>
          </p:txBody>
        </p:sp>
        <p:sp>
          <p:nvSpPr>
            <p:cNvPr id="61" name="TextBox 60"/>
            <p:cNvSpPr txBox="1"/>
            <p:nvPr/>
          </p:nvSpPr>
          <p:spPr>
            <a:xfrm>
              <a:off x="1389888" y="4087368"/>
              <a:ext cx="2569464" cy="457200"/>
            </a:xfrm>
            <a:prstGeom prst="rect">
              <a:avLst/>
            </a:prstGeom>
            <a:noFill/>
          </p:spPr>
          <p:txBody>
            <a:bodyPr wrap="square" lIns="0" tIns="0" rIns="0" bIns="0" anchor="ctr">
              <a:noAutofit/>
            </a:bodyPr>
            <a:lstStyle/>
            <a:p>
              <a:pPr algn="l">
                <a:lnSpc>
                  <a:spcPct val="112000"/>
                </a:lnSpc>
                <a:spcAft>
                  <a:spcPts val="0"/>
                </a:spcAft>
              </a:pPr>
              <a:r>
                <a:rPr sz="1550" b="0" i="0">
                  <a:solidFill>
                    <a:srgbClr val="FFFFFF"/>
                  </a:solidFill>
                  <a:latin typeface="Segoe UI Semibold"/>
                </a:rPr>
                <a:t>Security &amp; compliance</a:t>
              </a:r>
            </a:p>
          </p:txBody>
        </p:sp>
        <p:sp>
          <p:nvSpPr>
            <p:cNvPr id="62" name="TextBox 61"/>
            <p:cNvSpPr txBox="1"/>
            <p:nvPr/>
          </p:nvSpPr>
          <p:spPr>
            <a:xfrm>
              <a:off x="822959" y="4736592"/>
              <a:ext cx="3090672" cy="1078991"/>
            </a:xfrm>
            <a:prstGeom prst="rect">
              <a:avLst/>
            </a:prstGeom>
            <a:noFill/>
          </p:spPr>
          <p:txBody>
            <a:bodyPr wrap="square" lIns="0" tIns="0" rIns="0" bIns="0" anchor="t">
              <a:noAutofit/>
            </a:bodyPr>
            <a:lstStyle/>
            <a:p>
              <a:pPr algn="l">
                <a:lnSpc>
                  <a:spcPct val="115000"/>
                </a:lnSpc>
                <a:spcAft>
                  <a:spcPts val="400"/>
                </a:spcAft>
              </a:pPr>
              <a:r>
                <a:rPr sz="1300" b="0" i="0">
                  <a:solidFill>
                    <a:srgbClr val="C9D2E3"/>
                  </a:solidFill>
                  <a:latin typeface="Segoe UI"/>
                </a:rPr>
                <a:t>Consistent identity, policies and audit across all environments.</a:t>
              </a:r>
            </a:p>
          </p:txBody>
        </p:sp>
      </p:grpSp>
      <p:sp>
        <p:nvSpPr>
          <p:cNvPr id="63" name="Rounded Rectangle 62"/>
          <p:cNvSpPr/>
          <p:nvPr/>
        </p:nvSpPr>
        <p:spPr>
          <a:xfrm>
            <a:off x="822959" y="5449824"/>
            <a:ext cx="1417320" cy="274320"/>
          </a:xfrm>
          <a:prstGeom prst="roundRect">
            <a:avLst>
              <a:gd name="adj" fmla="val 50000"/>
            </a:avLst>
          </a:prstGeom>
          <a:solidFill>
            <a:srgbClr val="9085E9">
              <a:alpha val="16000"/>
            </a:srgbClr>
          </a:solidFill>
          <a:ln w="9525">
            <a:solidFill>
              <a:srgbClr val="9085E9"/>
            </a:solidFill>
          </a:ln>
        </p:spPr>
        <p:txBody>
          <a:bodyPr wrap="square" lIns="18288" tIns="18288" rIns="18288" bIns="18288" rtlCol="0" anchor="ctr">
            <a:noAutofit/>
          </a:bodyPr>
          <a:lstStyle/>
          <a:p>
            <a:pPr algn="ctr">
              <a:lnSpc>
                <a:spcPct val="112000"/>
              </a:lnSpc>
              <a:spcAft>
                <a:spcPts val="0"/>
              </a:spcAft>
            </a:pPr>
            <a:r>
              <a:rPr sz="900" b="0" i="0">
                <a:solidFill>
                  <a:srgbClr val="FFFFFF"/>
                </a:solidFill>
                <a:latin typeface="Segoe UI Semibold"/>
              </a:rPr>
              <a:t>RISK</a:t>
            </a:r>
          </a:p>
        </p:txBody>
      </p:sp>
      <p:grpSp>
        <p:nvGrpSpPr>
          <p:cNvPr id="64" name="Group 63"/>
          <p:cNvGrpSpPr/>
          <p:nvPr/>
        </p:nvGrpSpPr>
        <p:grpSpPr>
          <a:xfrm>
            <a:off x="4297679" y="3867912"/>
            <a:ext cx="3593592" cy="2084831"/>
            <a:chOff x="4297679" y="3867912"/>
            <a:chExt cx="3593592" cy="2084831"/>
          </a:xfrm>
        </p:grpSpPr>
        <p:sp>
          <p:nvSpPr>
            <p:cNvPr id="65" name="Rounded Rectangle 64"/>
            <p:cNvSpPr/>
            <p:nvPr/>
          </p:nvSpPr>
          <p:spPr>
            <a:xfrm>
              <a:off x="4297679" y="3867912"/>
              <a:ext cx="3593592" cy="2084831"/>
            </a:xfrm>
            <a:prstGeom prst="roundRect">
              <a:avLst>
                <a:gd name="adj" fmla="val 7894"/>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66" name="Rectangle 65"/>
            <p:cNvSpPr/>
            <p:nvPr/>
          </p:nvSpPr>
          <p:spPr>
            <a:xfrm>
              <a:off x="4297679" y="4123944"/>
              <a:ext cx="45720" cy="384048"/>
            </a:xfrm>
            <a:prstGeom prst="rect">
              <a:avLst/>
            </a:prstGeom>
            <a:solidFill>
              <a:srgbClr val="D95926"/>
            </a:solidFill>
            <a:ln>
              <a:noFill/>
            </a:ln>
          </p:spPr>
          <p:txBody>
            <a:bodyPr wrap="square" rtlCol="0" anchor="ctr"/>
            <a:lstStyle/>
            <a:p>
              <a:pPr algn="ctr"/>
              <a:endParaRPr/>
            </a:p>
          </p:txBody>
        </p:sp>
        <p:sp>
          <p:nvSpPr>
            <p:cNvPr id="67" name="Oval 66"/>
            <p:cNvSpPr/>
            <p:nvPr/>
          </p:nvSpPr>
          <p:spPr>
            <a:xfrm>
              <a:off x="4553712" y="4087368"/>
              <a:ext cx="457200" cy="457200"/>
            </a:xfrm>
            <a:prstGeom prst="ellipse">
              <a:avLst/>
            </a:prstGeom>
            <a:gradFill rotWithShape="1">
              <a:gsLst>
                <a:gs pos="0">
                  <a:srgbClr val="D95926"/>
                </a:gs>
                <a:gs pos="100000">
                  <a:srgbClr val="D95926">
                    <a:alpha val="55000"/>
                  </a:srgbClr>
                </a:gs>
              </a:gsLst>
              <a:lin ang="2700000" scaled="0"/>
            </a:gradFill>
            <a:ln>
              <a:noFill/>
            </a:ln>
          </p:spPr>
          <p:txBody>
            <a:bodyPr wrap="square" lIns="0" tIns="0" rIns="0" bIns="0" rtlCol="0" anchor="ctr">
              <a:noAutofit/>
            </a:bodyPr>
            <a:lstStyle/>
            <a:p>
              <a:pPr algn="ctr">
                <a:lnSpc>
                  <a:spcPct val="112000"/>
                </a:lnSpc>
                <a:spcAft>
                  <a:spcPts val="0"/>
                </a:spcAft>
              </a:pPr>
              <a:r>
                <a:rPr sz="1300" b="0" i="0">
                  <a:solidFill>
                    <a:srgbClr val="FFFFFF"/>
                  </a:solidFill>
                  <a:latin typeface="Segoe UI Semibold"/>
                </a:rPr>
                <a:t>5</a:t>
              </a:r>
            </a:p>
          </p:txBody>
        </p:sp>
        <p:sp>
          <p:nvSpPr>
            <p:cNvPr id="68" name="TextBox 67"/>
            <p:cNvSpPr txBox="1"/>
            <p:nvPr/>
          </p:nvSpPr>
          <p:spPr>
            <a:xfrm>
              <a:off x="5138927" y="4087368"/>
              <a:ext cx="2569463" cy="457200"/>
            </a:xfrm>
            <a:prstGeom prst="rect">
              <a:avLst/>
            </a:prstGeom>
            <a:noFill/>
          </p:spPr>
          <p:txBody>
            <a:bodyPr wrap="square" lIns="0" tIns="0" rIns="0" bIns="0" anchor="ctr">
              <a:noAutofit/>
            </a:bodyPr>
            <a:lstStyle/>
            <a:p>
              <a:pPr algn="l">
                <a:lnSpc>
                  <a:spcPct val="112000"/>
                </a:lnSpc>
                <a:spcAft>
                  <a:spcPts val="0"/>
                </a:spcAft>
              </a:pPr>
              <a:r>
                <a:rPr sz="1550" b="0" i="0">
                  <a:solidFill>
                    <a:srgbClr val="FFFFFF"/>
                  </a:solidFill>
                  <a:latin typeface="Segoe UI Semibold"/>
                </a:rPr>
                <a:t>Cost visibility</a:t>
              </a:r>
            </a:p>
          </p:txBody>
        </p:sp>
        <p:sp>
          <p:nvSpPr>
            <p:cNvPr id="69" name="TextBox 68"/>
            <p:cNvSpPr txBox="1"/>
            <p:nvPr/>
          </p:nvSpPr>
          <p:spPr>
            <a:xfrm>
              <a:off x="4571999" y="4736592"/>
              <a:ext cx="3090672" cy="1078991"/>
            </a:xfrm>
            <a:prstGeom prst="rect">
              <a:avLst/>
            </a:prstGeom>
            <a:noFill/>
          </p:spPr>
          <p:txBody>
            <a:bodyPr wrap="square" lIns="0" tIns="0" rIns="0" bIns="0" anchor="t">
              <a:noAutofit/>
            </a:bodyPr>
            <a:lstStyle/>
            <a:p>
              <a:pPr algn="l">
                <a:lnSpc>
                  <a:spcPct val="115000"/>
                </a:lnSpc>
                <a:spcAft>
                  <a:spcPts val="400"/>
                </a:spcAft>
              </a:pPr>
              <a:r>
                <a:rPr sz="1300" b="0" i="0">
                  <a:solidFill>
                    <a:srgbClr val="C9D2E3"/>
                  </a:solidFill>
                  <a:latin typeface="Segoe UI"/>
                </a:rPr>
                <a:t>Fragmented bills and tagging make true unit costs hard to see.</a:t>
              </a:r>
            </a:p>
          </p:txBody>
        </p:sp>
      </p:grpSp>
      <p:sp>
        <p:nvSpPr>
          <p:cNvPr id="70" name="Rounded Rectangle 69"/>
          <p:cNvSpPr/>
          <p:nvPr/>
        </p:nvSpPr>
        <p:spPr>
          <a:xfrm>
            <a:off x="4571999" y="5449824"/>
            <a:ext cx="1417320" cy="274320"/>
          </a:xfrm>
          <a:prstGeom prst="roundRect">
            <a:avLst>
              <a:gd name="adj" fmla="val 50000"/>
            </a:avLst>
          </a:prstGeom>
          <a:solidFill>
            <a:srgbClr val="D95926">
              <a:alpha val="16000"/>
            </a:srgbClr>
          </a:solidFill>
          <a:ln w="9525">
            <a:solidFill>
              <a:srgbClr val="D95926"/>
            </a:solidFill>
          </a:ln>
        </p:spPr>
        <p:txBody>
          <a:bodyPr wrap="square" lIns="18288" tIns="18288" rIns="18288" bIns="18288" rtlCol="0" anchor="ctr">
            <a:noAutofit/>
          </a:bodyPr>
          <a:lstStyle/>
          <a:p>
            <a:pPr algn="ctr">
              <a:lnSpc>
                <a:spcPct val="112000"/>
              </a:lnSpc>
              <a:spcAft>
                <a:spcPts val="0"/>
              </a:spcAft>
            </a:pPr>
            <a:r>
              <a:rPr sz="900" b="0" i="0">
                <a:solidFill>
                  <a:srgbClr val="FFFFFF"/>
                </a:solidFill>
                <a:latin typeface="Segoe UI Semibold"/>
              </a:rPr>
              <a:t>FINANCIAL</a:t>
            </a:r>
          </a:p>
        </p:txBody>
      </p:sp>
      <p:grpSp>
        <p:nvGrpSpPr>
          <p:cNvPr id="71" name="Group 70"/>
          <p:cNvGrpSpPr/>
          <p:nvPr/>
        </p:nvGrpSpPr>
        <p:grpSpPr>
          <a:xfrm>
            <a:off x="8046719" y="3867912"/>
            <a:ext cx="3593592" cy="2084831"/>
            <a:chOff x="8046719" y="3867912"/>
            <a:chExt cx="3593592" cy="2084831"/>
          </a:xfrm>
        </p:grpSpPr>
        <p:sp>
          <p:nvSpPr>
            <p:cNvPr id="72" name="Rounded Rectangle 71"/>
            <p:cNvSpPr/>
            <p:nvPr/>
          </p:nvSpPr>
          <p:spPr>
            <a:xfrm>
              <a:off x="8046719" y="3867912"/>
              <a:ext cx="3593592" cy="2084831"/>
            </a:xfrm>
            <a:prstGeom prst="roundRect">
              <a:avLst>
                <a:gd name="adj" fmla="val 7894"/>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73" name="Rectangle 72"/>
            <p:cNvSpPr/>
            <p:nvPr/>
          </p:nvSpPr>
          <p:spPr>
            <a:xfrm>
              <a:off x="8046719" y="4123944"/>
              <a:ext cx="45720" cy="384048"/>
            </a:xfrm>
            <a:prstGeom prst="rect">
              <a:avLst/>
            </a:prstGeom>
            <a:solidFill>
              <a:srgbClr val="199E70"/>
            </a:solidFill>
            <a:ln>
              <a:noFill/>
            </a:ln>
          </p:spPr>
          <p:txBody>
            <a:bodyPr wrap="square" rtlCol="0" anchor="ctr"/>
            <a:lstStyle/>
            <a:p>
              <a:pPr algn="ctr"/>
              <a:endParaRPr/>
            </a:p>
          </p:txBody>
        </p:sp>
        <p:sp>
          <p:nvSpPr>
            <p:cNvPr id="74" name="Oval 73"/>
            <p:cNvSpPr/>
            <p:nvPr/>
          </p:nvSpPr>
          <p:spPr>
            <a:xfrm>
              <a:off x="8302751" y="4087368"/>
              <a:ext cx="457200" cy="457200"/>
            </a:xfrm>
            <a:prstGeom prst="ellipse">
              <a:avLst/>
            </a:prstGeom>
            <a:gradFill rotWithShape="1">
              <a:gsLst>
                <a:gs pos="0">
                  <a:srgbClr val="199E70"/>
                </a:gs>
                <a:gs pos="100000">
                  <a:srgbClr val="199E70">
                    <a:alpha val="55000"/>
                  </a:srgbClr>
                </a:gs>
              </a:gsLst>
              <a:lin ang="2700000" scaled="0"/>
            </a:gradFill>
            <a:ln>
              <a:noFill/>
            </a:ln>
          </p:spPr>
          <p:txBody>
            <a:bodyPr wrap="square" lIns="0" tIns="0" rIns="0" bIns="0" rtlCol="0" anchor="ctr">
              <a:noAutofit/>
            </a:bodyPr>
            <a:lstStyle/>
            <a:p>
              <a:pPr algn="ctr">
                <a:lnSpc>
                  <a:spcPct val="112000"/>
                </a:lnSpc>
                <a:spcAft>
                  <a:spcPts val="0"/>
                </a:spcAft>
              </a:pPr>
              <a:r>
                <a:rPr sz="1300" b="0" i="0">
                  <a:solidFill>
                    <a:srgbClr val="FFFFFF"/>
                  </a:solidFill>
                  <a:latin typeface="Segoe UI Semibold"/>
                </a:rPr>
                <a:t>6</a:t>
              </a:r>
            </a:p>
          </p:txBody>
        </p:sp>
        <p:sp>
          <p:nvSpPr>
            <p:cNvPr id="75" name="TextBox 74"/>
            <p:cNvSpPr txBox="1"/>
            <p:nvPr/>
          </p:nvSpPr>
          <p:spPr>
            <a:xfrm>
              <a:off x="8887967" y="4087368"/>
              <a:ext cx="2569463" cy="457200"/>
            </a:xfrm>
            <a:prstGeom prst="rect">
              <a:avLst/>
            </a:prstGeom>
            <a:noFill/>
          </p:spPr>
          <p:txBody>
            <a:bodyPr wrap="square" lIns="0" tIns="0" rIns="0" bIns="0" anchor="ctr">
              <a:noAutofit/>
            </a:bodyPr>
            <a:lstStyle/>
            <a:p>
              <a:pPr algn="l">
                <a:lnSpc>
                  <a:spcPct val="112000"/>
                </a:lnSpc>
                <a:spcAft>
                  <a:spcPts val="0"/>
                </a:spcAft>
              </a:pPr>
              <a:r>
                <a:rPr sz="1550" b="0" i="0">
                  <a:solidFill>
                    <a:srgbClr val="FFFFFF"/>
                  </a:solidFill>
                  <a:latin typeface="Segoe UI Semibold"/>
                </a:rPr>
                <a:t>Skills &amp; operations</a:t>
              </a:r>
            </a:p>
          </p:txBody>
        </p:sp>
        <p:sp>
          <p:nvSpPr>
            <p:cNvPr id="76" name="TextBox 75"/>
            <p:cNvSpPr txBox="1"/>
            <p:nvPr/>
          </p:nvSpPr>
          <p:spPr>
            <a:xfrm>
              <a:off x="8321040" y="4736592"/>
              <a:ext cx="3090672" cy="1078991"/>
            </a:xfrm>
            <a:prstGeom prst="rect">
              <a:avLst/>
            </a:prstGeom>
            <a:noFill/>
          </p:spPr>
          <p:txBody>
            <a:bodyPr wrap="square" lIns="0" tIns="0" rIns="0" bIns="0" anchor="t">
              <a:noAutofit/>
            </a:bodyPr>
            <a:lstStyle/>
            <a:p>
              <a:pPr algn="l">
                <a:lnSpc>
                  <a:spcPct val="115000"/>
                </a:lnSpc>
                <a:spcAft>
                  <a:spcPts val="400"/>
                </a:spcAft>
              </a:pPr>
              <a:r>
                <a:rPr sz="1300" b="0" i="0">
                  <a:solidFill>
                    <a:srgbClr val="C9D2E3"/>
                  </a:solidFill>
                  <a:latin typeface="Segoe UI"/>
                </a:rPr>
                <a:t>Teams need expertise in several platforms and toolchains.</a:t>
              </a:r>
            </a:p>
          </p:txBody>
        </p:sp>
      </p:grpSp>
      <p:sp>
        <p:nvSpPr>
          <p:cNvPr id="77" name="Rounded Rectangle 76"/>
          <p:cNvSpPr/>
          <p:nvPr/>
        </p:nvSpPr>
        <p:spPr>
          <a:xfrm>
            <a:off x="8321040" y="5449824"/>
            <a:ext cx="1783080" cy="274320"/>
          </a:xfrm>
          <a:prstGeom prst="roundRect">
            <a:avLst>
              <a:gd name="adj" fmla="val 50000"/>
            </a:avLst>
          </a:prstGeom>
          <a:solidFill>
            <a:srgbClr val="199E70">
              <a:alpha val="16000"/>
            </a:srgbClr>
          </a:solidFill>
          <a:ln w="9525">
            <a:solidFill>
              <a:srgbClr val="199E70"/>
            </a:solidFill>
          </a:ln>
        </p:spPr>
        <p:txBody>
          <a:bodyPr wrap="square" lIns="18288" tIns="18288" rIns="18288" bIns="18288" rtlCol="0" anchor="ctr">
            <a:noAutofit/>
          </a:bodyPr>
          <a:lstStyle/>
          <a:p>
            <a:pPr algn="ctr">
              <a:lnSpc>
                <a:spcPct val="112000"/>
              </a:lnSpc>
              <a:spcAft>
                <a:spcPts val="0"/>
              </a:spcAft>
            </a:pPr>
            <a:r>
              <a:rPr sz="900" b="0" i="0">
                <a:solidFill>
                  <a:srgbClr val="FFFFFF"/>
                </a:solidFill>
                <a:latin typeface="Segoe UI Semibold"/>
              </a:rPr>
              <a:t>ORGANISATIONAL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600"/>
                                        <p:tgtEl>
                                          <p:spTgt spid="36"/>
                                        </p:tgtEl>
                                      </p:cBhvr>
                                    </p:animEffect>
                                    <p:anim calcmode="lin" valueType="num">
                                      <p:cBhvr>
                                        <p:cTn id="8" dur="600" fill="hold"/>
                                        <p:tgtEl>
                                          <p:spTgt spid="36"/>
                                        </p:tgtEl>
                                        <p:attrNameLst>
                                          <p:attrName>ppt_x</p:attrName>
                                        </p:attrNameLst>
                                      </p:cBhvr>
                                      <p:tavLst>
                                        <p:tav tm="0">
                                          <p:val>
                                            <p:strVal val="#ppt_x"/>
                                          </p:val>
                                        </p:tav>
                                        <p:tav tm="100000">
                                          <p:val>
                                            <p:strVal val="#ppt_x"/>
                                          </p:val>
                                        </p:tav>
                                      </p:tavLst>
                                    </p:anim>
                                    <p:anim calcmode="lin" valueType="num">
                                      <p:cBhvr>
                                        <p:cTn id="9" dur="600" fill="hold"/>
                                        <p:tgtEl>
                                          <p:spTgt spid="36"/>
                                        </p:tgtEl>
                                        <p:attrNameLst>
                                          <p:attrName>ppt_y</p:attrName>
                                        </p:attrNameLst>
                                      </p:cBhvr>
                                      <p:tavLst>
                                        <p:tav tm="0">
                                          <p:val>
                                            <p:strVal val="#ppt_y+.08"/>
                                          </p:val>
                                        </p:tav>
                                        <p:tav tm="100000">
                                          <p:val>
                                            <p:strVal val="#ppt_y"/>
                                          </p:val>
                                        </p:tav>
                                      </p:tavLst>
                                    </p:anim>
                                  </p:childTnLst>
                                </p:cTn>
                              </p:par>
                              <p:par>
                                <p:cTn id="10" presetID="10" presetClass="entr" presetSubtype="0" fill="hold" grpId="0" nodeType="withEffect">
                                  <p:stCondLst>
                                    <p:cond delay="50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600"/>
                                        <p:tgtEl>
                                          <p:spTgt spid="42"/>
                                        </p:tgtEl>
                                      </p:cBhvr>
                                    </p:animEffect>
                                  </p:childTnLst>
                                </p:cTn>
                              </p:par>
                              <p:par>
                                <p:cTn id="13" presetID="42" presetClass="entr" presetSubtype="0" fill="hold" nodeType="withEffect">
                                  <p:stCondLst>
                                    <p:cond delay="410"/>
                                  </p:stCondLst>
                                  <p:childTnLst>
                                    <p:set>
                                      <p:cBhvr>
                                        <p:cTn id="14" dur="1" fill="hold">
                                          <p:stCondLst>
                                            <p:cond delay="0"/>
                                          </p:stCondLst>
                                        </p:cTn>
                                        <p:tgtEl>
                                          <p:spTgt spid="43"/>
                                        </p:tgtEl>
                                        <p:attrNameLst>
                                          <p:attrName>style.visibility</p:attrName>
                                        </p:attrNameLst>
                                      </p:cBhvr>
                                      <p:to>
                                        <p:strVal val="visible"/>
                                      </p:to>
                                    </p:set>
                                    <p:animEffect transition="in" filter="fade">
                                      <p:cBhvr>
                                        <p:cTn id="15" dur="600"/>
                                        <p:tgtEl>
                                          <p:spTgt spid="43"/>
                                        </p:tgtEl>
                                      </p:cBhvr>
                                    </p:animEffect>
                                    <p:anim calcmode="lin" valueType="num">
                                      <p:cBhvr>
                                        <p:cTn id="16" dur="600" fill="hold"/>
                                        <p:tgtEl>
                                          <p:spTgt spid="43"/>
                                        </p:tgtEl>
                                        <p:attrNameLst>
                                          <p:attrName>ppt_x</p:attrName>
                                        </p:attrNameLst>
                                      </p:cBhvr>
                                      <p:tavLst>
                                        <p:tav tm="0">
                                          <p:val>
                                            <p:strVal val="#ppt_x"/>
                                          </p:val>
                                        </p:tav>
                                        <p:tav tm="100000">
                                          <p:val>
                                            <p:strVal val="#ppt_x"/>
                                          </p:val>
                                        </p:tav>
                                      </p:tavLst>
                                    </p:anim>
                                    <p:anim calcmode="lin" valueType="num">
                                      <p:cBhvr>
                                        <p:cTn id="17" dur="600" fill="hold"/>
                                        <p:tgtEl>
                                          <p:spTgt spid="43"/>
                                        </p:tgtEl>
                                        <p:attrNameLst>
                                          <p:attrName>ppt_y</p:attrName>
                                        </p:attrNameLst>
                                      </p:cBhvr>
                                      <p:tavLst>
                                        <p:tav tm="0">
                                          <p:val>
                                            <p:strVal val="#ppt_y+.08"/>
                                          </p:val>
                                        </p:tav>
                                        <p:tav tm="100000">
                                          <p:val>
                                            <p:strVal val="#ppt_y"/>
                                          </p:val>
                                        </p:tav>
                                      </p:tavLst>
                                    </p:anim>
                                  </p:childTnLst>
                                </p:cTn>
                              </p:par>
                              <p:par>
                                <p:cTn id="18" presetID="10" presetClass="entr" presetSubtype="0" fill="hold" grpId="0" nodeType="withEffect">
                                  <p:stCondLst>
                                    <p:cond delay="660"/>
                                  </p:stCondLst>
                                  <p:childTnLst>
                                    <p:set>
                                      <p:cBhvr>
                                        <p:cTn id="19" dur="1" fill="hold">
                                          <p:stCondLst>
                                            <p:cond delay="0"/>
                                          </p:stCondLst>
                                        </p:cTn>
                                        <p:tgtEl>
                                          <p:spTgt spid="49"/>
                                        </p:tgtEl>
                                        <p:attrNameLst>
                                          <p:attrName>style.visibility</p:attrName>
                                        </p:attrNameLst>
                                      </p:cBhvr>
                                      <p:to>
                                        <p:strVal val="visible"/>
                                      </p:to>
                                    </p:set>
                                    <p:animEffect transition="in" filter="fade">
                                      <p:cBhvr>
                                        <p:cTn id="20" dur="600"/>
                                        <p:tgtEl>
                                          <p:spTgt spid="49"/>
                                        </p:tgtEl>
                                      </p:cBhvr>
                                    </p:animEffect>
                                  </p:childTnLst>
                                </p:cTn>
                              </p:par>
                              <p:par>
                                <p:cTn id="21" presetID="42" presetClass="entr" presetSubtype="0" fill="hold" nodeType="withEffect">
                                  <p:stCondLst>
                                    <p:cond delay="570"/>
                                  </p:stCondLst>
                                  <p:childTnLst>
                                    <p:set>
                                      <p:cBhvr>
                                        <p:cTn id="22" dur="1" fill="hold">
                                          <p:stCondLst>
                                            <p:cond delay="0"/>
                                          </p:stCondLst>
                                        </p:cTn>
                                        <p:tgtEl>
                                          <p:spTgt spid="50"/>
                                        </p:tgtEl>
                                        <p:attrNameLst>
                                          <p:attrName>style.visibility</p:attrName>
                                        </p:attrNameLst>
                                      </p:cBhvr>
                                      <p:to>
                                        <p:strVal val="visible"/>
                                      </p:to>
                                    </p:set>
                                    <p:animEffect transition="in" filter="fade">
                                      <p:cBhvr>
                                        <p:cTn id="23" dur="600"/>
                                        <p:tgtEl>
                                          <p:spTgt spid="50"/>
                                        </p:tgtEl>
                                      </p:cBhvr>
                                    </p:animEffect>
                                    <p:anim calcmode="lin" valueType="num">
                                      <p:cBhvr>
                                        <p:cTn id="24" dur="600" fill="hold"/>
                                        <p:tgtEl>
                                          <p:spTgt spid="50"/>
                                        </p:tgtEl>
                                        <p:attrNameLst>
                                          <p:attrName>ppt_x</p:attrName>
                                        </p:attrNameLst>
                                      </p:cBhvr>
                                      <p:tavLst>
                                        <p:tav tm="0">
                                          <p:val>
                                            <p:strVal val="#ppt_x"/>
                                          </p:val>
                                        </p:tav>
                                        <p:tav tm="100000">
                                          <p:val>
                                            <p:strVal val="#ppt_x"/>
                                          </p:val>
                                        </p:tav>
                                      </p:tavLst>
                                    </p:anim>
                                    <p:anim calcmode="lin" valueType="num">
                                      <p:cBhvr>
                                        <p:cTn id="25" dur="600" fill="hold"/>
                                        <p:tgtEl>
                                          <p:spTgt spid="50"/>
                                        </p:tgtEl>
                                        <p:attrNameLst>
                                          <p:attrName>ppt_y</p:attrName>
                                        </p:attrNameLst>
                                      </p:cBhvr>
                                      <p:tavLst>
                                        <p:tav tm="0">
                                          <p:val>
                                            <p:strVal val="#ppt_y+.08"/>
                                          </p:val>
                                        </p:tav>
                                        <p:tav tm="100000">
                                          <p:val>
                                            <p:strVal val="#ppt_y"/>
                                          </p:val>
                                        </p:tav>
                                      </p:tavLst>
                                    </p:anim>
                                  </p:childTnLst>
                                </p:cTn>
                              </p:par>
                              <p:par>
                                <p:cTn id="26" presetID="10" presetClass="entr" presetSubtype="0" fill="hold" grpId="0" nodeType="withEffect">
                                  <p:stCondLst>
                                    <p:cond delay="820"/>
                                  </p:stCondLst>
                                  <p:childTnLst>
                                    <p:set>
                                      <p:cBhvr>
                                        <p:cTn id="27" dur="1" fill="hold">
                                          <p:stCondLst>
                                            <p:cond delay="0"/>
                                          </p:stCondLst>
                                        </p:cTn>
                                        <p:tgtEl>
                                          <p:spTgt spid="56"/>
                                        </p:tgtEl>
                                        <p:attrNameLst>
                                          <p:attrName>style.visibility</p:attrName>
                                        </p:attrNameLst>
                                      </p:cBhvr>
                                      <p:to>
                                        <p:strVal val="visible"/>
                                      </p:to>
                                    </p:set>
                                    <p:animEffect transition="in" filter="fade">
                                      <p:cBhvr>
                                        <p:cTn id="28" dur="600"/>
                                        <p:tgtEl>
                                          <p:spTgt spid="56"/>
                                        </p:tgtEl>
                                      </p:cBhvr>
                                    </p:animEffect>
                                  </p:childTnLst>
                                </p:cTn>
                              </p:par>
                              <p:par>
                                <p:cTn id="29" presetID="42" presetClass="entr" presetSubtype="0" fill="hold" nodeType="withEffect">
                                  <p:stCondLst>
                                    <p:cond delay="730"/>
                                  </p:stCondLst>
                                  <p:childTnLst>
                                    <p:set>
                                      <p:cBhvr>
                                        <p:cTn id="30" dur="1" fill="hold">
                                          <p:stCondLst>
                                            <p:cond delay="0"/>
                                          </p:stCondLst>
                                        </p:cTn>
                                        <p:tgtEl>
                                          <p:spTgt spid="57"/>
                                        </p:tgtEl>
                                        <p:attrNameLst>
                                          <p:attrName>style.visibility</p:attrName>
                                        </p:attrNameLst>
                                      </p:cBhvr>
                                      <p:to>
                                        <p:strVal val="visible"/>
                                      </p:to>
                                    </p:set>
                                    <p:animEffect transition="in" filter="fade">
                                      <p:cBhvr>
                                        <p:cTn id="31" dur="600"/>
                                        <p:tgtEl>
                                          <p:spTgt spid="57"/>
                                        </p:tgtEl>
                                      </p:cBhvr>
                                    </p:animEffect>
                                    <p:anim calcmode="lin" valueType="num">
                                      <p:cBhvr>
                                        <p:cTn id="32" dur="600" fill="hold"/>
                                        <p:tgtEl>
                                          <p:spTgt spid="57"/>
                                        </p:tgtEl>
                                        <p:attrNameLst>
                                          <p:attrName>ppt_x</p:attrName>
                                        </p:attrNameLst>
                                      </p:cBhvr>
                                      <p:tavLst>
                                        <p:tav tm="0">
                                          <p:val>
                                            <p:strVal val="#ppt_x"/>
                                          </p:val>
                                        </p:tav>
                                        <p:tav tm="100000">
                                          <p:val>
                                            <p:strVal val="#ppt_x"/>
                                          </p:val>
                                        </p:tav>
                                      </p:tavLst>
                                    </p:anim>
                                    <p:anim calcmode="lin" valueType="num">
                                      <p:cBhvr>
                                        <p:cTn id="33" dur="600" fill="hold"/>
                                        <p:tgtEl>
                                          <p:spTgt spid="57"/>
                                        </p:tgtEl>
                                        <p:attrNameLst>
                                          <p:attrName>ppt_y</p:attrName>
                                        </p:attrNameLst>
                                      </p:cBhvr>
                                      <p:tavLst>
                                        <p:tav tm="0">
                                          <p:val>
                                            <p:strVal val="#ppt_y+.08"/>
                                          </p:val>
                                        </p:tav>
                                        <p:tav tm="100000">
                                          <p:val>
                                            <p:strVal val="#ppt_y"/>
                                          </p:val>
                                        </p:tav>
                                      </p:tavLst>
                                    </p:anim>
                                  </p:childTnLst>
                                </p:cTn>
                              </p:par>
                              <p:par>
                                <p:cTn id="34" presetID="10" presetClass="entr" presetSubtype="0" fill="hold" grpId="0" nodeType="withEffect">
                                  <p:stCondLst>
                                    <p:cond delay="980"/>
                                  </p:stCondLst>
                                  <p:childTnLst>
                                    <p:set>
                                      <p:cBhvr>
                                        <p:cTn id="35" dur="1" fill="hold">
                                          <p:stCondLst>
                                            <p:cond delay="0"/>
                                          </p:stCondLst>
                                        </p:cTn>
                                        <p:tgtEl>
                                          <p:spTgt spid="63"/>
                                        </p:tgtEl>
                                        <p:attrNameLst>
                                          <p:attrName>style.visibility</p:attrName>
                                        </p:attrNameLst>
                                      </p:cBhvr>
                                      <p:to>
                                        <p:strVal val="visible"/>
                                      </p:to>
                                    </p:set>
                                    <p:animEffect transition="in" filter="fade">
                                      <p:cBhvr>
                                        <p:cTn id="36" dur="600"/>
                                        <p:tgtEl>
                                          <p:spTgt spid="63"/>
                                        </p:tgtEl>
                                      </p:cBhvr>
                                    </p:animEffect>
                                  </p:childTnLst>
                                </p:cTn>
                              </p:par>
                              <p:par>
                                <p:cTn id="37" presetID="42" presetClass="entr" presetSubtype="0" fill="hold" nodeType="withEffect">
                                  <p:stCondLst>
                                    <p:cond delay="890"/>
                                  </p:stCondLst>
                                  <p:childTnLst>
                                    <p:set>
                                      <p:cBhvr>
                                        <p:cTn id="38" dur="1" fill="hold">
                                          <p:stCondLst>
                                            <p:cond delay="0"/>
                                          </p:stCondLst>
                                        </p:cTn>
                                        <p:tgtEl>
                                          <p:spTgt spid="64"/>
                                        </p:tgtEl>
                                        <p:attrNameLst>
                                          <p:attrName>style.visibility</p:attrName>
                                        </p:attrNameLst>
                                      </p:cBhvr>
                                      <p:to>
                                        <p:strVal val="visible"/>
                                      </p:to>
                                    </p:set>
                                    <p:animEffect transition="in" filter="fade">
                                      <p:cBhvr>
                                        <p:cTn id="39" dur="600"/>
                                        <p:tgtEl>
                                          <p:spTgt spid="64"/>
                                        </p:tgtEl>
                                      </p:cBhvr>
                                    </p:animEffect>
                                    <p:anim calcmode="lin" valueType="num">
                                      <p:cBhvr>
                                        <p:cTn id="40" dur="600" fill="hold"/>
                                        <p:tgtEl>
                                          <p:spTgt spid="64"/>
                                        </p:tgtEl>
                                        <p:attrNameLst>
                                          <p:attrName>ppt_x</p:attrName>
                                        </p:attrNameLst>
                                      </p:cBhvr>
                                      <p:tavLst>
                                        <p:tav tm="0">
                                          <p:val>
                                            <p:strVal val="#ppt_x"/>
                                          </p:val>
                                        </p:tav>
                                        <p:tav tm="100000">
                                          <p:val>
                                            <p:strVal val="#ppt_x"/>
                                          </p:val>
                                        </p:tav>
                                      </p:tavLst>
                                    </p:anim>
                                    <p:anim calcmode="lin" valueType="num">
                                      <p:cBhvr>
                                        <p:cTn id="41" dur="600" fill="hold"/>
                                        <p:tgtEl>
                                          <p:spTgt spid="64"/>
                                        </p:tgtEl>
                                        <p:attrNameLst>
                                          <p:attrName>ppt_y</p:attrName>
                                        </p:attrNameLst>
                                      </p:cBhvr>
                                      <p:tavLst>
                                        <p:tav tm="0">
                                          <p:val>
                                            <p:strVal val="#ppt_y+.08"/>
                                          </p:val>
                                        </p:tav>
                                        <p:tav tm="100000">
                                          <p:val>
                                            <p:strVal val="#ppt_y"/>
                                          </p:val>
                                        </p:tav>
                                      </p:tavLst>
                                    </p:anim>
                                  </p:childTnLst>
                                </p:cTn>
                              </p:par>
                              <p:par>
                                <p:cTn id="42" presetID="10" presetClass="entr" presetSubtype="0" fill="hold" grpId="0" nodeType="withEffect">
                                  <p:stCondLst>
                                    <p:cond delay="1140"/>
                                  </p:stCondLst>
                                  <p:childTnLst>
                                    <p:set>
                                      <p:cBhvr>
                                        <p:cTn id="43" dur="1" fill="hold">
                                          <p:stCondLst>
                                            <p:cond delay="0"/>
                                          </p:stCondLst>
                                        </p:cTn>
                                        <p:tgtEl>
                                          <p:spTgt spid="70"/>
                                        </p:tgtEl>
                                        <p:attrNameLst>
                                          <p:attrName>style.visibility</p:attrName>
                                        </p:attrNameLst>
                                      </p:cBhvr>
                                      <p:to>
                                        <p:strVal val="visible"/>
                                      </p:to>
                                    </p:set>
                                    <p:animEffect transition="in" filter="fade">
                                      <p:cBhvr>
                                        <p:cTn id="44" dur="600"/>
                                        <p:tgtEl>
                                          <p:spTgt spid="70"/>
                                        </p:tgtEl>
                                      </p:cBhvr>
                                    </p:animEffect>
                                  </p:childTnLst>
                                </p:cTn>
                              </p:par>
                              <p:par>
                                <p:cTn id="45" presetID="42" presetClass="entr" presetSubtype="0" fill="hold" nodeType="withEffect">
                                  <p:stCondLst>
                                    <p:cond delay="1050"/>
                                  </p:stCondLst>
                                  <p:childTnLst>
                                    <p:set>
                                      <p:cBhvr>
                                        <p:cTn id="46" dur="1" fill="hold">
                                          <p:stCondLst>
                                            <p:cond delay="0"/>
                                          </p:stCondLst>
                                        </p:cTn>
                                        <p:tgtEl>
                                          <p:spTgt spid="71"/>
                                        </p:tgtEl>
                                        <p:attrNameLst>
                                          <p:attrName>style.visibility</p:attrName>
                                        </p:attrNameLst>
                                      </p:cBhvr>
                                      <p:to>
                                        <p:strVal val="visible"/>
                                      </p:to>
                                    </p:set>
                                    <p:animEffect transition="in" filter="fade">
                                      <p:cBhvr>
                                        <p:cTn id="47" dur="600"/>
                                        <p:tgtEl>
                                          <p:spTgt spid="71"/>
                                        </p:tgtEl>
                                      </p:cBhvr>
                                    </p:animEffect>
                                    <p:anim calcmode="lin" valueType="num">
                                      <p:cBhvr>
                                        <p:cTn id="48" dur="600" fill="hold"/>
                                        <p:tgtEl>
                                          <p:spTgt spid="71"/>
                                        </p:tgtEl>
                                        <p:attrNameLst>
                                          <p:attrName>ppt_x</p:attrName>
                                        </p:attrNameLst>
                                      </p:cBhvr>
                                      <p:tavLst>
                                        <p:tav tm="0">
                                          <p:val>
                                            <p:strVal val="#ppt_x"/>
                                          </p:val>
                                        </p:tav>
                                        <p:tav tm="100000">
                                          <p:val>
                                            <p:strVal val="#ppt_x"/>
                                          </p:val>
                                        </p:tav>
                                      </p:tavLst>
                                    </p:anim>
                                    <p:anim calcmode="lin" valueType="num">
                                      <p:cBhvr>
                                        <p:cTn id="49" dur="600" fill="hold"/>
                                        <p:tgtEl>
                                          <p:spTgt spid="71"/>
                                        </p:tgtEl>
                                        <p:attrNameLst>
                                          <p:attrName>ppt_y</p:attrName>
                                        </p:attrNameLst>
                                      </p:cBhvr>
                                      <p:tavLst>
                                        <p:tav tm="0">
                                          <p:val>
                                            <p:strVal val="#ppt_y+.08"/>
                                          </p:val>
                                        </p:tav>
                                        <p:tav tm="100000">
                                          <p:val>
                                            <p:strVal val="#ppt_y"/>
                                          </p:val>
                                        </p:tav>
                                      </p:tavLst>
                                    </p:anim>
                                  </p:childTnLst>
                                </p:cTn>
                              </p:par>
                              <p:par>
                                <p:cTn id="50" presetID="10" presetClass="entr" presetSubtype="0" fill="hold" grpId="0" nodeType="withEffect">
                                  <p:stCondLst>
                                    <p:cond delay="1300"/>
                                  </p:stCondLst>
                                  <p:childTnLst>
                                    <p:set>
                                      <p:cBhvr>
                                        <p:cTn id="51" dur="1" fill="hold">
                                          <p:stCondLst>
                                            <p:cond delay="0"/>
                                          </p:stCondLst>
                                        </p:cTn>
                                        <p:tgtEl>
                                          <p:spTgt spid="77"/>
                                        </p:tgtEl>
                                        <p:attrNameLst>
                                          <p:attrName>style.visibility</p:attrName>
                                        </p:attrNameLst>
                                      </p:cBhvr>
                                      <p:to>
                                        <p:strVal val="visible"/>
                                      </p:to>
                                    </p:set>
                                    <p:animEffect transition="in" filter="fade">
                                      <p:cBhvr>
                                        <p:cTn id="52" dur="6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9" grpId="0" animBg="1"/>
      <p:bldP spid="56" grpId="0" animBg="1"/>
      <p:bldP spid="63" grpId="0" animBg="1"/>
      <p:bldP spid="70" grpId="0" animBg="1"/>
      <p:bldP spid="7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6217920" y="-1097280"/>
            <a:ext cx="7132320" cy="7132320"/>
          </a:xfrm>
          <a:prstGeom prst="ellipse">
            <a:avLst/>
          </a:prstGeom>
          <a:gradFill rotWithShape="1">
            <a:gsLst>
              <a:gs pos="0">
                <a:srgbClr val="3987E5">
                  <a:alpha val="42000"/>
                </a:srgbClr>
              </a:gs>
              <a:gs pos="55000">
                <a:srgbClr val="3987E5">
                  <a:alpha val="147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011680" y="3108960"/>
            <a:ext cx="5486400" cy="5486400"/>
          </a:xfrm>
          <a:prstGeom prst="ellipse">
            <a:avLst/>
          </a:prstGeom>
          <a:gradFill rotWithShape="1">
            <a:gsLst>
              <a:gs pos="0">
                <a:srgbClr val="199E70">
                  <a:alpha val="22000"/>
                </a:srgbClr>
              </a:gs>
              <a:gs pos="55000">
                <a:srgbClr val="199E70">
                  <a:alpha val="7700"/>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8778240" y="2926080"/>
            <a:ext cx="5120640" cy="5120640"/>
          </a:xfrm>
          <a:prstGeom prst="ellipse">
            <a:avLst/>
          </a:prstGeom>
          <a:gradFill rotWithShape="1">
            <a:gsLst>
              <a:gs pos="0">
                <a:srgbClr val="9085E9">
                  <a:alpha val="24000"/>
                </a:srgbClr>
              </a:gs>
              <a:gs pos="55000">
                <a:srgbClr val="9085E9">
                  <a:alpha val="8400"/>
                </a:srgbClr>
              </a:gs>
              <a:gs pos="100000">
                <a:srgbClr val="9085E9">
                  <a:alpha val="0"/>
                </a:srgbClr>
              </a:gs>
            </a:gsLst>
            <a:path path="circle">
              <a:fillToRect l="50000" t="50000" r="50000" b="50000"/>
            </a:path>
          </a:gradFill>
          <a:ln>
            <a:noFill/>
          </a:ln>
        </p:spPr>
        <p:txBody>
          <a:bodyPr wrap="square" rtlCol="0" anchor="ctr"/>
          <a:lstStyle/>
          <a:p>
            <a:pPr algn="ctr"/>
            <a:endParaRPr/>
          </a:p>
        </p:txBody>
      </p:sp>
      <p:sp>
        <p:nvSpPr>
          <p:cNvPr id="5" name="!!secnum"/>
          <p:cNvSpPr txBox="1"/>
          <p:nvPr/>
        </p:nvSpPr>
        <p:spPr>
          <a:xfrm>
            <a:off x="457200" y="822960"/>
            <a:ext cx="4572000" cy="2377440"/>
          </a:xfrm>
          <a:prstGeom prst="rect">
            <a:avLst/>
          </a:prstGeom>
          <a:noFill/>
        </p:spPr>
        <p:txBody>
          <a:bodyPr wrap="square" lIns="0" tIns="0" rIns="0" bIns="0" anchor="t">
            <a:noAutofit/>
          </a:bodyPr>
          <a:lstStyle/>
          <a:p>
            <a:pPr algn="l">
              <a:lnSpc>
                <a:spcPct val="112000"/>
              </a:lnSpc>
              <a:spcAft>
                <a:spcPts val="0"/>
              </a:spcAft>
            </a:pPr>
            <a:r>
              <a:rPr sz="15000" b="0" i="0">
                <a:gradFill>
                  <a:gsLst>
                    <a:gs pos="0">
                      <a:srgbClr val="199E70">
                        <a:alpha val="95000"/>
                      </a:srgbClr>
                    </a:gs>
                    <a:gs pos="100000">
                      <a:srgbClr val="199E70">
                        <a:alpha val="15000"/>
                      </a:srgbClr>
                    </a:gs>
                  </a:gsLst>
                  <a:lin ang="5400000" scaled="0"/>
                </a:gradFill>
                <a:latin typeface="Segoe UI Semibold"/>
              </a:rPr>
              <a:t>01</a:t>
            </a:r>
          </a:p>
        </p:txBody>
      </p:sp>
      <p:sp>
        <p:nvSpPr>
          <p:cNvPr id="6" name="TextBox 5"/>
          <p:cNvSpPr txBox="1"/>
          <p:nvPr/>
        </p:nvSpPr>
        <p:spPr>
          <a:xfrm>
            <a:off x="685800" y="3200400"/>
            <a:ext cx="3200400" cy="320040"/>
          </a:xfrm>
          <a:prstGeom prst="rect">
            <a:avLst/>
          </a:prstGeom>
          <a:noFill/>
        </p:spPr>
        <p:txBody>
          <a:bodyPr wrap="square" lIns="0" tIns="0" rIns="0" bIns="0" anchor="t">
            <a:noAutofit/>
          </a:bodyPr>
          <a:lstStyle/>
          <a:p>
            <a:pPr algn="l">
              <a:lnSpc>
                <a:spcPct val="112000"/>
              </a:lnSpc>
              <a:spcAft>
                <a:spcPts val="0"/>
              </a:spcAft>
            </a:pPr>
            <a:r>
              <a:rPr sz="1200" b="0" i="0" spc="400">
                <a:solidFill>
                  <a:srgbClr val="4FD1A1"/>
                </a:solidFill>
                <a:latin typeface="Segoe UI Semibold"/>
              </a:rPr>
              <a:t>PART 01</a:t>
            </a:r>
          </a:p>
        </p:txBody>
      </p:sp>
      <p:sp>
        <p:nvSpPr>
          <p:cNvPr id="7" name="!!title"/>
          <p:cNvSpPr txBox="1"/>
          <p:nvPr/>
        </p:nvSpPr>
        <p:spPr>
          <a:xfrm>
            <a:off x="640080" y="3520440"/>
            <a:ext cx="6858000" cy="914400"/>
          </a:xfrm>
          <a:prstGeom prst="rect">
            <a:avLst/>
          </a:prstGeom>
          <a:noFill/>
        </p:spPr>
        <p:txBody>
          <a:bodyPr wrap="square" lIns="0" tIns="0" rIns="0" bIns="0" anchor="t">
            <a:noAutofit/>
          </a:bodyPr>
          <a:lstStyle/>
          <a:p>
            <a:pPr algn="l">
              <a:lnSpc>
                <a:spcPct val="112000"/>
              </a:lnSpc>
              <a:spcAft>
                <a:spcPts val="0"/>
              </a:spcAft>
            </a:pPr>
            <a:r>
              <a:rPr sz="4600" b="0" i="0">
                <a:solidFill>
                  <a:srgbClr val="FFFFFF"/>
                </a:solidFill>
                <a:latin typeface="Segoe UI Semibold"/>
              </a:rPr>
              <a:t>State of the Art</a:t>
            </a:r>
          </a:p>
        </p:txBody>
      </p:sp>
      <p:sp>
        <p:nvSpPr>
          <p:cNvPr id="8" name="!!accent"/>
          <p:cNvSpPr/>
          <p:nvPr/>
        </p:nvSpPr>
        <p:spPr>
          <a:xfrm>
            <a:off x="685800" y="4526280"/>
            <a:ext cx="1188720" cy="64008"/>
          </a:xfrm>
          <a:prstGeom prst="rect">
            <a:avLst/>
          </a:prstGeom>
          <a:gradFill rotWithShape="1">
            <a:gsLst>
              <a:gs pos="0">
                <a:srgbClr val="199E70"/>
              </a:gs>
              <a:gs pos="100000">
                <a:srgbClr val="4FD1A1"/>
              </a:gs>
            </a:gsLst>
            <a:lin ang="0" scaled="0"/>
          </a:gradFill>
          <a:ln>
            <a:noFill/>
          </a:ln>
        </p:spPr>
        <p:txBody>
          <a:bodyPr wrap="square" rtlCol="0" anchor="ctr"/>
          <a:lstStyle/>
          <a:p>
            <a:pPr algn="ctr"/>
            <a:endParaRPr/>
          </a:p>
        </p:txBody>
      </p:sp>
      <p:sp>
        <p:nvSpPr>
          <p:cNvPr id="9" name="TextBox 8"/>
          <p:cNvSpPr txBox="1"/>
          <p:nvPr/>
        </p:nvSpPr>
        <p:spPr>
          <a:xfrm>
            <a:off x="640080" y="4754880"/>
            <a:ext cx="5943600" cy="914400"/>
          </a:xfrm>
          <a:prstGeom prst="rect">
            <a:avLst/>
          </a:prstGeom>
          <a:noFill/>
        </p:spPr>
        <p:txBody>
          <a:bodyPr wrap="square" lIns="0" tIns="0" rIns="0" bIns="0" anchor="t">
            <a:noAutofit/>
          </a:bodyPr>
          <a:lstStyle/>
          <a:p>
            <a:pPr algn="l">
              <a:lnSpc>
                <a:spcPct val="120000"/>
              </a:lnSpc>
              <a:spcAft>
                <a:spcPts val="0"/>
              </a:spcAft>
            </a:pPr>
            <a:r>
              <a:rPr sz="1600" b="0" i="0">
                <a:solidFill>
                  <a:srgbClr val="C9D2E3"/>
                </a:solidFill>
                <a:latin typeface="Segoe UI Light"/>
              </a:rPr>
              <a:t>How multi-cloud management evolved, the architectures behind it, and the tools and research shaping it today.</a:t>
            </a:r>
          </a:p>
        </p:txBody>
      </p:sp>
      <p:grpSp>
        <p:nvGrpSpPr>
          <p:cNvPr id="10" name="Group 9"/>
          <p:cNvGrpSpPr/>
          <p:nvPr/>
        </p:nvGrpSpPr>
        <p:grpSpPr>
          <a:xfrm>
            <a:off x="7680960" y="1234440"/>
            <a:ext cx="3959352" cy="493776"/>
            <a:chOff x="7680960" y="1234440"/>
            <a:chExt cx="3959352" cy="493776"/>
          </a:xfrm>
        </p:grpSpPr>
        <p:sp>
          <p:nvSpPr>
            <p:cNvPr id="11" name="Rounded Rectangle 10"/>
            <p:cNvSpPr/>
            <p:nvPr/>
          </p:nvSpPr>
          <p:spPr>
            <a:xfrm>
              <a:off x="7680960" y="1234440"/>
              <a:ext cx="3959352" cy="493776"/>
            </a:xfrm>
            <a:prstGeom prst="roundRect">
              <a:avLst>
                <a:gd name="adj" fmla="val 50000"/>
              </a:avLst>
            </a:prstGeom>
            <a:solidFill>
              <a:srgbClr val="13213D">
                <a:alpha val="85000"/>
              </a:srgbClr>
            </a:solidFill>
            <a:ln w="9525">
              <a:solidFill>
                <a:srgbClr val="2A3F69"/>
              </a:solidFill>
            </a:ln>
          </p:spPr>
          <p:txBody>
            <a:bodyPr wrap="square" rtlCol="0" anchor="ctr"/>
            <a:lstStyle/>
            <a:p>
              <a:pPr algn="ctr"/>
              <a:endParaRPr/>
            </a:p>
          </p:txBody>
        </p:sp>
        <p:sp>
          <p:nvSpPr>
            <p:cNvPr id="12" name="Oval 11"/>
            <p:cNvSpPr/>
            <p:nvPr/>
          </p:nvSpPr>
          <p:spPr>
            <a:xfrm>
              <a:off x="7818120" y="1389888"/>
              <a:ext cx="182880" cy="182880"/>
            </a:xfrm>
            <a:prstGeom prst="ellipse">
              <a:avLst/>
            </a:prstGeom>
            <a:solidFill>
              <a:srgbClr val="199E70"/>
            </a:solidFill>
            <a:ln>
              <a:noFill/>
            </a:ln>
          </p:spPr>
          <p:txBody>
            <a:bodyPr wrap="square" rtlCol="0" anchor="ctr"/>
            <a:lstStyle/>
            <a:p>
              <a:pPr algn="ctr"/>
              <a:endParaRPr/>
            </a:p>
          </p:txBody>
        </p:sp>
        <p:sp>
          <p:nvSpPr>
            <p:cNvPr id="13" name="TextBox 12"/>
            <p:cNvSpPr txBox="1"/>
            <p:nvPr/>
          </p:nvSpPr>
          <p:spPr>
            <a:xfrm>
              <a:off x="8138160" y="1234440"/>
              <a:ext cx="2743200" cy="493776"/>
            </a:xfrm>
            <a:prstGeom prst="rect">
              <a:avLst/>
            </a:prstGeom>
            <a:noFill/>
          </p:spPr>
          <p:txBody>
            <a:bodyPr wrap="square" lIns="0" tIns="0" rIns="0" bIns="0" anchor="ctr">
              <a:noAutofit/>
            </a:bodyPr>
            <a:lstStyle/>
            <a:p>
              <a:pPr algn="l">
                <a:lnSpc>
                  <a:spcPct val="112000"/>
                </a:lnSpc>
                <a:spcAft>
                  <a:spcPts val="0"/>
                </a:spcAft>
              </a:pPr>
              <a:r>
                <a:rPr sz="1300" b="0" i="0">
                  <a:solidFill>
                    <a:srgbClr val="FFFFFF"/>
                  </a:solidFill>
                  <a:latin typeface="Segoe UI Semibold"/>
                </a:rPr>
                <a:t>Evolution timeline</a:t>
              </a:r>
            </a:p>
          </p:txBody>
        </p:sp>
        <p:sp>
          <p:nvSpPr>
            <p:cNvPr id="14" name="TextBox 13"/>
            <p:cNvSpPr txBox="1"/>
            <p:nvPr/>
          </p:nvSpPr>
          <p:spPr>
            <a:xfrm>
              <a:off x="10744200" y="1234440"/>
              <a:ext cx="777240" cy="493776"/>
            </a:xfrm>
            <a:prstGeom prst="rect">
              <a:avLst/>
            </a:prstGeom>
            <a:noFill/>
          </p:spPr>
          <p:txBody>
            <a:bodyPr wrap="square" lIns="0" tIns="0" rIns="0" bIns="0" anchor="ctr">
              <a:noAutofit/>
            </a:bodyPr>
            <a:lstStyle/>
            <a:p>
              <a:pPr algn="r">
                <a:lnSpc>
                  <a:spcPct val="112000"/>
                </a:lnSpc>
                <a:spcAft>
                  <a:spcPts val="0"/>
                </a:spcAft>
              </a:pPr>
              <a:r>
                <a:rPr sz="1100" b="0" i="0">
                  <a:solidFill>
                    <a:srgbClr val="8C9AB5"/>
                  </a:solidFill>
                  <a:latin typeface="Segoe UI"/>
                </a:rPr>
                <a:t>08</a:t>
              </a:r>
            </a:p>
          </p:txBody>
        </p:sp>
      </p:grpSp>
      <p:grpSp>
        <p:nvGrpSpPr>
          <p:cNvPr id="15" name="Group 14"/>
          <p:cNvGrpSpPr/>
          <p:nvPr/>
        </p:nvGrpSpPr>
        <p:grpSpPr>
          <a:xfrm>
            <a:off x="7680960" y="1837944"/>
            <a:ext cx="3959352" cy="493776"/>
            <a:chOff x="7680960" y="1837944"/>
            <a:chExt cx="3959352" cy="493776"/>
          </a:xfrm>
        </p:grpSpPr>
        <p:sp>
          <p:nvSpPr>
            <p:cNvPr id="16" name="Rounded Rectangle 15"/>
            <p:cNvSpPr/>
            <p:nvPr/>
          </p:nvSpPr>
          <p:spPr>
            <a:xfrm>
              <a:off x="7680960" y="1837944"/>
              <a:ext cx="3959352" cy="493776"/>
            </a:xfrm>
            <a:prstGeom prst="roundRect">
              <a:avLst>
                <a:gd name="adj" fmla="val 50000"/>
              </a:avLst>
            </a:prstGeom>
            <a:solidFill>
              <a:srgbClr val="13213D">
                <a:alpha val="85000"/>
              </a:srgbClr>
            </a:solidFill>
            <a:ln w="9525">
              <a:solidFill>
                <a:srgbClr val="2A3F69"/>
              </a:solidFill>
            </a:ln>
          </p:spPr>
          <p:txBody>
            <a:bodyPr wrap="square" rtlCol="0" anchor="ctr"/>
            <a:lstStyle/>
            <a:p>
              <a:pPr algn="ctr"/>
              <a:endParaRPr/>
            </a:p>
          </p:txBody>
        </p:sp>
        <p:sp>
          <p:nvSpPr>
            <p:cNvPr id="17" name="Oval 16"/>
            <p:cNvSpPr/>
            <p:nvPr/>
          </p:nvSpPr>
          <p:spPr>
            <a:xfrm>
              <a:off x="7818120" y="1993392"/>
              <a:ext cx="182880" cy="182880"/>
            </a:xfrm>
            <a:prstGeom prst="ellipse">
              <a:avLst/>
            </a:prstGeom>
            <a:solidFill>
              <a:srgbClr val="199E70"/>
            </a:solidFill>
            <a:ln>
              <a:noFill/>
            </a:ln>
          </p:spPr>
          <p:txBody>
            <a:bodyPr wrap="square" rtlCol="0" anchor="ctr"/>
            <a:lstStyle/>
            <a:p>
              <a:pPr algn="ctr"/>
              <a:endParaRPr/>
            </a:p>
          </p:txBody>
        </p:sp>
        <p:sp>
          <p:nvSpPr>
            <p:cNvPr id="18" name="TextBox 17"/>
            <p:cNvSpPr txBox="1"/>
            <p:nvPr/>
          </p:nvSpPr>
          <p:spPr>
            <a:xfrm>
              <a:off x="8138160" y="1837944"/>
              <a:ext cx="2743200" cy="493776"/>
            </a:xfrm>
            <a:prstGeom prst="rect">
              <a:avLst/>
            </a:prstGeom>
            <a:noFill/>
          </p:spPr>
          <p:txBody>
            <a:bodyPr wrap="square" lIns="0" tIns="0" rIns="0" bIns="0" anchor="ctr">
              <a:noAutofit/>
            </a:bodyPr>
            <a:lstStyle/>
            <a:p>
              <a:pPr algn="l">
                <a:lnSpc>
                  <a:spcPct val="112000"/>
                </a:lnSpc>
                <a:spcAft>
                  <a:spcPts val="0"/>
                </a:spcAft>
              </a:pPr>
              <a:r>
                <a:rPr sz="1300" b="0" i="0">
                  <a:solidFill>
                    <a:srgbClr val="FFFFFF"/>
                  </a:solidFill>
                  <a:latin typeface="Segoe UI Semibold"/>
                </a:rPr>
                <a:t>Reference architecture</a:t>
              </a:r>
            </a:p>
          </p:txBody>
        </p:sp>
        <p:sp>
          <p:nvSpPr>
            <p:cNvPr id="19" name="TextBox 18"/>
            <p:cNvSpPr txBox="1"/>
            <p:nvPr/>
          </p:nvSpPr>
          <p:spPr>
            <a:xfrm>
              <a:off x="10744200" y="1837944"/>
              <a:ext cx="777240" cy="493776"/>
            </a:xfrm>
            <a:prstGeom prst="rect">
              <a:avLst/>
            </a:prstGeom>
            <a:noFill/>
          </p:spPr>
          <p:txBody>
            <a:bodyPr wrap="square" lIns="0" tIns="0" rIns="0" bIns="0" anchor="ctr">
              <a:noAutofit/>
            </a:bodyPr>
            <a:lstStyle/>
            <a:p>
              <a:pPr algn="r">
                <a:lnSpc>
                  <a:spcPct val="112000"/>
                </a:lnSpc>
                <a:spcAft>
                  <a:spcPts val="0"/>
                </a:spcAft>
              </a:pPr>
              <a:r>
                <a:rPr sz="1100" b="0" i="0">
                  <a:solidFill>
                    <a:srgbClr val="8C9AB5"/>
                  </a:solidFill>
                  <a:latin typeface="Segoe UI"/>
                </a:rPr>
                <a:t>09</a:t>
              </a:r>
            </a:p>
          </p:txBody>
        </p:sp>
      </p:grpSp>
      <p:grpSp>
        <p:nvGrpSpPr>
          <p:cNvPr id="20" name="Group 19"/>
          <p:cNvGrpSpPr/>
          <p:nvPr/>
        </p:nvGrpSpPr>
        <p:grpSpPr>
          <a:xfrm>
            <a:off x="7680960" y="2441448"/>
            <a:ext cx="3959352" cy="493776"/>
            <a:chOff x="7680960" y="2441448"/>
            <a:chExt cx="3959352" cy="493776"/>
          </a:xfrm>
        </p:grpSpPr>
        <p:sp>
          <p:nvSpPr>
            <p:cNvPr id="21" name="Rounded Rectangle 20"/>
            <p:cNvSpPr/>
            <p:nvPr/>
          </p:nvSpPr>
          <p:spPr>
            <a:xfrm>
              <a:off x="7680960" y="2441448"/>
              <a:ext cx="3959352" cy="493776"/>
            </a:xfrm>
            <a:prstGeom prst="roundRect">
              <a:avLst>
                <a:gd name="adj" fmla="val 50000"/>
              </a:avLst>
            </a:prstGeom>
            <a:solidFill>
              <a:srgbClr val="13213D">
                <a:alpha val="85000"/>
              </a:srgbClr>
            </a:solidFill>
            <a:ln w="9525">
              <a:solidFill>
                <a:srgbClr val="2A3F69"/>
              </a:solidFill>
            </a:ln>
          </p:spPr>
          <p:txBody>
            <a:bodyPr wrap="square" rtlCol="0" anchor="ctr"/>
            <a:lstStyle/>
            <a:p>
              <a:pPr algn="ctr"/>
              <a:endParaRPr/>
            </a:p>
          </p:txBody>
        </p:sp>
        <p:sp>
          <p:nvSpPr>
            <p:cNvPr id="22" name="Oval 21"/>
            <p:cNvSpPr/>
            <p:nvPr/>
          </p:nvSpPr>
          <p:spPr>
            <a:xfrm>
              <a:off x="7818120" y="2596896"/>
              <a:ext cx="182880" cy="182880"/>
            </a:xfrm>
            <a:prstGeom prst="ellipse">
              <a:avLst/>
            </a:prstGeom>
            <a:solidFill>
              <a:srgbClr val="199E70"/>
            </a:solidFill>
            <a:ln>
              <a:noFill/>
            </a:ln>
          </p:spPr>
          <p:txBody>
            <a:bodyPr wrap="square" rtlCol="0" anchor="ctr"/>
            <a:lstStyle/>
            <a:p>
              <a:pPr algn="ctr"/>
              <a:endParaRPr/>
            </a:p>
          </p:txBody>
        </p:sp>
        <p:sp>
          <p:nvSpPr>
            <p:cNvPr id="23" name="TextBox 22"/>
            <p:cNvSpPr txBox="1"/>
            <p:nvPr/>
          </p:nvSpPr>
          <p:spPr>
            <a:xfrm>
              <a:off x="8138160" y="2441448"/>
              <a:ext cx="2743200" cy="493776"/>
            </a:xfrm>
            <a:prstGeom prst="rect">
              <a:avLst/>
            </a:prstGeom>
            <a:noFill/>
          </p:spPr>
          <p:txBody>
            <a:bodyPr wrap="square" lIns="0" tIns="0" rIns="0" bIns="0" anchor="ctr">
              <a:noAutofit/>
            </a:bodyPr>
            <a:lstStyle/>
            <a:p>
              <a:pPr algn="l">
                <a:lnSpc>
                  <a:spcPct val="112000"/>
                </a:lnSpc>
                <a:spcAft>
                  <a:spcPts val="0"/>
                </a:spcAft>
              </a:pPr>
              <a:r>
                <a:rPr sz="1300" b="0" i="0">
                  <a:solidFill>
                    <a:srgbClr val="FFFFFF"/>
                  </a:solidFill>
                  <a:latin typeface="Segoe UI Semibold"/>
                </a:rPr>
                <a:t>Architectural models</a:t>
              </a:r>
            </a:p>
          </p:txBody>
        </p:sp>
        <p:sp>
          <p:nvSpPr>
            <p:cNvPr id="24" name="TextBox 23"/>
            <p:cNvSpPr txBox="1"/>
            <p:nvPr/>
          </p:nvSpPr>
          <p:spPr>
            <a:xfrm>
              <a:off x="10744200" y="2441448"/>
              <a:ext cx="777240" cy="493776"/>
            </a:xfrm>
            <a:prstGeom prst="rect">
              <a:avLst/>
            </a:prstGeom>
            <a:noFill/>
          </p:spPr>
          <p:txBody>
            <a:bodyPr wrap="square" lIns="0" tIns="0" rIns="0" bIns="0" anchor="ctr">
              <a:noAutofit/>
            </a:bodyPr>
            <a:lstStyle/>
            <a:p>
              <a:pPr algn="r">
                <a:lnSpc>
                  <a:spcPct val="112000"/>
                </a:lnSpc>
                <a:spcAft>
                  <a:spcPts val="0"/>
                </a:spcAft>
              </a:pPr>
              <a:r>
                <a:rPr sz="1100" b="0" i="0">
                  <a:solidFill>
                    <a:srgbClr val="8C9AB5"/>
                  </a:solidFill>
                  <a:latin typeface="Segoe UI"/>
                </a:rPr>
                <a:t>10</a:t>
              </a:r>
            </a:p>
          </p:txBody>
        </p:sp>
      </p:grpSp>
      <p:grpSp>
        <p:nvGrpSpPr>
          <p:cNvPr id="25" name="Group 24"/>
          <p:cNvGrpSpPr/>
          <p:nvPr/>
        </p:nvGrpSpPr>
        <p:grpSpPr>
          <a:xfrm>
            <a:off x="7680960" y="3044952"/>
            <a:ext cx="3959352" cy="493776"/>
            <a:chOff x="7680960" y="3044952"/>
            <a:chExt cx="3959352" cy="493776"/>
          </a:xfrm>
        </p:grpSpPr>
        <p:sp>
          <p:nvSpPr>
            <p:cNvPr id="26" name="Rounded Rectangle 25"/>
            <p:cNvSpPr/>
            <p:nvPr/>
          </p:nvSpPr>
          <p:spPr>
            <a:xfrm>
              <a:off x="7680960" y="3044952"/>
              <a:ext cx="3959352" cy="493776"/>
            </a:xfrm>
            <a:prstGeom prst="roundRect">
              <a:avLst>
                <a:gd name="adj" fmla="val 50000"/>
              </a:avLst>
            </a:prstGeom>
            <a:solidFill>
              <a:srgbClr val="13213D">
                <a:alpha val="85000"/>
              </a:srgbClr>
            </a:solidFill>
            <a:ln w="9525">
              <a:solidFill>
                <a:srgbClr val="2A3F69"/>
              </a:solidFill>
            </a:ln>
          </p:spPr>
          <p:txBody>
            <a:bodyPr wrap="square" rtlCol="0" anchor="ctr"/>
            <a:lstStyle/>
            <a:p>
              <a:pPr algn="ctr"/>
              <a:endParaRPr/>
            </a:p>
          </p:txBody>
        </p:sp>
        <p:sp>
          <p:nvSpPr>
            <p:cNvPr id="27" name="Oval 26"/>
            <p:cNvSpPr/>
            <p:nvPr/>
          </p:nvSpPr>
          <p:spPr>
            <a:xfrm>
              <a:off x="7818120" y="3200400"/>
              <a:ext cx="182880" cy="182880"/>
            </a:xfrm>
            <a:prstGeom prst="ellipse">
              <a:avLst/>
            </a:prstGeom>
            <a:solidFill>
              <a:srgbClr val="199E70"/>
            </a:solidFill>
            <a:ln>
              <a:noFill/>
            </a:ln>
          </p:spPr>
          <p:txBody>
            <a:bodyPr wrap="square" rtlCol="0" anchor="ctr"/>
            <a:lstStyle/>
            <a:p>
              <a:pPr algn="ctr"/>
              <a:endParaRPr/>
            </a:p>
          </p:txBody>
        </p:sp>
        <p:sp>
          <p:nvSpPr>
            <p:cNvPr id="28" name="TextBox 27"/>
            <p:cNvSpPr txBox="1"/>
            <p:nvPr/>
          </p:nvSpPr>
          <p:spPr>
            <a:xfrm>
              <a:off x="8138160" y="3044952"/>
              <a:ext cx="2743200" cy="493776"/>
            </a:xfrm>
            <a:prstGeom prst="rect">
              <a:avLst/>
            </a:prstGeom>
            <a:noFill/>
          </p:spPr>
          <p:txBody>
            <a:bodyPr wrap="square" lIns="0" tIns="0" rIns="0" bIns="0" anchor="ctr">
              <a:noAutofit/>
            </a:bodyPr>
            <a:lstStyle/>
            <a:p>
              <a:pPr algn="l">
                <a:lnSpc>
                  <a:spcPct val="112000"/>
                </a:lnSpc>
                <a:spcAft>
                  <a:spcPts val="0"/>
                </a:spcAft>
              </a:pPr>
              <a:r>
                <a:rPr sz="1300" b="0" i="0">
                  <a:solidFill>
                    <a:srgbClr val="FFFFFF"/>
                  </a:solidFill>
                  <a:latin typeface="Segoe UI Semibold"/>
                </a:rPr>
                <a:t>Infrastructure as Code</a:t>
              </a:r>
            </a:p>
          </p:txBody>
        </p:sp>
        <p:sp>
          <p:nvSpPr>
            <p:cNvPr id="29" name="TextBox 28"/>
            <p:cNvSpPr txBox="1"/>
            <p:nvPr/>
          </p:nvSpPr>
          <p:spPr>
            <a:xfrm>
              <a:off x="10744200" y="3044952"/>
              <a:ext cx="777240" cy="493776"/>
            </a:xfrm>
            <a:prstGeom prst="rect">
              <a:avLst/>
            </a:prstGeom>
            <a:noFill/>
          </p:spPr>
          <p:txBody>
            <a:bodyPr wrap="square" lIns="0" tIns="0" rIns="0" bIns="0" anchor="ctr">
              <a:noAutofit/>
            </a:bodyPr>
            <a:lstStyle/>
            <a:p>
              <a:pPr algn="r">
                <a:lnSpc>
                  <a:spcPct val="112000"/>
                </a:lnSpc>
                <a:spcAft>
                  <a:spcPts val="0"/>
                </a:spcAft>
              </a:pPr>
              <a:r>
                <a:rPr sz="1100" b="0" i="0">
                  <a:solidFill>
                    <a:srgbClr val="8C9AB5"/>
                  </a:solidFill>
                  <a:latin typeface="Segoe UI"/>
                </a:rPr>
                <a:t>11</a:t>
              </a:r>
            </a:p>
          </p:txBody>
        </p:sp>
      </p:grpSp>
      <p:grpSp>
        <p:nvGrpSpPr>
          <p:cNvPr id="30" name="Group 29"/>
          <p:cNvGrpSpPr/>
          <p:nvPr/>
        </p:nvGrpSpPr>
        <p:grpSpPr>
          <a:xfrm>
            <a:off x="7680960" y="3648456"/>
            <a:ext cx="3959352" cy="493776"/>
            <a:chOff x="7680960" y="3648456"/>
            <a:chExt cx="3959352" cy="493776"/>
          </a:xfrm>
        </p:grpSpPr>
        <p:sp>
          <p:nvSpPr>
            <p:cNvPr id="31" name="Rounded Rectangle 30"/>
            <p:cNvSpPr/>
            <p:nvPr/>
          </p:nvSpPr>
          <p:spPr>
            <a:xfrm>
              <a:off x="7680960" y="3648456"/>
              <a:ext cx="3959352" cy="493776"/>
            </a:xfrm>
            <a:prstGeom prst="roundRect">
              <a:avLst>
                <a:gd name="adj" fmla="val 50000"/>
              </a:avLst>
            </a:prstGeom>
            <a:solidFill>
              <a:srgbClr val="13213D">
                <a:alpha val="85000"/>
              </a:srgbClr>
            </a:solidFill>
            <a:ln w="9525">
              <a:solidFill>
                <a:srgbClr val="2A3F69"/>
              </a:solidFill>
            </a:ln>
          </p:spPr>
          <p:txBody>
            <a:bodyPr wrap="square" rtlCol="0" anchor="ctr"/>
            <a:lstStyle/>
            <a:p>
              <a:pPr algn="ctr"/>
              <a:endParaRPr/>
            </a:p>
          </p:txBody>
        </p:sp>
        <p:sp>
          <p:nvSpPr>
            <p:cNvPr id="32" name="Oval 31"/>
            <p:cNvSpPr/>
            <p:nvPr/>
          </p:nvSpPr>
          <p:spPr>
            <a:xfrm>
              <a:off x="7818120" y="3803904"/>
              <a:ext cx="182880" cy="182880"/>
            </a:xfrm>
            <a:prstGeom prst="ellipse">
              <a:avLst/>
            </a:prstGeom>
            <a:solidFill>
              <a:srgbClr val="199E70"/>
            </a:solidFill>
            <a:ln>
              <a:noFill/>
            </a:ln>
          </p:spPr>
          <p:txBody>
            <a:bodyPr wrap="square" rtlCol="0" anchor="ctr"/>
            <a:lstStyle/>
            <a:p>
              <a:pPr algn="ctr"/>
              <a:endParaRPr/>
            </a:p>
          </p:txBody>
        </p:sp>
        <p:sp>
          <p:nvSpPr>
            <p:cNvPr id="33" name="TextBox 32"/>
            <p:cNvSpPr txBox="1"/>
            <p:nvPr/>
          </p:nvSpPr>
          <p:spPr>
            <a:xfrm>
              <a:off x="8138160" y="3648456"/>
              <a:ext cx="2743200" cy="493776"/>
            </a:xfrm>
            <a:prstGeom prst="rect">
              <a:avLst/>
            </a:prstGeom>
            <a:noFill/>
          </p:spPr>
          <p:txBody>
            <a:bodyPr wrap="square" lIns="0" tIns="0" rIns="0" bIns="0" anchor="ctr">
              <a:noAutofit/>
            </a:bodyPr>
            <a:lstStyle/>
            <a:p>
              <a:pPr algn="l">
                <a:lnSpc>
                  <a:spcPct val="112000"/>
                </a:lnSpc>
                <a:spcAft>
                  <a:spcPts val="0"/>
                </a:spcAft>
              </a:pPr>
              <a:r>
                <a:rPr sz="1300" b="0" i="0">
                  <a:solidFill>
                    <a:srgbClr val="FFFFFF"/>
                  </a:solidFill>
                  <a:latin typeface="Segoe UI Semibold"/>
                </a:rPr>
                <a:t>Multi-cluster orchestration</a:t>
              </a:r>
            </a:p>
          </p:txBody>
        </p:sp>
        <p:sp>
          <p:nvSpPr>
            <p:cNvPr id="34" name="TextBox 33"/>
            <p:cNvSpPr txBox="1"/>
            <p:nvPr/>
          </p:nvSpPr>
          <p:spPr>
            <a:xfrm>
              <a:off x="10744200" y="3648456"/>
              <a:ext cx="777240" cy="493776"/>
            </a:xfrm>
            <a:prstGeom prst="rect">
              <a:avLst/>
            </a:prstGeom>
            <a:noFill/>
          </p:spPr>
          <p:txBody>
            <a:bodyPr wrap="square" lIns="0" tIns="0" rIns="0" bIns="0" anchor="ctr">
              <a:noAutofit/>
            </a:bodyPr>
            <a:lstStyle/>
            <a:p>
              <a:pPr algn="r">
                <a:lnSpc>
                  <a:spcPct val="112000"/>
                </a:lnSpc>
                <a:spcAft>
                  <a:spcPts val="0"/>
                </a:spcAft>
              </a:pPr>
              <a:r>
                <a:rPr sz="1100" b="0" i="0">
                  <a:solidFill>
                    <a:srgbClr val="8C9AB5"/>
                  </a:solidFill>
                  <a:latin typeface="Segoe UI"/>
                </a:rPr>
                <a:t>12</a:t>
              </a:r>
            </a:p>
          </p:txBody>
        </p:sp>
      </p:grpSp>
      <p:grpSp>
        <p:nvGrpSpPr>
          <p:cNvPr id="35" name="Group 34"/>
          <p:cNvGrpSpPr/>
          <p:nvPr/>
        </p:nvGrpSpPr>
        <p:grpSpPr>
          <a:xfrm>
            <a:off x="7680960" y="4251960"/>
            <a:ext cx="3959352" cy="493776"/>
            <a:chOff x="7680960" y="4251960"/>
            <a:chExt cx="3959352" cy="493776"/>
          </a:xfrm>
        </p:grpSpPr>
        <p:sp>
          <p:nvSpPr>
            <p:cNvPr id="36" name="Rounded Rectangle 35"/>
            <p:cNvSpPr/>
            <p:nvPr/>
          </p:nvSpPr>
          <p:spPr>
            <a:xfrm>
              <a:off x="7680960" y="4251960"/>
              <a:ext cx="3959352" cy="493776"/>
            </a:xfrm>
            <a:prstGeom prst="roundRect">
              <a:avLst>
                <a:gd name="adj" fmla="val 50000"/>
              </a:avLst>
            </a:prstGeom>
            <a:solidFill>
              <a:srgbClr val="13213D">
                <a:alpha val="85000"/>
              </a:srgbClr>
            </a:solidFill>
            <a:ln w="9525">
              <a:solidFill>
                <a:srgbClr val="2A3F69"/>
              </a:solidFill>
            </a:ln>
          </p:spPr>
          <p:txBody>
            <a:bodyPr wrap="square" rtlCol="0" anchor="ctr"/>
            <a:lstStyle/>
            <a:p>
              <a:pPr algn="ctr"/>
              <a:endParaRPr/>
            </a:p>
          </p:txBody>
        </p:sp>
        <p:sp>
          <p:nvSpPr>
            <p:cNvPr id="37" name="Oval 36"/>
            <p:cNvSpPr/>
            <p:nvPr/>
          </p:nvSpPr>
          <p:spPr>
            <a:xfrm>
              <a:off x="7818120" y="4407408"/>
              <a:ext cx="182880" cy="182880"/>
            </a:xfrm>
            <a:prstGeom prst="ellipse">
              <a:avLst/>
            </a:prstGeom>
            <a:solidFill>
              <a:srgbClr val="199E70"/>
            </a:solidFill>
            <a:ln>
              <a:noFill/>
            </a:ln>
          </p:spPr>
          <p:txBody>
            <a:bodyPr wrap="square" rtlCol="0" anchor="ctr"/>
            <a:lstStyle/>
            <a:p>
              <a:pPr algn="ctr"/>
              <a:endParaRPr/>
            </a:p>
          </p:txBody>
        </p:sp>
        <p:sp>
          <p:nvSpPr>
            <p:cNvPr id="38" name="TextBox 37"/>
            <p:cNvSpPr txBox="1"/>
            <p:nvPr/>
          </p:nvSpPr>
          <p:spPr>
            <a:xfrm>
              <a:off x="8138160" y="4251960"/>
              <a:ext cx="2743200" cy="493776"/>
            </a:xfrm>
            <a:prstGeom prst="rect">
              <a:avLst/>
            </a:prstGeom>
            <a:noFill/>
          </p:spPr>
          <p:txBody>
            <a:bodyPr wrap="square" lIns="0" tIns="0" rIns="0" bIns="0" anchor="ctr">
              <a:noAutofit/>
            </a:bodyPr>
            <a:lstStyle/>
            <a:p>
              <a:pPr algn="l">
                <a:lnSpc>
                  <a:spcPct val="112000"/>
                </a:lnSpc>
                <a:spcAft>
                  <a:spcPts val="0"/>
                </a:spcAft>
              </a:pPr>
              <a:r>
                <a:rPr sz="1300" b="0" i="0">
                  <a:solidFill>
                    <a:srgbClr val="FFFFFF"/>
                  </a:solidFill>
                  <a:latin typeface="Segoe UI Semibold"/>
                </a:rPr>
                <a:t>Observability, security, governance</a:t>
              </a:r>
            </a:p>
          </p:txBody>
        </p:sp>
        <p:sp>
          <p:nvSpPr>
            <p:cNvPr id="39" name="TextBox 38"/>
            <p:cNvSpPr txBox="1"/>
            <p:nvPr/>
          </p:nvSpPr>
          <p:spPr>
            <a:xfrm>
              <a:off x="10744200" y="4251960"/>
              <a:ext cx="777240" cy="493776"/>
            </a:xfrm>
            <a:prstGeom prst="rect">
              <a:avLst/>
            </a:prstGeom>
            <a:noFill/>
          </p:spPr>
          <p:txBody>
            <a:bodyPr wrap="square" lIns="0" tIns="0" rIns="0" bIns="0" anchor="ctr">
              <a:noAutofit/>
            </a:bodyPr>
            <a:lstStyle/>
            <a:p>
              <a:pPr algn="r">
                <a:lnSpc>
                  <a:spcPct val="112000"/>
                </a:lnSpc>
                <a:spcAft>
                  <a:spcPts val="0"/>
                </a:spcAft>
              </a:pPr>
              <a:r>
                <a:rPr sz="1100" b="0" i="0">
                  <a:solidFill>
                    <a:srgbClr val="8C9AB5"/>
                  </a:solidFill>
                  <a:latin typeface="Segoe UI"/>
                </a:rPr>
                <a:t>13</a:t>
              </a:r>
            </a:p>
          </p:txBody>
        </p:sp>
      </p:grpSp>
      <p:grpSp>
        <p:nvGrpSpPr>
          <p:cNvPr id="40" name="Group 39"/>
          <p:cNvGrpSpPr/>
          <p:nvPr/>
        </p:nvGrpSpPr>
        <p:grpSpPr>
          <a:xfrm>
            <a:off x="7680960" y="4855464"/>
            <a:ext cx="3959352" cy="493776"/>
            <a:chOff x="7680960" y="4855464"/>
            <a:chExt cx="3959352" cy="493776"/>
          </a:xfrm>
        </p:grpSpPr>
        <p:sp>
          <p:nvSpPr>
            <p:cNvPr id="41" name="Rounded Rectangle 40"/>
            <p:cNvSpPr/>
            <p:nvPr/>
          </p:nvSpPr>
          <p:spPr>
            <a:xfrm>
              <a:off x="7680960" y="4855464"/>
              <a:ext cx="3959352" cy="493776"/>
            </a:xfrm>
            <a:prstGeom prst="roundRect">
              <a:avLst>
                <a:gd name="adj" fmla="val 50000"/>
              </a:avLst>
            </a:prstGeom>
            <a:solidFill>
              <a:srgbClr val="13213D">
                <a:alpha val="85000"/>
              </a:srgbClr>
            </a:solidFill>
            <a:ln w="9525">
              <a:solidFill>
                <a:srgbClr val="2A3F69"/>
              </a:solidFill>
            </a:ln>
          </p:spPr>
          <p:txBody>
            <a:bodyPr wrap="square" rtlCol="0" anchor="ctr"/>
            <a:lstStyle/>
            <a:p>
              <a:pPr algn="ctr"/>
              <a:endParaRPr/>
            </a:p>
          </p:txBody>
        </p:sp>
        <p:sp>
          <p:nvSpPr>
            <p:cNvPr id="42" name="Oval 41"/>
            <p:cNvSpPr/>
            <p:nvPr/>
          </p:nvSpPr>
          <p:spPr>
            <a:xfrm>
              <a:off x="7818120" y="5010912"/>
              <a:ext cx="182880" cy="182880"/>
            </a:xfrm>
            <a:prstGeom prst="ellipse">
              <a:avLst/>
            </a:prstGeom>
            <a:solidFill>
              <a:srgbClr val="199E70"/>
            </a:solidFill>
            <a:ln>
              <a:noFill/>
            </a:ln>
          </p:spPr>
          <p:txBody>
            <a:bodyPr wrap="square" rtlCol="0" anchor="ctr"/>
            <a:lstStyle/>
            <a:p>
              <a:pPr algn="ctr"/>
              <a:endParaRPr/>
            </a:p>
          </p:txBody>
        </p:sp>
        <p:sp>
          <p:nvSpPr>
            <p:cNvPr id="43" name="TextBox 42"/>
            <p:cNvSpPr txBox="1"/>
            <p:nvPr/>
          </p:nvSpPr>
          <p:spPr>
            <a:xfrm>
              <a:off x="8138160" y="4855464"/>
              <a:ext cx="2743200" cy="493776"/>
            </a:xfrm>
            <a:prstGeom prst="rect">
              <a:avLst/>
            </a:prstGeom>
            <a:noFill/>
          </p:spPr>
          <p:txBody>
            <a:bodyPr wrap="square" lIns="0" tIns="0" rIns="0" bIns="0" anchor="ctr">
              <a:noAutofit/>
            </a:bodyPr>
            <a:lstStyle/>
            <a:p>
              <a:pPr algn="l">
                <a:lnSpc>
                  <a:spcPct val="112000"/>
                </a:lnSpc>
                <a:spcAft>
                  <a:spcPts val="0"/>
                </a:spcAft>
              </a:pPr>
              <a:r>
                <a:rPr sz="1300" b="0" i="0">
                  <a:solidFill>
                    <a:srgbClr val="FFFFFF"/>
                  </a:solidFill>
                  <a:latin typeface="Segoe UI Semibold"/>
                </a:rPr>
                <a:t>FinOps &amp; cost management</a:t>
              </a:r>
            </a:p>
          </p:txBody>
        </p:sp>
        <p:sp>
          <p:nvSpPr>
            <p:cNvPr id="44" name="TextBox 43"/>
            <p:cNvSpPr txBox="1"/>
            <p:nvPr/>
          </p:nvSpPr>
          <p:spPr>
            <a:xfrm>
              <a:off x="10744200" y="4855464"/>
              <a:ext cx="777240" cy="493776"/>
            </a:xfrm>
            <a:prstGeom prst="rect">
              <a:avLst/>
            </a:prstGeom>
            <a:noFill/>
          </p:spPr>
          <p:txBody>
            <a:bodyPr wrap="square" lIns="0" tIns="0" rIns="0" bIns="0" anchor="ctr">
              <a:noAutofit/>
            </a:bodyPr>
            <a:lstStyle/>
            <a:p>
              <a:pPr algn="r">
                <a:lnSpc>
                  <a:spcPct val="112000"/>
                </a:lnSpc>
                <a:spcAft>
                  <a:spcPts val="0"/>
                </a:spcAft>
              </a:pPr>
              <a:r>
                <a:rPr sz="1100" b="0" i="0">
                  <a:solidFill>
                    <a:srgbClr val="8C9AB5"/>
                  </a:solidFill>
                  <a:latin typeface="Segoe UI"/>
                </a:rPr>
                <a:t>14</a:t>
              </a:r>
            </a:p>
          </p:txBody>
        </p:sp>
      </p:grpSp>
      <p:grpSp>
        <p:nvGrpSpPr>
          <p:cNvPr id="45" name="Group 44"/>
          <p:cNvGrpSpPr/>
          <p:nvPr/>
        </p:nvGrpSpPr>
        <p:grpSpPr>
          <a:xfrm>
            <a:off x="7680960" y="5458968"/>
            <a:ext cx="3959352" cy="493776"/>
            <a:chOff x="7680960" y="5458968"/>
            <a:chExt cx="3959352" cy="493776"/>
          </a:xfrm>
        </p:grpSpPr>
        <p:sp>
          <p:nvSpPr>
            <p:cNvPr id="46" name="Rounded Rectangle 45"/>
            <p:cNvSpPr/>
            <p:nvPr/>
          </p:nvSpPr>
          <p:spPr>
            <a:xfrm>
              <a:off x="7680960" y="5458968"/>
              <a:ext cx="3959352" cy="493776"/>
            </a:xfrm>
            <a:prstGeom prst="roundRect">
              <a:avLst>
                <a:gd name="adj" fmla="val 50000"/>
              </a:avLst>
            </a:prstGeom>
            <a:solidFill>
              <a:srgbClr val="13213D">
                <a:alpha val="85000"/>
              </a:srgbClr>
            </a:solidFill>
            <a:ln w="9525">
              <a:solidFill>
                <a:srgbClr val="2A3F69"/>
              </a:solidFill>
            </a:ln>
          </p:spPr>
          <p:txBody>
            <a:bodyPr wrap="square" rtlCol="0" anchor="ctr"/>
            <a:lstStyle/>
            <a:p>
              <a:pPr algn="ctr"/>
              <a:endParaRPr/>
            </a:p>
          </p:txBody>
        </p:sp>
        <p:sp>
          <p:nvSpPr>
            <p:cNvPr id="47" name="Oval 46"/>
            <p:cNvSpPr/>
            <p:nvPr/>
          </p:nvSpPr>
          <p:spPr>
            <a:xfrm>
              <a:off x="7818120" y="5614416"/>
              <a:ext cx="182880" cy="182880"/>
            </a:xfrm>
            <a:prstGeom prst="ellipse">
              <a:avLst/>
            </a:prstGeom>
            <a:solidFill>
              <a:srgbClr val="199E70"/>
            </a:solidFill>
            <a:ln>
              <a:noFill/>
            </a:ln>
          </p:spPr>
          <p:txBody>
            <a:bodyPr wrap="square" rtlCol="0" anchor="ctr"/>
            <a:lstStyle/>
            <a:p>
              <a:pPr algn="ctr"/>
              <a:endParaRPr/>
            </a:p>
          </p:txBody>
        </p:sp>
        <p:sp>
          <p:nvSpPr>
            <p:cNvPr id="48" name="TextBox 47"/>
            <p:cNvSpPr txBox="1"/>
            <p:nvPr/>
          </p:nvSpPr>
          <p:spPr>
            <a:xfrm>
              <a:off x="8138160" y="5458968"/>
              <a:ext cx="2743200" cy="493776"/>
            </a:xfrm>
            <a:prstGeom prst="rect">
              <a:avLst/>
            </a:prstGeom>
            <a:noFill/>
          </p:spPr>
          <p:txBody>
            <a:bodyPr wrap="square" lIns="0" tIns="0" rIns="0" bIns="0" anchor="ctr">
              <a:noAutofit/>
            </a:bodyPr>
            <a:lstStyle/>
            <a:p>
              <a:pPr algn="l">
                <a:lnSpc>
                  <a:spcPct val="112000"/>
                </a:lnSpc>
                <a:spcAft>
                  <a:spcPts val="0"/>
                </a:spcAft>
              </a:pPr>
              <a:r>
                <a:rPr sz="1300" b="0" i="0">
                  <a:solidFill>
                    <a:srgbClr val="FFFFFF"/>
                  </a:solidFill>
                  <a:latin typeface="Segoe UI Semibold"/>
                </a:rPr>
                <a:t>Research frontiers</a:t>
              </a:r>
            </a:p>
          </p:txBody>
        </p:sp>
        <p:sp>
          <p:nvSpPr>
            <p:cNvPr id="49" name="TextBox 48"/>
            <p:cNvSpPr txBox="1"/>
            <p:nvPr/>
          </p:nvSpPr>
          <p:spPr>
            <a:xfrm>
              <a:off x="10744200" y="5458968"/>
              <a:ext cx="777240" cy="493776"/>
            </a:xfrm>
            <a:prstGeom prst="rect">
              <a:avLst/>
            </a:prstGeom>
            <a:noFill/>
          </p:spPr>
          <p:txBody>
            <a:bodyPr wrap="square" lIns="0" tIns="0" rIns="0" bIns="0" anchor="ctr">
              <a:noAutofit/>
            </a:bodyPr>
            <a:lstStyle/>
            <a:p>
              <a:pPr algn="r">
                <a:lnSpc>
                  <a:spcPct val="112000"/>
                </a:lnSpc>
                <a:spcAft>
                  <a:spcPts val="0"/>
                </a:spcAft>
              </a:pPr>
              <a:r>
                <a:rPr sz="1100" b="0" i="0">
                  <a:solidFill>
                    <a:srgbClr val="8C9AB5"/>
                  </a:solidFill>
                  <a:latin typeface="Segoe UI"/>
                </a:rPr>
                <a:t>15</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900"/>
                                        <p:tgtEl>
                                          <p:spTgt spid="5"/>
                                        </p:tgtEl>
                                      </p:cBhvr>
                                    </p:animEffect>
                                  </p:childTnLst>
                                </p:cTn>
                              </p:par>
                              <p:par>
                                <p:cTn id="8" presetID="10" presetClass="entr" presetSubtype="0" fill="hold" grpId="0" nodeType="withEffect">
                                  <p:stCondLst>
                                    <p:cond delay="41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00"/>
                                        <p:tgtEl>
                                          <p:spTgt spid="6"/>
                                        </p:tgtEl>
                                      </p:cBhvr>
                                    </p:animEffect>
                                  </p:childTnLst>
                                </p:cTn>
                              </p:par>
                              <p:par>
                                <p:cTn id="11" presetID="42" presetClass="entr" presetSubtype="0" fill="hold" grpId="0" nodeType="withEffect">
                                  <p:stCondLst>
                                    <p:cond delay="57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800"/>
                                        <p:tgtEl>
                                          <p:spTgt spid="7"/>
                                        </p:tgtEl>
                                      </p:cBhvr>
                                    </p:animEffect>
                                    <p:anim calcmode="lin" valueType="num">
                                      <p:cBhvr>
                                        <p:cTn id="14" dur="800" fill="hold"/>
                                        <p:tgtEl>
                                          <p:spTgt spid="7"/>
                                        </p:tgtEl>
                                        <p:attrNameLst>
                                          <p:attrName>ppt_x</p:attrName>
                                        </p:attrNameLst>
                                      </p:cBhvr>
                                      <p:tavLst>
                                        <p:tav tm="0">
                                          <p:val>
                                            <p:strVal val="#ppt_x"/>
                                          </p:val>
                                        </p:tav>
                                        <p:tav tm="100000">
                                          <p:val>
                                            <p:strVal val="#ppt_x"/>
                                          </p:val>
                                        </p:tav>
                                      </p:tavLst>
                                    </p:anim>
                                    <p:anim calcmode="lin" valueType="num">
                                      <p:cBhvr>
                                        <p:cTn id="15" dur="800" fill="hold"/>
                                        <p:tgtEl>
                                          <p:spTgt spid="7"/>
                                        </p:tgtEl>
                                        <p:attrNameLst>
                                          <p:attrName>ppt_y</p:attrName>
                                        </p:attrNameLst>
                                      </p:cBhvr>
                                      <p:tavLst>
                                        <p:tav tm="0">
                                          <p:val>
                                            <p:strVal val="#ppt_y+.08"/>
                                          </p:val>
                                        </p:tav>
                                        <p:tav tm="100000">
                                          <p:val>
                                            <p:strVal val="#ppt_y"/>
                                          </p:val>
                                        </p:tav>
                                      </p:tavLst>
                                    </p:anim>
                                  </p:childTnLst>
                                </p:cTn>
                              </p:par>
                              <p:par>
                                <p:cTn id="16" presetID="22" presetClass="entr" presetSubtype="8" fill="hold" grpId="0" nodeType="withEffect">
                                  <p:stCondLst>
                                    <p:cond delay="73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600"/>
                                        <p:tgtEl>
                                          <p:spTgt spid="8"/>
                                        </p:tgtEl>
                                      </p:cBhvr>
                                    </p:animEffect>
                                  </p:childTnLst>
                                </p:cTn>
                              </p:par>
                              <p:par>
                                <p:cTn id="19" presetID="42" presetClass="entr" presetSubtype="0" fill="hold" grpId="0" nodeType="withEffect">
                                  <p:stCondLst>
                                    <p:cond delay="89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600"/>
                                        <p:tgtEl>
                                          <p:spTgt spid="9"/>
                                        </p:tgtEl>
                                      </p:cBhvr>
                                    </p:animEffect>
                                    <p:anim calcmode="lin" valueType="num">
                                      <p:cBhvr>
                                        <p:cTn id="22" dur="600" fill="hold"/>
                                        <p:tgtEl>
                                          <p:spTgt spid="9"/>
                                        </p:tgtEl>
                                        <p:attrNameLst>
                                          <p:attrName>ppt_x</p:attrName>
                                        </p:attrNameLst>
                                      </p:cBhvr>
                                      <p:tavLst>
                                        <p:tav tm="0">
                                          <p:val>
                                            <p:strVal val="#ppt_x"/>
                                          </p:val>
                                        </p:tav>
                                        <p:tav tm="100000">
                                          <p:val>
                                            <p:strVal val="#ppt_x"/>
                                          </p:val>
                                        </p:tav>
                                      </p:tavLst>
                                    </p:anim>
                                    <p:anim calcmode="lin" valueType="num">
                                      <p:cBhvr>
                                        <p:cTn id="23" dur="600" fill="hold"/>
                                        <p:tgtEl>
                                          <p:spTgt spid="9"/>
                                        </p:tgtEl>
                                        <p:attrNameLst>
                                          <p:attrName>ppt_y</p:attrName>
                                        </p:attrNameLst>
                                      </p:cBhvr>
                                      <p:tavLst>
                                        <p:tav tm="0">
                                          <p:val>
                                            <p:strVal val="#ppt_y+.08"/>
                                          </p:val>
                                        </p:tav>
                                        <p:tav tm="100000">
                                          <p:val>
                                            <p:strVal val="#ppt_y"/>
                                          </p:val>
                                        </p:tav>
                                      </p:tavLst>
                                    </p:anim>
                                  </p:childTnLst>
                                </p:cTn>
                              </p:par>
                              <p:par>
                                <p:cTn id="24" presetID="42" presetClass="entr" presetSubtype="0" fill="hold" nodeType="withEffect">
                                  <p:stCondLst>
                                    <p:cond delay="89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600"/>
                                        <p:tgtEl>
                                          <p:spTgt spid="10"/>
                                        </p:tgtEl>
                                      </p:cBhvr>
                                    </p:animEffect>
                                    <p:anim calcmode="lin" valueType="num">
                                      <p:cBhvr>
                                        <p:cTn id="27" dur="600" fill="hold"/>
                                        <p:tgtEl>
                                          <p:spTgt spid="10"/>
                                        </p:tgtEl>
                                        <p:attrNameLst>
                                          <p:attrName>ppt_x</p:attrName>
                                        </p:attrNameLst>
                                      </p:cBhvr>
                                      <p:tavLst>
                                        <p:tav tm="0">
                                          <p:val>
                                            <p:strVal val="#ppt_x"/>
                                          </p:val>
                                        </p:tav>
                                        <p:tav tm="100000">
                                          <p:val>
                                            <p:strVal val="#ppt_x"/>
                                          </p:val>
                                        </p:tav>
                                      </p:tavLst>
                                    </p:anim>
                                    <p:anim calcmode="lin" valueType="num">
                                      <p:cBhvr>
                                        <p:cTn id="28" dur="600" fill="hold"/>
                                        <p:tgtEl>
                                          <p:spTgt spid="10"/>
                                        </p:tgtEl>
                                        <p:attrNameLst>
                                          <p:attrName>ppt_y</p:attrName>
                                        </p:attrNameLst>
                                      </p:cBhvr>
                                      <p:tavLst>
                                        <p:tav tm="0">
                                          <p:val>
                                            <p:strVal val="#ppt_y+.08"/>
                                          </p:val>
                                        </p:tav>
                                        <p:tav tm="100000">
                                          <p:val>
                                            <p:strVal val="#ppt_y"/>
                                          </p:val>
                                        </p:tav>
                                      </p:tavLst>
                                    </p:anim>
                                  </p:childTnLst>
                                </p:cTn>
                              </p:par>
                              <p:par>
                                <p:cTn id="29" presetID="42" presetClass="entr" presetSubtype="0" fill="hold" nodeType="withEffect">
                                  <p:stCondLst>
                                    <p:cond delay="105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600"/>
                                        <p:tgtEl>
                                          <p:spTgt spid="15"/>
                                        </p:tgtEl>
                                      </p:cBhvr>
                                    </p:animEffect>
                                    <p:anim calcmode="lin" valueType="num">
                                      <p:cBhvr>
                                        <p:cTn id="32" dur="600" fill="hold"/>
                                        <p:tgtEl>
                                          <p:spTgt spid="15"/>
                                        </p:tgtEl>
                                        <p:attrNameLst>
                                          <p:attrName>ppt_x</p:attrName>
                                        </p:attrNameLst>
                                      </p:cBhvr>
                                      <p:tavLst>
                                        <p:tav tm="0">
                                          <p:val>
                                            <p:strVal val="#ppt_x"/>
                                          </p:val>
                                        </p:tav>
                                        <p:tav tm="100000">
                                          <p:val>
                                            <p:strVal val="#ppt_x"/>
                                          </p:val>
                                        </p:tav>
                                      </p:tavLst>
                                    </p:anim>
                                    <p:anim calcmode="lin" valueType="num">
                                      <p:cBhvr>
                                        <p:cTn id="33" dur="600" fill="hold"/>
                                        <p:tgtEl>
                                          <p:spTgt spid="15"/>
                                        </p:tgtEl>
                                        <p:attrNameLst>
                                          <p:attrName>ppt_y</p:attrName>
                                        </p:attrNameLst>
                                      </p:cBhvr>
                                      <p:tavLst>
                                        <p:tav tm="0">
                                          <p:val>
                                            <p:strVal val="#ppt_y+.08"/>
                                          </p:val>
                                        </p:tav>
                                        <p:tav tm="100000">
                                          <p:val>
                                            <p:strVal val="#ppt_y"/>
                                          </p:val>
                                        </p:tav>
                                      </p:tavLst>
                                    </p:anim>
                                  </p:childTnLst>
                                </p:cTn>
                              </p:par>
                              <p:par>
                                <p:cTn id="34" presetID="42" presetClass="entr" presetSubtype="0" fill="hold" nodeType="withEffect">
                                  <p:stCondLst>
                                    <p:cond delay="121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600"/>
                                        <p:tgtEl>
                                          <p:spTgt spid="20"/>
                                        </p:tgtEl>
                                      </p:cBhvr>
                                    </p:animEffect>
                                    <p:anim calcmode="lin" valueType="num">
                                      <p:cBhvr>
                                        <p:cTn id="37" dur="600" fill="hold"/>
                                        <p:tgtEl>
                                          <p:spTgt spid="20"/>
                                        </p:tgtEl>
                                        <p:attrNameLst>
                                          <p:attrName>ppt_x</p:attrName>
                                        </p:attrNameLst>
                                      </p:cBhvr>
                                      <p:tavLst>
                                        <p:tav tm="0">
                                          <p:val>
                                            <p:strVal val="#ppt_x"/>
                                          </p:val>
                                        </p:tav>
                                        <p:tav tm="100000">
                                          <p:val>
                                            <p:strVal val="#ppt_x"/>
                                          </p:val>
                                        </p:tav>
                                      </p:tavLst>
                                    </p:anim>
                                    <p:anim calcmode="lin" valueType="num">
                                      <p:cBhvr>
                                        <p:cTn id="38" dur="600" fill="hold"/>
                                        <p:tgtEl>
                                          <p:spTgt spid="20"/>
                                        </p:tgtEl>
                                        <p:attrNameLst>
                                          <p:attrName>ppt_y</p:attrName>
                                        </p:attrNameLst>
                                      </p:cBhvr>
                                      <p:tavLst>
                                        <p:tav tm="0">
                                          <p:val>
                                            <p:strVal val="#ppt_y+.08"/>
                                          </p:val>
                                        </p:tav>
                                        <p:tav tm="100000">
                                          <p:val>
                                            <p:strVal val="#ppt_y"/>
                                          </p:val>
                                        </p:tav>
                                      </p:tavLst>
                                    </p:anim>
                                  </p:childTnLst>
                                </p:cTn>
                              </p:par>
                              <p:par>
                                <p:cTn id="39" presetID="42" presetClass="entr" presetSubtype="0" fill="hold" nodeType="withEffect">
                                  <p:stCondLst>
                                    <p:cond delay="137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600"/>
                                        <p:tgtEl>
                                          <p:spTgt spid="25"/>
                                        </p:tgtEl>
                                      </p:cBhvr>
                                    </p:animEffect>
                                    <p:anim calcmode="lin" valueType="num">
                                      <p:cBhvr>
                                        <p:cTn id="42" dur="600" fill="hold"/>
                                        <p:tgtEl>
                                          <p:spTgt spid="25"/>
                                        </p:tgtEl>
                                        <p:attrNameLst>
                                          <p:attrName>ppt_x</p:attrName>
                                        </p:attrNameLst>
                                      </p:cBhvr>
                                      <p:tavLst>
                                        <p:tav tm="0">
                                          <p:val>
                                            <p:strVal val="#ppt_x"/>
                                          </p:val>
                                        </p:tav>
                                        <p:tav tm="100000">
                                          <p:val>
                                            <p:strVal val="#ppt_x"/>
                                          </p:val>
                                        </p:tav>
                                      </p:tavLst>
                                    </p:anim>
                                    <p:anim calcmode="lin" valueType="num">
                                      <p:cBhvr>
                                        <p:cTn id="43" dur="600" fill="hold"/>
                                        <p:tgtEl>
                                          <p:spTgt spid="25"/>
                                        </p:tgtEl>
                                        <p:attrNameLst>
                                          <p:attrName>ppt_y</p:attrName>
                                        </p:attrNameLst>
                                      </p:cBhvr>
                                      <p:tavLst>
                                        <p:tav tm="0">
                                          <p:val>
                                            <p:strVal val="#ppt_y+.08"/>
                                          </p:val>
                                        </p:tav>
                                        <p:tav tm="100000">
                                          <p:val>
                                            <p:strVal val="#ppt_y"/>
                                          </p:val>
                                        </p:tav>
                                      </p:tavLst>
                                    </p:anim>
                                  </p:childTnLst>
                                </p:cTn>
                              </p:par>
                              <p:par>
                                <p:cTn id="44" presetID="42" presetClass="entr" presetSubtype="0" fill="hold" nodeType="withEffect">
                                  <p:stCondLst>
                                    <p:cond delay="153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600"/>
                                        <p:tgtEl>
                                          <p:spTgt spid="30"/>
                                        </p:tgtEl>
                                      </p:cBhvr>
                                    </p:animEffect>
                                    <p:anim calcmode="lin" valueType="num">
                                      <p:cBhvr>
                                        <p:cTn id="47" dur="600" fill="hold"/>
                                        <p:tgtEl>
                                          <p:spTgt spid="30"/>
                                        </p:tgtEl>
                                        <p:attrNameLst>
                                          <p:attrName>ppt_x</p:attrName>
                                        </p:attrNameLst>
                                      </p:cBhvr>
                                      <p:tavLst>
                                        <p:tav tm="0">
                                          <p:val>
                                            <p:strVal val="#ppt_x"/>
                                          </p:val>
                                        </p:tav>
                                        <p:tav tm="100000">
                                          <p:val>
                                            <p:strVal val="#ppt_x"/>
                                          </p:val>
                                        </p:tav>
                                      </p:tavLst>
                                    </p:anim>
                                    <p:anim calcmode="lin" valueType="num">
                                      <p:cBhvr>
                                        <p:cTn id="48" dur="600" fill="hold"/>
                                        <p:tgtEl>
                                          <p:spTgt spid="30"/>
                                        </p:tgtEl>
                                        <p:attrNameLst>
                                          <p:attrName>ppt_y</p:attrName>
                                        </p:attrNameLst>
                                      </p:cBhvr>
                                      <p:tavLst>
                                        <p:tav tm="0">
                                          <p:val>
                                            <p:strVal val="#ppt_y+.08"/>
                                          </p:val>
                                        </p:tav>
                                        <p:tav tm="100000">
                                          <p:val>
                                            <p:strVal val="#ppt_y"/>
                                          </p:val>
                                        </p:tav>
                                      </p:tavLst>
                                    </p:anim>
                                  </p:childTnLst>
                                </p:cTn>
                              </p:par>
                              <p:par>
                                <p:cTn id="49" presetID="42" presetClass="entr" presetSubtype="0" fill="hold" nodeType="withEffect">
                                  <p:stCondLst>
                                    <p:cond delay="169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600"/>
                                        <p:tgtEl>
                                          <p:spTgt spid="35"/>
                                        </p:tgtEl>
                                      </p:cBhvr>
                                    </p:animEffect>
                                    <p:anim calcmode="lin" valueType="num">
                                      <p:cBhvr>
                                        <p:cTn id="52" dur="600" fill="hold"/>
                                        <p:tgtEl>
                                          <p:spTgt spid="35"/>
                                        </p:tgtEl>
                                        <p:attrNameLst>
                                          <p:attrName>ppt_x</p:attrName>
                                        </p:attrNameLst>
                                      </p:cBhvr>
                                      <p:tavLst>
                                        <p:tav tm="0">
                                          <p:val>
                                            <p:strVal val="#ppt_x"/>
                                          </p:val>
                                        </p:tav>
                                        <p:tav tm="100000">
                                          <p:val>
                                            <p:strVal val="#ppt_x"/>
                                          </p:val>
                                        </p:tav>
                                      </p:tavLst>
                                    </p:anim>
                                    <p:anim calcmode="lin" valueType="num">
                                      <p:cBhvr>
                                        <p:cTn id="53" dur="600" fill="hold"/>
                                        <p:tgtEl>
                                          <p:spTgt spid="35"/>
                                        </p:tgtEl>
                                        <p:attrNameLst>
                                          <p:attrName>ppt_y</p:attrName>
                                        </p:attrNameLst>
                                      </p:cBhvr>
                                      <p:tavLst>
                                        <p:tav tm="0">
                                          <p:val>
                                            <p:strVal val="#ppt_y+.08"/>
                                          </p:val>
                                        </p:tav>
                                        <p:tav tm="100000">
                                          <p:val>
                                            <p:strVal val="#ppt_y"/>
                                          </p:val>
                                        </p:tav>
                                      </p:tavLst>
                                    </p:anim>
                                  </p:childTnLst>
                                </p:cTn>
                              </p:par>
                              <p:par>
                                <p:cTn id="54" presetID="42" presetClass="entr" presetSubtype="0" fill="hold" nodeType="withEffect">
                                  <p:stCondLst>
                                    <p:cond delay="185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600"/>
                                        <p:tgtEl>
                                          <p:spTgt spid="40"/>
                                        </p:tgtEl>
                                      </p:cBhvr>
                                    </p:animEffect>
                                    <p:anim calcmode="lin" valueType="num">
                                      <p:cBhvr>
                                        <p:cTn id="57" dur="600" fill="hold"/>
                                        <p:tgtEl>
                                          <p:spTgt spid="40"/>
                                        </p:tgtEl>
                                        <p:attrNameLst>
                                          <p:attrName>ppt_x</p:attrName>
                                        </p:attrNameLst>
                                      </p:cBhvr>
                                      <p:tavLst>
                                        <p:tav tm="0">
                                          <p:val>
                                            <p:strVal val="#ppt_x"/>
                                          </p:val>
                                        </p:tav>
                                        <p:tav tm="100000">
                                          <p:val>
                                            <p:strVal val="#ppt_x"/>
                                          </p:val>
                                        </p:tav>
                                      </p:tavLst>
                                    </p:anim>
                                    <p:anim calcmode="lin" valueType="num">
                                      <p:cBhvr>
                                        <p:cTn id="58" dur="600" fill="hold"/>
                                        <p:tgtEl>
                                          <p:spTgt spid="40"/>
                                        </p:tgtEl>
                                        <p:attrNameLst>
                                          <p:attrName>ppt_y</p:attrName>
                                        </p:attrNameLst>
                                      </p:cBhvr>
                                      <p:tavLst>
                                        <p:tav tm="0">
                                          <p:val>
                                            <p:strVal val="#ppt_y+.08"/>
                                          </p:val>
                                        </p:tav>
                                        <p:tav tm="100000">
                                          <p:val>
                                            <p:strVal val="#ppt_y"/>
                                          </p:val>
                                        </p:tav>
                                      </p:tavLst>
                                    </p:anim>
                                  </p:childTnLst>
                                </p:cTn>
                              </p:par>
                              <p:par>
                                <p:cTn id="59" presetID="42" presetClass="entr" presetSubtype="0" fill="hold" nodeType="withEffect">
                                  <p:stCondLst>
                                    <p:cond delay="2010"/>
                                  </p:stCondLst>
                                  <p:childTnLst>
                                    <p:set>
                                      <p:cBhvr>
                                        <p:cTn id="60" dur="1" fill="hold">
                                          <p:stCondLst>
                                            <p:cond delay="0"/>
                                          </p:stCondLst>
                                        </p:cTn>
                                        <p:tgtEl>
                                          <p:spTgt spid="45"/>
                                        </p:tgtEl>
                                        <p:attrNameLst>
                                          <p:attrName>style.visibility</p:attrName>
                                        </p:attrNameLst>
                                      </p:cBhvr>
                                      <p:to>
                                        <p:strVal val="visible"/>
                                      </p:to>
                                    </p:set>
                                    <p:animEffect transition="in" filter="fade">
                                      <p:cBhvr>
                                        <p:cTn id="61" dur="600"/>
                                        <p:tgtEl>
                                          <p:spTgt spid="45"/>
                                        </p:tgtEl>
                                      </p:cBhvr>
                                    </p:animEffect>
                                    <p:anim calcmode="lin" valueType="num">
                                      <p:cBhvr>
                                        <p:cTn id="62" dur="600" fill="hold"/>
                                        <p:tgtEl>
                                          <p:spTgt spid="45"/>
                                        </p:tgtEl>
                                        <p:attrNameLst>
                                          <p:attrName>ppt_x</p:attrName>
                                        </p:attrNameLst>
                                      </p:cBhvr>
                                      <p:tavLst>
                                        <p:tav tm="0">
                                          <p:val>
                                            <p:strVal val="#ppt_x"/>
                                          </p:val>
                                        </p:tav>
                                        <p:tav tm="100000">
                                          <p:val>
                                            <p:strVal val="#ppt_x"/>
                                          </p:val>
                                        </p:tav>
                                      </p:tavLst>
                                    </p:anim>
                                    <p:anim calcmode="lin" valueType="num">
                                      <p:cBhvr>
                                        <p:cTn id="63" dur="600" fill="hold"/>
                                        <p:tgtEl>
                                          <p:spTgt spid="4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475594" y="-2060954"/>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1969852" y="3857128"/>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558500" y="4911698"/>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STATE OF THE ART</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Evolution of Multi-Cloud Management</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State of the Art</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sz="1000" b="0" i="0">
                <a:solidFill>
                  <a:srgbClr val="C9D2E3"/>
                </a:solidFill>
                <a:latin typeface="Segoe UI Semibold"/>
              </a:rPr>
              <a:t>08</a:t>
            </a:r>
            <a:r>
              <a:rPr sz="1000" b="0" i="0">
                <a:solidFill>
                  <a:srgbClr val="8C9AB5"/>
                </a:solidFill>
                <a:latin typeface="Segoe UI"/>
              </a:rPr>
              <a:t> / 30</a:t>
            </a:r>
          </a:p>
        </p:txBody>
      </p:sp>
      <p:sp>
        <p:nvSpPr>
          <p:cNvPr id="36" name="Rectangle 35"/>
          <p:cNvSpPr/>
          <p:nvPr/>
        </p:nvSpPr>
        <p:spPr>
          <a:xfrm>
            <a:off x="685800" y="3744468"/>
            <a:ext cx="10835640" cy="45720"/>
          </a:xfrm>
          <a:prstGeom prst="rect">
            <a:avLst/>
          </a:prstGeom>
          <a:gradFill rotWithShape="1">
            <a:gsLst>
              <a:gs pos="0">
                <a:srgbClr val="3987E5"/>
              </a:gs>
              <a:gs pos="100000">
                <a:srgbClr val="9085E9"/>
              </a:gs>
            </a:gsLst>
            <a:lin ang="0" scaled="0"/>
          </a:gradFill>
          <a:ln>
            <a:noFill/>
          </a:ln>
        </p:spPr>
        <p:txBody>
          <a:bodyPr wrap="square" rtlCol="0" anchor="ctr"/>
          <a:lstStyle/>
          <a:p>
            <a:pPr algn="ctr"/>
            <a:endParaRPr/>
          </a:p>
        </p:txBody>
      </p:sp>
      <p:grpSp>
        <p:nvGrpSpPr>
          <p:cNvPr id="37" name="Group 36"/>
          <p:cNvGrpSpPr/>
          <p:nvPr/>
        </p:nvGrpSpPr>
        <p:grpSpPr>
          <a:xfrm>
            <a:off x="548640" y="1719072"/>
            <a:ext cx="2514600" cy="2167128"/>
            <a:chOff x="548640" y="1719072"/>
            <a:chExt cx="2514600" cy="2167128"/>
          </a:xfrm>
        </p:grpSpPr>
        <p:cxnSp>
          <p:nvCxnSpPr>
            <p:cNvPr id="38" name="Connector 37"/>
            <p:cNvCxnSpPr/>
            <p:nvPr/>
          </p:nvCxnSpPr>
          <p:spPr>
            <a:xfrm flipV="1">
              <a:off x="960120" y="3383280"/>
              <a:ext cx="0" cy="384048"/>
            </a:xfrm>
            <a:prstGeom prst="line">
              <a:avLst/>
            </a:prstGeom>
            <a:ln w="15875">
              <a:solidFill>
                <a:srgbClr val="3987E5">
                  <a:alpha val="80000"/>
                </a:srgbClr>
              </a:solidFill>
            </a:ln>
          </p:spPr>
        </p:cxnSp>
        <p:sp>
          <p:nvSpPr>
            <p:cNvPr id="39" name="Oval 38"/>
            <p:cNvSpPr/>
            <p:nvPr/>
          </p:nvSpPr>
          <p:spPr>
            <a:xfrm>
              <a:off x="841248" y="3648456"/>
              <a:ext cx="237744" cy="237744"/>
            </a:xfrm>
            <a:prstGeom prst="ellipse">
              <a:avLst/>
            </a:prstGeom>
            <a:solidFill>
              <a:srgbClr val="3987E5"/>
            </a:solidFill>
            <a:ln w="31750">
              <a:solidFill>
                <a:srgbClr val="08101F"/>
              </a:solidFill>
            </a:ln>
          </p:spPr>
          <p:txBody>
            <a:bodyPr wrap="square" rtlCol="0" anchor="ctr"/>
            <a:lstStyle/>
            <a:p>
              <a:pPr algn="ctr"/>
              <a:endParaRPr/>
            </a:p>
          </p:txBody>
        </p:sp>
        <p:sp>
          <p:nvSpPr>
            <p:cNvPr id="40" name="Rounded Rectangle 39"/>
            <p:cNvSpPr/>
            <p:nvPr/>
          </p:nvSpPr>
          <p:spPr>
            <a:xfrm>
              <a:off x="548640" y="1719072"/>
              <a:ext cx="2514600" cy="1664208"/>
            </a:xfrm>
            <a:prstGeom prst="roundRect">
              <a:avLst>
                <a:gd name="adj" fmla="val 8000"/>
              </a:avLst>
            </a:prstGeom>
            <a:gradFill rotWithShape="1">
              <a:gsLst>
                <a:gs pos="0">
                  <a:srgbClr val="182A4C"/>
                </a:gs>
                <a:gs pos="100000">
                  <a:srgbClr val="13213D"/>
                </a:gs>
              </a:gsLst>
              <a:lin ang="5400000" scaled="0"/>
            </a:gradFill>
            <a:ln w="9525">
              <a:solidFill>
                <a:srgbClr val="2A3F69"/>
              </a:solidFill>
            </a:ln>
            <a:effectLst>
              <a:outerShdw blurRad="177800" dist="38100" dir="5400000" algn="t" rotWithShape="0">
                <a:srgbClr val="000000">
                  <a:alpha val="30000"/>
                </a:srgbClr>
              </a:outerShdw>
            </a:effectLst>
          </p:spPr>
          <p:txBody>
            <a:bodyPr wrap="square" rtlCol="0" anchor="ctr"/>
            <a:lstStyle/>
            <a:p>
              <a:pPr algn="ctr"/>
              <a:endParaRPr/>
            </a:p>
          </p:txBody>
        </p:sp>
        <p:sp>
          <p:nvSpPr>
            <p:cNvPr id="41" name="TextBox 40"/>
            <p:cNvSpPr txBox="1"/>
            <p:nvPr/>
          </p:nvSpPr>
          <p:spPr>
            <a:xfrm>
              <a:off x="731520" y="1828800"/>
              <a:ext cx="2148840" cy="365760"/>
            </a:xfrm>
            <a:prstGeom prst="rect">
              <a:avLst/>
            </a:prstGeom>
            <a:noFill/>
          </p:spPr>
          <p:txBody>
            <a:bodyPr wrap="square" lIns="0" tIns="0" rIns="0" bIns="0" anchor="t">
              <a:noAutofit/>
            </a:bodyPr>
            <a:lstStyle/>
            <a:p>
              <a:pPr algn="l">
                <a:lnSpc>
                  <a:spcPct val="112000"/>
                </a:lnSpc>
                <a:spcAft>
                  <a:spcPts val="0"/>
                </a:spcAft>
              </a:pPr>
              <a:r>
                <a:rPr sz="1700" b="0" i="0">
                  <a:solidFill>
                    <a:srgbClr val="7DB3F5"/>
                  </a:solidFill>
                  <a:latin typeface="Segoe UI Semibold"/>
                </a:rPr>
                <a:t>2009–13</a:t>
              </a:r>
            </a:p>
          </p:txBody>
        </p:sp>
        <p:sp>
          <p:nvSpPr>
            <p:cNvPr id="42" name="TextBox 41"/>
            <p:cNvSpPr txBox="1"/>
            <p:nvPr/>
          </p:nvSpPr>
          <p:spPr>
            <a:xfrm>
              <a:off x="731520" y="2176272"/>
              <a:ext cx="2148840" cy="320040"/>
            </a:xfrm>
            <a:prstGeom prst="rect">
              <a:avLst/>
            </a:prstGeom>
            <a:noFill/>
          </p:spPr>
          <p:txBody>
            <a:bodyPr wrap="square" lIns="0" tIns="0" rIns="0" bIns="0" anchor="t">
              <a:noAutofit/>
            </a:bodyPr>
            <a:lstStyle/>
            <a:p>
              <a:pPr algn="l">
                <a:lnSpc>
                  <a:spcPct val="112000"/>
                </a:lnSpc>
                <a:spcAft>
                  <a:spcPts val="0"/>
                </a:spcAft>
              </a:pPr>
              <a:r>
                <a:rPr sz="1300" b="0" i="0">
                  <a:solidFill>
                    <a:srgbClr val="FFFFFF"/>
                  </a:solidFill>
                  <a:latin typeface="Segoe UI Semibold"/>
                </a:rPr>
                <a:t>Inter-cloud research</a:t>
              </a:r>
            </a:p>
          </p:txBody>
        </p:sp>
        <p:sp>
          <p:nvSpPr>
            <p:cNvPr id="43" name="TextBox 42"/>
            <p:cNvSpPr txBox="1"/>
            <p:nvPr/>
          </p:nvSpPr>
          <p:spPr>
            <a:xfrm>
              <a:off x="731520" y="2505456"/>
              <a:ext cx="2148840" cy="822960"/>
            </a:xfrm>
            <a:prstGeom prst="rect">
              <a:avLst/>
            </a:prstGeom>
            <a:noFill/>
          </p:spPr>
          <p:txBody>
            <a:bodyPr wrap="square" lIns="0" tIns="0" rIns="0" bIns="0" anchor="t">
              <a:noAutofit/>
            </a:bodyPr>
            <a:lstStyle/>
            <a:p>
              <a:pPr algn="l">
                <a:lnSpc>
                  <a:spcPct val="110000"/>
                </a:lnSpc>
                <a:spcAft>
                  <a:spcPts val="0"/>
                </a:spcAft>
              </a:pPr>
              <a:r>
                <a:rPr sz="1100" b="0" i="0">
                  <a:solidFill>
                    <a:srgbClr val="C9D2E3"/>
                  </a:solidFill>
                  <a:latin typeface="Segoe UI"/>
                </a:rPr>
                <a:t>RESERVOIR, mOSAIC, OPTIMIS prototype federation &amp; brokering</a:t>
              </a:r>
            </a:p>
          </p:txBody>
        </p:sp>
      </p:grpSp>
      <p:grpSp>
        <p:nvGrpSpPr>
          <p:cNvPr id="44" name="Group 43"/>
          <p:cNvGrpSpPr/>
          <p:nvPr/>
        </p:nvGrpSpPr>
        <p:grpSpPr>
          <a:xfrm>
            <a:off x="1412748" y="3648456"/>
            <a:ext cx="2514600" cy="2167128"/>
            <a:chOff x="1412748" y="3648456"/>
            <a:chExt cx="2514600" cy="2167128"/>
          </a:xfrm>
        </p:grpSpPr>
        <p:cxnSp>
          <p:nvCxnSpPr>
            <p:cNvPr id="45" name="Connector 44"/>
            <p:cNvCxnSpPr/>
            <p:nvPr/>
          </p:nvCxnSpPr>
          <p:spPr>
            <a:xfrm>
              <a:off x="2670048" y="3767328"/>
              <a:ext cx="0" cy="384048"/>
            </a:xfrm>
            <a:prstGeom prst="line">
              <a:avLst/>
            </a:prstGeom>
            <a:ln w="15875">
              <a:solidFill>
                <a:srgbClr val="3987E5">
                  <a:alpha val="80000"/>
                </a:srgbClr>
              </a:solidFill>
            </a:ln>
          </p:spPr>
        </p:cxnSp>
        <p:sp>
          <p:nvSpPr>
            <p:cNvPr id="46" name="Oval 45"/>
            <p:cNvSpPr/>
            <p:nvPr/>
          </p:nvSpPr>
          <p:spPr>
            <a:xfrm>
              <a:off x="2551176" y="3648456"/>
              <a:ext cx="237744" cy="237744"/>
            </a:xfrm>
            <a:prstGeom prst="ellipse">
              <a:avLst/>
            </a:prstGeom>
            <a:solidFill>
              <a:srgbClr val="3987E5"/>
            </a:solidFill>
            <a:ln w="31750">
              <a:solidFill>
                <a:srgbClr val="08101F"/>
              </a:solidFill>
            </a:ln>
          </p:spPr>
          <p:txBody>
            <a:bodyPr wrap="square" rtlCol="0" anchor="ctr"/>
            <a:lstStyle/>
            <a:p>
              <a:pPr algn="ctr"/>
              <a:endParaRPr/>
            </a:p>
          </p:txBody>
        </p:sp>
        <p:sp>
          <p:nvSpPr>
            <p:cNvPr id="47" name="Rounded Rectangle 46"/>
            <p:cNvSpPr/>
            <p:nvPr/>
          </p:nvSpPr>
          <p:spPr>
            <a:xfrm>
              <a:off x="1412748" y="4151376"/>
              <a:ext cx="2514600" cy="1664208"/>
            </a:xfrm>
            <a:prstGeom prst="roundRect">
              <a:avLst>
                <a:gd name="adj" fmla="val 8000"/>
              </a:avLst>
            </a:prstGeom>
            <a:gradFill rotWithShape="1">
              <a:gsLst>
                <a:gs pos="0">
                  <a:srgbClr val="182A4C"/>
                </a:gs>
                <a:gs pos="100000">
                  <a:srgbClr val="13213D"/>
                </a:gs>
              </a:gsLst>
              <a:lin ang="5400000" scaled="0"/>
            </a:gradFill>
            <a:ln w="9525">
              <a:solidFill>
                <a:srgbClr val="2A3F69"/>
              </a:solidFill>
            </a:ln>
            <a:effectLst>
              <a:outerShdw blurRad="177800" dist="38100" dir="5400000" algn="t" rotWithShape="0">
                <a:srgbClr val="000000">
                  <a:alpha val="30000"/>
                </a:srgbClr>
              </a:outerShdw>
            </a:effectLst>
          </p:spPr>
          <p:txBody>
            <a:bodyPr wrap="square" rtlCol="0" anchor="ctr"/>
            <a:lstStyle/>
            <a:p>
              <a:pPr algn="ctr"/>
              <a:endParaRPr/>
            </a:p>
          </p:txBody>
        </p:sp>
        <p:sp>
          <p:nvSpPr>
            <p:cNvPr id="48" name="TextBox 47"/>
            <p:cNvSpPr txBox="1"/>
            <p:nvPr/>
          </p:nvSpPr>
          <p:spPr>
            <a:xfrm>
              <a:off x="1595628" y="4261104"/>
              <a:ext cx="2148840" cy="365760"/>
            </a:xfrm>
            <a:prstGeom prst="rect">
              <a:avLst/>
            </a:prstGeom>
            <a:noFill/>
          </p:spPr>
          <p:txBody>
            <a:bodyPr wrap="square" lIns="0" tIns="0" rIns="0" bIns="0" anchor="t">
              <a:noAutofit/>
            </a:bodyPr>
            <a:lstStyle/>
            <a:p>
              <a:pPr algn="l">
                <a:lnSpc>
                  <a:spcPct val="112000"/>
                </a:lnSpc>
                <a:spcAft>
                  <a:spcPts val="0"/>
                </a:spcAft>
              </a:pPr>
              <a:r>
                <a:rPr sz="1700" b="0" i="0">
                  <a:solidFill>
                    <a:srgbClr val="7DB3F5"/>
                  </a:solidFill>
                  <a:latin typeface="Segoe UI Semibold"/>
                </a:rPr>
                <a:t>2011</a:t>
              </a:r>
            </a:p>
          </p:txBody>
        </p:sp>
        <p:sp>
          <p:nvSpPr>
            <p:cNvPr id="49" name="TextBox 48"/>
            <p:cNvSpPr txBox="1"/>
            <p:nvPr/>
          </p:nvSpPr>
          <p:spPr>
            <a:xfrm>
              <a:off x="1595628" y="4608576"/>
              <a:ext cx="2148840" cy="320040"/>
            </a:xfrm>
            <a:prstGeom prst="rect">
              <a:avLst/>
            </a:prstGeom>
            <a:noFill/>
          </p:spPr>
          <p:txBody>
            <a:bodyPr wrap="square" lIns="0" tIns="0" rIns="0" bIns="0" anchor="t">
              <a:noAutofit/>
            </a:bodyPr>
            <a:lstStyle/>
            <a:p>
              <a:pPr algn="l">
                <a:lnSpc>
                  <a:spcPct val="112000"/>
                </a:lnSpc>
                <a:spcAft>
                  <a:spcPts val="0"/>
                </a:spcAft>
              </a:pPr>
              <a:r>
                <a:rPr sz="1300" b="0" i="0">
                  <a:solidFill>
                    <a:srgbClr val="FFFFFF"/>
                  </a:solidFill>
                  <a:latin typeface="Segoe UI Semibold"/>
                </a:rPr>
                <a:t>Standards</a:t>
              </a:r>
            </a:p>
          </p:txBody>
        </p:sp>
        <p:sp>
          <p:nvSpPr>
            <p:cNvPr id="50" name="TextBox 49"/>
            <p:cNvSpPr txBox="1"/>
            <p:nvPr/>
          </p:nvSpPr>
          <p:spPr>
            <a:xfrm>
              <a:off x="1595628" y="4937760"/>
              <a:ext cx="2148840" cy="822960"/>
            </a:xfrm>
            <a:prstGeom prst="rect">
              <a:avLst/>
            </a:prstGeom>
            <a:noFill/>
          </p:spPr>
          <p:txBody>
            <a:bodyPr wrap="square" lIns="0" tIns="0" rIns="0" bIns="0" anchor="t">
              <a:noAutofit/>
            </a:bodyPr>
            <a:lstStyle/>
            <a:p>
              <a:pPr algn="l">
                <a:lnSpc>
                  <a:spcPct val="110000"/>
                </a:lnSpc>
                <a:spcAft>
                  <a:spcPts val="0"/>
                </a:spcAft>
              </a:pPr>
              <a:r>
                <a:rPr sz="1100" b="0" i="0">
                  <a:solidFill>
                    <a:srgbClr val="C9D2E3"/>
                  </a:solidFill>
                  <a:latin typeface="Segoe UI"/>
                </a:rPr>
                <a:t>NIST SP 800-145 defines cloud; SP 500-292 adds the cloud broker</a:t>
              </a:r>
            </a:p>
          </p:txBody>
        </p:sp>
      </p:grpSp>
      <p:grpSp>
        <p:nvGrpSpPr>
          <p:cNvPr id="51" name="Group 50"/>
          <p:cNvGrpSpPr/>
          <p:nvPr/>
        </p:nvGrpSpPr>
        <p:grpSpPr>
          <a:xfrm>
            <a:off x="3122676" y="1719072"/>
            <a:ext cx="2514600" cy="2167128"/>
            <a:chOff x="3122676" y="1719072"/>
            <a:chExt cx="2514600" cy="2167128"/>
          </a:xfrm>
        </p:grpSpPr>
        <p:cxnSp>
          <p:nvCxnSpPr>
            <p:cNvPr id="52" name="Connector 51"/>
            <p:cNvCxnSpPr/>
            <p:nvPr/>
          </p:nvCxnSpPr>
          <p:spPr>
            <a:xfrm flipV="1">
              <a:off x="4379976" y="3383280"/>
              <a:ext cx="0" cy="384048"/>
            </a:xfrm>
            <a:prstGeom prst="line">
              <a:avLst/>
            </a:prstGeom>
            <a:ln w="15875">
              <a:solidFill>
                <a:srgbClr val="199E70">
                  <a:alpha val="80000"/>
                </a:srgbClr>
              </a:solidFill>
            </a:ln>
          </p:spPr>
        </p:cxnSp>
        <p:sp>
          <p:nvSpPr>
            <p:cNvPr id="53" name="Oval 52"/>
            <p:cNvSpPr/>
            <p:nvPr/>
          </p:nvSpPr>
          <p:spPr>
            <a:xfrm>
              <a:off x="4261104" y="3648456"/>
              <a:ext cx="237744" cy="237744"/>
            </a:xfrm>
            <a:prstGeom prst="ellipse">
              <a:avLst/>
            </a:prstGeom>
            <a:solidFill>
              <a:srgbClr val="199E70"/>
            </a:solidFill>
            <a:ln w="31750">
              <a:solidFill>
                <a:srgbClr val="08101F"/>
              </a:solidFill>
            </a:ln>
          </p:spPr>
          <p:txBody>
            <a:bodyPr wrap="square" rtlCol="0" anchor="ctr"/>
            <a:lstStyle/>
            <a:p>
              <a:pPr algn="ctr"/>
              <a:endParaRPr/>
            </a:p>
          </p:txBody>
        </p:sp>
        <p:sp>
          <p:nvSpPr>
            <p:cNvPr id="54" name="Rounded Rectangle 53"/>
            <p:cNvSpPr/>
            <p:nvPr/>
          </p:nvSpPr>
          <p:spPr>
            <a:xfrm>
              <a:off x="3122676" y="1719072"/>
              <a:ext cx="2514600" cy="1664208"/>
            </a:xfrm>
            <a:prstGeom prst="roundRect">
              <a:avLst>
                <a:gd name="adj" fmla="val 8000"/>
              </a:avLst>
            </a:prstGeom>
            <a:gradFill rotWithShape="1">
              <a:gsLst>
                <a:gs pos="0">
                  <a:srgbClr val="182A4C"/>
                </a:gs>
                <a:gs pos="100000">
                  <a:srgbClr val="13213D"/>
                </a:gs>
              </a:gsLst>
              <a:lin ang="5400000" scaled="0"/>
            </a:gradFill>
            <a:ln w="9525">
              <a:solidFill>
                <a:srgbClr val="2A3F69"/>
              </a:solidFill>
            </a:ln>
            <a:effectLst>
              <a:outerShdw blurRad="177800" dist="38100" dir="5400000" algn="t" rotWithShape="0">
                <a:srgbClr val="000000">
                  <a:alpha val="30000"/>
                </a:srgbClr>
              </a:outerShdw>
            </a:effectLst>
          </p:spPr>
          <p:txBody>
            <a:bodyPr wrap="square" rtlCol="0" anchor="ctr"/>
            <a:lstStyle/>
            <a:p>
              <a:pPr algn="ctr"/>
              <a:endParaRPr/>
            </a:p>
          </p:txBody>
        </p:sp>
        <p:sp>
          <p:nvSpPr>
            <p:cNvPr id="55" name="TextBox 54"/>
            <p:cNvSpPr txBox="1"/>
            <p:nvPr/>
          </p:nvSpPr>
          <p:spPr>
            <a:xfrm>
              <a:off x="3305556" y="1828800"/>
              <a:ext cx="2148840" cy="365760"/>
            </a:xfrm>
            <a:prstGeom prst="rect">
              <a:avLst/>
            </a:prstGeom>
            <a:noFill/>
          </p:spPr>
          <p:txBody>
            <a:bodyPr wrap="square" lIns="0" tIns="0" rIns="0" bIns="0" anchor="t">
              <a:noAutofit/>
            </a:bodyPr>
            <a:lstStyle/>
            <a:p>
              <a:pPr algn="l">
                <a:lnSpc>
                  <a:spcPct val="112000"/>
                </a:lnSpc>
                <a:spcAft>
                  <a:spcPts val="0"/>
                </a:spcAft>
              </a:pPr>
              <a:r>
                <a:rPr sz="1700" b="0" i="0">
                  <a:solidFill>
                    <a:srgbClr val="4FD1A1"/>
                  </a:solidFill>
                  <a:latin typeface="Segoe UI Semibold"/>
                </a:rPr>
                <a:t>2014</a:t>
              </a:r>
            </a:p>
          </p:txBody>
        </p:sp>
        <p:sp>
          <p:nvSpPr>
            <p:cNvPr id="56" name="TextBox 55"/>
            <p:cNvSpPr txBox="1"/>
            <p:nvPr/>
          </p:nvSpPr>
          <p:spPr>
            <a:xfrm>
              <a:off x="3305556" y="2176272"/>
              <a:ext cx="2148840" cy="320040"/>
            </a:xfrm>
            <a:prstGeom prst="rect">
              <a:avLst/>
            </a:prstGeom>
            <a:noFill/>
          </p:spPr>
          <p:txBody>
            <a:bodyPr wrap="square" lIns="0" tIns="0" rIns="0" bIns="0" anchor="t">
              <a:noAutofit/>
            </a:bodyPr>
            <a:lstStyle/>
            <a:p>
              <a:pPr algn="l">
                <a:lnSpc>
                  <a:spcPct val="112000"/>
                </a:lnSpc>
                <a:spcAft>
                  <a:spcPts val="0"/>
                </a:spcAft>
              </a:pPr>
              <a:r>
                <a:rPr sz="1300" b="0" i="0">
                  <a:solidFill>
                    <a:srgbClr val="FFFFFF"/>
                  </a:solidFill>
                  <a:latin typeface="Segoe UI Semibold"/>
                </a:rPr>
                <a:t>Declarative era</a:t>
              </a:r>
            </a:p>
          </p:txBody>
        </p:sp>
        <p:sp>
          <p:nvSpPr>
            <p:cNvPr id="57" name="TextBox 56"/>
            <p:cNvSpPr txBox="1"/>
            <p:nvPr/>
          </p:nvSpPr>
          <p:spPr>
            <a:xfrm>
              <a:off x="3305556" y="2505456"/>
              <a:ext cx="2148840" cy="822960"/>
            </a:xfrm>
            <a:prstGeom prst="rect">
              <a:avLst/>
            </a:prstGeom>
            <a:noFill/>
          </p:spPr>
          <p:txBody>
            <a:bodyPr wrap="square" lIns="0" tIns="0" rIns="0" bIns="0" anchor="t">
              <a:noAutofit/>
            </a:bodyPr>
            <a:lstStyle/>
            <a:p>
              <a:pPr algn="l">
                <a:lnSpc>
                  <a:spcPct val="110000"/>
                </a:lnSpc>
                <a:spcAft>
                  <a:spcPts val="0"/>
                </a:spcAft>
              </a:pPr>
              <a:r>
                <a:rPr sz="1100" b="0" i="0">
                  <a:solidFill>
                    <a:srgbClr val="C9D2E3"/>
                  </a:solidFill>
                  <a:latin typeface="Segoe UI"/>
                </a:rPr>
                <a:t>Kubernetes and Terraform: portable workloads, infrastructure as code</a:t>
              </a:r>
            </a:p>
          </p:txBody>
        </p:sp>
      </p:grpSp>
      <p:grpSp>
        <p:nvGrpSpPr>
          <p:cNvPr id="58" name="Group 57"/>
          <p:cNvGrpSpPr/>
          <p:nvPr/>
        </p:nvGrpSpPr>
        <p:grpSpPr>
          <a:xfrm>
            <a:off x="4832604" y="3648456"/>
            <a:ext cx="2514600" cy="2167128"/>
            <a:chOff x="4832604" y="3648456"/>
            <a:chExt cx="2514600" cy="2167128"/>
          </a:xfrm>
        </p:grpSpPr>
        <p:cxnSp>
          <p:nvCxnSpPr>
            <p:cNvPr id="59" name="Connector 58"/>
            <p:cNvCxnSpPr/>
            <p:nvPr/>
          </p:nvCxnSpPr>
          <p:spPr>
            <a:xfrm>
              <a:off x="6089904" y="3767328"/>
              <a:ext cx="0" cy="384048"/>
            </a:xfrm>
            <a:prstGeom prst="line">
              <a:avLst/>
            </a:prstGeom>
            <a:ln w="15875">
              <a:solidFill>
                <a:srgbClr val="199E70">
                  <a:alpha val="80000"/>
                </a:srgbClr>
              </a:solidFill>
            </a:ln>
          </p:spPr>
        </p:cxnSp>
        <p:sp>
          <p:nvSpPr>
            <p:cNvPr id="60" name="Oval 59"/>
            <p:cNvSpPr/>
            <p:nvPr/>
          </p:nvSpPr>
          <p:spPr>
            <a:xfrm>
              <a:off x="5971032" y="3648456"/>
              <a:ext cx="237744" cy="237744"/>
            </a:xfrm>
            <a:prstGeom prst="ellipse">
              <a:avLst/>
            </a:prstGeom>
            <a:solidFill>
              <a:srgbClr val="199E70"/>
            </a:solidFill>
            <a:ln w="31750">
              <a:solidFill>
                <a:srgbClr val="08101F"/>
              </a:solidFill>
            </a:ln>
          </p:spPr>
          <p:txBody>
            <a:bodyPr wrap="square" rtlCol="0" anchor="ctr"/>
            <a:lstStyle/>
            <a:p>
              <a:pPr algn="ctr"/>
              <a:endParaRPr/>
            </a:p>
          </p:txBody>
        </p:sp>
        <p:sp>
          <p:nvSpPr>
            <p:cNvPr id="61" name="Rounded Rectangle 60"/>
            <p:cNvSpPr/>
            <p:nvPr/>
          </p:nvSpPr>
          <p:spPr>
            <a:xfrm>
              <a:off x="4832604" y="4151376"/>
              <a:ext cx="2514600" cy="1664208"/>
            </a:xfrm>
            <a:prstGeom prst="roundRect">
              <a:avLst>
                <a:gd name="adj" fmla="val 8000"/>
              </a:avLst>
            </a:prstGeom>
            <a:gradFill rotWithShape="1">
              <a:gsLst>
                <a:gs pos="0">
                  <a:srgbClr val="182A4C"/>
                </a:gs>
                <a:gs pos="100000">
                  <a:srgbClr val="13213D"/>
                </a:gs>
              </a:gsLst>
              <a:lin ang="5400000" scaled="0"/>
            </a:gradFill>
            <a:ln w="9525">
              <a:solidFill>
                <a:srgbClr val="2A3F69"/>
              </a:solidFill>
            </a:ln>
            <a:effectLst>
              <a:outerShdw blurRad="177800" dist="38100" dir="5400000" algn="t" rotWithShape="0">
                <a:srgbClr val="000000">
                  <a:alpha val="30000"/>
                </a:srgbClr>
              </a:outerShdw>
            </a:effectLst>
          </p:spPr>
          <p:txBody>
            <a:bodyPr wrap="square" rtlCol="0" anchor="ctr"/>
            <a:lstStyle/>
            <a:p>
              <a:pPr algn="ctr"/>
              <a:endParaRPr/>
            </a:p>
          </p:txBody>
        </p:sp>
        <p:sp>
          <p:nvSpPr>
            <p:cNvPr id="62" name="TextBox 61"/>
            <p:cNvSpPr txBox="1"/>
            <p:nvPr/>
          </p:nvSpPr>
          <p:spPr>
            <a:xfrm>
              <a:off x="5015484" y="4261104"/>
              <a:ext cx="2148840" cy="365760"/>
            </a:xfrm>
            <a:prstGeom prst="rect">
              <a:avLst/>
            </a:prstGeom>
            <a:noFill/>
          </p:spPr>
          <p:txBody>
            <a:bodyPr wrap="square" lIns="0" tIns="0" rIns="0" bIns="0" anchor="t">
              <a:noAutofit/>
            </a:bodyPr>
            <a:lstStyle/>
            <a:p>
              <a:pPr algn="l">
                <a:lnSpc>
                  <a:spcPct val="112000"/>
                </a:lnSpc>
                <a:spcAft>
                  <a:spcPts val="0"/>
                </a:spcAft>
              </a:pPr>
              <a:r>
                <a:rPr sz="1700" b="0" i="0">
                  <a:solidFill>
                    <a:srgbClr val="4FD1A1"/>
                  </a:solidFill>
                  <a:latin typeface="Segoe UI Semibold"/>
                </a:rPr>
                <a:t>2017–19</a:t>
              </a:r>
            </a:p>
          </p:txBody>
        </p:sp>
        <p:sp>
          <p:nvSpPr>
            <p:cNvPr id="63" name="TextBox 62"/>
            <p:cNvSpPr txBox="1"/>
            <p:nvPr/>
          </p:nvSpPr>
          <p:spPr>
            <a:xfrm>
              <a:off x="5015484" y="4608576"/>
              <a:ext cx="2148840" cy="320040"/>
            </a:xfrm>
            <a:prstGeom prst="rect">
              <a:avLst/>
            </a:prstGeom>
            <a:noFill/>
          </p:spPr>
          <p:txBody>
            <a:bodyPr wrap="square" lIns="0" tIns="0" rIns="0" bIns="0" anchor="t">
              <a:noAutofit/>
            </a:bodyPr>
            <a:lstStyle/>
            <a:p>
              <a:pPr algn="l">
                <a:lnSpc>
                  <a:spcPct val="112000"/>
                </a:lnSpc>
                <a:spcAft>
                  <a:spcPts val="0"/>
                </a:spcAft>
              </a:pPr>
              <a:r>
                <a:rPr sz="1300" b="0" i="0">
                  <a:solidFill>
                    <a:srgbClr val="FFFFFF"/>
                  </a:solidFill>
                  <a:latin typeface="Segoe UI Semibold"/>
                </a:rPr>
                <a:t>Hybrid control planes</a:t>
              </a:r>
            </a:p>
          </p:txBody>
        </p:sp>
        <p:sp>
          <p:nvSpPr>
            <p:cNvPr id="64" name="TextBox 63"/>
            <p:cNvSpPr txBox="1"/>
            <p:nvPr/>
          </p:nvSpPr>
          <p:spPr>
            <a:xfrm>
              <a:off x="5015484" y="4937760"/>
              <a:ext cx="2148840" cy="822960"/>
            </a:xfrm>
            <a:prstGeom prst="rect">
              <a:avLst/>
            </a:prstGeom>
            <a:noFill/>
          </p:spPr>
          <p:txBody>
            <a:bodyPr wrap="square" lIns="0" tIns="0" rIns="0" bIns="0" anchor="t">
              <a:noAutofit/>
            </a:bodyPr>
            <a:lstStyle/>
            <a:p>
              <a:pPr algn="l">
                <a:lnSpc>
                  <a:spcPct val="110000"/>
                </a:lnSpc>
                <a:spcAft>
                  <a:spcPts val="0"/>
                </a:spcAft>
              </a:pPr>
              <a:r>
                <a:rPr sz="1100" b="0" i="0">
                  <a:solidFill>
                    <a:srgbClr val="C9D2E3"/>
                  </a:solidFill>
                  <a:latin typeface="Segoe UI"/>
                </a:rPr>
                <a:t>Managed K8s everywhere; Anthos, Azure Arc; FinOps Foundation</a:t>
              </a:r>
            </a:p>
          </p:txBody>
        </p:sp>
      </p:grpSp>
      <p:grpSp>
        <p:nvGrpSpPr>
          <p:cNvPr id="65" name="Group 64"/>
          <p:cNvGrpSpPr/>
          <p:nvPr/>
        </p:nvGrpSpPr>
        <p:grpSpPr>
          <a:xfrm>
            <a:off x="6542532" y="1719072"/>
            <a:ext cx="2514600" cy="2167128"/>
            <a:chOff x="6542532" y="1719072"/>
            <a:chExt cx="2514600" cy="2167128"/>
          </a:xfrm>
        </p:grpSpPr>
        <p:cxnSp>
          <p:nvCxnSpPr>
            <p:cNvPr id="66" name="Connector 65"/>
            <p:cNvCxnSpPr/>
            <p:nvPr/>
          </p:nvCxnSpPr>
          <p:spPr>
            <a:xfrm flipV="1">
              <a:off x="7799832" y="3383280"/>
              <a:ext cx="0" cy="384048"/>
            </a:xfrm>
            <a:prstGeom prst="line">
              <a:avLst/>
            </a:prstGeom>
            <a:ln w="15875">
              <a:solidFill>
                <a:srgbClr val="9085E9">
                  <a:alpha val="80000"/>
                </a:srgbClr>
              </a:solidFill>
            </a:ln>
          </p:spPr>
        </p:cxnSp>
        <p:sp>
          <p:nvSpPr>
            <p:cNvPr id="67" name="Oval 66"/>
            <p:cNvSpPr/>
            <p:nvPr/>
          </p:nvSpPr>
          <p:spPr>
            <a:xfrm>
              <a:off x="7680960" y="3648456"/>
              <a:ext cx="237744" cy="237744"/>
            </a:xfrm>
            <a:prstGeom prst="ellipse">
              <a:avLst/>
            </a:prstGeom>
            <a:solidFill>
              <a:srgbClr val="9085E9"/>
            </a:solidFill>
            <a:ln w="31750">
              <a:solidFill>
                <a:srgbClr val="08101F"/>
              </a:solidFill>
            </a:ln>
          </p:spPr>
          <p:txBody>
            <a:bodyPr wrap="square" rtlCol="0" anchor="ctr"/>
            <a:lstStyle/>
            <a:p>
              <a:pPr algn="ctr"/>
              <a:endParaRPr/>
            </a:p>
          </p:txBody>
        </p:sp>
        <p:sp>
          <p:nvSpPr>
            <p:cNvPr id="68" name="Rounded Rectangle 67"/>
            <p:cNvSpPr/>
            <p:nvPr/>
          </p:nvSpPr>
          <p:spPr>
            <a:xfrm>
              <a:off x="6542532" y="1719072"/>
              <a:ext cx="2514600" cy="1664208"/>
            </a:xfrm>
            <a:prstGeom prst="roundRect">
              <a:avLst>
                <a:gd name="adj" fmla="val 8000"/>
              </a:avLst>
            </a:prstGeom>
            <a:gradFill rotWithShape="1">
              <a:gsLst>
                <a:gs pos="0">
                  <a:srgbClr val="182A4C"/>
                </a:gs>
                <a:gs pos="100000">
                  <a:srgbClr val="13213D"/>
                </a:gs>
              </a:gsLst>
              <a:lin ang="5400000" scaled="0"/>
            </a:gradFill>
            <a:ln w="9525">
              <a:solidFill>
                <a:srgbClr val="2A3F69"/>
              </a:solidFill>
            </a:ln>
            <a:effectLst>
              <a:outerShdw blurRad="177800" dist="38100" dir="5400000" algn="t" rotWithShape="0">
                <a:srgbClr val="000000">
                  <a:alpha val="30000"/>
                </a:srgbClr>
              </a:outerShdw>
            </a:effectLst>
          </p:spPr>
          <p:txBody>
            <a:bodyPr wrap="square" rtlCol="0" anchor="ctr"/>
            <a:lstStyle/>
            <a:p>
              <a:pPr algn="ctr"/>
              <a:endParaRPr/>
            </a:p>
          </p:txBody>
        </p:sp>
        <p:sp>
          <p:nvSpPr>
            <p:cNvPr id="69" name="TextBox 68"/>
            <p:cNvSpPr txBox="1"/>
            <p:nvPr/>
          </p:nvSpPr>
          <p:spPr>
            <a:xfrm>
              <a:off x="6725412" y="1828800"/>
              <a:ext cx="2148840" cy="365760"/>
            </a:xfrm>
            <a:prstGeom prst="rect">
              <a:avLst/>
            </a:prstGeom>
            <a:noFill/>
          </p:spPr>
          <p:txBody>
            <a:bodyPr wrap="square" lIns="0" tIns="0" rIns="0" bIns="0" anchor="t">
              <a:noAutofit/>
            </a:bodyPr>
            <a:lstStyle/>
            <a:p>
              <a:pPr algn="l">
                <a:lnSpc>
                  <a:spcPct val="112000"/>
                </a:lnSpc>
                <a:spcAft>
                  <a:spcPts val="0"/>
                </a:spcAft>
              </a:pPr>
              <a:r>
                <a:rPr sz="1700" b="0" i="0">
                  <a:solidFill>
                    <a:srgbClr val="B5ADF5"/>
                  </a:solidFill>
                  <a:latin typeface="Segoe UI Semibold"/>
                </a:rPr>
                <a:t>2021</a:t>
              </a:r>
            </a:p>
          </p:txBody>
        </p:sp>
        <p:sp>
          <p:nvSpPr>
            <p:cNvPr id="70" name="TextBox 69"/>
            <p:cNvSpPr txBox="1"/>
            <p:nvPr/>
          </p:nvSpPr>
          <p:spPr>
            <a:xfrm>
              <a:off x="6725412" y="2176272"/>
              <a:ext cx="2148840" cy="320040"/>
            </a:xfrm>
            <a:prstGeom prst="rect">
              <a:avLst/>
            </a:prstGeom>
            <a:noFill/>
          </p:spPr>
          <p:txBody>
            <a:bodyPr wrap="square" lIns="0" tIns="0" rIns="0" bIns="0" anchor="t">
              <a:noAutofit/>
            </a:bodyPr>
            <a:lstStyle/>
            <a:p>
              <a:pPr algn="l">
                <a:lnSpc>
                  <a:spcPct val="112000"/>
                </a:lnSpc>
                <a:spcAft>
                  <a:spcPts val="0"/>
                </a:spcAft>
              </a:pPr>
              <a:r>
                <a:rPr sz="1300" b="0" i="0">
                  <a:solidFill>
                    <a:srgbClr val="FFFFFF"/>
                  </a:solidFill>
                  <a:latin typeface="Segoe UI Semibold"/>
                </a:rPr>
                <a:t>Sky computing</a:t>
              </a:r>
            </a:p>
          </p:txBody>
        </p:sp>
        <p:sp>
          <p:nvSpPr>
            <p:cNvPr id="71" name="TextBox 70"/>
            <p:cNvSpPr txBox="1"/>
            <p:nvPr/>
          </p:nvSpPr>
          <p:spPr>
            <a:xfrm>
              <a:off x="6725412" y="2505456"/>
              <a:ext cx="2148840" cy="822960"/>
            </a:xfrm>
            <a:prstGeom prst="rect">
              <a:avLst/>
            </a:prstGeom>
            <a:noFill/>
          </p:spPr>
          <p:txBody>
            <a:bodyPr wrap="square" lIns="0" tIns="0" rIns="0" bIns="0" anchor="t">
              <a:noAutofit/>
            </a:bodyPr>
            <a:lstStyle/>
            <a:p>
              <a:pPr algn="l">
                <a:lnSpc>
                  <a:spcPct val="110000"/>
                </a:lnSpc>
                <a:spcAft>
                  <a:spcPts val="0"/>
                </a:spcAft>
              </a:pPr>
              <a:r>
                <a:rPr sz="1100" b="0" i="0">
                  <a:solidFill>
                    <a:srgbClr val="C9D2E3"/>
                  </a:solidFill>
                  <a:latin typeface="Segoe UI"/>
                </a:rPr>
                <a:t>Berkeley vision of a provider-agnostic layer; Karmada, Crossplane mature</a:t>
              </a:r>
            </a:p>
          </p:txBody>
        </p:sp>
      </p:grpSp>
      <p:grpSp>
        <p:nvGrpSpPr>
          <p:cNvPr id="72" name="Group 71"/>
          <p:cNvGrpSpPr/>
          <p:nvPr/>
        </p:nvGrpSpPr>
        <p:grpSpPr>
          <a:xfrm>
            <a:off x="8252460" y="3648456"/>
            <a:ext cx="2514600" cy="2167128"/>
            <a:chOff x="8252460" y="3648456"/>
            <a:chExt cx="2514600" cy="2167128"/>
          </a:xfrm>
        </p:grpSpPr>
        <p:cxnSp>
          <p:nvCxnSpPr>
            <p:cNvPr id="73" name="Connector 72"/>
            <p:cNvCxnSpPr/>
            <p:nvPr/>
          </p:nvCxnSpPr>
          <p:spPr>
            <a:xfrm>
              <a:off x="9509760" y="3767328"/>
              <a:ext cx="0" cy="384048"/>
            </a:xfrm>
            <a:prstGeom prst="line">
              <a:avLst/>
            </a:prstGeom>
            <a:ln w="15875">
              <a:solidFill>
                <a:srgbClr val="9085E9">
                  <a:alpha val="80000"/>
                </a:srgbClr>
              </a:solidFill>
            </a:ln>
          </p:spPr>
        </p:cxnSp>
        <p:sp>
          <p:nvSpPr>
            <p:cNvPr id="74" name="Oval 73"/>
            <p:cNvSpPr/>
            <p:nvPr/>
          </p:nvSpPr>
          <p:spPr>
            <a:xfrm>
              <a:off x="9390888" y="3648456"/>
              <a:ext cx="237744" cy="237744"/>
            </a:xfrm>
            <a:prstGeom prst="ellipse">
              <a:avLst/>
            </a:prstGeom>
            <a:solidFill>
              <a:srgbClr val="9085E9"/>
            </a:solidFill>
            <a:ln w="31750">
              <a:solidFill>
                <a:srgbClr val="08101F"/>
              </a:solidFill>
            </a:ln>
          </p:spPr>
          <p:txBody>
            <a:bodyPr wrap="square" rtlCol="0" anchor="ctr"/>
            <a:lstStyle/>
            <a:p>
              <a:pPr algn="ctr"/>
              <a:endParaRPr/>
            </a:p>
          </p:txBody>
        </p:sp>
        <p:sp>
          <p:nvSpPr>
            <p:cNvPr id="75" name="Rounded Rectangle 74"/>
            <p:cNvSpPr/>
            <p:nvPr/>
          </p:nvSpPr>
          <p:spPr>
            <a:xfrm>
              <a:off x="8252460" y="4151376"/>
              <a:ext cx="2514600" cy="1664208"/>
            </a:xfrm>
            <a:prstGeom prst="roundRect">
              <a:avLst>
                <a:gd name="adj" fmla="val 8000"/>
              </a:avLst>
            </a:prstGeom>
            <a:gradFill rotWithShape="1">
              <a:gsLst>
                <a:gs pos="0">
                  <a:srgbClr val="182A4C"/>
                </a:gs>
                <a:gs pos="100000">
                  <a:srgbClr val="13213D"/>
                </a:gs>
              </a:gsLst>
              <a:lin ang="5400000" scaled="0"/>
            </a:gradFill>
            <a:ln w="9525">
              <a:solidFill>
                <a:srgbClr val="2A3F69"/>
              </a:solidFill>
            </a:ln>
            <a:effectLst>
              <a:outerShdw blurRad="177800" dist="38100" dir="5400000" algn="t" rotWithShape="0">
                <a:srgbClr val="000000">
                  <a:alpha val="30000"/>
                </a:srgbClr>
              </a:outerShdw>
            </a:effectLst>
          </p:spPr>
          <p:txBody>
            <a:bodyPr wrap="square" rtlCol="0" anchor="ctr"/>
            <a:lstStyle/>
            <a:p>
              <a:pPr algn="ctr"/>
              <a:endParaRPr/>
            </a:p>
          </p:txBody>
        </p:sp>
        <p:sp>
          <p:nvSpPr>
            <p:cNvPr id="76" name="TextBox 75"/>
            <p:cNvSpPr txBox="1"/>
            <p:nvPr/>
          </p:nvSpPr>
          <p:spPr>
            <a:xfrm>
              <a:off x="8435340" y="4261104"/>
              <a:ext cx="2148840" cy="365760"/>
            </a:xfrm>
            <a:prstGeom prst="rect">
              <a:avLst/>
            </a:prstGeom>
            <a:noFill/>
          </p:spPr>
          <p:txBody>
            <a:bodyPr wrap="square" lIns="0" tIns="0" rIns="0" bIns="0" anchor="t">
              <a:noAutofit/>
            </a:bodyPr>
            <a:lstStyle/>
            <a:p>
              <a:pPr algn="l">
                <a:lnSpc>
                  <a:spcPct val="112000"/>
                </a:lnSpc>
                <a:spcAft>
                  <a:spcPts val="0"/>
                </a:spcAft>
              </a:pPr>
              <a:r>
                <a:rPr sz="1700" b="0" i="0">
                  <a:solidFill>
                    <a:srgbClr val="B5ADF5"/>
                  </a:solidFill>
                  <a:latin typeface="Segoe UI Semibold"/>
                </a:rPr>
                <a:t>2023–24</a:t>
              </a:r>
            </a:p>
          </p:txBody>
        </p:sp>
        <p:sp>
          <p:nvSpPr>
            <p:cNvPr id="77" name="TextBox 76"/>
            <p:cNvSpPr txBox="1"/>
            <p:nvPr/>
          </p:nvSpPr>
          <p:spPr>
            <a:xfrm>
              <a:off x="8435340" y="4608576"/>
              <a:ext cx="2148840" cy="320040"/>
            </a:xfrm>
            <a:prstGeom prst="rect">
              <a:avLst/>
            </a:prstGeom>
            <a:noFill/>
          </p:spPr>
          <p:txBody>
            <a:bodyPr wrap="square" lIns="0" tIns="0" rIns="0" bIns="0" anchor="t">
              <a:noAutofit/>
            </a:bodyPr>
            <a:lstStyle/>
            <a:p>
              <a:pPr algn="l">
                <a:lnSpc>
                  <a:spcPct val="112000"/>
                </a:lnSpc>
                <a:spcAft>
                  <a:spcPts val="0"/>
                </a:spcAft>
              </a:pPr>
              <a:r>
                <a:rPr sz="1300" b="0" i="0">
                  <a:solidFill>
                    <a:srgbClr val="FFFFFF"/>
                  </a:solidFill>
                  <a:latin typeface="Segoe UI Semibold"/>
                </a:rPr>
                <a:t>Open standards</a:t>
              </a:r>
            </a:p>
          </p:txBody>
        </p:sp>
        <p:sp>
          <p:nvSpPr>
            <p:cNvPr id="78" name="TextBox 77"/>
            <p:cNvSpPr txBox="1"/>
            <p:nvPr/>
          </p:nvSpPr>
          <p:spPr>
            <a:xfrm>
              <a:off x="8435340" y="4937760"/>
              <a:ext cx="2148840" cy="822960"/>
            </a:xfrm>
            <a:prstGeom prst="rect">
              <a:avLst/>
            </a:prstGeom>
            <a:noFill/>
          </p:spPr>
          <p:txBody>
            <a:bodyPr wrap="square" lIns="0" tIns="0" rIns="0" bIns="0" anchor="t">
              <a:noAutofit/>
            </a:bodyPr>
            <a:lstStyle/>
            <a:p>
              <a:pPr algn="l">
                <a:lnSpc>
                  <a:spcPct val="110000"/>
                </a:lnSpc>
                <a:spcAft>
                  <a:spcPts val="0"/>
                </a:spcAft>
              </a:pPr>
              <a:r>
                <a:rPr sz="1100" b="0" i="0">
                  <a:solidFill>
                    <a:srgbClr val="C9D2E3"/>
                  </a:solidFill>
                  <a:latin typeface="Segoe UI"/>
                </a:rPr>
                <a:t>SkyPilot (NSDI '23), OpenTofu fork, FOCUS 1.0 billing spec</a:t>
              </a:r>
            </a:p>
          </p:txBody>
        </p:sp>
      </p:grpSp>
      <p:grpSp>
        <p:nvGrpSpPr>
          <p:cNvPr id="79" name="Group 78"/>
          <p:cNvGrpSpPr/>
          <p:nvPr/>
        </p:nvGrpSpPr>
        <p:grpSpPr>
          <a:xfrm>
            <a:off x="9128455" y="1719072"/>
            <a:ext cx="2514600" cy="2167128"/>
            <a:chOff x="9128455" y="1719072"/>
            <a:chExt cx="2514600" cy="2167128"/>
          </a:xfrm>
        </p:grpSpPr>
        <p:cxnSp>
          <p:nvCxnSpPr>
            <p:cNvPr id="80" name="Connector 79"/>
            <p:cNvCxnSpPr/>
            <p:nvPr/>
          </p:nvCxnSpPr>
          <p:spPr>
            <a:xfrm flipV="1">
              <a:off x="11219688" y="3383280"/>
              <a:ext cx="0" cy="384048"/>
            </a:xfrm>
            <a:prstGeom prst="line">
              <a:avLst/>
            </a:prstGeom>
            <a:ln w="15875">
              <a:solidFill>
                <a:srgbClr val="D95926">
                  <a:alpha val="80000"/>
                </a:srgbClr>
              </a:solidFill>
            </a:ln>
          </p:spPr>
        </p:cxnSp>
        <p:sp>
          <p:nvSpPr>
            <p:cNvPr id="81" name="Oval 80"/>
            <p:cNvSpPr/>
            <p:nvPr/>
          </p:nvSpPr>
          <p:spPr>
            <a:xfrm>
              <a:off x="11100816" y="3648456"/>
              <a:ext cx="237744" cy="237744"/>
            </a:xfrm>
            <a:prstGeom prst="ellipse">
              <a:avLst/>
            </a:prstGeom>
            <a:solidFill>
              <a:srgbClr val="D95926"/>
            </a:solidFill>
            <a:ln w="31750">
              <a:solidFill>
                <a:srgbClr val="08101F"/>
              </a:solidFill>
            </a:ln>
          </p:spPr>
          <p:txBody>
            <a:bodyPr wrap="square" rtlCol="0" anchor="ctr"/>
            <a:lstStyle/>
            <a:p>
              <a:pPr algn="ctr"/>
              <a:endParaRPr/>
            </a:p>
          </p:txBody>
        </p:sp>
        <p:sp>
          <p:nvSpPr>
            <p:cNvPr id="82" name="Rounded Rectangle 81"/>
            <p:cNvSpPr/>
            <p:nvPr/>
          </p:nvSpPr>
          <p:spPr>
            <a:xfrm>
              <a:off x="9128455" y="1719072"/>
              <a:ext cx="2514600" cy="1664208"/>
            </a:xfrm>
            <a:prstGeom prst="roundRect">
              <a:avLst>
                <a:gd name="adj" fmla="val 8000"/>
              </a:avLst>
            </a:prstGeom>
            <a:gradFill rotWithShape="1">
              <a:gsLst>
                <a:gs pos="0">
                  <a:srgbClr val="182A4C"/>
                </a:gs>
                <a:gs pos="100000">
                  <a:srgbClr val="13213D"/>
                </a:gs>
              </a:gsLst>
              <a:lin ang="5400000" scaled="0"/>
            </a:gradFill>
            <a:ln w="9525">
              <a:solidFill>
                <a:srgbClr val="2A3F69"/>
              </a:solidFill>
            </a:ln>
            <a:effectLst>
              <a:outerShdw blurRad="177800" dist="38100" dir="5400000" algn="t" rotWithShape="0">
                <a:srgbClr val="000000">
                  <a:alpha val="30000"/>
                </a:srgbClr>
              </a:outerShdw>
            </a:effectLst>
          </p:spPr>
          <p:txBody>
            <a:bodyPr wrap="square" rtlCol="0" anchor="ctr"/>
            <a:lstStyle/>
            <a:p>
              <a:pPr algn="ctr"/>
              <a:endParaRPr/>
            </a:p>
          </p:txBody>
        </p:sp>
        <p:sp>
          <p:nvSpPr>
            <p:cNvPr id="83" name="TextBox 82"/>
            <p:cNvSpPr txBox="1"/>
            <p:nvPr/>
          </p:nvSpPr>
          <p:spPr>
            <a:xfrm>
              <a:off x="9311335" y="1828800"/>
              <a:ext cx="2148840" cy="365760"/>
            </a:xfrm>
            <a:prstGeom prst="rect">
              <a:avLst/>
            </a:prstGeom>
            <a:noFill/>
          </p:spPr>
          <p:txBody>
            <a:bodyPr wrap="square" lIns="0" tIns="0" rIns="0" bIns="0" anchor="t">
              <a:noAutofit/>
            </a:bodyPr>
            <a:lstStyle/>
            <a:p>
              <a:pPr algn="l">
                <a:lnSpc>
                  <a:spcPct val="112000"/>
                </a:lnSpc>
                <a:spcAft>
                  <a:spcPts val="0"/>
                </a:spcAft>
              </a:pPr>
              <a:r>
                <a:rPr sz="1700" b="0" i="0">
                  <a:solidFill>
                    <a:srgbClr val="F4925F"/>
                  </a:solidFill>
                  <a:latin typeface="Segoe UI Semibold"/>
                </a:rPr>
                <a:t>2025–26</a:t>
              </a:r>
            </a:p>
          </p:txBody>
        </p:sp>
        <p:sp>
          <p:nvSpPr>
            <p:cNvPr id="84" name="TextBox 83"/>
            <p:cNvSpPr txBox="1"/>
            <p:nvPr/>
          </p:nvSpPr>
          <p:spPr>
            <a:xfrm>
              <a:off x="9311335" y="2176272"/>
              <a:ext cx="2148840" cy="320040"/>
            </a:xfrm>
            <a:prstGeom prst="rect">
              <a:avLst/>
            </a:prstGeom>
            <a:noFill/>
          </p:spPr>
          <p:txBody>
            <a:bodyPr wrap="square" lIns="0" tIns="0" rIns="0" bIns="0" anchor="t">
              <a:noAutofit/>
            </a:bodyPr>
            <a:lstStyle/>
            <a:p>
              <a:pPr algn="l">
                <a:lnSpc>
                  <a:spcPct val="112000"/>
                </a:lnSpc>
                <a:spcAft>
                  <a:spcPts val="0"/>
                </a:spcAft>
              </a:pPr>
              <a:r>
                <a:rPr sz="1300" b="0" i="0">
                  <a:solidFill>
                    <a:srgbClr val="FFFFFF"/>
                  </a:solidFill>
                  <a:latin typeface="Segoe UI Semibold"/>
                </a:rPr>
                <a:t>Autonomous ops</a:t>
              </a:r>
            </a:p>
          </p:txBody>
        </p:sp>
        <p:sp>
          <p:nvSpPr>
            <p:cNvPr id="85" name="TextBox 84"/>
            <p:cNvSpPr txBox="1"/>
            <p:nvPr/>
          </p:nvSpPr>
          <p:spPr>
            <a:xfrm>
              <a:off x="9311335" y="2505456"/>
              <a:ext cx="2148840" cy="822960"/>
            </a:xfrm>
            <a:prstGeom prst="rect">
              <a:avLst/>
            </a:prstGeom>
            <a:noFill/>
          </p:spPr>
          <p:txBody>
            <a:bodyPr wrap="square" lIns="0" tIns="0" rIns="0" bIns="0" anchor="t">
              <a:noAutofit/>
            </a:bodyPr>
            <a:lstStyle/>
            <a:p>
              <a:pPr algn="l">
                <a:lnSpc>
                  <a:spcPct val="110000"/>
                </a:lnSpc>
                <a:spcAft>
                  <a:spcPts val="0"/>
                </a:spcAft>
              </a:pPr>
              <a:r>
                <a:rPr sz="1100" b="0" i="0">
                  <a:solidFill>
                    <a:srgbClr val="C9D2E3"/>
                  </a:solidFill>
                  <a:latin typeface="Segoe UI"/>
                </a:rPr>
                <a:t>AI-agent optimization, sovereign clouds, carbon-aware scheduling</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1200"/>
                                        <p:tgtEl>
                                          <p:spTgt spid="36"/>
                                        </p:tgtEl>
                                      </p:cBhvr>
                                    </p:animEffect>
                                  </p:childTnLst>
                                </p:cTn>
                              </p:par>
                              <p:par>
                                <p:cTn id="8" presetID="42" presetClass="entr" presetSubtype="0" fill="hold" nodeType="withEffect">
                                  <p:stCondLst>
                                    <p:cond delay="71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600"/>
                                        <p:tgtEl>
                                          <p:spTgt spid="37"/>
                                        </p:tgtEl>
                                      </p:cBhvr>
                                    </p:animEffect>
                                    <p:anim calcmode="lin" valueType="num">
                                      <p:cBhvr>
                                        <p:cTn id="11" dur="600" fill="hold"/>
                                        <p:tgtEl>
                                          <p:spTgt spid="37"/>
                                        </p:tgtEl>
                                        <p:attrNameLst>
                                          <p:attrName>ppt_x</p:attrName>
                                        </p:attrNameLst>
                                      </p:cBhvr>
                                      <p:tavLst>
                                        <p:tav tm="0">
                                          <p:val>
                                            <p:strVal val="#ppt_x"/>
                                          </p:val>
                                        </p:tav>
                                        <p:tav tm="100000">
                                          <p:val>
                                            <p:strVal val="#ppt_x"/>
                                          </p:val>
                                        </p:tav>
                                      </p:tavLst>
                                    </p:anim>
                                    <p:anim calcmode="lin" valueType="num">
                                      <p:cBhvr>
                                        <p:cTn id="12" dur="600" fill="hold"/>
                                        <p:tgtEl>
                                          <p:spTgt spid="37"/>
                                        </p:tgtEl>
                                        <p:attrNameLst>
                                          <p:attrName>ppt_y</p:attrName>
                                        </p:attrNameLst>
                                      </p:cBhvr>
                                      <p:tavLst>
                                        <p:tav tm="0">
                                          <p:val>
                                            <p:strVal val="#ppt_y+.04"/>
                                          </p:val>
                                        </p:tav>
                                        <p:tav tm="100000">
                                          <p:val>
                                            <p:strVal val="#ppt_y"/>
                                          </p:val>
                                        </p:tav>
                                      </p:tavLst>
                                    </p:anim>
                                  </p:childTnLst>
                                </p:cTn>
                              </p:par>
                              <p:par>
                                <p:cTn id="13" presetID="42" presetClass="entr" presetSubtype="0" fill="hold" nodeType="withEffect">
                                  <p:stCondLst>
                                    <p:cond delay="870"/>
                                  </p:stCondLst>
                                  <p:childTnLst>
                                    <p:set>
                                      <p:cBhvr>
                                        <p:cTn id="14" dur="1" fill="hold">
                                          <p:stCondLst>
                                            <p:cond delay="0"/>
                                          </p:stCondLst>
                                        </p:cTn>
                                        <p:tgtEl>
                                          <p:spTgt spid="44"/>
                                        </p:tgtEl>
                                        <p:attrNameLst>
                                          <p:attrName>style.visibility</p:attrName>
                                        </p:attrNameLst>
                                      </p:cBhvr>
                                      <p:to>
                                        <p:strVal val="visible"/>
                                      </p:to>
                                    </p:set>
                                    <p:animEffect transition="in" filter="fade">
                                      <p:cBhvr>
                                        <p:cTn id="15" dur="600"/>
                                        <p:tgtEl>
                                          <p:spTgt spid="44"/>
                                        </p:tgtEl>
                                      </p:cBhvr>
                                    </p:animEffect>
                                    <p:anim calcmode="lin" valueType="num">
                                      <p:cBhvr>
                                        <p:cTn id="16" dur="600" fill="hold"/>
                                        <p:tgtEl>
                                          <p:spTgt spid="44"/>
                                        </p:tgtEl>
                                        <p:attrNameLst>
                                          <p:attrName>ppt_x</p:attrName>
                                        </p:attrNameLst>
                                      </p:cBhvr>
                                      <p:tavLst>
                                        <p:tav tm="0">
                                          <p:val>
                                            <p:strVal val="#ppt_x"/>
                                          </p:val>
                                        </p:tav>
                                        <p:tav tm="100000">
                                          <p:val>
                                            <p:strVal val="#ppt_x"/>
                                          </p:val>
                                        </p:tav>
                                      </p:tavLst>
                                    </p:anim>
                                    <p:anim calcmode="lin" valueType="num">
                                      <p:cBhvr>
                                        <p:cTn id="17" dur="600" fill="hold"/>
                                        <p:tgtEl>
                                          <p:spTgt spid="44"/>
                                        </p:tgtEl>
                                        <p:attrNameLst>
                                          <p:attrName>ppt_y</p:attrName>
                                        </p:attrNameLst>
                                      </p:cBhvr>
                                      <p:tavLst>
                                        <p:tav tm="0">
                                          <p:val>
                                            <p:strVal val="#ppt_y+.08"/>
                                          </p:val>
                                        </p:tav>
                                        <p:tav tm="100000">
                                          <p:val>
                                            <p:strVal val="#ppt_y"/>
                                          </p:val>
                                        </p:tav>
                                      </p:tavLst>
                                    </p:anim>
                                  </p:childTnLst>
                                </p:cTn>
                              </p:par>
                              <p:par>
                                <p:cTn id="18" presetID="42" presetClass="entr" presetSubtype="0" fill="hold" nodeType="withEffect">
                                  <p:stCondLst>
                                    <p:cond delay="1030"/>
                                  </p:stCondLst>
                                  <p:childTnLst>
                                    <p:set>
                                      <p:cBhvr>
                                        <p:cTn id="19" dur="1" fill="hold">
                                          <p:stCondLst>
                                            <p:cond delay="0"/>
                                          </p:stCondLst>
                                        </p:cTn>
                                        <p:tgtEl>
                                          <p:spTgt spid="51"/>
                                        </p:tgtEl>
                                        <p:attrNameLst>
                                          <p:attrName>style.visibility</p:attrName>
                                        </p:attrNameLst>
                                      </p:cBhvr>
                                      <p:to>
                                        <p:strVal val="visible"/>
                                      </p:to>
                                    </p:set>
                                    <p:animEffect transition="in" filter="fade">
                                      <p:cBhvr>
                                        <p:cTn id="20" dur="600"/>
                                        <p:tgtEl>
                                          <p:spTgt spid="51"/>
                                        </p:tgtEl>
                                      </p:cBhvr>
                                    </p:animEffect>
                                    <p:anim calcmode="lin" valueType="num">
                                      <p:cBhvr>
                                        <p:cTn id="21" dur="600" fill="hold"/>
                                        <p:tgtEl>
                                          <p:spTgt spid="51"/>
                                        </p:tgtEl>
                                        <p:attrNameLst>
                                          <p:attrName>ppt_x</p:attrName>
                                        </p:attrNameLst>
                                      </p:cBhvr>
                                      <p:tavLst>
                                        <p:tav tm="0">
                                          <p:val>
                                            <p:strVal val="#ppt_x"/>
                                          </p:val>
                                        </p:tav>
                                        <p:tav tm="100000">
                                          <p:val>
                                            <p:strVal val="#ppt_x"/>
                                          </p:val>
                                        </p:tav>
                                      </p:tavLst>
                                    </p:anim>
                                    <p:anim calcmode="lin" valueType="num">
                                      <p:cBhvr>
                                        <p:cTn id="22" dur="600" fill="hold"/>
                                        <p:tgtEl>
                                          <p:spTgt spid="51"/>
                                        </p:tgtEl>
                                        <p:attrNameLst>
                                          <p:attrName>ppt_y</p:attrName>
                                        </p:attrNameLst>
                                      </p:cBhvr>
                                      <p:tavLst>
                                        <p:tav tm="0">
                                          <p:val>
                                            <p:strVal val="#ppt_y+.04"/>
                                          </p:val>
                                        </p:tav>
                                        <p:tav tm="100000">
                                          <p:val>
                                            <p:strVal val="#ppt_y"/>
                                          </p:val>
                                        </p:tav>
                                      </p:tavLst>
                                    </p:anim>
                                  </p:childTnLst>
                                </p:cTn>
                              </p:par>
                              <p:par>
                                <p:cTn id="23" presetID="42" presetClass="entr" presetSubtype="0" fill="hold" nodeType="withEffect">
                                  <p:stCondLst>
                                    <p:cond delay="1190"/>
                                  </p:stCondLst>
                                  <p:childTnLst>
                                    <p:set>
                                      <p:cBhvr>
                                        <p:cTn id="24" dur="1" fill="hold">
                                          <p:stCondLst>
                                            <p:cond delay="0"/>
                                          </p:stCondLst>
                                        </p:cTn>
                                        <p:tgtEl>
                                          <p:spTgt spid="58"/>
                                        </p:tgtEl>
                                        <p:attrNameLst>
                                          <p:attrName>style.visibility</p:attrName>
                                        </p:attrNameLst>
                                      </p:cBhvr>
                                      <p:to>
                                        <p:strVal val="visible"/>
                                      </p:to>
                                    </p:set>
                                    <p:animEffect transition="in" filter="fade">
                                      <p:cBhvr>
                                        <p:cTn id="25" dur="600"/>
                                        <p:tgtEl>
                                          <p:spTgt spid="58"/>
                                        </p:tgtEl>
                                      </p:cBhvr>
                                    </p:animEffect>
                                    <p:anim calcmode="lin" valueType="num">
                                      <p:cBhvr>
                                        <p:cTn id="26" dur="600" fill="hold"/>
                                        <p:tgtEl>
                                          <p:spTgt spid="58"/>
                                        </p:tgtEl>
                                        <p:attrNameLst>
                                          <p:attrName>ppt_x</p:attrName>
                                        </p:attrNameLst>
                                      </p:cBhvr>
                                      <p:tavLst>
                                        <p:tav tm="0">
                                          <p:val>
                                            <p:strVal val="#ppt_x"/>
                                          </p:val>
                                        </p:tav>
                                        <p:tav tm="100000">
                                          <p:val>
                                            <p:strVal val="#ppt_x"/>
                                          </p:val>
                                        </p:tav>
                                      </p:tavLst>
                                    </p:anim>
                                    <p:anim calcmode="lin" valueType="num">
                                      <p:cBhvr>
                                        <p:cTn id="27" dur="600" fill="hold"/>
                                        <p:tgtEl>
                                          <p:spTgt spid="58"/>
                                        </p:tgtEl>
                                        <p:attrNameLst>
                                          <p:attrName>ppt_y</p:attrName>
                                        </p:attrNameLst>
                                      </p:cBhvr>
                                      <p:tavLst>
                                        <p:tav tm="0">
                                          <p:val>
                                            <p:strVal val="#ppt_y+.08"/>
                                          </p:val>
                                        </p:tav>
                                        <p:tav tm="100000">
                                          <p:val>
                                            <p:strVal val="#ppt_y"/>
                                          </p:val>
                                        </p:tav>
                                      </p:tavLst>
                                    </p:anim>
                                  </p:childTnLst>
                                </p:cTn>
                              </p:par>
                              <p:par>
                                <p:cTn id="28" presetID="42" presetClass="entr" presetSubtype="0" fill="hold" nodeType="withEffect">
                                  <p:stCondLst>
                                    <p:cond delay="1350"/>
                                  </p:stCondLst>
                                  <p:childTnLst>
                                    <p:set>
                                      <p:cBhvr>
                                        <p:cTn id="29" dur="1" fill="hold">
                                          <p:stCondLst>
                                            <p:cond delay="0"/>
                                          </p:stCondLst>
                                        </p:cTn>
                                        <p:tgtEl>
                                          <p:spTgt spid="65"/>
                                        </p:tgtEl>
                                        <p:attrNameLst>
                                          <p:attrName>style.visibility</p:attrName>
                                        </p:attrNameLst>
                                      </p:cBhvr>
                                      <p:to>
                                        <p:strVal val="visible"/>
                                      </p:to>
                                    </p:set>
                                    <p:animEffect transition="in" filter="fade">
                                      <p:cBhvr>
                                        <p:cTn id="30" dur="600"/>
                                        <p:tgtEl>
                                          <p:spTgt spid="65"/>
                                        </p:tgtEl>
                                      </p:cBhvr>
                                    </p:animEffect>
                                    <p:anim calcmode="lin" valueType="num">
                                      <p:cBhvr>
                                        <p:cTn id="31" dur="600" fill="hold"/>
                                        <p:tgtEl>
                                          <p:spTgt spid="65"/>
                                        </p:tgtEl>
                                        <p:attrNameLst>
                                          <p:attrName>ppt_x</p:attrName>
                                        </p:attrNameLst>
                                      </p:cBhvr>
                                      <p:tavLst>
                                        <p:tav tm="0">
                                          <p:val>
                                            <p:strVal val="#ppt_x"/>
                                          </p:val>
                                        </p:tav>
                                        <p:tav tm="100000">
                                          <p:val>
                                            <p:strVal val="#ppt_x"/>
                                          </p:val>
                                        </p:tav>
                                      </p:tavLst>
                                    </p:anim>
                                    <p:anim calcmode="lin" valueType="num">
                                      <p:cBhvr>
                                        <p:cTn id="32" dur="600" fill="hold"/>
                                        <p:tgtEl>
                                          <p:spTgt spid="65"/>
                                        </p:tgtEl>
                                        <p:attrNameLst>
                                          <p:attrName>ppt_y</p:attrName>
                                        </p:attrNameLst>
                                      </p:cBhvr>
                                      <p:tavLst>
                                        <p:tav tm="0">
                                          <p:val>
                                            <p:strVal val="#ppt_y+.04"/>
                                          </p:val>
                                        </p:tav>
                                        <p:tav tm="100000">
                                          <p:val>
                                            <p:strVal val="#ppt_y"/>
                                          </p:val>
                                        </p:tav>
                                      </p:tavLst>
                                    </p:anim>
                                  </p:childTnLst>
                                </p:cTn>
                              </p:par>
                              <p:par>
                                <p:cTn id="33" presetID="42" presetClass="entr" presetSubtype="0" fill="hold" nodeType="withEffect">
                                  <p:stCondLst>
                                    <p:cond delay="1510"/>
                                  </p:stCondLst>
                                  <p:childTnLst>
                                    <p:set>
                                      <p:cBhvr>
                                        <p:cTn id="34" dur="1" fill="hold">
                                          <p:stCondLst>
                                            <p:cond delay="0"/>
                                          </p:stCondLst>
                                        </p:cTn>
                                        <p:tgtEl>
                                          <p:spTgt spid="72"/>
                                        </p:tgtEl>
                                        <p:attrNameLst>
                                          <p:attrName>style.visibility</p:attrName>
                                        </p:attrNameLst>
                                      </p:cBhvr>
                                      <p:to>
                                        <p:strVal val="visible"/>
                                      </p:to>
                                    </p:set>
                                    <p:animEffect transition="in" filter="fade">
                                      <p:cBhvr>
                                        <p:cTn id="35" dur="600"/>
                                        <p:tgtEl>
                                          <p:spTgt spid="72"/>
                                        </p:tgtEl>
                                      </p:cBhvr>
                                    </p:animEffect>
                                    <p:anim calcmode="lin" valueType="num">
                                      <p:cBhvr>
                                        <p:cTn id="36" dur="600" fill="hold"/>
                                        <p:tgtEl>
                                          <p:spTgt spid="72"/>
                                        </p:tgtEl>
                                        <p:attrNameLst>
                                          <p:attrName>ppt_x</p:attrName>
                                        </p:attrNameLst>
                                      </p:cBhvr>
                                      <p:tavLst>
                                        <p:tav tm="0">
                                          <p:val>
                                            <p:strVal val="#ppt_x"/>
                                          </p:val>
                                        </p:tav>
                                        <p:tav tm="100000">
                                          <p:val>
                                            <p:strVal val="#ppt_x"/>
                                          </p:val>
                                        </p:tav>
                                      </p:tavLst>
                                    </p:anim>
                                    <p:anim calcmode="lin" valueType="num">
                                      <p:cBhvr>
                                        <p:cTn id="37" dur="600" fill="hold"/>
                                        <p:tgtEl>
                                          <p:spTgt spid="72"/>
                                        </p:tgtEl>
                                        <p:attrNameLst>
                                          <p:attrName>ppt_y</p:attrName>
                                        </p:attrNameLst>
                                      </p:cBhvr>
                                      <p:tavLst>
                                        <p:tav tm="0">
                                          <p:val>
                                            <p:strVal val="#ppt_y+.08"/>
                                          </p:val>
                                        </p:tav>
                                        <p:tav tm="100000">
                                          <p:val>
                                            <p:strVal val="#ppt_y"/>
                                          </p:val>
                                        </p:tav>
                                      </p:tavLst>
                                    </p:anim>
                                  </p:childTnLst>
                                </p:cTn>
                              </p:par>
                              <p:par>
                                <p:cTn id="38" presetID="42" presetClass="entr" presetSubtype="0" fill="hold" nodeType="withEffect">
                                  <p:stCondLst>
                                    <p:cond delay="1670"/>
                                  </p:stCondLst>
                                  <p:childTnLst>
                                    <p:set>
                                      <p:cBhvr>
                                        <p:cTn id="39" dur="1" fill="hold">
                                          <p:stCondLst>
                                            <p:cond delay="0"/>
                                          </p:stCondLst>
                                        </p:cTn>
                                        <p:tgtEl>
                                          <p:spTgt spid="79"/>
                                        </p:tgtEl>
                                        <p:attrNameLst>
                                          <p:attrName>style.visibility</p:attrName>
                                        </p:attrNameLst>
                                      </p:cBhvr>
                                      <p:to>
                                        <p:strVal val="visible"/>
                                      </p:to>
                                    </p:set>
                                    <p:animEffect transition="in" filter="fade">
                                      <p:cBhvr>
                                        <p:cTn id="40" dur="600"/>
                                        <p:tgtEl>
                                          <p:spTgt spid="79"/>
                                        </p:tgtEl>
                                      </p:cBhvr>
                                    </p:animEffect>
                                    <p:anim calcmode="lin" valueType="num">
                                      <p:cBhvr>
                                        <p:cTn id="41" dur="600" fill="hold"/>
                                        <p:tgtEl>
                                          <p:spTgt spid="79"/>
                                        </p:tgtEl>
                                        <p:attrNameLst>
                                          <p:attrName>ppt_x</p:attrName>
                                        </p:attrNameLst>
                                      </p:cBhvr>
                                      <p:tavLst>
                                        <p:tav tm="0">
                                          <p:val>
                                            <p:strVal val="#ppt_x"/>
                                          </p:val>
                                        </p:tav>
                                        <p:tav tm="100000">
                                          <p:val>
                                            <p:strVal val="#ppt_x"/>
                                          </p:val>
                                        </p:tav>
                                      </p:tavLst>
                                    </p:anim>
                                    <p:anim calcmode="lin" valueType="num">
                                      <p:cBhvr>
                                        <p:cTn id="42" dur="600" fill="hold"/>
                                        <p:tgtEl>
                                          <p:spTgt spid="79"/>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307297" y="-2425290"/>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609469" y="4166508"/>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018246" y="5019314"/>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STATE OF THE ART</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Reference Architecture</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State of the Art</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sz="1000" b="0" i="0">
                <a:solidFill>
                  <a:srgbClr val="C9D2E3"/>
                </a:solidFill>
                <a:latin typeface="Segoe UI Semibold"/>
              </a:rPr>
              <a:t>09</a:t>
            </a:r>
            <a:r>
              <a:rPr sz="1000" b="0" i="0">
                <a:solidFill>
                  <a:srgbClr val="8C9AB5"/>
                </a:solidFill>
                <a:latin typeface="Segoe UI"/>
              </a:rPr>
              <a:t> / 30</a:t>
            </a:r>
          </a:p>
        </p:txBody>
      </p:sp>
      <p:grpSp>
        <p:nvGrpSpPr>
          <p:cNvPr id="36" name="Group 35"/>
          <p:cNvGrpSpPr/>
          <p:nvPr/>
        </p:nvGrpSpPr>
        <p:grpSpPr>
          <a:xfrm>
            <a:off x="548640" y="1627632"/>
            <a:ext cx="8229600" cy="987552"/>
            <a:chOff x="548640" y="1627632"/>
            <a:chExt cx="8229600" cy="987552"/>
          </a:xfrm>
        </p:grpSpPr>
        <p:sp>
          <p:nvSpPr>
            <p:cNvPr id="37" name="Rounded Rectangle 36"/>
            <p:cNvSpPr/>
            <p:nvPr/>
          </p:nvSpPr>
          <p:spPr>
            <a:xfrm>
              <a:off x="548640" y="1627632"/>
              <a:ext cx="8229600" cy="987552"/>
            </a:xfrm>
            <a:prstGeom prst="roundRect">
              <a:avLst>
                <a:gd name="adj" fmla="val 12000"/>
              </a:avLst>
            </a:prstGeom>
            <a:solidFill>
              <a:srgbClr val="3987E5">
                <a:alpha val="10000"/>
              </a:srgbClr>
            </a:solidFill>
            <a:ln w="12700">
              <a:solidFill>
                <a:srgbClr val="3987E5">
                  <a:alpha val="55000"/>
                </a:srgbClr>
              </a:solidFill>
            </a:ln>
          </p:spPr>
          <p:txBody>
            <a:bodyPr wrap="square" rtlCol="0" anchor="ctr"/>
            <a:lstStyle/>
            <a:p>
              <a:pPr algn="ctr"/>
              <a:endParaRPr/>
            </a:p>
          </p:txBody>
        </p:sp>
        <p:sp>
          <p:nvSpPr>
            <p:cNvPr id="38" name="TextBox 37"/>
            <p:cNvSpPr txBox="1"/>
            <p:nvPr/>
          </p:nvSpPr>
          <p:spPr>
            <a:xfrm>
              <a:off x="777240" y="1627632"/>
              <a:ext cx="1920240" cy="987552"/>
            </a:xfrm>
            <a:prstGeom prst="rect">
              <a:avLst/>
            </a:prstGeom>
            <a:noFill/>
          </p:spPr>
          <p:txBody>
            <a:bodyPr wrap="square" lIns="0" tIns="0" rIns="0" bIns="0" anchor="ctr">
              <a:noAutofit/>
            </a:bodyPr>
            <a:lstStyle/>
            <a:p>
              <a:pPr algn="l">
                <a:lnSpc>
                  <a:spcPct val="112000"/>
                </a:lnSpc>
                <a:spcAft>
                  <a:spcPts val="0"/>
                </a:spcAft>
              </a:pPr>
              <a:r>
                <a:rPr sz="1450" b="0" i="0">
                  <a:solidFill>
                    <a:srgbClr val="7DB3F5"/>
                  </a:solidFill>
                  <a:latin typeface="Segoe UI Semibold"/>
                </a:rPr>
                <a:t>Consumers</a:t>
              </a:r>
            </a:p>
          </p:txBody>
        </p:sp>
        <p:sp>
          <p:nvSpPr>
            <p:cNvPr id="39" name="Rounded Rectangle 38"/>
            <p:cNvSpPr/>
            <p:nvPr/>
          </p:nvSpPr>
          <p:spPr>
            <a:xfrm>
              <a:off x="2743200" y="1847088"/>
              <a:ext cx="1353312" cy="548640"/>
            </a:xfrm>
            <a:prstGeom prst="roundRect">
              <a:avLst>
                <a:gd name="adj" fmla="val 25000"/>
              </a:avLst>
            </a:prstGeom>
            <a:solidFill>
              <a:srgbClr val="182A4C"/>
            </a:solidFill>
            <a:ln w="15875">
              <a:solidFill>
                <a:srgbClr val="3987E5"/>
              </a:solidFill>
            </a:ln>
          </p:spPr>
          <p:txBody>
            <a:bodyPr wrap="square" lIns="36576" tIns="36576" rIns="36576" bIns="36576" rtlCol="0" anchor="ctr">
              <a:noAutofit/>
            </a:bodyPr>
            <a:lstStyle/>
            <a:p>
              <a:pPr algn="ctr">
                <a:lnSpc>
                  <a:spcPct val="100000"/>
                </a:lnSpc>
                <a:spcAft>
                  <a:spcPts val="0"/>
                </a:spcAft>
              </a:pPr>
              <a:r>
                <a:rPr sz="1100" b="0" i="0">
                  <a:solidFill>
                    <a:srgbClr val="FFFFFF"/>
                  </a:solidFill>
                  <a:latin typeface="Segoe UI Semibold"/>
                </a:rPr>
                <a:t>Applications</a:t>
              </a:r>
            </a:p>
          </p:txBody>
        </p:sp>
        <p:sp>
          <p:nvSpPr>
            <p:cNvPr id="40" name="Rounded Rectangle 39"/>
            <p:cNvSpPr/>
            <p:nvPr/>
          </p:nvSpPr>
          <p:spPr>
            <a:xfrm>
              <a:off x="4206240" y="1847088"/>
              <a:ext cx="1353312" cy="548640"/>
            </a:xfrm>
            <a:prstGeom prst="roundRect">
              <a:avLst>
                <a:gd name="adj" fmla="val 25000"/>
              </a:avLst>
            </a:prstGeom>
            <a:solidFill>
              <a:srgbClr val="182A4C"/>
            </a:solidFill>
            <a:ln w="15875">
              <a:solidFill>
                <a:srgbClr val="3987E5"/>
              </a:solidFill>
            </a:ln>
          </p:spPr>
          <p:txBody>
            <a:bodyPr wrap="square" lIns="36576" tIns="36576" rIns="36576" bIns="36576" rtlCol="0" anchor="ctr">
              <a:noAutofit/>
            </a:bodyPr>
            <a:lstStyle/>
            <a:p>
              <a:pPr algn="ctr">
                <a:lnSpc>
                  <a:spcPct val="100000"/>
                </a:lnSpc>
                <a:spcAft>
                  <a:spcPts val="0"/>
                </a:spcAft>
              </a:pPr>
              <a:r>
                <a:rPr sz="1100" b="0" i="0">
                  <a:solidFill>
                    <a:srgbClr val="FFFFFF"/>
                  </a:solidFill>
                  <a:latin typeface="Segoe UI Semibold"/>
                </a:rPr>
                <a:t>CI/CD &amp; GitOps</a:t>
              </a:r>
            </a:p>
          </p:txBody>
        </p:sp>
        <p:sp>
          <p:nvSpPr>
            <p:cNvPr id="41" name="Rounded Rectangle 40"/>
            <p:cNvSpPr/>
            <p:nvPr/>
          </p:nvSpPr>
          <p:spPr>
            <a:xfrm>
              <a:off x="5669280" y="1847088"/>
              <a:ext cx="1353312" cy="548640"/>
            </a:xfrm>
            <a:prstGeom prst="roundRect">
              <a:avLst>
                <a:gd name="adj" fmla="val 25000"/>
              </a:avLst>
            </a:prstGeom>
            <a:solidFill>
              <a:srgbClr val="182A4C"/>
            </a:solidFill>
            <a:ln w="15875">
              <a:solidFill>
                <a:srgbClr val="3987E5"/>
              </a:solidFill>
            </a:ln>
          </p:spPr>
          <p:txBody>
            <a:bodyPr wrap="square" lIns="36576" tIns="36576" rIns="36576" bIns="36576" rtlCol="0" anchor="ctr">
              <a:noAutofit/>
            </a:bodyPr>
            <a:lstStyle/>
            <a:p>
              <a:pPr algn="ctr">
                <a:lnSpc>
                  <a:spcPct val="100000"/>
                </a:lnSpc>
                <a:spcAft>
                  <a:spcPts val="0"/>
                </a:spcAft>
              </a:pPr>
              <a:r>
                <a:rPr sz="1100" b="0" i="0">
                  <a:solidFill>
                    <a:srgbClr val="FFFFFF"/>
                  </a:solidFill>
                  <a:latin typeface="Segoe UI Semibold"/>
                </a:rPr>
                <a:t>Self-service portal</a:t>
              </a:r>
            </a:p>
          </p:txBody>
        </p:sp>
        <p:sp>
          <p:nvSpPr>
            <p:cNvPr id="42" name="Rounded Rectangle 41"/>
            <p:cNvSpPr/>
            <p:nvPr/>
          </p:nvSpPr>
          <p:spPr>
            <a:xfrm>
              <a:off x="7132320" y="1847088"/>
              <a:ext cx="1353312" cy="548640"/>
            </a:xfrm>
            <a:prstGeom prst="roundRect">
              <a:avLst>
                <a:gd name="adj" fmla="val 25000"/>
              </a:avLst>
            </a:prstGeom>
            <a:solidFill>
              <a:srgbClr val="182A4C"/>
            </a:solidFill>
            <a:ln w="15875">
              <a:solidFill>
                <a:srgbClr val="3987E5"/>
              </a:solidFill>
            </a:ln>
          </p:spPr>
          <p:txBody>
            <a:bodyPr wrap="square" lIns="36576" tIns="36576" rIns="36576" bIns="36576" rtlCol="0" anchor="ctr">
              <a:noAutofit/>
            </a:bodyPr>
            <a:lstStyle/>
            <a:p>
              <a:pPr algn="ctr">
                <a:lnSpc>
                  <a:spcPct val="100000"/>
                </a:lnSpc>
                <a:spcAft>
                  <a:spcPts val="0"/>
                </a:spcAft>
              </a:pPr>
              <a:r>
                <a:rPr sz="1100" b="0" i="0">
                  <a:solidFill>
                    <a:srgbClr val="FFFFFF"/>
                  </a:solidFill>
                  <a:latin typeface="Segoe UI Semibold"/>
                </a:rPr>
                <a:t>APIs / CLI</a:t>
              </a:r>
            </a:p>
          </p:txBody>
        </p:sp>
      </p:grpSp>
      <p:grpSp>
        <p:nvGrpSpPr>
          <p:cNvPr id="43" name="Group 42"/>
          <p:cNvGrpSpPr/>
          <p:nvPr/>
        </p:nvGrpSpPr>
        <p:grpSpPr>
          <a:xfrm>
            <a:off x="548640" y="2770632"/>
            <a:ext cx="8229600" cy="987552"/>
            <a:chOff x="548640" y="2770632"/>
            <a:chExt cx="8229600" cy="987552"/>
          </a:xfrm>
        </p:grpSpPr>
        <p:sp>
          <p:nvSpPr>
            <p:cNvPr id="44" name="Rounded Rectangle 43"/>
            <p:cNvSpPr/>
            <p:nvPr/>
          </p:nvSpPr>
          <p:spPr>
            <a:xfrm>
              <a:off x="548640" y="2770632"/>
              <a:ext cx="8229600" cy="987552"/>
            </a:xfrm>
            <a:prstGeom prst="roundRect">
              <a:avLst>
                <a:gd name="adj" fmla="val 12000"/>
              </a:avLst>
            </a:prstGeom>
            <a:solidFill>
              <a:srgbClr val="9085E9">
                <a:alpha val="10000"/>
              </a:srgbClr>
            </a:solidFill>
            <a:ln w="12700">
              <a:solidFill>
                <a:srgbClr val="9085E9">
                  <a:alpha val="55000"/>
                </a:srgbClr>
              </a:solidFill>
            </a:ln>
          </p:spPr>
          <p:txBody>
            <a:bodyPr wrap="square" rtlCol="0" anchor="ctr"/>
            <a:lstStyle/>
            <a:p>
              <a:pPr algn="ctr"/>
              <a:endParaRPr/>
            </a:p>
          </p:txBody>
        </p:sp>
        <p:sp>
          <p:nvSpPr>
            <p:cNvPr id="45" name="TextBox 44"/>
            <p:cNvSpPr txBox="1"/>
            <p:nvPr/>
          </p:nvSpPr>
          <p:spPr>
            <a:xfrm>
              <a:off x="777240" y="2770632"/>
              <a:ext cx="1920240" cy="987552"/>
            </a:xfrm>
            <a:prstGeom prst="rect">
              <a:avLst/>
            </a:prstGeom>
            <a:noFill/>
          </p:spPr>
          <p:txBody>
            <a:bodyPr wrap="square" lIns="0" tIns="0" rIns="0" bIns="0" anchor="ctr">
              <a:noAutofit/>
            </a:bodyPr>
            <a:lstStyle/>
            <a:p>
              <a:pPr algn="l">
                <a:lnSpc>
                  <a:spcPct val="112000"/>
                </a:lnSpc>
                <a:spcAft>
                  <a:spcPts val="0"/>
                </a:spcAft>
              </a:pPr>
              <a:r>
                <a:rPr sz="1450" b="0" i="0">
                  <a:solidFill>
                    <a:srgbClr val="B5ADF5"/>
                  </a:solidFill>
                  <a:latin typeface="Segoe UI Semibold"/>
                </a:rPr>
                <a:t>Management plane</a:t>
              </a:r>
            </a:p>
          </p:txBody>
        </p:sp>
        <p:sp>
          <p:nvSpPr>
            <p:cNvPr id="46" name="Rounded Rectangle 45"/>
            <p:cNvSpPr/>
            <p:nvPr/>
          </p:nvSpPr>
          <p:spPr>
            <a:xfrm>
              <a:off x="2743200" y="2990088"/>
              <a:ext cx="1353312" cy="548640"/>
            </a:xfrm>
            <a:prstGeom prst="roundRect">
              <a:avLst>
                <a:gd name="adj" fmla="val 25000"/>
              </a:avLst>
            </a:prstGeom>
            <a:solidFill>
              <a:srgbClr val="182A4C"/>
            </a:solidFill>
            <a:ln w="15875">
              <a:solidFill>
                <a:srgbClr val="9085E9"/>
              </a:solidFill>
            </a:ln>
          </p:spPr>
          <p:txBody>
            <a:bodyPr wrap="square" lIns="36576" tIns="36576" rIns="36576" bIns="36576" rtlCol="0" anchor="ctr">
              <a:noAutofit/>
            </a:bodyPr>
            <a:lstStyle/>
            <a:p>
              <a:pPr algn="ctr">
                <a:lnSpc>
                  <a:spcPct val="100000"/>
                </a:lnSpc>
                <a:spcAft>
                  <a:spcPts val="0"/>
                </a:spcAft>
              </a:pPr>
              <a:r>
                <a:rPr sz="1100" b="0" i="0">
                  <a:solidFill>
                    <a:srgbClr val="FFFFFF"/>
                  </a:solidFill>
                  <a:latin typeface="Segoe UI Semibold"/>
                </a:rPr>
                <a:t>Service catalog</a:t>
              </a:r>
            </a:p>
          </p:txBody>
        </p:sp>
        <p:sp>
          <p:nvSpPr>
            <p:cNvPr id="47" name="Rounded Rectangle 46"/>
            <p:cNvSpPr/>
            <p:nvPr/>
          </p:nvSpPr>
          <p:spPr>
            <a:xfrm>
              <a:off x="4206240" y="2990088"/>
              <a:ext cx="1353312" cy="548640"/>
            </a:xfrm>
            <a:prstGeom prst="roundRect">
              <a:avLst>
                <a:gd name="adj" fmla="val 25000"/>
              </a:avLst>
            </a:prstGeom>
            <a:solidFill>
              <a:srgbClr val="182A4C"/>
            </a:solidFill>
            <a:ln w="15875">
              <a:solidFill>
                <a:srgbClr val="9085E9"/>
              </a:solidFill>
            </a:ln>
          </p:spPr>
          <p:txBody>
            <a:bodyPr wrap="square" lIns="36576" tIns="36576" rIns="36576" bIns="36576" rtlCol="0" anchor="ctr">
              <a:noAutofit/>
            </a:bodyPr>
            <a:lstStyle/>
            <a:p>
              <a:pPr algn="ctr">
                <a:lnSpc>
                  <a:spcPct val="100000"/>
                </a:lnSpc>
                <a:spcAft>
                  <a:spcPts val="0"/>
                </a:spcAft>
              </a:pPr>
              <a:r>
                <a:rPr sz="1100" b="0" i="0">
                  <a:solidFill>
                    <a:srgbClr val="FFFFFF"/>
                  </a:solidFill>
                  <a:latin typeface="Segoe UI Semibold"/>
                </a:rPr>
                <a:t>Policy engine</a:t>
              </a:r>
            </a:p>
          </p:txBody>
        </p:sp>
        <p:sp>
          <p:nvSpPr>
            <p:cNvPr id="48" name="Rounded Rectangle 47"/>
            <p:cNvSpPr/>
            <p:nvPr/>
          </p:nvSpPr>
          <p:spPr>
            <a:xfrm>
              <a:off x="5669280" y="2990088"/>
              <a:ext cx="1353312" cy="548640"/>
            </a:xfrm>
            <a:prstGeom prst="roundRect">
              <a:avLst>
                <a:gd name="adj" fmla="val 25000"/>
              </a:avLst>
            </a:prstGeom>
            <a:solidFill>
              <a:srgbClr val="4E5393"/>
            </a:solidFill>
            <a:ln w="15875">
              <a:solidFill>
                <a:srgbClr val="9085E9"/>
              </a:solidFill>
            </a:ln>
            <a:effectLst>
              <a:outerShdw blurRad="228600" dir="5400000" algn="t" rotWithShape="0">
                <a:srgbClr val="000000">
                  <a:alpha val="50000"/>
                </a:srgbClr>
              </a:outerShdw>
            </a:effectLst>
          </p:spPr>
          <p:txBody>
            <a:bodyPr wrap="square" lIns="36576" tIns="36576" rIns="36576" bIns="36576" rtlCol="0" anchor="ctr">
              <a:noAutofit/>
            </a:bodyPr>
            <a:lstStyle/>
            <a:p>
              <a:pPr algn="ctr">
                <a:lnSpc>
                  <a:spcPct val="100000"/>
                </a:lnSpc>
                <a:spcAft>
                  <a:spcPts val="0"/>
                </a:spcAft>
              </a:pPr>
              <a:r>
                <a:rPr sz="1100" b="0" i="0">
                  <a:solidFill>
                    <a:srgbClr val="FFFFFF"/>
                  </a:solidFill>
                  <a:latin typeface="Segoe UI Semibold"/>
                </a:rPr>
                <a:t>Scheduler / Allocator</a:t>
              </a:r>
            </a:p>
          </p:txBody>
        </p:sp>
        <p:sp>
          <p:nvSpPr>
            <p:cNvPr id="49" name="Rounded Rectangle 48"/>
            <p:cNvSpPr/>
            <p:nvPr/>
          </p:nvSpPr>
          <p:spPr>
            <a:xfrm>
              <a:off x="7132320" y="2990088"/>
              <a:ext cx="1353312" cy="548640"/>
            </a:xfrm>
            <a:prstGeom prst="roundRect">
              <a:avLst>
                <a:gd name="adj" fmla="val 25000"/>
              </a:avLst>
            </a:prstGeom>
            <a:solidFill>
              <a:srgbClr val="182A4C"/>
            </a:solidFill>
            <a:ln w="15875">
              <a:solidFill>
                <a:srgbClr val="9085E9"/>
              </a:solidFill>
            </a:ln>
          </p:spPr>
          <p:txBody>
            <a:bodyPr wrap="square" lIns="36576" tIns="36576" rIns="36576" bIns="36576" rtlCol="0" anchor="ctr">
              <a:noAutofit/>
            </a:bodyPr>
            <a:lstStyle/>
            <a:p>
              <a:pPr algn="ctr">
                <a:lnSpc>
                  <a:spcPct val="100000"/>
                </a:lnSpc>
                <a:spcAft>
                  <a:spcPts val="0"/>
                </a:spcAft>
              </a:pPr>
              <a:r>
                <a:rPr sz="1100" b="0" i="0">
                  <a:solidFill>
                    <a:srgbClr val="FFFFFF"/>
                  </a:solidFill>
                  <a:latin typeface="Segoe UI Semibold"/>
                </a:rPr>
                <a:t>Orchestrator</a:t>
              </a:r>
            </a:p>
          </p:txBody>
        </p:sp>
      </p:grpSp>
      <p:grpSp>
        <p:nvGrpSpPr>
          <p:cNvPr id="50" name="Group 49"/>
          <p:cNvGrpSpPr/>
          <p:nvPr/>
        </p:nvGrpSpPr>
        <p:grpSpPr>
          <a:xfrm>
            <a:off x="548640" y="3913632"/>
            <a:ext cx="8229600" cy="987552"/>
            <a:chOff x="548640" y="3913632"/>
            <a:chExt cx="8229600" cy="987552"/>
          </a:xfrm>
        </p:grpSpPr>
        <p:sp>
          <p:nvSpPr>
            <p:cNvPr id="51" name="Rounded Rectangle 50"/>
            <p:cNvSpPr/>
            <p:nvPr/>
          </p:nvSpPr>
          <p:spPr>
            <a:xfrm>
              <a:off x="548640" y="3913632"/>
              <a:ext cx="8229600" cy="987552"/>
            </a:xfrm>
            <a:prstGeom prst="roundRect">
              <a:avLst>
                <a:gd name="adj" fmla="val 12000"/>
              </a:avLst>
            </a:prstGeom>
            <a:solidFill>
              <a:srgbClr val="199E70">
                <a:alpha val="10000"/>
              </a:srgbClr>
            </a:solidFill>
            <a:ln w="12700">
              <a:solidFill>
                <a:srgbClr val="199E70">
                  <a:alpha val="55000"/>
                </a:srgbClr>
              </a:solidFill>
            </a:ln>
          </p:spPr>
          <p:txBody>
            <a:bodyPr wrap="square" rtlCol="0" anchor="ctr"/>
            <a:lstStyle/>
            <a:p>
              <a:pPr algn="ctr"/>
              <a:endParaRPr/>
            </a:p>
          </p:txBody>
        </p:sp>
        <p:sp>
          <p:nvSpPr>
            <p:cNvPr id="52" name="TextBox 51"/>
            <p:cNvSpPr txBox="1"/>
            <p:nvPr/>
          </p:nvSpPr>
          <p:spPr>
            <a:xfrm>
              <a:off x="777240" y="3913632"/>
              <a:ext cx="1920240" cy="987552"/>
            </a:xfrm>
            <a:prstGeom prst="rect">
              <a:avLst/>
            </a:prstGeom>
            <a:noFill/>
          </p:spPr>
          <p:txBody>
            <a:bodyPr wrap="square" lIns="0" tIns="0" rIns="0" bIns="0" anchor="ctr">
              <a:noAutofit/>
            </a:bodyPr>
            <a:lstStyle/>
            <a:p>
              <a:pPr algn="l">
                <a:lnSpc>
                  <a:spcPct val="112000"/>
                </a:lnSpc>
                <a:spcAft>
                  <a:spcPts val="0"/>
                </a:spcAft>
              </a:pPr>
              <a:r>
                <a:rPr sz="1450" b="0" i="0">
                  <a:solidFill>
                    <a:srgbClr val="4FD1A1"/>
                  </a:solidFill>
                  <a:latin typeface="Segoe UI Semibold"/>
                </a:rPr>
                <a:t>Abstraction layer</a:t>
              </a:r>
            </a:p>
          </p:txBody>
        </p:sp>
        <p:sp>
          <p:nvSpPr>
            <p:cNvPr id="53" name="Rounded Rectangle 52"/>
            <p:cNvSpPr/>
            <p:nvPr/>
          </p:nvSpPr>
          <p:spPr>
            <a:xfrm>
              <a:off x="2743200" y="4133088"/>
              <a:ext cx="1353312" cy="548640"/>
            </a:xfrm>
            <a:prstGeom prst="roundRect">
              <a:avLst>
                <a:gd name="adj" fmla="val 25000"/>
              </a:avLst>
            </a:prstGeom>
            <a:solidFill>
              <a:srgbClr val="182A4C"/>
            </a:solidFill>
            <a:ln w="15875">
              <a:solidFill>
                <a:srgbClr val="199E70"/>
              </a:solidFill>
            </a:ln>
          </p:spPr>
          <p:txBody>
            <a:bodyPr wrap="square" lIns="36576" tIns="36576" rIns="36576" bIns="36576" rtlCol="0" anchor="ctr">
              <a:noAutofit/>
            </a:bodyPr>
            <a:lstStyle/>
            <a:p>
              <a:pPr algn="ctr">
                <a:lnSpc>
                  <a:spcPct val="100000"/>
                </a:lnSpc>
                <a:spcAft>
                  <a:spcPts val="0"/>
                </a:spcAft>
              </a:pPr>
              <a:r>
                <a:rPr sz="1100" b="0" i="0">
                  <a:solidFill>
                    <a:srgbClr val="FFFFFF"/>
                  </a:solidFill>
                  <a:latin typeface="Segoe UI Semibold"/>
                </a:rPr>
                <a:t>Unified APIs</a:t>
              </a:r>
            </a:p>
          </p:txBody>
        </p:sp>
        <p:sp>
          <p:nvSpPr>
            <p:cNvPr id="54" name="Rounded Rectangle 53"/>
            <p:cNvSpPr/>
            <p:nvPr/>
          </p:nvSpPr>
          <p:spPr>
            <a:xfrm>
              <a:off x="4206240" y="4133088"/>
              <a:ext cx="1353312" cy="548640"/>
            </a:xfrm>
            <a:prstGeom prst="roundRect">
              <a:avLst>
                <a:gd name="adj" fmla="val 25000"/>
              </a:avLst>
            </a:prstGeom>
            <a:solidFill>
              <a:srgbClr val="182A4C"/>
            </a:solidFill>
            <a:ln w="15875">
              <a:solidFill>
                <a:srgbClr val="199E70"/>
              </a:solidFill>
            </a:ln>
          </p:spPr>
          <p:txBody>
            <a:bodyPr wrap="square" lIns="36576" tIns="36576" rIns="36576" bIns="36576" rtlCol="0" anchor="ctr">
              <a:noAutofit/>
            </a:bodyPr>
            <a:lstStyle/>
            <a:p>
              <a:pPr algn="ctr">
                <a:lnSpc>
                  <a:spcPct val="100000"/>
                </a:lnSpc>
                <a:spcAft>
                  <a:spcPts val="0"/>
                </a:spcAft>
              </a:pPr>
              <a:r>
                <a:rPr sz="1100" b="0" i="0">
                  <a:solidFill>
                    <a:srgbClr val="FFFFFF"/>
                  </a:solidFill>
                  <a:latin typeface="Segoe UI Semibold"/>
                </a:rPr>
                <a:t>IaC providers</a:t>
              </a:r>
            </a:p>
          </p:txBody>
        </p:sp>
        <p:sp>
          <p:nvSpPr>
            <p:cNvPr id="55" name="Rounded Rectangle 54"/>
            <p:cNvSpPr/>
            <p:nvPr/>
          </p:nvSpPr>
          <p:spPr>
            <a:xfrm>
              <a:off x="5669280" y="4133088"/>
              <a:ext cx="1353312" cy="548640"/>
            </a:xfrm>
            <a:prstGeom prst="roundRect">
              <a:avLst>
                <a:gd name="adj" fmla="val 25000"/>
              </a:avLst>
            </a:prstGeom>
            <a:solidFill>
              <a:srgbClr val="182A4C"/>
            </a:solidFill>
            <a:ln w="15875">
              <a:solidFill>
                <a:srgbClr val="199E70"/>
              </a:solidFill>
            </a:ln>
          </p:spPr>
          <p:txBody>
            <a:bodyPr wrap="square" lIns="36576" tIns="36576" rIns="36576" bIns="36576" rtlCol="0" anchor="ctr">
              <a:noAutofit/>
            </a:bodyPr>
            <a:lstStyle/>
            <a:p>
              <a:pPr algn="ctr">
                <a:lnSpc>
                  <a:spcPct val="100000"/>
                </a:lnSpc>
                <a:spcAft>
                  <a:spcPts val="0"/>
                </a:spcAft>
              </a:pPr>
              <a:r>
                <a:rPr sz="1100" b="0" i="0">
                  <a:solidFill>
                    <a:srgbClr val="FFFFFF"/>
                  </a:solidFill>
                  <a:latin typeface="Segoe UI Semibold"/>
                </a:rPr>
                <a:t>Multi-cluster K8s</a:t>
              </a:r>
            </a:p>
          </p:txBody>
        </p:sp>
        <p:sp>
          <p:nvSpPr>
            <p:cNvPr id="56" name="Rounded Rectangle 55"/>
            <p:cNvSpPr/>
            <p:nvPr/>
          </p:nvSpPr>
          <p:spPr>
            <a:xfrm>
              <a:off x="7132320" y="4133088"/>
              <a:ext cx="1353312" cy="548640"/>
            </a:xfrm>
            <a:prstGeom prst="roundRect">
              <a:avLst>
                <a:gd name="adj" fmla="val 25000"/>
              </a:avLst>
            </a:prstGeom>
            <a:solidFill>
              <a:srgbClr val="182A4C"/>
            </a:solidFill>
            <a:ln w="15875">
              <a:solidFill>
                <a:srgbClr val="199E70"/>
              </a:solidFill>
            </a:ln>
          </p:spPr>
          <p:txBody>
            <a:bodyPr wrap="square" lIns="36576" tIns="36576" rIns="36576" bIns="36576" rtlCol="0" anchor="ctr">
              <a:noAutofit/>
            </a:bodyPr>
            <a:lstStyle/>
            <a:p>
              <a:pPr algn="ctr">
                <a:lnSpc>
                  <a:spcPct val="100000"/>
                </a:lnSpc>
                <a:spcAft>
                  <a:spcPts val="0"/>
                </a:spcAft>
              </a:pPr>
              <a:r>
                <a:rPr sz="1100" b="0" i="0">
                  <a:solidFill>
                    <a:srgbClr val="FFFFFF"/>
                  </a:solidFill>
                  <a:latin typeface="Segoe UI Semibold"/>
                </a:rPr>
                <a:t>Service mesh</a:t>
              </a:r>
            </a:p>
          </p:txBody>
        </p:sp>
      </p:grpSp>
      <p:grpSp>
        <p:nvGrpSpPr>
          <p:cNvPr id="57" name="Group 56"/>
          <p:cNvGrpSpPr/>
          <p:nvPr/>
        </p:nvGrpSpPr>
        <p:grpSpPr>
          <a:xfrm>
            <a:off x="548640" y="5056632"/>
            <a:ext cx="8229600" cy="987552"/>
            <a:chOff x="548640" y="5056632"/>
            <a:chExt cx="8229600" cy="987552"/>
          </a:xfrm>
        </p:grpSpPr>
        <p:sp>
          <p:nvSpPr>
            <p:cNvPr id="58" name="Rounded Rectangle 57"/>
            <p:cNvSpPr/>
            <p:nvPr/>
          </p:nvSpPr>
          <p:spPr>
            <a:xfrm>
              <a:off x="548640" y="5056632"/>
              <a:ext cx="8229600" cy="987552"/>
            </a:xfrm>
            <a:prstGeom prst="roundRect">
              <a:avLst>
                <a:gd name="adj" fmla="val 12000"/>
              </a:avLst>
            </a:prstGeom>
            <a:solidFill>
              <a:srgbClr val="D95926">
                <a:alpha val="10000"/>
              </a:srgbClr>
            </a:solidFill>
            <a:ln w="12700">
              <a:solidFill>
                <a:srgbClr val="D95926">
                  <a:alpha val="55000"/>
                </a:srgbClr>
              </a:solidFill>
            </a:ln>
          </p:spPr>
          <p:txBody>
            <a:bodyPr wrap="square" rtlCol="0" anchor="ctr"/>
            <a:lstStyle/>
            <a:p>
              <a:pPr algn="ctr"/>
              <a:endParaRPr/>
            </a:p>
          </p:txBody>
        </p:sp>
        <p:sp>
          <p:nvSpPr>
            <p:cNvPr id="59" name="TextBox 58"/>
            <p:cNvSpPr txBox="1"/>
            <p:nvPr/>
          </p:nvSpPr>
          <p:spPr>
            <a:xfrm>
              <a:off x="777240" y="5056632"/>
              <a:ext cx="1920240" cy="987552"/>
            </a:xfrm>
            <a:prstGeom prst="rect">
              <a:avLst/>
            </a:prstGeom>
            <a:noFill/>
          </p:spPr>
          <p:txBody>
            <a:bodyPr wrap="square" lIns="0" tIns="0" rIns="0" bIns="0" anchor="ctr">
              <a:noAutofit/>
            </a:bodyPr>
            <a:lstStyle/>
            <a:p>
              <a:pPr algn="l">
                <a:lnSpc>
                  <a:spcPct val="112000"/>
                </a:lnSpc>
                <a:spcAft>
                  <a:spcPts val="0"/>
                </a:spcAft>
              </a:pPr>
              <a:r>
                <a:rPr sz="1450" b="0" i="0">
                  <a:solidFill>
                    <a:srgbClr val="F4925F"/>
                  </a:solidFill>
                  <a:latin typeface="Segoe UI Semibold"/>
                </a:rPr>
                <a:t>Resource providers</a:t>
              </a:r>
            </a:p>
          </p:txBody>
        </p:sp>
        <p:sp>
          <p:nvSpPr>
            <p:cNvPr id="60" name="Rounded Rectangle 59"/>
            <p:cNvSpPr/>
            <p:nvPr/>
          </p:nvSpPr>
          <p:spPr>
            <a:xfrm>
              <a:off x="2743200" y="5276088"/>
              <a:ext cx="1353312" cy="548640"/>
            </a:xfrm>
            <a:prstGeom prst="roundRect">
              <a:avLst>
                <a:gd name="adj" fmla="val 25000"/>
              </a:avLst>
            </a:prstGeom>
            <a:solidFill>
              <a:srgbClr val="182A4C"/>
            </a:solidFill>
            <a:ln w="15875">
              <a:solidFill>
                <a:srgbClr val="D95926"/>
              </a:solidFill>
            </a:ln>
          </p:spPr>
          <p:txBody>
            <a:bodyPr wrap="square" lIns="36576" tIns="36576" rIns="36576" bIns="36576" rtlCol="0" anchor="ctr">
              <a:noAutofit/>
            </a:bodyPr>
            <a:lstStyle/>
            <a:p>
              <a:pPr algn="ctr">
                <a:lnSpc>
                  <a:spcPct val="100000"/>
                </a:lnSpc>
                <a:spcAft>
                  <a:spcPts val="0"/>
                </a:spcAft>
              </a:pPr>
              <a:r>
                <a:rPr sz="1100" b="0" i="0">
                  <a:solidFill>
                    <a:srgbClr val="FFFFFF"/>
                  </a:solidFill>
                  <a:latin typeface="Segoe UI Semibold"/>
                </a:rPr>
                <a:t>AWS</a:t>
              </a:r>
            </a:p>
          </p:txBody>
        </p:sp>
        <p:sp>
          <p:nvSpPr>
            <p:cNvPr id="61" name="Rounded Rectangle 60"/>
            <p:cNvSpPr/>
            <p:nvPr/>
          </p:nvSpPr>
          <p:spPr>
            <a:xfrm>
              <a:off x="4206240" y="5276088"/>
              <a:ext cx="1353312" cy="548640"/>
            </a:xfrm>
            <a:prstGeom prst="roundRect">
              <a:avLst>
                <a:gd name="adj" fmla="val 25000"/>
              </a:avLst>
            </a:prstGeom>
            <a:solidFill>
              <a:srgbClr val="182A4C"/>
            </a:solidFill>
            <a:ln w="15875">
              <a:solidFill>
                <a:srgbClr val="D95926"/>
              </a:solidFill>
            </a:ln>
          </p:spPr>
          <p:txBody>
            <a:bodyPr wrap="square" lIns="36576" tIns="36576" rIns="36576" bIns="36576" rtlCol="0" anchor="ctr">
              <a:noAutofit/>
            </a:bodyPr>
            <a:lstStyle/>
            <a:p>
              <a:pPr algn="ctr">
                <a:lnSpc>
                  <a:spcPct val="100000"/>
                </a:lnSpc>
                <a:spcAft>
                  <a:spcPts val="0"/>
                </a:spcAft>
              </a:pPr>
              <a:r>
                <a:rPr sz="1100" b="0" i="0">
                  <a:solidFill>
                    <a:srgbClr val="FFFFFF"/>
                  </a:solidFill>
                  <a:latin typeface="Segoe UI Semibold"/>
                </a:rPr>
                <a:t>Microsoft Azure</a:t>
              </a:r>
            </a:p>
          </p:txBody>
        </p:sp>
        <p:sp>
          <p:nvSpPr>
            <p:cNvPr id="62" name="Rounded Rectangle 61"/>
            <p:cNvSpPr/>
            <p:nvPr/>
          </p:nvSpPr>
          <p:spPr>
            <a:xfrm>
              <a:off x="5669280" y="5276088"/>
              <a:ext cx="1353312" cy="548640"/>
            </a:xfrm>
            <a:prstGeom prst="roundRect">
              <a:avLst>
                <a:gd name="adj" fmla="val 25000"/>
              </a:avLst>
            </a:prstGeom>
            <a:solidFill>
              <a:srgbClr val="182A4C"/>
            </a:solidFill>
            <a:ln w="15875">
              <a:solidFill>
                <a:srgbClr val="D95926"/>
              </a:solidFill>
            </a:ln>
          </p:spPr>
          <p:txBody>
            <a:bodyPr wrap="square" lIns="36576" tIns="36576" rIns="36576" bIns="36576" rtlCol="0" anchor="ctr">
              <a:noAutofit/>
            </a:bodyPr>
            <a:lstStyle/>
            <a:p>
              <a:pPr algn="ctr">
                <a:lnSpc>
                  <a:spcPct val="100000"/>
                </a:lnSpc>
                <a:spcAft>
                  <a:spcPts val="0"/>
                </a:spcAft>
              </a:pPr>
              <a:r>
                <a:rPr sz="1100" b="0" i="0">
                  <a:solidFill>
                    <a:srgbClr val="FFFFFF"/>
                  </a:solidFill>
                  <a:latin typeface="Segoe UI Semibold"/>
                </a:rPr>
                <a:t>Google Cloud</a:t>
              </a:r>
            </a:p>
          </p:txBody>
        </p:sp>
        <p:sp>
          <p:nvSpPr>
            <p:cNvPr id="63" name="Rounded Rectangle 62"/>
            <p:cNvSpPr/>
            <p:nvPr/>
          </p:nvSpPr>
          <p:spPr>
            <a:xfrm>
              <a:off x="7132320" y="5276088"/>
              <a:ext cx="1353312" cy="548640"/>
            </a:xfrm>
            <a:prstGeom prst="roundRect">
              <a:avLst>
                <a:gd name="adj" fmla="val 25000"/>
              </a:avLst>
            </a:prstGeom>
            <a:solidFill>
              <a:srgbClr val="182A4C"/>
            </a:solidFill>
            <a:ln w="15875">
              <a:solidFill>
                <a:srgbClr val="D95926"/>
              </a:solidFill>
            </a:ln>
          </p:spPr>
          <p:txBody>
            <a:bodyPr wrap="square" lIns="36576" tIns="36576" rIns="36576" bIns="36576" rtlCol="0" anchor="ctr">
              <a:noAutofit/>
            </a:bodyPr>
            <a:lstStyle/>
            <a:p>
              <a:pPr algn="ctr">
                <a:lnSpc>
                  <a:spcPct val="100000"/>
                </a:lnSpc>
                <a:spcAft>
                  <a:spcPts val="0"/>
                </a:spcAft>
              </a:pPr>
              <a:r>
                <a:rPr sz="1100" b="0" i="0">
                  <a:solidFill>
                    <a:srgbClr val="FFFFFF"/>
                  </a:solidFill>
                  <a:latin typeface="Segoe UI Semibold"/>
                </a:rPr>
                <a:t>Private / Edge</a:t>
              </a:r>
            </a:p>
          </p:txBody>
        </p:sp>
      </p:grpSp>
      <p:sp>
        <p:nvSpPr>
          <p:cNvPr id="64" name="TextBox 63"/>
          <p:cNvSpPr txBox="1"/>
          <p:nvPr/>
        </p:nvSpPr>
        <p:spPr>
          <a:xfrm>
            <a:off x="9098280" y="1536192"/>
            <a:ext cx="2542032" cy="320040"/>
          </a:xfrm>
          <a:prstGeom prst="rect">
            <a:avLst/>
          </a:prstGeom>
          <a:noFill/>
        </p:spPr>
        <p:txBody>
          <a:bodyPr wrap="square" lIns="0" tIns="0" rIns="0" bIns="0" anchor="t">
            <a:noAutofit/>
          </a:bodyPr>
          <a:lstStyle/>
          <a:p>
            <a:pPr algn="l">
              <a:lnSpc>
                <a:spcPct val="112000"/>
              </a:lnSpc>
              <a:spcAft>
                <a:spcPts val="0"/>
              </a:spcAft>
            </a:pPr>
            <a:r>
              <a:rPr sz="1050" b="0" i="0" spc="300">
                <a:solidFill>
                  <a:srgbClr val="8C9AB5"/>
                </a:solidFill>
                <a:latin typeface="Segoe UI Semibold"/>
              </a:rPr>
              <a:t>CROSS-CUTTING</a:t>
            </a:r>
          </a:p>
        </p:txBody>
      </p:sp>
      <p:grpSp>
        <p:nvGrpSpPr>
          <p:cNvPr id="65" name="Group 64"/>
          <p:cNvGrpSpPr/>
          <p:nvPr/>
        </p:nvGrpSpPr>
        <p:grpSpPr>
          <a:xfrm>
            <a:off x="9098280" y="1901952"/>
            <a:ext cx="2542032" cy="969264"/>
            <a:chOff x="9098280" y="1901952"/>
            <a:chExt cx="2542032" cy="969264"/>
          </a:xfrm>
        </p:grpSpPr>
        <p:sp>
          <p:nvSpPr>
            <p:cNvPr id="66" name="Rounded Rectangle 65"/>
            <p:cNvSpPr/>
            <p:nvPr/>
          </p:nvSpPr>
          <p:spPr>
            <a:xfrm>
              <a:off x="9098280" y="1901952"/>
              <a:ext cx="2542032" cy="969264"/>
            </a:xfrm>
            <a:prstGeom prst="roundRect">
              <a:avLst>
                <a:gd name="adj" fmla="val 12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67" name="Rectangle 66"/>
            <p:cNvSpPr/>
            <p:nvPr/>
          </p:nvSpPr>
          <p:spPr>
            <a:xfrm>
              <a:off x="9098280" y="2157984"/>
              <a:ext cx="45720" cy="384048"/>
            </a:xfrm>
            <a:prstGeom prst="rect">
              <a:avLst/>
            </a:prstGeom>
            <a:solidFill>
              <a:srgbClr val="9085E9"/>
            </a:solidFill>
            <a:ln>
              <a:noFill/>
            </a:ln>
          </p:spPr>
          <p:txBody>
            <a:bodyPr wrap="square" rtlCol="0" anchor="ctr"/>
            <a:lstStyle/>
            <a:p>
              <a:pPr algn="ctr"/>
              <a:endParaRPr/>
            </a:p>
          </p:txBody>
        </p:sp>
        <p:sp>
          <p:nvSpPr>
            <p:cNvPr id="68" name="TextBox 67"/>
            <p:cNvSpPr txBox="1"/>
            <p:nvPr/>
          </p:nvSpPr>
          <p:spPr>
            <a:xfrm>
              <a:off x="9354311" y="2103120"/>
              <a:ext cx="2103120" cy="411480"/>
            </a:xfrm>
            <a:prstGeom prst="rect">
              <a:avLst/>
            </a:prstGeom>
            <a:noFill/>
          </p:spPr>
          <p:txBody>
            <a:bodyPr wrap="square" lIns="0" tIns="0" rIns="0" bIns="0" anchor="t">
              <a:noAutofit/>
            </a:bodyPr>
            <a:lstStyle/>
            <a:p>
              <a:pPr algn="l">
                <a:lnSpc>
                  <a:spcPct val="112000"/>
                </a:lnSpc>
                <a:spcAft>
                  <a:spcPts val="0"/>
                </a:spcAft>
              </a:pPr>
              <a:r>
                <a:rPr sz="1300" b="0" i="0">
                  <a:solidFill>
                    <a:srgbClr val="FFFFFF"/>
                  </a:solidFill>
                  <a:latin typeface="Segoe UI Semibold"/>
                </a:rPr>
                <a:t>Security &amp; identity</a:t>
              </a:r>
            </a:p>
          </p:txBody>
        </p:sp>
        <p:sp>
          <p:nvSpPr>
            <p:cNvPr id="69" name="TextBox 68"/>
            <p:cNvSpPr txBox="1"/>
            <p:nvPr/>
          </p:nvSpPr>
          <p:spPr>
            <a:xfrm>
              <a:off x="9372600" y="2432304"/>
              <a:ext cx="2039111" cy="301751"/>
            </a:xfrm>
            <a:prstGeom prst="rect">
              <a:avLst/>
            </a:prstGeom>
            <a:noFill/>
          </p:spPr>
          <p:txBody>
            <a:bodyPr wrap="square" lIns="0" tIns="0" rIns="0" bIns="0" anchor="t">
              <a:noAutofit/>
            </a:bodyPr>
            <a:lstStyle/>
            <a:p>
              <a:pPr algn="l">
                <a:lnSpc>
                  <a:spcPct val="115000"/>
                </a:lnSpc>
                <a:spcAft>
                  <a:spcPts val="400"/>
                </a:spcAft>
              </a:pPr>
              <a:r>
                <a:rPr sz="1050" b="0" i="0">
                  <a:solidFill>
                    <a:srgbClr val="C9D2E3"/>
                  </a:solidFill>
                  <a:latin typeface="Segoe UI"/>
                </a:rPr>
                <a:t>Zero trust, federated IAM, secrets</a:t>
              </a:r>
            </a:p>
          </p:txBody>
        </p:sp>
      </p:grpSp>
      <p:grpSp>
        <p:nvGrpSpPr>
          <p:cNvPr id="70" name="Group 69"/>
          <p:cNvGrpSpPr/>
          <p:nvPr/>
        </p:nvGrpSpPr>
        <p:grpSpPr>
          <a:xfrm>
            <a:off x="9098280" y="2980944"/>
            <a:ext cx="2542032" cy="969264"/>
            <a:chOff x="9098280" y="2980944"/>
            <a:chExt cx="2542032" cy="969264"/>
          </a:xfrm>
        </p:grpSpPr>
        <p:sp>
          <p:nvSpPr>
            <p:cNvPr id="71" name="Rounded Rectangle 70"/>
            <p:cNvSpPr/>
            <p:nvPr/>
          </p:nvSpPr>
          <p:spPr>
            <a:xfrm>
              <a:off x="9098280" y="2980944"/>
              <a:ext cx="2542032" cy="969264"/>
            </a:xfrm>
            <a:prstGeom prst="roundRect">
              <a:avLst>
                <a:gd name="adj" fmla="val 12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72" name="Rectangle 71"/>
            <p:cNvSpPr/>
            <p:nvPr/>
          </p:nvSpPr>
          <p:spPr>
            <a:xfrm>
              <a:off x="9098280" y="3236976"/>
              <a:ext cx="45720" cy="384048"/>
            </a:xfrm>
            <a:prstGeom prst="rect">
              <a:avLst/>
            </a:prstGeom>
            <a:solidFill>
              <a:srgbClr val="199E70"/>
            </a:solidFill>
            <a:ln>
              <a:noFill/>
            </a:ln>
          </p:spPr>
          <p:txBody>
            <a:bodyPr wrap="square" rtlCol="0" anchor="ctr"/>
            <a:lstStyle/>
            <a:p>
              <a:pPr algn="ctr"/>
              <a:endParaRPr/>
            </a:p>
          </p:txBody>
        </p:sp>
        <p:sp>
          <p:nvSpPr>
            <p:cNvPr id="73" name="TextBox 72"/>
            <p:cNvSpPr txBox="1"/>
            <p:nvPr/>
          </p:nvSpPr>
          <p:spPr>
            <a:xfrm>
              <a:off x="9354311" y="3182112"/>
              <a:ext cx="2103120" cy="411480"/>
            </a:xfrm>
            <a:prstGeom prst="rect">
              <a:avLst/>
            </a:prstGeom>
            <a:noFill/>
          </p:spPr>
          <p:txBody>
            <a:bodyPr wrap="square" lIns="0" tIns="0" rIns="0" bIns="0" anchor="t">
              <a:noAutofit/>
            </a:bodyPr>
            <a:lstStyle/>
            <a:p>
              <a:pPr algn="l">
                <a:lnSpc>
                  <a:spcPct val="112000"/>
                </a:lnSpc>
                <a:spcAft>
                  <a:spcPts val="0"/>
                </a:spcAft>
              </a:pPr>
              <a:r>
                <a:rPr sz="1300" b="0" i="0">
                  <a:solidFill>
                    <a:srgbClr val="FFFFFF"/>
                  </a:solidFill>
                  <a:latin typeface="Segoe UI Semibold"/>
                </a:rPr>
                <a:t>Observability</a:t>
              </a:r>
            </a:p>
          </p:txBody>
        </p:sp>
        <p:sp>
          <p:nvSpPr>
            <p:cNvPr id="74" name="TextBox 73"/>
            <p:cNvSpPr txBox="1"/>
            <p:nvPr/>
          </p:nvSpPr>
          <p:spPr>
            <a:xfrm>
              <a:off x="9372600" y="3511296"/>
              <a:ext cx="2039111" cy="301752"/>
            </a:xfrm>
            <a:prstGeom prst="rect">
              <a:avLst/>
            </a:prstGeom>
            <a:noFill/>
          </p:spPr>
          <p:txBody>
            <a:bodyPr wrap="square" lIns="0" tIns="0" rIns="0" bIns="0" anchor="t">
              <a:noAutofit/>
            </a:bodyPr>
            <a:lstStyle/>
            <a:p>
              <a:pPr algn="l">
                <a:lnSpc>
                  <a:spcPct val="115000"/>
                </a:lnSpc>
                <a:spcAft>
                  <a:spcPts val="400"/>
                </a:spcAft>
              </a:pPr>
              <a:r>
                <a:rPr sz="1050" b="0" i="0">
                  <a:solidFill>
                    <a:srgbClr val="C9D2E3"/>
                  </a:solidFill>
                  <a:latin typeface="Segoe UI"/>
                </a:rPr>
                <a:t>Metrics, logs, traces (OpenTelemetry)</a:t>
              </a:r>
            </a:p>
          </p:txBody>
        </p:sp>
      </p:grpSp>
      <p:grpSp>
        <p:nvGrpSpPr>
          <p:cNvPr id="75" name="Group 74"/>
          <p:cNvGrpSpPr/>
          <p:nvPr/>
        </p:nvGrpSpPr>
        <p:grpSpPr>
          <a:xfrm>
            <a:off x="9098280" y="4059935"/>
            <a:ext cx="2542032" cy="969264"/>
            <a:chOff x="9098280" y="4059935"/>
            <a:chExt cx="2542032" cy="969264"/>
          </a:xfrm>
        </p:grpSpPr>
        <p:sp>
          <p:nvSpPr>
            <p:cNvPr id="76" name="Rounded Rectangle 75"/>
            <p:cNvSpPr/>
            <p:nvPr/>
          </p:nvSpPr>
          <p:spPr>
            <a:xfrm>
              <a:off x="9098280" y="4059935"/>
              <a:ext cx="2542032" cy="969264"/>
            </a:xfrm>
            <a:prstGeom prst="roundRect">
              <a:avLst>
                <a:gd name="adj" fmla="val 12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77" name="Rectangle 76"/>
            <p:cNvSpPr/>
            <p:nvPr/>
          </p:nvSpPr>
          <p:spPr>
            <a:xfrm>
              <a:off x="9098280" y="4315968"/>
              <a:ext cx="45720" cy="384048"/>
            </a:xfrm>
            <a:prstGeom prst="rect">
              <a:avLst/>
            </a:prstGeom>
            <a:solidFill>
              <a:srgbClr val="D95926"/>
            </a:solidFill>
            <a:ln>
              <a:noFill/>
            </a:ln>
          </p:spPr>
          <p:txBody>
            <a:bodyPr wrap="square" rtlCol="0" anchor="ctr"/>
            <a:lstStyle/>
            <a:p>
              <a:pPr algn="ctr"/>
              <a:endParaRPr/>
            </a:p>
          </p:txBody>
        </p:sp>
        <p:sp>
          <p:nvSpPr>
            <p:cNvPr id="78" name="TextBox 77"/>
            <p:cNvSpPr txBox="1"/>
            <p:nvPr/>
          </p:nvSpPr>
          <p:spPr>
            <a:xfrm>
              <a:off x="9354311" y="4261103"/>
              <a:ext cx="2103120" cy="411480"/>
            </a:xfrm>
            <a:prstGeom prst="rect">
              <a:avLst/>
            </a:prstGeom>
            <a:noFill/>
          </p:spPr>
          <p:txBody>
            <a:bodyPr wrap="square" lIns="0" tIns="0" rIns="0" bIns="0" anchor="t">
              <a:noAutofit/>
            </a:bodyPr>
            <a:lstStyle/>
            <a:p>
              <a:pPr algn="l">
                <a:lnSpc>
                  <a:spcPct val="112000"/>
                </a:lnSpc>
                <a:spcAft>
                  <a:spcPts val="0"/>
                </a:spcAft>
              </a:pPr>
              <a:r>
                <a:rPr sz="1300" b="0" i="0">
                  <a:solidFill>
                    <a:srgbClr val="FFFFFF"/>
                  </a:solidFill>
                  <a:latin typeface="Segoe UI Semibold"/>
                </a:rPr>
                <a:t>FinOps</a:t>
              </a:r>
            </a:p>
          </p:txBody>
        </p:sp>
        <p:sp>
          <p:nvSpPr>
            <p:cNvPr id="79" name="TextBox 78"/>
            <p:cNvSpPr txBox="1"/>
            <p:nvPr/>
          </p:nvSpPr>
          <p:spPr>
            <a:xfrm>
              <a:off x="9372600" y="4590288"/>
              <a:ext cx="2039111" cy="301752"/>
            </a:xfrm>
            <a:prstGeom prst="rect">
              <a:avLst/>
            </a:prstGeom>
            <a:noFill/>
          </p:spPr>
          <p:txBody>
            <a:bodyPr wrap="square" lIns="0" tIns="0" rIns="0" bIns="0" anchor="t">
              <a:noAutofit/>
            </a:bodyPr>
            <a:lstStyle/>
            <a:p>
              <a:pPr algn="l">
                <a:lnSpc>
                  <a:spcPct val="115000"/>
                </a:lnSpc>
                <a:spcAft>
                  <a:spcPts val="400"/>
                </a:spcAft>
              </a:pPr>
              <a:r>
                <a:rPr sz="1050" b="0" i="0">
                  <a:solidFill>
                    <a:srgbClr val="C9D2E3"/>
                  </a:solidFill>
                  <a:latin typeface="Segoe UI"/>
                </a:rPr>
                <a:t>Cost allocation, budgets, optimization</a:t>
              </a:r>
            </a:p>
          </p:txBody>
        </p:sp>
      </p:grpSp>
      <p:grpSp>
        <p:nvGrpSpPr>
          <p:cNvPr id="80" name="Group 79"/>
          <p:cNvGrpSpPr/>
          <p:nvPr/>
        </p:nvGrpSpPr>
        <p:grpSpPr>
          <a:xfrm>
            <a:off x="9098280" y="5138928"/>
            <a:ext cx="2542032" cy="969264"/>
            <a:chOff x="9098280" y="5138928"/>
            <a:chExt cx="2542032" cy="969264"/>
          </a:xfrm>
        </p:grpSpPr>
        <p:sp>
          <p:nvSpPr>
            <p:cNvPr id="81" name="Rounded Rectangle 80"/>
            <p:cNvSpPr/>
            <p:nvPr/>
          </p:nvSpPr>
          <p:spPr>
            <a:xfrm>
              <a:off x="9098280" y="5138928"/>
              <a:ext cx="2542032" cy="969264"/>
            </a:xfrm>
            <a:prstGeom prst="roundRect">
              <a:avLst>
                <a:gd name="adj" fmla="val 12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82" name="Rectangle 81"/>
            <p:cNvSpPr/>
            <p:nvPr/>
          </p:nvSpPr>
          <p:spPr>
            <a:xfrm>
              <a:off x="9098280" y="5394960"/>
              <a:ext cx="45720" cy="384048"/>
            </a:xfrm>
            <a:prstGeom prst="rect">
              <a:avLst/>
            </a:prstGeom>
            <a:solidFill>
              <a:srgbClr val="3987E5"/>
            </a:solidFill>
            <a:ln>
              <a:noFill/>
            </a:ln>
          </p:spPr>
          <p:txBody>
            <a:bodyPr wrap="square" rtlCol="0" anchor="ctr"/>
            <a:lstStyle/>
            <a:p>
              <a:pPr algn="ctr"/>
              <a:endParaRPr/>
            </a:p>
          </p:txBody>
        </p:sp>
        <p:sp>
          <p:nvSpPr>
            <p:cNvPr id="83" name="TextBox 82"/>
            <p:cNvSpPr txBox="1"/>
            <p:nvPr/>
          </p:nvSpPr>
          <p:spPr>
            <a:xfrm>
              <a:off x="9354311" y="5340096"/>
              <a:ext cx="2103120" cy="411480"/>
            </a:xfrm>
            <a:prstGeom prst="rect">
              <a:avLst/>
            </a:prstGeom>
            <a:noFill/>
          </p:spPr>
          <p:txBody>
            <a:bodyPr wrap="square" lIns="0" tIns="0" rIns="0" bIns="0" anchor="t">
              <a:noAutofit/>
            </a:bodyPr>
            <a:lstStyle/>
            <a:p>
              <a:pPr algn="l">
                <a:lnSpc>
                  <a:spcPct val="112000"/>
                </a:lnSpc>
                <a:spcAft>
                  <a:spcPts val="0"/>
                </a:spcAft>
              </a:pPr>
              <a:r>
                <a:rPr sz="1300" b="0" i="0">
                  <a:solidFill>
                    <a:srgbClr val="FFFFFF"/>
                  </a:solidFill>
                  <a:latin typeface="Segoe UI Semibold"/>
                </a:rPr>
                <a:t>Governance</a:t>
              </a:r>
            </a:p>
          </p:txBody>
        </p:sp>
        <p:sp>
          <p:nvSpPr>
            <p:cNvPr id="84" name="TextBox 83"/>
            <p:cNvSpPr txBox="1"/>
            <p:nvPr/>
          </p:nvSpPr>
          <p:spPr>
            <a:xfrm>
              <a:off x="9372600" y="5669280"/>
              <a:ext cx="2039111" cy="301751"/>
            </a:xfrm>
            <a:prstGeom prst="rect">
              <a:avLst/>
            </a:prstGeom>
            <a:noFill/>
          </p:spPr>
          <p:txBody>
            <a:bodyPr wrap="square" lIns="0" tIns="0" rIns="0" bIns="0" anchor="t">
              <a:noAutofit/>
            </a:bodyPr>
            <a:lstStyle/>
            <a:p>
              <a:pPr algn="l">
                <a:lnSpc>
                  <a:spcPct val="115000"/>
                </a:lnSpc>
                <a:spcAft>
                  <a:spcPts val="400"/>
                </a:spcAft>
              </a:pPr>
              <a:r>
                <a:rPr sz="1050" b="0" i="0">
                  <a:solidFill>
                    <a:srgbClr val="C9D2E3"/>
                  </a:solidFill>
                  <a:latin typeface="Segoe UI"/>
                </a:rPr>
                <a:t>Policy as code, compliance, audit</a:t>
              </a:r>
            </a:p>
          </p:txBody>
        </p:sp>
      </p:grpSp>
      <p:sp>
        <p:nvSpPr>
          <p:cNvPr id="85" name="Rounded Rectangle 84"/>
          <p:cNvSpPr/>
          <p:nvPr/>
        </p:nvSpPr>
        <p:spPr>
          <a:xfrm>
            <a:off x="5623560" y="2615184"/>
            <a:ext cx="1444752" cy="256032"/>
          </a:xfrm>
          <a:prstGeom prst="roundRect">
            <a:avLst>
              <a:gd name="adj" fmla="val 50000"/>
            </a:avLst>
          </a:prstGeom>
          <a:solidFill>
            <a:srgbClr val="D95926">
              <a:alpha val="90000"/>
            </a:srgbClr>
          </a:solidFill>
          <a:ln w="9525">
            <a:solidFill>
              <a:srgbClr val="D95926"/>
            </a:solidFill>
          </a:ln>
        </p:spPr>
        <p:txBody>
          <a:bodyPr wrap="square" lIns="18288" tIns="18288" rIns="18288" bIns="18288" rtlCol="0" anchor="ctr">
            <a:noAutofit/>
          </a:bodyPr>
          <a:lstStyle/>
          <a:p>
            <a:pPr algn="ctr">
              <a:lnSpc>
                <a:spcPct val="112000"/>
              </a:lnSpc>
              <a:spcAft>
                <a:spcPts val="0"/>
              </a:spcAft>
            </a:pPr>
            <a:r>
              <a:rPr sz="900" b="0" i="0">
                <a:solidFill>
                  <a:srgbClr val="FFFFFF"/>
                </a:solidFill>
                <a:latin typeface="Segoe UI Semibold"/>
              </a:rPr>
              <a:t>Focus of Part 02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730"/>
                                  </p:stCondLst>
                                  <p:childTnLst>
                                    <p:set>
                                      <p:cBhvr>
                                        <p:cTn id="6" dur="1" fill="hold">
                                          <p:stCondLst>
                                            <p:cond delay="0"/>
                                          </p:stCondLst>
                                        </p:cTn>
                                        <p:tgtEl>
                                          <p:spTgt spid="36"/>
                                        </p:tgtEl>
                                        <p:attrNameLst>
                                          <p:attrName>style.visibility</p:attrName>
                                        </p:attrNameLst>
                                      </p:cBhvr>
                                      <p:to>
                                        <p:strVal val="visible"/>
                                      </p:to>
                                    </p:set>
                                    <p:animEffect transition="in" filter="wipe(down)">
                                      <p:cBhvr>
                                        <p:cTn id="7" dur="700"/>
                                        <p:tgtEl>
                                          <p:spTgt spid="36"/>
                                        </p:tgtEl>
                                      </p:cBhvr>
                                    </p:animEffect>
                                  </p:childTnLst>
                                </p:cTn>
                              </p:par>
                              <p:par>
                                <p:cTn id="8" presetID="22" presetClass="entr" presetSubtype="4" fill="hold" nodeType="withEffect">
                                  <p:stCondLst>
                                    <p:cond delay="570"/>
                                  </p:stCondLst>
                                  <p:childTnLst>
                                    <p:set>
                                      <p:cBhvr>
                                        <p:cTn id="9" dur="1" fill="hold">
                                          <p:stCondLst>
                                            <p:cond delay="0"/>
                                          </p:stCondLst>
                                        </p:cTn>
                                        <p:tgtEl>
                                          <p:spTgt spid="43"/>
                                        </p:tgtEl>
                                        <p:attrNameLst>
                                          <p:attrName>style.visibility</p:attrName>
                                        </p:attrNameLst>
                                      </p:cBhvr>
                                      <p:to>
                                        <p:strVal val="visible"/>
                                      </p:to>
                                    </p:set>
                                    <p:animEffect transition="in" filter="wipe(down)">
                                      <p:cBhvr>
                                        <p:cTn id="10" dur="700"/>
                                        <p:tgtEl>
                                          <p:spTgt spid="43"/>
                                        </p:tgtEl>
                                      </p:cBhvr>
                                    </p:animEffect>
                                  </p:childTnLst>
                                </p:cTn>
                              </p:par>
                              <p:par>
                                <p:cTn id="11" presetID="22" presetClass="entr" presetSubtype="4" fill="hold" nodeType="withEffect">
                                  <p:stCondLst>
                                    <p:cond delay="410"/>
                                  </p:stCondLst>
                                  <p:childTnLst>
                                    <p:set>
                                      <p:cBhvr>
                                        <p:cTn id="12" dur="1" fill="hold">
                                          <p:stCondLst>
                                            <p:cond delay="0"/>
                                          </p:stCondLst>
                                        </p:cTn>
                                        <p:tgtEl>
                                          <p:spTgt spid="50"/>
                                        </p:tgtEl>
                                        <p:attrNameLst>
                                          <p:attrName>style.visibility</p:attrName>
                                        </p:attrNameLst>
                                      </p:cBhvr>
                                      <p:to>
                                        <p:strVal val="visible"/>
                                      </p:to>
                                    </p:set>
                                    <p:animEffect transition="in" filter="wipe(down)">
                                      <p:cBhvr>
                                        <p:cTn id="13" dur="700"/>
                                        <p:tgtEl>
                                          <p:spTgt spid="50"/>
                                        </p:tgtEl>
                                      </p:cBhvr>
                                    </p:animEffect>
                                  </p:childTnLst>
                                </p:cTn>
                              </p:par>
                              <p:par>
                                <p:cTn id="14" presetID="22" presetClass="entr" presetSubtype="4" fill="hold" nodeType="withEffect">
                                  <p:stCondLst>
                                    <p:cond delay="250"/>
                                  </p:stCondLst>
                                  <p:childTnLst>
                                    <p:set>
                                      <p:cBhvr>
                                        <p:cTn id="15" dur="1" fill="hold">
                                          <p:stCondLst>
                                            <p:cond delay="0"/>
                                          </p:stCondLst>
                                        </p:cTn>
                                        <p:tgtEl>
                                          <p:spTgt spid="57"/>
                                        </p:tgtEl>
                                        <p:attrNameLst>
                                          <p:attrName>style.visibility</p:attrName>
                                        </p:attrNameLst>
                                      </p:cBhvr>
                                      <p:to>
                                        <p:strVal val="visible"/>
                                      </p:to>
                                    </p:set>
                                    <p:animEffect transition="in" filter="wipe(down)">
                                      <p:cBhvr>
                                        <p:cTn id="16" dur="700"/>
                                        <p:tgtEl>
                                          <p:spTgt spid="57"/>
                                        </p:tgtEl>
                                      </p:cBhvr>
                                    </p:animEffect>
                                  </p:childTnLst>
                                </p:cTn>
                              </p:par>
                              <p:par>
                                <p:cTn id="17" presetID="42" presetClass="entr" presetSubtype="0" fill="hold" nodeType="withEffect">
                                  <p:stCondLst>
                                    <p:cond delay="890"/>
                                  </p:stCondLst>
                                  <p:childTnLst>
                                    <p:set>
                                      <p:cBhvr>
                                        <p:cTn id="18" dur="1" fill="hold">
                                          <p:stCondLst>
                                            <p:cond delay="0"/>
                                          </p:stCondLst>
                                        </p:cTn>
                                        <p:tgtEl>
                                          <p:spTgt spid="65"/>
                                        </p:tgtEl>
                                        <p:attrNameLst>
                                          <p:attrName>style.visibility</p:attrName>
                                        </p:attrNameLst>
                                      </p:cBhvr>
                                      <p:to>
                                        <p:strVal val="visible"/>
                                      </p:to>
                                    </p:set>
                                    <p:animEffect transition="in" filter="fade">
                                      <p:cBhvr>
                                        <p:cTn id="19" dur="600"/>
                                        <p:tgtEl>
                                          <p:spTgt spid="65"/>
                                        </p:tgtEl>
                                      </p:cBhvr>
                                    </p:animEffect>
                                    <p:anim calcmode="lin" valueType="num">
                                      <p:cBhvr>
                                        <p:cTn id="20" dur="600" fill="hold"/>
                                        <p:tgtEl>
                                          <p:spTgt spid="65"/>
                                        </p:tgtEl>
                                        <p:attrNameLst>
                                          <p:attrName>ppt_x</p:attrName>
                                        </p:attrNameLst>
                                      </p:cBhvr>
                                      <p:tavLst>
                                        <p:tav tm="0">
                                          <p:val>
                                            <p:strVal val="#ppt_x"/>
                                          </p:val>
                                        </p:tav>
                                        <p:tav tm="100000">
                                          <p:val>
                                            <p:strVal val="#ppt_x"/>
                                          </p:val>
                                        </p:tav>
                                      </p:tavLst>
                                    </p:anim>
                                    <p:anim calcmode="lin" valueType="num">
                                      <p:cBhvr>
                                        <p:cTn id="21" dur="600" fill="hold"/>
                                        <p:tgtEl>
                                          <p:spTgt spid="65"/>
                                        </p:tgtEl>
                                        <p:attrNameLst>
                                          <p:attrName>ppt_y</p:attrName>
                                        </p:attrNameLst>
                                      </p:cBhvr>
                                      <p:tavLst>
                                        <p:tav tm="0">
                                          <p:val>
                                            <p:strVal val="#ppt_y+.08"/>
                                          </p:val>
                                        </p:tav>
                                        <p:tav tm="100000">
                                          <p:val>
                                            <p:strVal val="#ppt_y"/>
                                          </p:val>
                                        </p:tav>
                                      </p:tavLst>
                                    </p:anim>
                                  </p:childTnLst>
                                </p:cTn>
                              </p:par>
                              <p:par>
                                <p:cTn id="22" presetID="42" presetClass="entr" presetSubtype="0" fill="hold" nodeType="withEffect">
                                  <p:stCondLst>
                                    <p:cond delay="1050"/>
                                  </p:stCondLst>
                                  <p:childTnLst>
                                    <p:set>
                                      <p:cBhvr>
                                        <p:cTn id="23" dur="1" fill="hold">
                                          <p:stCondLst>
                                            <p:cond delay="0"/>
                                          </p:stCondLst>
                                        </p:cTn>
                                        <p:tgtEl>
                                          <p:spTgt spid="70"/>
                                        </p:tgtEl>
                                        <p:attrNameLst>
                                          <p:attrName>style.visibility</p:attrName>
                                        </p:attrNameLst>
                                      </p:cBhvr>
                                      <p:to>
                                        <p:strVal val="visible"/>
                                      </p:to>
                                    </p:set>
                                    <p:animEffect transition="in" filter="fade">
                                      <p:cBhvr>
                                        <p:cTn id="24" dur="600"/>
                                        <p:tgtEl>
                                          <p:spTgt spid="70"/>
                                        </p:tgtEl>
                                      </p:cBhvr>
                                    </p:animEffect>
                                    <p:anim calcmode="lin" valueType="num">
                                      <p:cBhvr>
                                        <p:cTn id="25" dur="600" fill="hold"/>
                                        <p:tgtEl>
                                          <p:spTgt spid="70"/>
                                        </p:tgtEl>
                                        <p:attrNameLst>
                                          <p:attrName>ppt_x</p:attrName>
                                        </p:attrNameLst>
                                      </p:cBhvr>
                                      <p:tavLst>
                                        <p:tav tm="0">
                                          <p:val>
                                            <p:strVal val="#ppt_x"/>
                                          </p:val>
                                        </p:tav>
                                        <p:tav tm="100000">
                                          <p:val>
                                            <p:strVal val="#ppt_x"/>
                                          </p:val>
                                        </p:tav>
                                      </p:tavLst>
                                    </p:anim>
                                    <p:anim calcmode="lin" valueType="num">
                                      <p:cBhvr>
                                        <p:cTn id="26" dur="600" fill="hold"/>
                                        <p:tgtEl>
                                          <p:spTgt spid="70"/>
                                        </p:tgtEl>
                                        <p:attrNameLst>
                                          <p:attrName>ppt_y</p:attrName>
                                        </p:attrNameLst>
                                      </p:cBhvr>
                                      <p:tavLst>
                                        <p:tav tm="0">
                                          <p:val>
                                            <p:strVal val="#ppt_y+.08"/>
                                          </p:val>
                                        </p:tav>
                                        <p:tav tm="100000">
                                          <p:val>
                                            <p:strVal val="#ppt_y"/>
                                          </p:val>
                                        </p:tav>
                                      </p:tavLst>
                                    </p:anim>
                                  </p:childTnLst>
                                </p:cTn>
                              </p:par>
                              <p:par>
                                <p:cTn id="27" presetID="42" presetClass="entr" presetSubtype="0" fill="hold" nodeType="withEffect">
                                  <p:stCondLst>
                                    <p:cond delay="1210"/>
                                  </p:stCondLst>
                                  <p:childTnLst>
                                    <p:set>
                                      <p:cBhvr>
                                        <p:cTn id="28" dur="1" fill="hold">
                                          <p:stCondLst>
                                            <p:cond delay="0"/>
                                          </p:stCondLst>
                                        </p:cTn>
                                        <p:tgtEl>
                                          <p:spTgt spid="75"/>
                                        </p:tgtEl>
                                        <p:attrNameLst>
                                          <p:attrName>style.visibility</p:attrName>
                                        </p:attrNameLst>
                                      </p:cBhvr>
                                      <p:to>
                                        <p:strVal val="visible"/>
                                      </p:to>
                                    </p:set>
                                    <p:animEffect transition="in" filter="fade">
                                      <p:cBhvr>
                                        <p:cTn id="29" dur="600"/>
                                        <p:tgtEl>
                                          <p:spTgt spid="75"/>
                                        </p:tgtEl>
                                      </p:cBhvr>
                                    </p:animEffect>
                                    <p:anim calcmode="lin" valueType="num">
                                      <p:cBhvr>
                                        <p:cTn id="30" dur="600" fill="hold"/>
                                        <p:tgtEl>
                                          <p:spTgt spid="75"/>
                                        </p:tgtEl>
                                        <p:attrNameLst>
                                          <p:attrName>ppt_x</p:attrName>
                                        </p:attrNameLst>
                                      </p:cBhvr>
                                      <p:tavLst>
                                        <p:tav tm="0">
                                          <p:val>
                                            <p:strVal val="#ppt_x"/>
                                          </p:val>
                                        </p:tav>
                                        <p:tav tm="100000">
                                          <p:val>
                                            <p:strVal val="#ppt_x"/>
                                          </p:val>
                                        </p:tav>
                                      </p:tavLst>
                                    </p:anim>
                                    <p:anim calcmode="lin" valueType="num">
                                      <p:cBhvr>
                                        <p:cTn id="31" dur="600" fill="hold"/>
                                        <p:tgtEl>
                                          <p:spTgt spid="75"/>
                                        </p:tgtEl>
                                        <p:attrNameLst>
                                          <p:attrName>ppt_y</p:attrName>
                                        </p:attrNameLst>
                                      </p:cBhvr>
                                      <p:tavLst>
                                        <p:tav tm="0">
                                          <p:val>
                                            <p:strVal val="#ppt_y+.08"/>
                                          </p:val>
                                        </p:tav>
                                        <p:tav tm="100000">
                                          <p:val>
                                            <p:strVal val="#ppt_y"/>
                                          </p:val>
                                        </p:tav>
                                      </p:tavLst>
                                    </p:anim>
                                  </p:childTnLst>
                                </p:cTn>
                              </p:par>
                              <p:par>
                                <p:cTn id="32" presetID="42" presetClass="entr" presetSubtype="0" fill="hold" nodeType="withEffect">
                                  <p:stCondLst>
                                    <p:cond delay="1370"/>
                                  </p:stCondLst>
                                  <p:childTnLst>
                                    <p:set>
                                      <p:cBhvr>
                                        <p:cTn id="33" dur="1" fill="hold">
                                          <p:stCondLst>
                                            <p:cond delay="0"/>
                                          </p:stCondLst>
                                        </p:cTn>
                                        <p:tgtEl>
                                          <p:spTgt spid="80"/>
                                        </p:tgtEl>
                                        <p:attrNameLst>
                                          <p:attrName>style.visibility</p:attrName>
                                        </p:attrNameLst>
                                      </p:cBhvr>
                                      <p:to>
                                        <p:strVal val="visible"/>
                                      </p:to>
                                    </p:set>
                                    <p:animEffect transition="in" filter="fade">
                                      <p:cBhvr>
                                        <p:cTn id="34" dur="600"/>
                                        <p:tgtEl>
                                          <p:spTgt spid="80"/>
                                        </p:tgtEl>
                                      </p:cBhvr>
                                    </p:animEffect>
                                    <p:anim calcmode="lin" valueType="num">
                                      <p:cBhvr>
                                        <p:cTn id="35" dur="600" fill="hold"/>
                                        <p:tgtEl>
                                          <p:spTgt spid="80"/>
                                        </p:tgtEl>
                                        <p:attrNameLst>
                                          <p:attrName>ppt_x</p:attrName>
                                        </p:attrNameLst>
                                      </p:cBhvr>
                                      <p:tavLst>
                                        <p:tav tm="0">
                                          <p:val>
                                            <p:strVal val="#ppt_x"/>
                                          </p:val>
                                        </p:tav>
                                        <p:tav tm="100000">
                                          <p:val>
                                            <p:strVal val="#ppt_x"/>
                                          </p:val>
                                        </p:tav>
                                      </p:tavLst>
                                    </p:anim>
                                    <p:anim calcmode="lin" valueType="num">
                                      <p:cBhvr>
                                        <p:cTn id="36" dur="600" fill="hold"/>
                                        <p:tgtEl>
                                          <p:spTgt spid="80"/>
                                        </p:tgtEl>
                                        <p:attrNameLst>
                                          <p:attrName>ppt_y</p:attrName>
                                        </p:attrNameLst>
                                      </p:cBhvr>
                                      <p:tavLst>
                                        <p:tav tm="0">
                                          <p:val>
                                            <p:strVal val="#ppt_y+.08"/>
                                          </p:val>
                                        </p:tav>
                                        <p:tav tm="100000">
                                          <p:val>
                                            <p:strVal val="#ppt_y"/>
                                          </p:val>
                                        </p:tav>
                                      </p:tavLst>
                                    </p:anim>
                                  </p:childTnLst>
                                </p:cTn>
                              </p:par>
                              <p:par>
                                <p:cTn id="37" presetID="53" presetClass="entr" presetSubtype="16" fill="hold" grpId="0" nodeType="withEffect">
                                  <p:stCondLst>
                                    <p:cond delay="1530"/>
                                  </p:stCondLst>
                                  <p:childTnLst>
                                    <p:set>
                                      <p:cBhvr>
                                        <p:cTn id="38" dur="1" fill="hold">
                                          <p:stCondLst>
                                            <p:cond delay="0"/>
                                          </p:stCondLst>
                                        </p:cTn>
                                        <p:tgtEl>
                                          <p:spTgt spid="85"/>
                                        </p:tgtEl>
                                        <p:attrNameLst>
                                          <p:attrName>style.visibility</p:attrName>
                                        </p:attrNameLst>
                                      </p:cBhvr>
                                      <p:to>
                                        <p:strVal val="visible"/>
                                      </p:to>
                                    </p:set>
                                    <p:anim calcmode="lin" valueType="num">
                                      <p:cBhvr>
                                        <p:cTn id="39" dur="600" fill="hold"/>
                                        <p:tgtEl>
                                          <p:spTgt spid="85"/>
                                        </p:tgtEl>
                                        <p:attrNameLst>
                                          <p:attrName>ppt_w</p:attrName>
                                        </p:attrNameLst>
                                      </p:cBhvr>
                                      <p:tavLst>
                                        <p:tav tm="0">
                                          <p:val>
                                            <p:fltVal val="0"/>
                                          </p:val>
                                        </p:tav>
                                        <p:tav tm="100000">
                                          <p:val>
                                            <p:strVal val="#ppt_w"/>
                                          </p:val>
                                        </p:tav>
                                      </p:tavLst>
                                    </p:anim>
                                    <p:anim calcmode="lin" valueType="num">
                                      <p:cBhvr>
                                        <p:cTn id="40" dur="600" fill="hold"/>
                                        <p:tgtEl>
                                          <p:spTgt spid="85"/>
                                        </p:tgtEl>
                                        <p:attrNameLst>
                                          <p:attrName>ppt_h</p:attrName>
                                        </p:attrNameLst>
                                      </p:cBhvr>
                                      <p:tavLst>
                                        <p:tav tm="0">
                                          <p:val>
                                            <p:fltVal val="0"/>
                                          </p:val>
                                        </p:tav>
                                        <p:tav tm="100000">
                                          <p:val>
                                            <p:strVal val="#ppt_h"/>
                                          </p:val>
                                        </p:tav>
                                      </p:tavLst>
                                    </p:anim>
                                    <p:animEffect transition="in" filter="fade">
                                      <p:cBhvr>
                                        <p:cTn id="41" dur="6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536635" y="-2375874"/>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318783" y="4177682"/>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320591" y="4745541"/>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STATE OF THE ART</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Architectural Models Compared</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State of the Art</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sz="1000" b="0" i="0">
                <a:solidFill>
                  <a:srgbClr val="C9D2E3"/>
                </a:solidFill>
                <a:latin typeface="Segoe UI Semibold"/>
              </a:rPr>
              <a:t>10</a:t>
            </a:r>
            <a:r>
              <a:rPr sz="1000" b="0" i="0">
                <a:solidFill>
                  <a:srgbClr val="8C9AB5"/>
                </a:solidFill>
                <a:latin typeface="Segoe UI"/>
              </a:rPr>
              <a:t> / 30</a:t>
            </a:r>
          </a:p>
        </p:txBody>
      </p:sp>
      <p:graphicFrame>
        <p:nvGraphicFramePr>
          <p:cNvPr id="36" name="Table 35"/>
          <p:cNvGraphicFramePr>
            <a:graphicFrameLocks noGrp="1"/>
          </p:cNvGraphicFramePr>
          <p:nvPr/>
        </p:nvGraphicFramePr>
        <p:xfrm>
          <a:off x="548640" y="1645920"/>
          <a:ext cx="11091672" cy="4270248"/>
        </p:xfrm>
        <a:graphic>
          <a:graphicData uri="http://schemas.openxmlformats.org/drawingml/2006/table">
            <a:tbl>
              <a:tblPr>
                <a:tableStyleId>{2D5ABB26-0587-4C30-8999-92F81FD0307C}</a:tableStyleId>
              </a:tblPr>
              <a:tblGrid>
                <a:gridCol w="205740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719072">
                  <a:extLst>
                    <a:ext uri="{9D8B030D-6E8A-4147-A177-3AD203B41FA5}">
                      <a16:colId xmlns:a16="http://schemas.microsoft.com/office/drawing/2014/main" val="20004"/>
                    </a:ext>
                  </a:extLst>
                </a:gridCol>
              </a:tblGrid>
              <a:tr h="475488">
                <a:tc>
                  <a:txBody>
                    <a:bodyPr/>
                    <a:lstStyle/>
                    <a:p>
                      <a:pPr algn="l">
                        <a:lnSpc>
                          <a:spcPct val="112000"/>
                        </a:lnSpc>
                        <a:spcAft>
                          <a:spcPts val="0"/>
                        </a:spcAft>
                      </a:pPr>
                      <a:r>
                        <a:rPr sz="1250" b="0" i="0" spc="40">
                          <a:solidFill>
                            <a:srgbClr val="FFFFFF"/>
                          </a:solidFill>
                          <a:latin typeface="Segoe UI Semibold"/>
                        </a:rPr>
                        <a:t>Model</a:t>
                      </a:r>
                    </a:p>
                  </a:txBody>
                  <a:tcPr marL="128016" marR="128016" anchor="ctr">
                    <a:lnL w="0">
                      <a:noFill/>
                    </a:lnL>
                    <a:lnR w="0">
                      <a:noFill/>
                    </a:lnR>
                    <a:lnT w="0">
                      <a:noFill/>
                    </a:lnT>
                    <a:lnB w="19050">
                      <a:solidFill>
                        <a:srgbClr val="3987E5"/>
                      </a:solidFill>
                    </a:lnB>
                    <a:solidFill>
                      <a:srgbClr val="1D3360"/>
                    </a:solidFill>
                  </a:tcPr>
                </a:tc>
                <a:tc>
                  <a:txBody>
                    <a:bodyPr/>
                    <a:lstStyle/>
                    <a:p>
                      <a:pPr algn="l">
                        <a:lnSpc>
                          <a:spcPct val="112000"/>
                        </a:lnSpc>
                        <a:spcAft>
                          <a:spcPts val="0"/>
                        </a:spcAft>
                      </a:pPr>
                      <a:r>
                        <a:rPr sz="1250" b="0" i="0" spc="40">
                          <a:solidFill>
                            <a:srgbClr val="FFFFFF"/>
                          </a:solidFill>
                          <a:latin typeface="Segoe UI Semibold"/>
                        </a:rPr>
                        <a:t>How it works</a:t>
                      </a:r>
                    </a:p>
                  </a:txBody>
                  <a:tcPr marL="128016" marR="128016" anchor="ctr">
                    <a:lnL w="0">
                      <a:noFill/>
                    </a:lnL>
                    <a:lnR w="0">
                      <a:noFill/>
                    </a:lnR>
                    <a:lnT w="0">
                      <a:noFill/>
                    </a:lnT>
                    <a:lnB w="19050">
                      <a:solidFill>
                        <a:srgbClr val="3987E5"/>
                      </a:solidFill>
                    </a:lnB>
                    <a:solidFill>
                      <a:srgbClr val="1D3360"/>
                    </a:solidFill>
                  </a:tcPr>
                </a:tc>
                <a:tc>
                  <a:txBody>
                    <a:bodyPr/>
                    <a:lstStyle/>
                    <a:p>
                      <a:pPr algn="l">
                        <a:lnSpc>
                          <a:spcPct val="112000"/>
                        </a:lnSpc>
                        <a:spcAft>
                          <a:spcPts val="0"/>
                        </a:spcAft>
                      </a:pPr>
                      <a:r>
                        <a:rPr sz="1250" b="0" i="0" spc="40">
                          <a:solidFill>
                            <a:srgbClr val="FFFFFF"/>
                          </a:solidFill>
                          <a:latin typeface="Segoe UI Semibold"/>
                        </a:rPr>
                        <a:t>Strengths</a:t>
                      </a:r>
                    </a:p>
                  </a:txBody>
                  <a:tcPr marL="128016" marR="128016" anchor="ctr">
                    <a:lnL w="0">
                      <a:noFill/>
                    </a:lnL>
                    <a:lnR w="0">
                      <a:noFill/>
                    </a:lnR>
                    <a:lnT w="0">
                      <a:noFill/>
                    </a:lnT>
                    <a:lnB w="19050">
                      <a:solidFill>
                        <a:srgbClr val="3987E5"/>
                      </a:solidFill>
                    </a:lnB>
                    <a:solidFill>
                      <a:srgbClr val="1D3360"/>
                    </a:solidFill>
                  </a:tcPr>
                </a:tc>
                <a:tc>
                  <a:txBody>
                    <a:bodyPr/>
                    <a:lstStyle/>
                    <a:p>
                      <a:pPr algn="l">
                        <a:lnSpc>
                          <a:spcPct val="112000"/>
                        </a:lnSpc>
                        <a:spcAft>
                          <a:spcPts val="0"/>
                        </a:spcAft>
                      </a:pPr>
                      <a:r>
                        <a:rPr sz="1250" b="0" i="0" spc="40">
                          <a:solidFill>
                            <a:srgbClr val="FFFFFF"/>
                          </a:solidFill>
                          <a:latin typeface="Segoe UI Semibold"/>
                        </a:rPr>
                        <a:t>Limitations</a:t>
                      </a:r>
                    </a:p>
                  </a:txBody>
                  <a:tcPr marL="128016" marR="128016" anchor="ctr">
                    <a:lnL w="0">
                      <a:noFill/>
                    </a:lnL>
                    <a:lnR w="0">
                      <a:noFill/>
                    </a:lnR>
                    <a:lnT w="0">
                      <a:noFill/>
                    </a:lnT>
                    <a:lnB w="19050">
                      <a:solidFill>
                        <a:srgbClr val="3987E5"/>
                      </a:solidFill>
                    </a:lnB>
                    <a:solidFill>
                      <a:srgbClr val="1D3360"/>
                    </a:solidFill>
                  </a:tcPr>
                </a:tc>
                <a:tc>
                  <a:txBody>
                    <a:bodyPr/>
                    <a:lstStyle/>
                    <a:p>
                      <a:pPr algn="l">
                        <a:lnSpc>
                          <a:spcPct val="112000"/>
                        </a:lnSpc>
                        <a:spcAft>
                          <a:spcPts val="0"/>
                        </a:spcAft>
                      </a:pPr>
                      <a:r>
                        <a:rPr sz="1250" b="0" i="0" spc="40">
                          <a:solidFill>
                            <a:srgbClr val="FFFFFF"/>
                          </a:solidFill>
                          <a:latin typeface="Segoe UI Semibold"/>
                        </a:rPr>
                        <a:t>Examples</a:t>
                      </a:r>
                    </a:p>
                  </a:txBody>
                  <a:tcPr marL="128016" marR="128016" anchor="ctr">
                    <a:lnL w="0">
                      <a:noFill/>
                    </a:lnL>
                    <a:lnR w="0">
                      <a:noFill/>
                    </a:lnR>
                    <a:lnT w="0">
                      <a:noFill/>
                    </a:lnT>
                    <a:lnB w="19050">
                      <a:solidFill>
                        <a:srgbClr val="3987E5"/>
                      </a:solidFill>
                    </a:lnB>
                    <a:solidFill>
                      <a:srgbClr val="1D3360"/>
                    </a:solidFill>
                  </a:tcPr>
                </a:tc>
                <a:extLst>
                  <a:ext uri="{0D108BD9-81ED-4DB2-BD59-A6C34878D82A}">
                    <a16:rowId xmlns:a16="http://schemas.microsoft.com/office/drawing/2014/main" val="10000"/>
                  </a:ext>
                </a:extLst>
              </a:tr>
              <a:tr h="758952">
                <a:tc>
                  <a:txBody>
                    <a:bodyPr/>
                    <a:lstStyle/>
                    <a:p>
                      <a:pPr algn="l">
                        <a:lnSpc>
                          <a:spcPct val="112000"/>
                        </a:lnSpc>
                        <a:spcAft>
                          <a:spcPts val="0"/>
                        </a:spcAft>
                      </a:pPr>
                      <a:r>
                        <a:rPr sz="1200" b="0" i="0">
                          <a:solidFill>
                            <a:srgbClr val="FFFFFF"/>
                          </a:solidFill>
                          <a:latin typeface="Segoe UI Semibold"/>
                        </a:rPr>
                        <a:t>Cloud brokerage</a:t>
                      </a:r>
                    </a:p>
                  </a:txBody>
                  <a:tcPr marL="128016" marR="128016" anchor="ctr">
                    <a:lnL w="0">
                      <a:noFill/>
                    </a:lnL>
                    <a:lnR w="0">
                      <a:noFill/>
                    </a:lnR>
                    <a:lnT w="19050" cap="flat" cmpd="sng" algn="ctr">
                      <a:solidFill>
                        <a:srgbClr val="3987E5"/>
                      </a:solidFill>
                      <a:prstDash val="solid"/>
                      <a:round/>
                      <a:headEnd type="none" w="med" len="med"/>
                      <a:tailEnd type="none" w="med" len="med"/>
                    </a:lnT>
                    <a:lnB w="9525">
                      <a:solidFill>
                        <a:srgbClr val="2A3F69"/>
                      </a:solidFill>
                    </a:lnB>
                    <a:solidFill>
                      <a:srgbClr val="152443"/>
                    </a:solidFill>
                  </a:tcPr>
                </a:tc>
                <a:tc>
                  <a:txBody>
                    <a:bodyPr/>
                    <a:lstStyle/>
                    <a:p>
                      <a:pPr algn="l">
                        <a:lnSpc>
                          <a:spcPct val="112000"/>
                        </a:lnSpc>
                        <a:spcAft>
                          <a:spcPts val="0"/>
                        </a:spcAft>
                      </a:pPr>
                      <a:r>
                        <a:rPr sz="1200" b="0" i="0">
                          <a:solidFill>
                            <a:srgbClr val="C9D2E3"/>
                          </a:solidFill>
                          <a:latin typeface="Segoe UI"/>
                        </a:rPr>
                        <a:t>Intermediary selects, aggregates or arbitrages services for consumers</a:t>
                      </a:r>
                    </a:p>
                  </a:txBody>
                  <a:tcPr marL="128016" marR="128016" anchor="ctr">
                    <a:lnL w="0">
                      <a:noFill/>
                    </a:lnL>
                    <a:lnR w="0">
                      <a:noFill/>
                    </a:lnR>
                    <a:lnT w="19050" cap="flat" cmpd="sng" algn="ctr">
                      <a:solidFill>
                        <a:srgbClr val="3987E5"/>
                      </a:solidFill>
                      <a:prstDash val="solid"/>
                      <a:round/>
                      <a:headEnd type="none" w="med" len="med"/>
                      <a:tailEnd type="none" w="med" len="med"/>
                    </a:lnT>
                    <a:lnB w="9525">
                      <a:solidFill>
                        <a:srgbClr val="2A3F69"/>
                      </a:solidFill>
                    </a:lnB>
                    <a:solidFill>
                      <a:srgbClr val="152443"/>
                    </a:solidFill>
                  </a:tcPr>
                </a:tc>
                <a:tc>
                  <a:txBody>
                    <a:bodyPr/>
                    <a:lstStyle/>
                    <a:p>
                      <a:pPr algn="l">
                        <a:lnSpc>
                          <a:spcPct val="112000"/>
                        </a:lnSpc>
                        <a:spcAft>
                          <a:spcPts val="0"/>
                        </a:spcAft>
                      </a:pPr>
                      <a:r>
                        <a:rPr sz="1200" b="0" i="0">
                          <a:solidFill>
                            <a:srgbClr val="C9D2E3"/>
                          </a:solidFill>
                          <a:latin typeface="Segoe UI"/>
                        </a:rPr>
                        <a:t>Single entry point; price arbitrage</a:t>
                      </a:r>
                    </a:p>
                  </a:txBody>
                  <a:tcPr marL="128016" marR="128016" anchor="ctr">
                    <a:lnL w="0">
                      <a:noFill/>
                    </a:lnL>
                    <a:lnR w="0">
                      <a:noFill/>
                    </a:lnR>
                    <a:lnT w="19050" cap="flat" cmpd="sng" algn="ctr">
                      <a:solidFill>
                        <a:srgbClr val="3987E5"/>
                      </a:solidFill>
                      <a:prstDash val="solid"/>
                      <a:round/>
                      <a:headEnd type="none" w="med" len="med"/>
                      <a:tailEnd type="none" w="med" len="med"/>
                    </a:lnT>
                    <a:lnB w="9525">
                      <a:solidFill>
                        <a:srgbClr val="2A3F69"/>
                      </a:solidFill>
                    </a:lnB>
                    <a:solidFill>
                      <a:srgbClr val="152443"/>
                    </a:solidFill>
                  </a:tcPr>
                </a:tc>
                <a:tc>
                  <a:txBody>
                    <a:bodyPr/>
                    <a:lstStyle/>
                    <a:p>
                      <a:pPr algn="l">
                        <a:lnSpc>
                          <a:spcPct val="112000"/>
                        </a:lnSpc>
                        <a:spcAft>
                          <a:spcPts val="0"/>
                        </a:spcAft>
                      </a:pPr>
                      <a:r>
                        <a:rPr sz="1200" b="0" i="0">
                          <a:solidFill>
                            <a:srgbClr val="C9D2E3"/>
                          </a:solidFill>
                          <a:latin typeface="Segoe UI"/>
                        </a:rPr>
                        <a:t>Broker becomes a dependency</a:t>
                      </a:r>
                    </a:p>
                  </a:txBody>
                  <a:tcPr marL="128016" marR="128016" anchor="ctr">
                    <a:lnL w="0">
                      <a:noFill/>
                    </a:lnL>
                    <a:lnR w="0">
                      <a:noFill/>
                    </a:lnR>
                    <a:lnT w="19050" cap="flat" cmpd="sng" algn="ctr">
                      <a:solidFill>
                        <a:srgbClr val="3987E5"/>
                      </a:solidFill>
                      <a:prstDash val="solid"/>
                      <a:round/>
                      <a:headEnd type="none" w="med" len="med"/>
                      <a:tailEnd type="none" w="med" len="med"/>
                    </a:lnT>
                    <a:lnB w="9525">
                      <a:solidFill>
                        <a:srgbClr val="2A3F69"/>
                      </a:solidFill>
                    </a:lnB>
                    <a:solidFill>
                      <a:srgbClr val="152443"/>
                    </a:solidFill>
                  </a:tcPr>
                </a:tc>
                <a:tc>
                  <a:txBody>
                    <a:bodyPr/>
                    <a:lstStyle/>
                    <a:p>
                      <a:pPr algn="l">
                        <a:lnSpc>
                          <a:spcPct val="112000"/>
                        </a:lnSpc>
                        <a:spcAft>
                          <a:spcPts val="0"/>
                        </a:spcAft>
                      </a:pPr>
                      <a:r>
                        <a:rPr sz="1200" b="0" i="0">
                          <a:solidFill>
                            <a:srgbClr val="C9D2E3"/>
                          </a:solidFill>
                          <a:latin typeface="Segoe UI"/>
                        </a:rPr>
                        <a:t>CMPs, marketplace brokers</a:t>
                      </a:r>
                    </a:p>
                  </a:txBody>
                  <a:tcPr marL="128016" marR="128016" anchor="ctr">
                    <a:lnL w="0">
                      <a:noFill/>
                    </a:lnL>
                    <a:lnR w="0">
                      <a:noFill/>
                    </a:lnR>
                    <a:lnT w="19050" cap="flat" cmpd="sng" algn="ctr">
                      <a:solidFill>
                        <a:srgbClr val="3987E5"/>
                      </a:solidFill>
                      <a:prstDash val="solid"/>
                      <a:round/>
                      <a:headEnd type="none" w="med" len="med"/>
                      <a:tailEnd type="none" w="med" len="med"/>
                    </a:lnT>
                    <a:lnB w="9525">
                      <a:solidFill>
                        <a:srgbClr val="2A3F69"/>
                      </a:solidFill>
                    </a:lnB>
                    <a:solidFill>
                      <a:srgbClr val="152443"/>
                    </a:solidFill>
                  </a:tcPr>
                </a:tc>
                <a:extLst>
                  <a:ext uri="{0D108BD9-81ED-4DB2-BD59-A6C34878D82A}">
                    <a16:rowId xmlns:a16="http://schemas.microsoft.com/office/drawing/2014/main" val="10001"/>
                  </a:ext>
                </a:extLst>
              </a:tr>
              <a:tr h="758952">
                <a:tc>
                  <a:txBody>
                    <a:bodyPr/>
                    <a:lstStyle/>
                    <a:p>
                      <a:pPr algn="l">
                        <a:lnSpc>
                          <a:spcPct val="112000"/>
                        </a:lnSpc>
                        <a:spcAft>
                          <a:spcPts val="0"/>
                        </a:spcAft>
                      </a:pPr>
                      <a:r>
                        <a:rPr sz="1200" b="0" i="0">
                          <a:solidFill>
                            <a:srgbClr val="FFFFFF"/>
                          </a:solidFill>
                          <a:latin typeface="Segoe UI Semibold"/>
                        </a:rPr>
                        <a:t>Federation</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11D36"/>
                    </a:solidFill>
                  </a:tcPr>
                </a:tc>
                <a:tc>
                  <a:txBody>
                    <a:bodyPr/>
                    <a:lstStyle/>
                    <a:p>
                      <a:pPr algn="l">
                        <a:lnSpc>
                          <a:spcPct val="112000"/>
                        </a:lnSpc>
                        <a:spcAft>
                          <a:spcPts val="0"/>
                        </a:spcAft>
                      </a:pPr>
                      <a:r>
                        <a:rPr sz="1200" b="0" i="0">
                          <a:solidFill>
                            <a:srgbClr val="C9D2E3"/>
                          </a:solidFill>
                          <a:latin typeface="Segoe UI"/>
                        </a:rPr>
                        <a:t>Providers interoperate and share capacity under agreements</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11D36"/>
                    </a:solidFill>
                  </a:tcPr>
                </a:tc>
                <a:tc>
                  <a:txBody>
                    <a:bodyPr/>
                    <a:lstStyle/>
                    <a:p>
                      <a:pPr algn="l">
                        <a:lnSpc>
                          <a:spcPct val="112000"/>
                        </a:lnSpc>
                        <a:spcAft>
                          <a:spcPts val="0"/>
                        </a:spcAft>
                      </a:pPr>
                      <a:r>
                        <a:rPr sz="1200" b="0" i="0">
                          <a:solidFill>
                            <a:srgbClr val="C9D2E3"/>
                          </a:solidFill>
                          <a:latin typeface="Segoe UI"/>
                        </a:rPr>
                        <a:t>Elastic capacity across borders</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11D36"/>
                    </a:solidFill>
                  </a:tcPr>
                </a:tc>
                <a:tc>
                  <a:txBody>
                    <a:bodyPr/>
                    <a:lstStyle/>
                    <a:p>
                      <a:pPr algn="l">
                        <a:lnSpc>
                          <a:spcPct val="112000"/>
                        </a:lnSpc>
                        <a:spcAft>
                          <a:spcPts val="0"/>
                        </a:spcAft>
                      </a:pPr>
                      <a:r>
                        <a:rPr sz="1200" b="0" i="0">
                          <a:solidFill>
                            <a:srgbClr val="C9D2E3"/>
                          </a:solidFill>
                          <a:latin typeface="Segoe UI"/>
                        </a:rPr>
                        <a:t>Needs trust &amp; standards</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11D36"/>
                    </a:solidFill>
                  </a:tcPr>
                </a:tc>
                <a:tc>
                  <a:txBody>
                    <a:bodyPr/>
                    <a:lstStyle/>
                    <a:p>
                      <a:pPr algn="l">
                        <a:lnSpc>
                          <a:spcPct val="112000"/>
                        </a:lnSpc>
                        <a:spcAft>
                          <a:spcPts val="0"/>
                        </a:spcAft>
                      </a:pPr>
                      <a:r>
                        <a:rPr sz="1200" b="0" i="0">
                          <a:solidFill>
                            <a:srgbClr val="C9D2E3"/>
                          </a:solidFill>
                          <a:latin typeface="Segoe UI"/>
                        </a:rPr>
                        <a:t>Research / sovereign federations</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11D36"/>
                    </a:solidFill>
                  </a:tcPr>
                </a:tc>
                <a:extLst>
                  <a:ext uri="{0D108BD9-81ED-4DB2-BD59-A6C34878D82A}">
                    <a16:rowId xmlns:a16="http://schemas.microsoft.com/office/drawing/2014/main" val="10002"/>
                  </a:ext>
                </a:extLst>
              </a:tr>
              <a:tr h="758952">
                <a:tc>
                  <a:txBody>
                    <a:bodyPr/>
                    <a:lstStyle/>
                    <a:p>
                      <a:pPr algn="l">
                        <a:lnSpc>
                          <a:spcPct val="112000"/>
                        </a:lnSpc>
                        <a:spcAft>
                          <a:spcPts val="0"/>
                        </a:spcAft>
                      </a:pPr>
                      <a:r>
                        <a:rPr sz="1200" b="0" i="0">
                          <a:solidFill>
                            <a:srgbClr val="FFFFFF"/>
                          </a:solidFill>
                          <a:latin typeface="Segoe UI Semibold"/>
                        </a:rPr>
                        <a:t>Independent multi-cloud</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52443"/>
                    </a:solidFill>
                  </a:tcPr>
                </a:tc>
                <a:tc>
                  <a:txBody>
                    <a:bodyPr/>
                    <a:lstStyle/>
                    <a:p>
                      <a:pPr algn="l">
                        <a:lnSpc>
                          <a:spcPct val="112000"/>
                        </a:lnSpc>
                        <a:spcAft>
                          <a:spcPts val="0"/>
                        </a:spcAft>
                      </a:pPr>
                      <a:r>
                        <a:rPr sz="1200" b="0" i="0">
                          <a:solidFill>
                            <a:srgbClr val="C9D2E3"/>
                          </a:solidFill>
                          <a:latin typeface="Segoe UI"/>
                        </a:rPr>
                        <a:t>Customer manages each cloud, unified by common tooling</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52443"/>
                    </a:solidFill>
                  </a:tcPr>
                </a:tc>
                <a:tc>
                  <a:txBody>
                    <a:bodyPr/>
                    <a:lstStyle/>
                    <a:p>
                      <a:pPr algn="l">
                        <a:lnSpc>
                          <a:spcPct val="112000"/>
                        </a:lnSpc>
                        <a:spcAft>
                          <a:spcPts val="0"/>
                        </a:spcAft>
                      </a:pPr>
                      <a:r>
                        <a:rPr sz="1200" b="0" i="0">
                          <a:solidFill>
                            <a:srgbClr val="C9D2E3"/>
                          </a:solidFill>
                          <a:latin typeface="Segoe UI"/>
                        </a:rPr>
                        <a:t>Full control; native features</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52443"/>
                    </a:solidFill>
                  </a:tcPr>
                </a:tc>
                <a:tc>
                  <a:txBody>
                    <a:bodyPr/>
                    <a:lstStyle/>
                    <a:p>
                      <a:pPr algn="l">
                        <a:lnSpc>
                          <a:spcPct val="112000"/>
                        </a:lnSpc>
                        <a:spcAft>
                          <a:spcPts val="0"/>
                        </a:spcAft>
                      </a:pPr>
                      <a:r>
                        <a:rPr sz="1200" b="0" i="0">
                          <a:solidFill>
                            <a:srgbClr val="C9D2E3"/>
                          </a:solidFill>
                          <a:latin typeface="Segoe UI"/>
                        </a:rPr>
                        <a:t>Duplicated effort &amp; skills</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52443"/>
                    </a:solidFill>
                  </a:tcPr>
                </a:tc>
                <a:tc>
                  <a:txBody>
                    <a:bodyPr/>
                    <a:lstStyle/>
                    <a:p>
                      <a:pPr algn="l">
                        <a:lnSpc>
                          <a:spcPct val="112000"/>
                        </a:lnSpc>
                        <a:spcAft>
                          <a:spcPts val="0"/>
                        </a:spcAft>
                      </a:pPr>
                      <a:r>
                        <a:rPr sz="1200" b="0" i="0">
                          <a:solidFill>
                            <a:srgbClr val="C9D2E3"/>
                          </a:solidFill>
                          <a:latin typeface="Segoe UI"/>
                        </a:rPr>
                        <a:t>Terraform + K8s + OTel</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52443"/>
                    </a:solidFill>
                  </a:tcPr>
                </a:tc>
                <a:extLst>
                  <a:ext uri="{0D108BD9-81ED-4DB2-BD59-A6C34878D82A}">
                    <a16:rowId xmlns:a16="http://schemas.microsoft.com/office/drawing/2014/main" val="10003"/>
                  </a:ext>
                </a:extLst>
              </a:tr>
              <a:tr h="758952">
                <a:tc>
                  <a:txBody>
                    <a:bodyPr/>
                    <a:lstStyle/>
                    <a:p>
                      <a:pPr algn="l">
                        <a:lnSpc>
                          <a:spcPct val="112000"/>
                        </a:lnSpc>
                        <a:spcAft>
                          <a:spcPts val="0"/>
                        </a:spcAft>
                      </a:pPr>
                      <a:r>
                        <a:rPr sz="1200" b="0" i="0">
                          <a:solidFill>
                            <a:srgbClr val="FFFFFF"/>
                          </a:solidFill>
                          <a:latin typeface="Segoe UI Semibold"/>
                        </a:rPr>
                        <a:t>Hybrid control plane</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11D36"/>
                    </a:solidFill>
                  </a:tcPr>
                </a:tc>
                <a:tc>
                  <a:txBody>
                    <a:bodyPr/>
                    <a:lstStyle/>
                    <a:p>
                      <a:pPr algn="l">
                        <a:lnSpc>
                          <a:spcPct val="112000"/>
                        </a:lnSpc>
                        <a:spcAft>
                          <a:spcPts val="0"/>
                        </a:spcAft>
                      </a:pPr>
                      <a:r>
                        <a:rPr sz="1200" b="0" i="0">
                          <a:solidFill>
                            <a:srgbClr val="C9D2E3"/>
                          </a:solidFill>
                          <a:latin typeface="Segoe UI"/>
                        </a:rPr>
                        <a:t>One provider's control plane extended to other clouds &amp; on-prem</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11D36"/>
                    </a:solidFill>
                  </a:tcPr>
                </a:tc>
                <a:tc>
                  <a:txBody>
                    <a:bodyPr/>
                    <a:lstStyle/>
                    <a:p>
                      <a:pPr algn="l">
                        <a:lnSpc>
                          <a:spcPct val="112000"/>
                        </a:lnSpc>
                        <a:spcAft>
                          <a:spcPts val="0"/>
                        </a:spcAft>
                      </a:pPr>
                      <a:r>
                        <a:rPr sz="1200" b="0" i="0">
                          <a:solidFill>
                            <a:srgbClr val="C9D2E3"/>
                          </a:solidFill>
                          <a:latin typeface="Segoe UI"/>
                        </a:rPr>
                        <a:t>Consistent ops &amp; policy</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11D36"/>
                    </a:solidFill>
                  </a:tcPr>
                </a:tc>
                <a:tc>
                  <a:txBody>
                    <a:bodyPr/>
                    <a:lstStyle/>
                    <a:p>
                      <a:pPr algn="l">
                        <a:lnSpc>
                          <a:spcPct val="112000"/>
                        </a:lnSpc>
                        <a:spcAft>
                          <a:spcPts val="0"/>
                        </a:spcAft>
                      </a:pPr>
                      <a:r>
                        <a:rPr sz="1200" b="0" i="0">
                          <a:solidFill>
                            <a:srgbClr val="C9D2E3"/>
                          </a:solidFill>
                          <a:latin typeface="Segoe UI"/>
                        </a:rPr>
                        <a:t>Anchored to one vendor</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11D36"/>
                    </a:solidFill>
                  </a:tcPr>
                </a:tc>
                <a:tc>
                  <a:txBody>
                    <a:bodyPr/>
                    <a:lstStyle/>
                    <a:p>
                      <a:pPr algn="l">
                        <a:lnSpc>
                          <a:spcPct val="112000"/>
                        </a:lnSpc>
                        <a:spcAft>
                          <a:spcPts val="0"/>
                        </a:spcAft>
                      </a:pPr>
                      <a:r>
                        <a:rPr sz="1200" b="0" i="0">
                          <a:solidFill>
                            <a:srgbClr val="C9D2E3"/>
                          </a:solidFill>
                          <a:latin typeface="Segoe UI"/>
                        </a:rPr>
                        <a:t>Anthos, Azure Arc, OpenShift</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11D36"/>
                    </a:solidFill>
                  </a:tcPr>
                </a:tc>
                <a:extLst>
                  <a:ext uri="{0D108BD9-81ED-4DB2-BD59-A6C34878D82A}">
                    <a16:rowId xmlns:a16="http://schemas.microsoft.com/office/drawing/2014/main" val="10004"/>
                  </a:ext>
                </a:extLst>
              </a:tr>
              <a:tr h="758952">
                <a:tc>
                  <a:txBody>
                    <a:bodyPr/>
                    <a:lstStyle/>
                    <a:p>
                      <a:pPr algn="l">
                        <a:lnSpc>
                          <a:spcPct val="112000"/>
                        </a:lnSpc>
                        <a:spcAft>
                          <a:spcPts val="0"/>
                        </a:spcAft>
                      </a:pPr>
                      <a:r>
                        <a:rPr sz="1200" b="0" i="0">
                          <a:solidFill>
                            <a:srgbClr val="FFFFFF"/>
                          </a:solidFill>
                          <a:latin typeface="Segoe UI Semibold"/>
                        </a:rPr>
                        <a:t>Sky computing</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52443"/>
                    </a:solidFill>
                  </a:tcPr>
                </a:tc>
                <a:tc>
                  <a:txBody>
                    <a:bodyPr/>
                    <a:lstStyle/>
                    <a:p>
                      <a:pPr algn="l">
                        <a:lnSpc>
                          <a:spcPct val="112000"/>
                        </a:lnSpc>
                        <a:spcAft>
                          <a:spcPts val="0"/>
                        </a:spcAft>
                      </a:pPr>
                      <a:r>
                        <a:rPr sz="1200" b="0" i="0">
                          <a:solidFill>
                            <a:srgbClr val="C9D2E3"/>
                          </a:solidFill>
                          <a:latin typeface="Segoe UI"/>
                        </a:rPr>
                        <a:t>Intercloud broker places jobs on the best cloud automatically</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52443"/>
                    </a:solidFill>
                  </a:tcPr>
                </a:tc>
                <a:tc>
                  <a:txBody>
                    <a:bodyPr/>
                    <a:lstStyle/>
                    <a:p>
                      <a:pPr algn="l">
                        <a:lnSpc>
                          <a:spcPct val="112000"/>
                        </a:lnSpc>
                        <a:spcAft>
                          <a:spcPts val="0"/>
                        </a:spcAft>
                      </a:pPr>
                      <a:r>
                        <a:rPr sz="1200" b="0" i="0">
                          <a:solidFill>
                            <a:srgbClr val="C9D2E3"/>
                          </a:solidFill>
                          <a:latin typeface="Segoe UI"/>
                        </a:rPr>
                        <a:t>Cost &amp; availability gains</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52443"/>
                    </a:solidFill>
                  </a:tcPr>
                </a:tc>
                <a:tc>
                  <a:txBody>
                    <a:bodyPr/>
                    <a:lstStyle/>
                    <a:p>
                      <a:pPr algn="l">
                        <a:lnSpc>
                          <a:spcPct val="112000"/>
                        </a:lnSpc>
                        <a:spcAft>
                          <a:spcPts val="0"/>
                        </a:spcAft>
                      </a:pPr>
                      <a:r>
                        <a:rPr sz="1200" b="0" i="0">
                          <a:solidFill>
                            <a:srgbClr val="C9D2E3"/>
                          </a:solidFill>
                          <a:latin typeface="Segoe UI"/>
                        </a:rPr>
                        <a:t>Mostly batch/AI today</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52443"/>
                    </a:solidFill>
                  </a:tcPr>
                </a:tc>
                <a:tc>
                  <a:txBody>
                    <a:bodyPr/>
                    <a:lstStyle/>
                    <a:p>
                      <a:pPr algn="l">
                        <a:lnSpc>
                          <a:spcPct val="112000"/>
                        </a:lnSpc>
                        <a:spcAft>
                          <a:spcPts val="0"/>
                        </a:spcAft>
                      </a:pPr>
                      <a:r>
                        <a:rPr sz="1200" b="0" i="0">
                          <a:solidFill>
                            <a:srgbClr val="C9D2E3"/>
                          </a:solidFill>
                          <a:latin typeface="Segoe UI"/>
                        </a:rPr>
                        <a:t>SkyPilot</a:t>
                      </a:r>
                    </a:p>
                  </a:txBody>
                  <a:tcPr marL="128016" marR="128016" anchor="ctr">
                    <a:lnL w="0">
                      <a:noFill/>
                    </a:lnL>
                    <a:lnR w="0">
                      <a:noFill/>
                    </a:lnR>
                    <a:lnT w="9525" cap="flat" cmpd="sng" algn="ctr">
                      <a:solidFill>
                        <a:srgbClr val="2A3F69"/>
                      </a:solidFill>
                      <a:prstDash val="solid"/>
                      <a:round/>
                      <a:headEnd type="none" w="med" len="med"/>
                      <a:tailEnd type="none" w="med" len="med"/>
                    </a:lnT>
                    <a:lnB w="9525">
                      <a:solidFill>
                        <a:srgbClr val="2A3F69"/>
                      </a:solidFill>
                    </a:lnB>
                    <a:solidFill>
                      <a:srgbClr val="152443"/>
                    </a:solidFill>
                  </a:tcPr>
                </a:tc>
                <a:extLst>
                  <a:ext uri="{0D108BD9-81ED-4DB2-BD59-A6C34878D82A}">
                    <a16:rowId xmlns:a16="http://schemas.microsoft.com/office/drawing/2014/main" val="10005"/>
                  </a:ext>
                </a:extLst>
              </a:tr>
            </a:tbl>
          </a:graphicData>
        </a:graphic>
      </p:graphicFrame>
      <p:sp>
        <p:nvSpPr>
          <p:cNvPr id="37" name="TextBox 36"/>
          <p:cNvSpPr txBox="1"/>
          <p:nvPr/>
        </p:nvSpPr>
        <p:spPr>
          <a:xfrm>
            <a:off x="548640" y="6089904"/>
            <a:ext cx="11064240" cy="256032"/>
          </a:xfrm>
          <a:prstGeom prst="rect">
            <a:avLst/>
          </a:prstGeom>
          <a:noFill/>
        </p:spPr>
        <p:txBody>
          <a:bodyPr wrap="square" lIns="0" tIns="0" rIns="0" bIns="0" anchor="t">
            <a:noAutofit/>
          </a:bodyPr>
          <a:lstStyle/>
          <a:p>
            <a:pPr algn="l">
              <a:lnSpc>
                <a:spcPct val="112000"/>
              </a:lnSpc>
              <a:spcAft>
                <a:spcPts val="0"/>
              </a:spcAft>
            </a:pPr>
            <a:r>
              <a:rPr sz="900" b="0" i="0">
                <a:solidFill>
                  <a:srgbClr val="8C9AB5"/>
                </a:solidFill>
                <a:latin typeface="Segoe UI"/>
              </a:rPr>
              <a:t>CMP = Cloud Management Platform. In practice most enterprises combine models — e.g. independent multi-cloud with a hybrid control plane for Kubernetes.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800"/>
                                        <p:tgtEl>
                                          <p:spTgt spid="36"/>
                                        </p:tgtEl>
                                      </p:cBhvr>
                                    </p:animEffect>
                                    <p:anim calcmode="lin" valueType="num">
                                      <p:cBhvr>
                                        <p:cTn id="8" dur="800" fill="hold"/>
                                        <p:tgtEl>
                                          <p:spTgt spid="36"/>
                                        </p:tgtEl>
                                        <p:attrNameLst>
                                          <p:attrName>ppt_x</p:attrName>
                                        </p:attrNameLst>
                                      </p:cBhvr>
                                      <p:tavLst>
                                        <p:tav tm="0">
                                          <p:val>
                                            <p:strVal val="#ppt_x"/>
                                          </p:val>
                                        </p:tav>
                                        <p:tav tm="100000">
                                          <p:val>
                                            <p:strVal val="#ppt_x"/>
                                          </p:val>
                                        </p:tav>
                                      </p:tavLst>
                                    </p:anim>
                                    <p:anim calcmode="lin" valueType="num">
                                      <p:cBhvr>
                                        <p:cTn id="9" dur="800" fill="hold"/>
                                        <p:tgtEl>
                                          <p:spTgt spid="3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845" name="!!orbA"/>
          <p:cNvSpPr/>
          <p:nvPr/>
        </p:nvSpPr>
        <p:spPr>
          <a:xfrm>
            <a:off x="8542985" y="-2375875"/>
            <a:ext cx="4937761" cy="4937762"/>
          </a:xfrm>
          <a:prstGeom prst="ellipse">
            <a:avLst/>
          </a:prstGeom>
          <a:gradFill>
            <a:gsLst>
              <a:gs pos="0">
                <a:srgbClr val="3987E5">
                  <a:alpha val="30000"/>
                </a:srgbClr>
              </a:gs>
              <a:gs pos="55000">
                <a:srgbClr val="3987E5">
                  <a:alpha val="10500"/>
                </a:srgbClr>
              </a:gs>
              <a:gs pos="100000">
                <a:srgbClr val="3987E5">
                  <a:alpha val="0"/>
                </a:srgbClr>
              </a:gs>
            </a:gsLst>
            <a:path path="circle">
              <a:fillToRect l="37721" t="-19636" r="62278" b="119636"/>
            </a:path>
          </a:gradFill>
          <a:ln w="12700">
            <a:miter lim="400000"/>
          </a:ln>
        </p:spPr>
        <p:txBody>
          <a:bodyPr lIns="45719" rIns="45719" anchor="ctr"/>
          <a:lstStyle/>
          <a:p>
            <a:pPr algn="ctr"/>
            <a:endParaRPr sz="1800"/>
          </a:p>
        </p:txBody>
      </p:sp>
      <p:sp>
        <p:nvSpPr>
          <p:cNvPr id="846" name="!!orbB"/>
          <p:cNvSpPr/>
          <p:nvPr/>
        </p:nvSpPr>
        <p:spPr>
          <a:xfrm>
            <a:off x="-2312434" y="4177682"/>
            <a:ext cx="4389122" cy="4389121"/>
          </a:xfrm>
          <a:prstGeom prst="ellipse">
            <a:avLst/>
          </a:prstGeom>
          <a:gradFill>
            <a:gsLst>
              <a:gs pos="0">
                <a:srgbClr val="199E70">
                  <a:alpha val="16000"/>
                </a:srgbClr>
              </a:gs>
              <a:gs pos="55000">
                <a:srgbClr val="199E70">
                  <a:alpha val="5599"/>
                </a:srgbClr>
              </a:gs>
              <a:gs pos="100000">
                <a:srgbClr val="199E70">
                  <a:alpha val="0"/>
                </a:srgbClr>
              </a:gs>
            </a:gsLst>
            <a:path path="circle">
              <a:fillToRect l="37721" t="-19636" r="62278" b="119636"/>
            </a:path>
          </a:gradFill>
          <a:ln w="12700">
            <a:miter lim="400000"/>
          </a:ln>
        </p:spPr>
        <p:txBody>
          <a:bodyPr lIns="45719" rIns="45719" anchor="ctr"/>
          <a:lstStyle/>
          <a:p>
            <a:pPr algn="ctr"/>
            <a:endParaRPr sz="1800"/>
          </a:p>
        </p:txBody>
      </p:sp>
      <p:sp>
        <p:nvSpPr>
          <p:cNvPr id="847" name="!!orbC"/>
          <p:cNvSpPr/>
          <p:nvPr/>
        </p:nvSpPr>
        <p:spPr>
          <a:xfrm>
            <a:off x="10326940" y="4745540"/>
            <a:ext cx="3291842" cy="3291842"/>
          </a:xfrm>
          <a:prstGeom prst="ellipse">
            <a:avLst/>
          </a:prstGeom>
          <a:gradFill>
            <a:gsLst>
              <a:gs pos="0">
                <a:srgbClr val="9085E9">
                  <a:alpha val="14000"/>
                </a:srgbClr>
              </a:gs>
              <a:gs pos="55000">
                <a:srgbClr val="9085E9">
                  <a:alpha val="4900"/>
                </a:srgbClr>
              </a:gs>
              <a:gs pos="100000">
                <a:srgbClr val="9085E9">
                  <a:alpha val="0"/>
                </a:srgbClr>
              </a:gs>
            </a:gsLst>
            <a:path path="circle">
              <a:fillToRect l="37721" t="-19636" r="62278" b="119636"/>
            </a:path>
          </a:gradFill>
          <a:ln w="12700">
            <a:miter lim="400000"/>
          </a:ln>
        </p:spPr>
        <p:txBody>
          <a:bodyPr lIns="45719" rIns="45719" anchor="ctr"/>
          <a:lstStyle/>
          <a:p>
            <a:pPr algn="ctr"/>
            <a:endParaRPr sz="1800"/>
          </a:p>
        </p:txBody>
      </p:sp>
      <p:grpSp>
        <p:nvGrpSpPr>
          <p:cNvPr id="872" name="!!dots"/>
          <p:cNvGrpSpPr/>
          <p:nvPr/>
        </p:nvGrpSpPr>
        <p:grpSpPr>
          <a:xfrm>
            <a:off x="10567670" y="384047"/>
            <a:ext cx="955549" cy="589790"/>
            <a:chOff x="0" y="0"/>
            <a:chExt cx="955548" cy="589788"/>
          </a:xfrm>
        </p:grpSpPr>
        <p:sp>
          <p:nvSpPr>
            <p:cNvPr id="848" name="Oval 5"/>
            <p:cNvSpPr/>
            <p:nvPr/>
          </p:nvSpPr>
          <p:spPr>
            <a:xfrm>
              <a:off x="-1" y="-1"/>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49" name="Oval 6"/>
            <p:cNvSpPr/>
            <p:nvPr/>
          </p:nvSpPr>
          <p:spPr>
            <a:xfrm>
              <a:off x="182879" y="-1"/>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50" name="Oval 7"/>
            <p:cNvSpPr/>
            <p:nvPr/>
          </p:nvSpPr>
          <p:spPr>
            <a:xfrm>
              <a:off x="365759" y="-1"/>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51" name="Oval 8"/>
            <p:cNvSpPr/>
            <p:nvPr/>
          </p:nvSpPr>
          <p:spPr>
            <a:xfrm>
              <a:off x="548640" y="-1"/>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52" name="Oval 9"/>
            <p:cNvSpPr/>
            <p:nvPr/>
          </p:nvSpPr>
          <p:spPr>
            <a:xfrm>
              <a:off x="731519" y="-1"/>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53" name="Oval 10"/>
            <p:cNvSpPr/>
            <p:nvPr/>
          </p:nvSpPr>
          <p:spPr>
            <a:xfrm>
              <a:off x="914400" y="-1"/>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54" name="Oval 11"/>
            <p:cNvSpPr/>
            <p:nvPr/>
          </p:nvSpPr>
          <p:spPr>
            <a:xfrm>
              <a:off x="-1" y="182879"/>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55" name="Oval 12"/>
            <p:cNvSpPr/>
            <p:nvPr/>
          </p:nvSpPr>
          <p:spPr>
            <a:xfrm>
              <a:off x="182879" y="182879"/>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56" name="Oval 13"/>
            <p:cNvSpPr/>
            <p:nvPr/>
          </p:nvSpPr>
          <p:spPr>
            <a:xfrm>
              <a:off x="365759" y="182879"/>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57" name="Oval 14"/>
            <p:cNvSpPr/>
            <p:nvPr/>
          </p:nvSpPr>
          <p:spPr>
            <a:xfrm>
              <a:off x="548640" y="182879"/>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58" name="Oval 15"/>
            <p:cNvSpPr/>
            <p:nvPr/>
          </p:nvSpPr>
          <p:spPr>
            <a:xfrm>
              <a:off x="731519" y="182879"/>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59" name="Oval 16"/>
            <p:cNvSpPr/>
            <p:nvPr/>
          </p:nvSpPr>
          <p:spPr>
            <a:xfrm>
              <a:off x="914400" y="182879"/>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60" name="Oval 17"/>
            <p:cNvSpPr/>
            <p:nvPr/>
          </p:nvSpPr>
          <p:spPr>
            <a:xfrm>
              <a:off x="-1" y="365759"/>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61" name="Oval 18"/>
            <p:cNvSpPr/>
            <p:nvPr/>
          </p:nvSpPr>
          <p:spPr>
            <a:xfrm>
              <a:off x="182879" y="365759"/>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62" name="Oval 19"/>
            <p:cNvSpPr/>
            <p:nvPr/>
          </p:nvSpPr>
          <p:spPr>
            <a:xfrm>
              <a:off x="365759" y="365759"/>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63" name="Oval 20"/>
            <p:cNvSpPr/>
            <p:nvPr/>
          </p:nvSpPr>
          <p:spPr>
            <a:xfrm>
              <a:off x="548640" y="365759"/>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64" name="Oval 21"/>
            <p:cNvSpPr/>
            <p:nvPr/>
          </p:nvSpPr>
          <p:spPr>
            <a:xfrm>
              <a:off x="731519" y="365759"/>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65" name="Oval 22"/>
            <p:cNvSpPr/>
            <p:nvPr/>
          </p:nvSpPr>
          <p:spPr>
            <a:xfrm>
              <a:off x="914400" y="365759"/>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66" name="Oval 23"/>
            <p:cNvSpPr/>
            <p:nvPr/>
          </p:nvSpPr>
          <p:spPr>
            <a:xfrm>
              <a:off x="-1" y="548640"/>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67" name="Oval 24"/>
            <p:cNvSpPr/>
            <p:nvPr/>
          </p:nvSpPr>
          <p:spPr>
            <a:xfrm>
              <a:off x="182879" y="548640"/>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68" name="Oval 25"/>
            <p:cNvSpPr/>
            <p:nvPr/>
          </p:nvSpPr>
          <p:spPr>
            <a:xfrm>
              <a:off x="365759" y="548640"/>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69" name="Oval 26"/>
            <p:cNvSpPr/>
            <p:nvPr/>
          </p:nvSpPr>
          <p:spPr>
            <a:xfrm>
              <a:off x="548640" y="548640"/>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70" name="Oval 27"/>
            <p:cNvSpPr/>
            <p:nvPr/>
          </p:nvSpPr>
          <p:spPr>
            <a:xfrm>
              <a:off x="731519" y="548640"/>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sp>
          <p:nvSpPr>
            <p:cNvPr id="871" name="Oval 28"/>
            <p:cNvSpPr/>
            <p:nvPr/>
          </p:nvSpPr>
          <p:spPr>
            <a:xfrm>
              <a:off x="914400" y="548640"/>
              <a:ext cx="41149" cy="41149"/>
            </a:xfrm>
            <a:prstGeom prst="ellipse">
              <a:avLst/>
            </a:prstGeom>
            <a:solidFill>
              <a:srgbClr val="7DB3F5">
                <a:alpha val="35000"/>
              </a:srgbClr>
            </a:solidFill>
            <a:ln w="12700" cap="flat">
              <a:noFill/>
              <a:miter lim="400000"/>
            </a:ln>
            <a:effectLst/>
          </p:spPr>
          <p:txBody>
            <a:bodyPr wrap="square" lIns="45719" tIns="45719" rIns="45719" bIns="45719" numCol="1" anchor="ctr">
              <a:noAutofit/>
            </a:bodyPr>
            <a:lstStyle/>
            <a:p>
              <a:pPr algn="ctr"/>
              <a:endParaRPr sz="1800"/>
            </a:p>
          </p:txBody>
        </p:sp>
      </p:grpSp>
      <p:sp>
        <p:nvSpPr>
          <p:cNvPr id="873" name="!!kicker"/>
          <p:cNvSpPr txBox="1"/>
          <p:nvPr/>
        </p:nvSpPr>
        <p:spPr>
          <a:xfrm>
            <a:off x="554991" y="347473"/>
            <a:ext cx="8686801" cy="1741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112000"/>
              </a:lnSpc>
              <a:defRPr sz="1100" b="1" spc="300">
                <a:solidFill>
                  <a:srgbClr val="4FD1A1"/>
                </a:solidFill>
                <a:latin typeface="Segoe UI Semibold"/>
                <a:ea typeface="Segoe UI Semibold"/>
                <a:cs typeface="Segoe UI Semibold"/>
                <a:sym typeface="Segoe UI Semibold"/>
              </a:defRPr>
            </a:lvl1pPr>
          </a:lstStyle>
          <a:p>
            <a:r>
              <a:rPr sz="1100"/>
              <a:t>STATE OF THE ART</a:t>
            </a:r>
          </a:p>
        </p:txBody>
      </p:sp>
      <p:sp>
        <p:nvSpPr>
          <p:cNvPr id="874" name="!!title"/>
          <p:cNvSpPr txBox="1"/>
          <p:nvPr/>
        </p:nvSpPr>
        <p:spPr>
          <a:xfrm>
            <a:off x="554991" y="603505"/>
            <a:ext cx="10058401" cy="4749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112000"/>
              </a:lnSpc>
              <a:defRPr sz="3000" b="1">
                <a:solidFill>
                  <a:srgbClr val="FFFFFF"/>
                </a:solidFill>
                <a:latin typeface="Segoe UI Semibold"/>
                <a:ea typeface="Segoe UI Semibold"/>
                <a:cs typeface="Segoe UI Semibold"/>
                <a:sym typeface="Segoe UI Semibold"/>
              </a:defRPr>
            </a:lvl1pPr>
          </a:lstStyle>
          <a:p>
            <a:r>
              <a:rPr sz="3000"/>
              <a:t>Published evidence: SkyPilot</a:t>
            </a:r>
          </a:p>
        </p:txBody>
      </p:sp>
      <p:sp>
        <p:nvSpPr>
          <p:cNvPr id="875" name="!!accent"/>
          <p:cNvSpPr/>
          <p:nvPr/>
        </p:nvSpPr>
        <p:spPr>
          <a:xfrm>
            <a:off x="573278" y="1298448"/>
            <a:ext cx="685801" cy="50293"/>
          </a:xfrm>
          <a:prstGeom prst="rect">
            <a:avLst/>
          </a:prstGeom>
          <a:gradFill>
            <a:gsLst>
              <a:gs pos="0">
                <a:srgbClr val="3987E5"/>
              </a:gs>
              <a:gs pos="100000">
                <a:srgbClr val="199E70"/>
              </a:gs>
            </a:gsLst>
          </a:gradFill>
          <a:ln w="12700">
            <a:miter lim="400000"/>
          </a:ln>
        </p:spPr>
        <p:txBody>
          <a:bodyPr lIns="45719" rIns="45719" anchor="ctr"/>
          <a:lstStyle/>
          <a:p>
            <a:pPr algn="ctr"/>
            <a:endParaRPr sz="1800"/>
          </a:p>
        </p:txBody>
      </p:sp>
      <p:sp>
        <p:nvSpPr>
          <p:cNvPr id="876" name="!!footline"/>
          <p:cNvSpPr/>
          <p:nvPr/>
        </p:nvSpPr>
        <p:spPr>
          <a:xfrm>
            <a:off x="554990" y="6400800"/>
            <a:ext cx="11094417" cy="0"/>
          </a:xfrm>
          <a:prstGeom prst="line">
            <a:avLst/>
          </a:prstGeom>
          <a:ln>
            <a:solidFill>
              <a:srgbClr val="2A3F69">
                <a:alpha val="70000"/>
              </a:srgbClr>
            </a:solidFill>
          </a:ln>
        </p:spPr>
        <p:txBody>
          <a:bodyPr lIns="45719" rIns="45719"/>
          <a:lstStyle/>
          <a:p>
            <a:endParaRPr sz="1800"/>
          </a:p>
        </p:txBody>
      </p:sp>
      <p:sp>
        <p:nvSpPr>
          <p:cNvPr id="877" name="!!foot"/>
          <p:cNvSpPr txBox="1"/>
          <p:nvPr/>
        </p:nvSpPr>
        <p:spPr>
          <a:xfrm>
            <a:off x="554991" y="6455665"/>
            <a:ext cx="5486401" cy="1583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112000"/>
              </a:lnSpc>
              <a:defRPr sz="1000">
                <a:solidFill>
                  <a:srgbClr val="8C9AB5"/>
                </a:solidFill>
                <a:latin typeface="Segoe UI"/>
                <a:ea typeface="Segoe UI"/>
                <a:cs typeface="Segoe UI"/>
                <a:sym typeface="Segoe UI"/>
              </a:defRPr>
            </a:lvl1pPr>
          </a:lstStyle>
          <a:p>
            <a:r>
              <a:rPr sz="1000"/>
              <a:t>Multi-Cloud Resource Management   ·   State of the Art</a:t>
            </a:r>
          </a:p>
        </p:txBody>
      </p:sp>
      <p:sp>
        <p:nvSpPr>
          <p:cNvPr id="878" name="!!page"/>
          <p:cNvSpPr txBox="1"/>
          <p:nvPr/>
        </p:nvSpPr>
        <p:spPr>
          <a:xfrm>
            <a:off x="9820606" y="6455665"/>
            <a:ext cx="1828801" cy="1583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r">
              <a:lnSpc>
                <a:spcPct val="112000"/>
              </a:lnSpc>
              <a:defRPr sz="1000" b="1">
                <a:solidFill>
                  <a:srgbClr val="C9D2E3"/>
                </a:solidFill>
                <a:latin typeface="Segoe UI Semibold"/>
                <a:ea typeface="Segoe UI Semibold"/>
                <a:cs typeface="Segoe UI Semibold"/>
                <a:sym typeface="Segoe UI Semibold"/>
              </a:defRPr>
            </a:pPr>
            <a:r>
              <a:rPr sz="1000"/>
              <a:t>11 </a:t>
            </a:r>
            <a:r>
              <a:rPr sz="1000" b="0">
                <a:solidFill>
                  <a:srgbClr val="8C9AB5"/>
                </a:solidFill>
                <a:latin typeface="Segoe UI"/>
                <a:ea typeface="Segoe UI"/>
                <a:cs typeface="Segoe UI"/>
                <a:sym typeface="Segoe UI"/>
              </a:rPr>
              <a:t>/ 30</a:t>
            </a:r>
          </a:p>
        </p:txBody>
      </p:sp>
      <p:graphicFrame>
        <p:nvGraphicFramePr>
          <p:cNvPr id="879" name="Table 35"/>
          <p:cNvGraphicFramePr/>
          <p:nvPr/>
        </p:nvGraphicFramePr>
        <p:xfrm>
          <a:off x="601123" y="2526031"/>
          <a:ext cx="8390804" cy="2752343"/>
        </p:xfrm>
        <a:graphic>
          <a:graphicData uri="http://schemas.openxmlformats.org/drawingml/2006/table">
            <a:tbl>
              <a:tblPr/>
              <a:tblGrid>
                <a:gridCol w="2995813">
                  <a:extLst>
                    <a:ext uri="{9D8B030D-6E8A-4147-A177-3AD203B41FA5}">
                      <a16:colId xmlns:a16="http://schemas.microsoft.com/office/drawing/2014/main" val="20000"/>
                    </a:ext>
                  </a:extLst>
                </a:gridCol>
                <a:gridCol w="3049735">
                  <a:extLst>
                    <a:ext uri="{9D8B030D-6E8A-4147-A177-3AD203B41FA5}">
                      <a16:colId xmlns:a16="http://schemas.microsoft.com/office/drawing/2014/main" val="20001"/>
                    </a:ext>
                  </a:extLst>
                </a:gridCol>
                <a:gridCol w="2345256">
                  <a:extLst>
                    <a:ext uri="{9D8B030D-6E8A-4147-A177-3AD203B41FA5}">
                      <a16:colId xmlns:a16="http://schemas.microsoft.com/office/drawing/2014/main" val="20002"/>
                    </a:ext>
                  </a:extLst>
                </a:gridCol>
              </a:tblGrid>
              <a:tr h="475487">
                <a:tc>
                  <a:txBody>
                    <a:bodyPr/>
                    <a:lstStyle/>
                    <a:p>
                      <a:pPr algn="l">
                        <a:lnSpc>
                          <a:spcPct val="112000"/>
                        </a:lnSpc>
                        <a:defRPr sz="1800"/>
                      </a:pPr>
                      <a:r>
                        <a:rPr sz="1200" b="1" spc="40">
                          <a:solidFill>
                            <a:srgbClr val="FFFFFF"/>
                          </a:solidFill>
                          <a:latin typeface="Segoe UI Semibold"/>
                          <a:ea typeface="Segoe UI Semibold"/>
                          <a:cs typeface="Segoe UI Semibold"/>
                          <a:sym typeface="Segoe UI Semibold"/>
                        </a:rPr>
                        <a:t>Strategy</a:t>
                      </a:r>
                    </a:p>
                  </a:txBody>
                  <a:tcPr marL="45720" marR="45720" anchor="ctr" horzOverflow="overflow">
                    <a:lnB w="19050">
                      <a:solidFill>
                        <a:srgbClr val="3987E5"/>
                      </a:solidFill>
                    </a:lnB>
                    <a:solidFill>
                      <a:srgbClr val="1D3360"/>
                    </a:solidFill>
                  </a:tcPr>
                </a:tc>
                <a:tc>
                  <a:txBody>
                    <a:bodyPr/>
                    <a:lstStyle/>
                    <a:p>
                      <a:pPr algn="l">
                        <a:lnSpc>
                          <a:spcPct val="112000"/>
                        </a:lnSpc>
                        <a:defRPr sz="1800"/>
                      </a:pPr>
                      <a:r>
                        <a:rPr sz="1200" b="1" spc="40">
                          <a:solidFill>
                            <a:srgbClr val="FFFFFF"/>
                          </a:solidFill>
                          <a:latin typeface="Segoe UI Semibold"/>
                          <a:ea typeface="Segoe UI Semibold"/>
                          <a:cs typeface="Segoe UI Semibold"/>
                          <a:sym typeface="Segoe UI Semibold"/>
                        </a:rPr>
                        <a:t>Cost (USD)</a:t>
                      </a:r>
                    </a:p>
                  </a:txBody>
                  <a:tcPr marL="45720" marR="45720" anchor="ctr" horzOverflow="overflow">
                    <a:lnB w="19050">
                      <a:solidFill>
                        <a:srgbClr val="3987E5"/>
                      </a:solidFill>
                    </a:lnB>
                    <a:solidFill>
                      <a:srgbClr val="1D3360"/>
                    </a:solidFill>
                  </a:tcPr>
                </a:tc>
                <a:tc>
                  <a:txBody>
                    <a:bodyPr/>
                    <a:lstStyle/>
                    <a:p>
                      <a:pPr algn="l">
                        <a:lnSpc>
                          <a:spcPct val="112000"/>
                        </a:lnSpc>
                        <a:defRPr sz="1800"/>
                      </a:pPr>
                      <a:r>
                        <a:rPr sz="1200" b="1" spc="40">
                          <a:solidFill>
                            <a:srgbClr val="FFFFFF"/>
                          </a:solidFill>
                          <a:latin typeface="Segoe UI Semibold"/>
                          <a:ea typeface="Segoe UI Semibold"/>
                          <a:cs typeface="Segoe UI Semibold"/>
                          <a:sym typeface="Segoe UI Semibold"/>
                        </a:rPr>
                        <a:t>Makespan</a:t>
                      </a:r>
                    </a:p>
                  </a:txBody>
                  <a:tcPr marL="45720" marR="45720" anchor="ctr" horzOverflow="overflow">
                    <a:lnB w="19050">
                      <a:solidFill>
                        <a:srgbClr val="3987E5"/>
                      </a:solidFill>
                    </a:lnB>
                    <a:solidFill>
                      <a:srgbClr val="1D3360"/>
                    </a:solidFill>
                  </a:tcPr>
                </a:tc>
                <a:extLst>
                  <a:ext uri="{0D108BD9-81ED-4DB2-BD59-A6C34878D82A}">
                    <a16:rowId xmlns:a16="http://schemas.microsoft.com/office/drawing/2014/main" val="10000"/>
                  </a:ext>
                </a:extLst>
              </a:tr>
              <a:tr h="758952">
                <a:tc>
                  <a:txBody>
                    <a:bodyPr/>
                    <a:lstStyle/>
                    <a:p>
                      <a:pPr algn="l">
                        <a:lnSpc>
                          <a:spcPct val="112000"/>
                        </a:lnSpc>
                        <a:defRPr sz="1800"/>
                      </a:pPr>
                      <a:r>
                        <a:rPr sz="1400" b="1">
                          <a:solidFill>
                            <a:srgbClr val="FFFFFF"/>
                          </a:solidFill>
                          <a:latin typeface="Segoe UI Semibold"/>
                          <a:ea typeface="Segoe UI Semibold"/>
                          <a:cs typeface="Segoe UI Semibold"/>
                          <a:sym typeface="Segoe UI Semibold"/>
                        </a:rPr>
                        <a:t>On-demand</a:t>
                      </a:r>
                    </a:p>
                  </a:txBody>
                  <a:tcPr marL="45720" marR="45720" anchor="ctr" horzOverflow="overflow">
                    <a:lnT w="19050">
                      <a:solidFill>
                        <a:srgbClr val="3987E5"/>
                      </a:solidFill>
                    </a:lnT>
                    <a:lnB>
                      <a:solidFill>
                        <a:srgbClr val="2A3F69"/>
                      </a:solidFill>
                    </a:lnB>
                    <a:solidFill>
                      <a:srgbClr val="152443"/>
                    </a:solidFill>
                  </a:tcPr>
                </a:tc>
                <a:tc>
                  <a:txBody>
                    <a:bodyPr/>
                    <a:lstStyle/>
                    <a:p>
                      <a:pPr algn="l">
                        <a:lnSpc>
                          <a:spcPct val="112000"/>
                        </a:lnSpc>
                        <a:defRPr sz="1800"/>
                      </a:pPr>
                      <a:r>
                        <a:rPr sz="1400">
                          <a:solidFill>
                            <a:srgbClr val="C9D2E3"/>
                          </a:solidFill>
                          <a:latin typeface="Segoe UI"/>
                          <a:ea typeface="Segoe UI"/>
                          <a:cs typeface="Segoe UI"/>
                          <a:sym typeface="Segoe UI"/>
                        </a:rPr>
                        <a:t>$61.2</a:t>
                      </a:r>
                    </a:p>
                  </a:txBody>
                  <a:tcPr marL="45720" marR="45720" anchor="ctr" horzOverflow="overflow">
                    <a:lnT w="19050">
                      <a:solidFill>
                        <a:srgbClr val="3987E5"/>
                      </a:solidFill>
                    </a:lnT>
                    <a:lnB>
                      <a:solidFill>
                        <a:srgbClr val="2A3F69"/>
                      </a:solidFill>
                    </a:lnB>
                    <a:solidFill>
                      <a:srgbClr val="152443"/>
                    </a:solidFill>
                  </a:tcPr>
                </a:tc>
                <a:tc>
                  <a:txBody>
                    <a:bodyPr/>
                    <a:lstStyle/>
                    <a:p>
                      <a:pPr algn="l">
                        <a:lnSpc>
                          <a:spcPct val="112000"/>
                        </a:lnSpc>
                        <a:defRPr sz="1800"/>
                      </a:pPr>
                      <a:r>
                        <a:rPr sz="1400">
                          <a:solidFill>
                            <a:srgbClr val="C9D2E3"/>
                          </a:solidFill>
                          <a:latin typeface="Segoe UI"/>
                          <a:ea typeface="Segoe UI"/>
                          <a:cs typeface="Segoe UI"/>
                          <a:sym typeface="Segoe UI"/>
                        </a:rPr>
                        <a:t>20 h</a:t>
                      </a:r>
                    </a:p>
                  </a:txBody>
                  <a:tcPr marL="45720" marR="45720" anchor="ctr" horzOverflow="overflow">
                    <a:lnT w="19050">
                      <a:solidFill>
                        <a:srgbClr val="3987E5"/>
                      </a:solidFill>
                    </a:lnT>
                    <a:lnB>
                      <a:solidFill>
                        <a:srgbClr val="2A3F69"/>
                      </a:solidFill>
                    </a:lnB>
                    <a:solidFill>
                      <a:srgbClr val="152443"/>
                    </a:solidFill>
                  </a:tcPr>
                </a:tc>
                <a:extLst>
                  <a:ext uri="{0D108BD9-81ED-4DB2-BD59-A6C34878D82A}">
                    <a16:rowId xmlns:a16="http://schemas.microsoft.com/office/drawing/2014/main" val="10001"/>
                  </a:ext>
                </a:extLst>
              </a:tr>
              <a:tr h="758952">
                <a:tc>
                  <a:txBody>
                    <a:bodyPr/>
                    <a:lstStyle/>
                    <a:p>
                      <a:pPr algn="l">
                        <a:lnSpc>
                          <a:spcPct val="112000"/>
                        </a:lnSpc>
                        <a:defRPr sz="1800"/>
                      </a:pPr>
                      <a:r>
                        <a:rPr sz="1400" b="1">
                          <a:solidFill>
                            <a:srgbClr val="FFFFFF"/>
                          </a:solidFill>
                          <a:latin typeface="Segoe UI Semibold"/>
                          <a:ea typeface="Segoe UI Semibold"/>
                          <a:cs typeface="Segoe UI Semibold"/>
                          <a:sym typeface="Segoe UI Semibold"/>
                        </a:rPr>
                        <a:t>Single-region spot</a:t>
                      </a:r>
                    </a:p>
                  </a:txBody>
                  <a:tcPr marL="45720" marR="45720" anchor="ctr" horzOverflow="overflow">
                    <a:lnT>
                      <a:solidFill>
                        <a:srgbClr val="2A3F69"/>
                      </a:solidFill>
                    </a:lnT>
                    <a:lnB>
                      <a:solidFill>
                        <a:srgbClr val="2A3F69"/>
                      </a:solidFill>
                    </a:lnB>
                    <a:solidFill>
                      <a:srgbClr val="111D36"/>
                    </a:solidFill>
                  </a:tcPr>
                </a:tc>
                <a:tc>
                  <a:txBody>
                    <a:bodyPr/>
                    <a:lstStyle/>
                    <a:p>
                      <a:pPr algn="l">
                        <a:lnSpc>
                          <a:spcPct val="112000"/>
                        </a:lnSpc>
                        <a:defRPr sz="1800"/>
                      </a:pPr>
                      <a:r>
                        <a:rPr sz="1400">
                          <a:solidFill>
                            <a:srgbClr val="C9D2E3"/>
                          </a:solidFill>
                          <a:latin typeface="Segoe UI"/>
                          <a:ea typeface="Segoe UI"/>
                          <a:cs typeface="Segoe UI"/>
                          <a:sym typeface="Segoe UI"/>
                        </a:rPr>
                        <a:t>$21.8</a:t>
                      </a:r>
                    </a:p>
                  </a:txBody>
                  <a:tcPr marL="45720" marR="45720" anchor="ctr" horzOverflow="overflow">
                    <a:lnT>
                      <a:solidFill>
                        <a:srgbClr val="2A3F69"/>
                      </a:solidFill>
                    </a:lnT>
                    <a:lnB>
                      <a:solidFill>
                        <a:srgbClr val="2A3F69"/>
                      </a:solidFill>
                    </a:lnB>
                    <a:solidFill>
                      <a:srgbClr val="111D36"/>
                    </a:solidFill>
                  </a:tcPr>
                </a:tc>
                <a:tc>
                  <a:txBody>
                    <a:bodyPr/>
                    <a:lstStyle/>
                    <a:p>
                      <a:pPr algn="l">
                        <a:lnSpc>
                          <a:spcPct val="112000"/>
                        </a:lnSpc>
                        <a:defRPr sz="1800"/>
                      </a:pPr>
                      <a:r>
                        <a:rPr sz="1400">
                          <a:solidFill>
                            <a:srgbClr val="C9D2E3"/>
                          </a:solidFill>
                          <a:latin typeface="Segoe UI"/>
                          <a:ea typeface="Segoe UI"/>
                          <a:cs typeface="Segoe UI"/>
                          <a:sym typeface="Segoe UI"/>
                        </a:rPr>
                        <a:t>34 h</a:t>
                      </a:r>
                    </a:p>
                  </a:txBody>
                  <a:tcPr marL="45720" marR="45720" anchor="ctr" horzOverflow="overflow">
                    <a:lnT>
                      <a:solidFill>
                        <a:srgbClr val="2A3F69"/>
                      </a:solidFill>
                    </a:lnT>
                    <a:lnB>
                      <a:solidFill>
                        <a:srgbClr val="2A3F69"/>
                      </a:solidFill>
                    </a:lnB>
                    <a:solidFill>
                      <a:srgbClr val="111D36"/>
                    </a:solidFill>
                  </a:tcPr>
                </a:tc>
                <a:extLst>
                  <a:ext uri="{0D108BD9-81ED-4DB2-BD59-A6C34878D82A}">
                    <a16:rowId xmlns:a16="http://schemas.microsoft.com/office/drawing/2014/main" val="10002"/>
                  </a:ext>
                </a:extLst>
              </a:tr>
              <a:tr h="758952">
                <a:tc>
                  <a:txBody>
                    <a:bodyPr/>
                    <a:lstStyle/>
                    <a:p>
                      <a:pPr algn="l">
                        <a:lnSpc>
                          <a:spcPct val="112000"/>
                        </a:lnSpc>
                        <a:defRPr sz="1800"/>
                      </a:pPr>
                      <a:r>
                        <a:rPr sz="1400" b="1">
                          <a:solidFill>
                            <a:srgbClr val="FFFFFF"/>
                          </a:solidFill>
                          <a:latin typeface="Segoe UI Semibold"/>
                          <a:ea typeface="Segoe UI Semibold"/>
                          <a:cs typeface="Segoe UI Semibold"/>
                          <a:sym typeface="Segoe UI Semibold"/>
                        </a:rPr>
                        <a:t>Broker across locations</a:t>
                      </a:r>
                    </a:p>
                  </a:txBody>
                  <a:tcPr marL="45720" marR="45720" anchor="ctr" horzOverflow="overflow">
                    <a:lnT>
                      <a:solidFill>
                        <a:srgbClr val="2A3F69"/>
                      </a:solidFill>
                    </a:lnT>
                    <a:lnB>
                      <a:solidFill>
                        <a:srgbClr val="2A3F69"/>
                      </a:solidFill>
                    </a:lnB>
                    <a:solidFill>
                      <a:srgbClr val="152443"/>
                    </a:solidFill>
                  </a:tcPr>
                </a:tc>
                <a:tc>
                  <a:txBody>
                    <a:bodyPr/>
                    <a:lstStyle/>
                    <a:p>
                      <a:pPr algn="l">
                        <a:lnSpc>
                          <a:spcPct val="112000"/>
                        </a:lnSpc>
                        <a:defRPr sz="1800"/>
                      </a:pPr>
                      <a:r>
                        <a:rPr sz="1400">
                          <a:solidFill>
                            <a:srgbClr val="C9D2E3"/>
                          </a:solidFill>
                          <a:latin typeface="Segoe UI"/>
                          <a:ea typeface="Segoe UI"/>
                          <a:cs typeface="Segoe UI"/>
                          <a:sym typeface="Segoe UI"/>
                        </a:rPr>
                        <a:t>$18.4</a:t>
                      </a:r>
                    </a:p>
                  </a:txBody>
                  <a:tcPr marL="45720" marR="45720" anchor="ctr" horzOverflow="overflow">
                    <a:lnT>
                      <a:solidFill>
                        <a:srgbClr val="2A3F69"/>
                      </a:solidFill>
                    </a:lnT>
                    <a:lnB>
                      <a:solidFill>
                        <a:srgbClr val="2A3F69"/>
                      </a:solidFill>
                    </a:lnB>
                    <a:solidFill>
                      <a:srgbClr val="152443"/>
                    </a:solidFill>
                  </a:tcPr>
                </a:tc>
                <a:tc>
                  <a:txBody>
                    <a:bodyPr/>
                    <a:lstStyle/>
                    <a:p>
                      <a:pPr algn="l">
                        <a:lnSpc>
                          <a:spcPct val="112000"/>
                        </a:lnSpc>
                        <a:defRPr sz="1800"/>
                      </a:pPr>
                      <a:r>
                        <a:rPr sz="1400">
                          <a:solidFill>
                            <a:srgbClr val="C9D2E3"/>
                          </a:solidFill>
                          <a:latin typeface="Segoe UI"/>
                          <a:ea typeface="Segoe UI"/>
                          <a:cs typeface="Segoe UI"/>
                          <a:sym typeface="Segoe UI"/>
                        </a:rPr>
                        <a:t>21 h</a:t>
                      </a:r>
                    </a:p>
                  </a:txBody>
                  <a:tcPr marL="45720" marR="45720" anchor="ctr" horzOverflow="overflow">
                    <a:lnT>
                      <a:solidFill>
                        <a:srgbClr val="2A3F69"/>
                      </a:solidFill>
                    </a:lnT>
                    <a:lnB>
                      <a:solidFill>
                        <a:srgbClr val="2A3F69"/>
                      </a:solidFill>
                    </a:lnB>
                    <a:solidFill>
                      <a:srgbClr val="152443"/>
                    </a:solidFill>
                  </a:tcPr>
                </a:tc>
                <a:extLst>
                  <a:ext uri="{0D108BD9-81ED-4DB2-BD59-A6C34878D82A}">
                    <a16:rowId xmlns:a16="http://schemas.microsoft.com/office/drawing/2014/main" val="10003"/>
                  </a:ext>
                </a:extLst>
              </a:tr>
            </a:tbl>
          </a:graphicData>
        </a:graphic>
      </p:graphicFrame>
      <p:sp>
        <p:nvSpPr>
          <p:cNvPr id="880" name="TextBox 36"/>
          <p:cNvSpPr txBox="1"/>
          <p:nvPr/>
        </p:nvSpPr>
        <p:spPr>
          <a:xfrm>
            <a:off x="554989" y="6089904"/>
            <a:ext cx="11064242" cy="1425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112000"/>
              </a:lnSpc>
              <a:defRPr sz="900">
                <a:solidFill>
                  <a:srgbClr val="8C9AB5"/>
                </a:solidFill>
                <a:latin typeface="Segoe UI"/>
                <a:ea typeface="Segoe UI"/>
                <a:cs typeface="Segoe UI"/>
                <a:sym typeface="Segoe UI"/>
              </a:defRPr>
            </a:lvl1pPr>
          </a:lstStyle>
          <a:p>
            <a:r>
              <a:rPr sz="900"/>
              <a:t>[2] Yang et al., NSDI 2023, appendix A.2, Table 5</a:t>
            </a:r>
          </a:p>
        </p:txBody>
      </p:sp>
      <p:sp>
        <p:nvSpPr>
          <p:cNvPr id="881" name="BERT training on V100, 30 epochs."/>
          <p:cNvSpPr txBox="1"/>
          <p:nvPr/>
        </p:nvSpPr>
        <p:spPr>
          <a:xfrm>
            <a:off x="551816" y="1586484"/>
            <a:ext cx="3878106" cy="6771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defTabSz="914400">
              <a:defRPr sz="1900">
                <a:solidFill>
                  <a:srgbClr val="CCD8EB"/>
                </a:solidFill>
                <a:latin typeface="Arial"/>
                <a:ea typeface="Arial"/>
                <a:cs typeface="Arial"/>
                <a:sym typeface="Arial"/>
              </a:defRPr>
            </a:lvl1pPr>
          </a:lstStyle>
          <a:p>
            <a:r>
              <a:rPr sz="1900"/>
              <a:t>BERT training on V100, 30 epochs.</a:t>
            </a:r>
          </a:p>
        </p:txBody>
      </p:sp>
      <p:sp>
        <p:nvSpPr>
          <p:cNvPr id="882" name="Checkpointing and data-transfer overheads are included."/>
          <p:cNvSpPr txBox="1"/>
          <p:nvPr/>
        </p:nvSpPr>
        <p:spPr>
          <a:xfrm>
            <a:off x="563677" y="5481885"/>
            <a:ext cx="4581610"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defTabSz="914400">
              <a:defRPr sz="1400">
                <a:solidFill>
                  <a:srgbClr val="55D3AE"/>
                </a:solidFill>
                <a:latin typeface="Arial"/>
                <a:ea typeface="Arial"/>
                <a:cs typeface="Arial"/>
                <a:sym typeface="Arial"/>
              </a:defRPr>
            </a:lvl1pPr>
          </a:lstStyle>
          <a:p>
            <a:r>
              <a:rPr sz="1400"/>
              <a:t>Checkpointing and data-transfer overheads are included.</a:t>
            </a:r>
          </a:p>
        </p:txBody>
      </p:sp>
    </p:spTree>
    <p:extLst>
      <p:ext uri="{BB962C8B-B14F-4D97-AF65-F5344CB8AC3E}">
        <p14:creationId xmlns:p14="http://schemas.microsoft.com/office/powerpoint/2010/main" val="17800680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250"/>
                                  </p:stCondLst>
                                  <p:iterate>
                                    <p:tmAbs val="0"/>
                                  </p:iterate>
                                  <p:childTnLst>
                                    <p:set>
                                      <p:cBhvr>
                                        <p:cTn id="6" fill="hold"/>
                                        <p:tgtEl>
                                          <p:spTgt spid="879"/>
                                        </p:tgtEl>
                                        <p:attrNameLst>
                                          <p:attrName>style.visibility</p:attrName>
                                        </p:attrNameLst>
                                      </p:cBhvr>
                                      <p:to>
                                        <p:strVal val="visible"/>
                                      </p:to>
                                    </p:set>
                                    <p:anim calcmode="lin" valueType="num">
                                      <p:cBhvr>
                                        <p:cTn id="7" dur="800" fill="hold"/>
                                        <p:tgtEl>
                                          <p:spTgt spid="879"/>
                                        </p:tgtEl>
                                        <p:attrNameLst>
                                          <p:attrName>ppt_x</p:attrName>
                                        </p:attrNameLst>
                                      </p:cBhvr>
                                      <p:tavLst>
                                        <p:tav tm="0">
                                          <p:val>
                                            <p:strVal val="#ppt_x"/>
                                          </p:val>
                                        </p:tav>
                                        <p:tav tm="100000">
                                          <p:val>
                                            <p:strVal val="#ppt_x"/>
                                          </p:val>
                                        </p:tav>
                                      </p:tavLst>
                                    </p:anim>
                                    <p:anim calcmode="lin" valueType="num">
                                      <p:cBhvr>
                                        <p:cTn id="8" dur="800" fill="hold"/>
                                        <p:tgtEl>
                                          <p:spTgt spid="8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9" grpId="0"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527501" y="-2346784"/>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187125" y="4541711"/>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121565" y="4778867"/>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STATE OF THE ART</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Infrastructure as Code &amp; Control Planes</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State of the Art</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lang="en-GB" sz="1000">
                <a:solidFill>
                  <a:srgbClr val="C9D2E3"/>
                </a:solidFill>
                <a:latin typeface="Segoe UI Semibold"/>
              </a:rPr>
              <a:t>12</a:t>
            </a:r>
            <a:r>
              <a:rPr sz="1000" b="0" i="0" dirty="0">
                <a:solidFill>
                  <a:srgbClr val="8C9AB5"/>
                </a:solidFill>
                <a:latin typeface="Segoe UI"/>
              </a:rPr>
              <a:t> / 30</a:t>
            </a:r>
          </a:p>
        </p:txBody>
      </p:sp>
      <p:grpSp>
        <p:nvGrpSpPr>
          <p:cNvPr id="36" name="Group 35"/>
          <p:cNvGrpSpPr/>
          <p:nvPr/>
        </p:nvGrpSpPr>
        <p:grpSpPr>
          <a:xfrm>
            <a:off x="548640" y="1645920"/>
            <a:ext cx="2679192" cy="3154680"/>
            <a:chOff x="548640" y="1645920"/>
            <a:chExt cx="2679192" cy="3154680"/>
          </a:xfrm>
        </p:grpSpPr>
        <p:sp>
          <p:nvSpPr>
            <p:cNvPr id="37" name="Rounded Rectangle 36"/>
            <p:cNvSpPr/>
            <p:nvPr/>
          </p:nvSpPr>
          <p:spPr>
            <a:xfrm>
              <a:off x="548640" y="1645920"/>
              <a:ext cx="2679192" cy="3154680"/>
            </a:xfrm>
            <a:prstGeom prst="roundRect">
              <a:avLst>
                <a:gd name="adj" fmla="val 6143"/>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38" name="Rectangle 37"/>
            <p:cNvSpPr/>
            <p:nvPr/>
          </p:nvSpPr>
          <p:spPr>
            <a:xfrm>
              <a:off x="548640" y="1901952"/>
              <a:ext cx="45720" cy="384048"/>
            </a:xfrm>
            <a:prstGeom prst="rect">
              <a:avLst/>
            </a:prstGeom>
            <a:solidFill>
              <a:srgbClr val="3987E5"/>
            </a:solidFill>
            <a:ln>
              <a:noFill/>
            </a:ln>
          </p:spPr>
          <p:txBody>
            <a:bodyPr wrap="square" rtlCol="0" anchor="ctr"/>
            <a:lstStyle/>
            <a:p>
              <a:pPr algn="ctr"/>
              <a:endParaRPr/>
            </a:p>
          </p:txBody>
        </p:sp>
        <p:sp>
          <p:nvSpPr>
            <p:cNvPr id="39" name="TextBox 38"/>
            <p:cNvSpPr txBox="1"/>
            <p:nvPr/>
          </p:nvSpPr>
          <p:spPr>
            <a:xfrm>
              <a:off x="804672" y="1847088"/>
              <a:ext cx="2240280" cy="411480"/>
            </a:xfrm>
            <a:prstGeom prst="rect">
              <a:avLst/>
            </a:prstGeom>
            <a:noFill/>
          </p:spPr>
          <p:txBody>
            <a:bodyPr wrap="square" lIns="0" tIns="0" rIns="0" bIns="0" anchor="t">
              <a:noAutofit/>
            </a:bodyPr>
            <a:lstStyle/>
            <a:p>
              <a:pPr algn="l">
                <a:lnSpc>
                  <a:spcPct val="112000"/>
                </a:lnSpc>
                <a:spcAft>
                  <a:spcPts val="0"/>
                </a:spcAft>
              </a:pPr>
              <a:r>
                <a:rPr sz="1550" b="0" i="0">
                  <a:solidFill>
                    <a:srgbClr val="FFFFFF"/>
                  </a:solidFill>
                  <a:latin typeface="Segoe UI Semibold"/>
                </a:rPr>
                <a:t>Terraform / OpenTofu</a:t>
              </a:r>
            </a:p>
          </p:txBody>
        </p:sp>
      </p:grpSp>
      <p:sp>
        <p:nvSpPr>
          <p:cNvPr id="40" name="Rounded Rectangle 39"/>
          <p:cNvSpPr/>
          <p:nvPr/>
        </p:nvSpPr>
        <p:spPr>
          <a:xfrm>
            <a:off x="822959" y="2212848"/>
            <a:ext cx="1325880" cy="274320"/>
          </a:xfrm>
          <a:prstGeom prst="roundRect">
            <a:avLst>
              <a:gd name="adj" fmla="val 50000"/>
            </a:avLst>
          </a:prstGeom>
          <a:solidFill>
            <a:srgbClr val="3987E5">
              <a:alpha val="16000"/>
            </a:srgbClr>
          </a:solidFill>
          <a:ln w="9525">
            <a:solidFill>
              <a:srgbClr val="3987E5"/>
            </a:solidFill>
          </a:ln>
        </p:spPr>
        <p:txBody>
          <a:bodyPr wrap="square" lIns="18288" tIns="18288" rIns="18288" bIns="18288" rtlCol="0" anchor="ctr">
            <a:noAutofit/>
          </a:bodyPr>
          <a:lstStyle/>
          <a:p>
            <a:pPr algn="ctr">
              <a:lnSpc>
                <a:spcPct val="112000"/>
              </a:lnSpc>
              <a:spcAft>
                <a:spcPts val="0"/>
              </a:spcAft>
            </a:pPr>
            <a:r>
              <a:rPr sz="900" b="0" i="0">
                <a:solidFill>
                  <a:srgbClr val="FFFFFF"/>
                </a:solidFill>
                <a:latin typeface="Segoe UI Semibold"/>
              </a:rPr>
              <a:t>DECLARATIVE</a:t>
            </a:r>
          </a:p>
        </p:txBody>
      </p:sp>
      <p:sp>
        <p:nvSpPr>
          <p:cNvPr id="41" name="TextBox 40"/>
          <p:cNvSpPr txBox="1"/>
          <p:nvPr/>
        </p:nvSpPr>
        <p:spPr>
          <a:xfrm>
            <a:off x="822959" y="2697480"/>
            <a:ext cx="2286000" cy="2011680"/>
          </a:xfrm>
          <a:prstGeom prst="rect">
            <a:avLst/>
          </a:prstGeom>
          <a:noFill/>
        </p:spPr>
        <p:txBody>
          <a:bodyPr wrap="square" lIns="0" tIns="0" rIns="0" bIns="0" anchor="t">
            <a:noAutofit/>
          </a:bodyPr>
          <a:lstStyle/>
          <a:p>
            <a:pPr marL="237744" indent="-237744" algn="l">
              <a:lnSpc>
                <a:spcPct val="112000"/>
              </a:lnSpc>
              <a:spcAft>
                <a:spcPts val="900"/>
              </a:spcAft>
              <a:buClr>
                <a:srgbClr val="7DB3F5"/>
              </a:buClr>
              <a:buSzPct val="100000"/>
              <a:buFont typeface="Arial"/>
              <a:buChar char="•"/>
            </a:pPr>
            <a:r>
              <a:rPr sz="1250" b="0" i="0">
                <a:solidFill>
                  <a:srgbClr val="C9D2E3"/>
                </a:solidFill>
                <a:latin typeface="Segoe UI"/>
              </a:rPr>
              <a:t>HCL with thousands of providers</a:t>
            </a:r>
          </a:p>
          <a:p>
            <a:pPr marL="237744" indent="-237744" algn="l">
              <a:lnSpc>
                <a:spcPct val="112000"/>
              </a:lnSpc>
              <a:spcAft>
                <a:spcPts val="900"/>
              </a:spcAft>
              <a:buClr>
                <a:srgbClr val="7DB3F5"/>
              </a:buClr>
              <a:buSzPct val="100000"/>
              <a:buFont typeface="Arial"/>
              <a:buChar char="•"/>
            </a:pPr>
            <a:r>
              <a:rPr sz="1250" b="0" i="0">
                <a:solidFill>
                  <a:srgbClr val="C9D2E3"/>
                </a:solidFill>
                <a:latin typeface="Segoe UI"/>
              </a:rPr>
              <a:t>Plan → apply workflow, state file</a:t>
            </a:r>
          </a:p>
          <a:p>
            <a:pPr marL="237744" indent="-237744" algn="l">
              <a:lnSpc>
                <a:spcPct val="112000"/>
              </a:lnSpc>
              <a:spcAft>
                <a:spcPts val="900"/>
              </a:spcAft>
              <a:buClr>
                <a:srgbClr val="7DB3F5"/>
              </a:buClr>
              <a:buSzPct val="100000"/>
              <a:buFont typeface="Arial"/>
              <a:buChar char="•"/>
            </a:pPr>
            <a:r>
              <a:rPr sz="1250" b="0" i="0">
                <a:solidFill>
                  <a:srgbClr val="C9D2E3"/>
                </a:solidFill>
                <a:latin typeface="Segoe UI"/>
              </a:rPr>
              <a:t>De-facto multi-cloud standard</a:t>
            </a:r>
          </a:p>
        </p:txBody>
      </p:sp>
      <p:grpSp>
        <p:nvGrpSpPr>
          <p:cNvPr id="42" name="Group 41"/>
          <p:cNvGrpSpPr/>
          <p:nvPr/>
        </p:nvGrpSpPr>
        <p:grpSpPr>
          <a:xfrm>
            <a:off x="3364992" y="1645920"/>
            <a:ext cx="2679192" cy="3154680"/>
            <a:chOff x="3364992" y="1645920"/>
            <a:chExt cx="2679192" cy="3154680"/>
          </a:xfrm>
        </p:grpSpPr>
        <p:sp>
          <p:nvSpPr>
            <p:cNvPr id="43" name="Rounded Rectangle 42"/>
            <p:cNvSpPr/>
            <p:nvPr/>
          </p:nvSpPr>
          <p:spPr>
            <a:xfrm>
              <a:off x="3364992" y="1645920"/>
              <a:ext cx="2679192" cy="3154680"/>
            </a:xfrm>
            <a:prstGeom prst="roundRect">
              <a:avLst>
                <a:gd name="adj" fmla="val 6143"/>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44" name="Rectangle 43"/>
            <p:cNvSpPr/>
            <p:nvPr/>
          </p:nvSpPr>
          <p:spPr>
            <a:xfrm>
              <a:off x="3364992" y="1901952"/>
              <a:ext cx="45720" cy="384048"/>
            </a:xfrm>
            <a:prstGeom prst="rect">
              <a:avLst/>
            </a:prstGeom>
            <a:solidFill>
              <a:srgbClr val="199E70"/>
            </a:solidFill>
            <a:ln>
              <a:noFill/>
            </a:ln>
          </p:spPr>
          <p:txBody>
            <a:bodyPr wrap="square" rtlCol="0" anchor="ctr"/>
            <a:lstStyle/>
            <a:p>
              <a:pPr algn="ctr"/>
              <a:endParaRPr/>
            </a:p>
          </p:txBody>
        </p:sp>
        <p:sp>
          <p:nvSpPr>
            <p:cNvPr id="45" name="TextBox 44"/>
            <p:cNvSpPr txBox="1"/>
            <p:nvPr/>
          </p:nvSpPr>
          <p:spPr>
            <a:xfrm>
              <a:off x="3621024" y="1847088"/>
              <a:ext cx="2240280" cy="411480"/>
            </a:xfrm>
            <a:prstGeom prst="rect">
              <a:avLst/>
            </a:prstGeom>
            <a:noFill/>
          </p:spPr>
          <p:txBody>
            <a:bodyPr wrap="square" lIns="0" tIns="0" rIns="0" bIns="0" anchor="t">
              <a:noAutofit/>
            </a:bodyPr>
            <a:lstStyle/>
            <a:p>
              <a:pPr algn="l">
                <a:lnSpc>
                  <a:spcPct val="112000"/>
                </a:lnSpc>
                <a:spcAft>
                  <a:spcPts val="0"/>
                </a:spcAft>
              </a:pPr>
              <a:r>
                <a:rPr sz="1550" b="0" i="0">
                  <a:solidFill>
                    <a:srgbClr val="FFFFFF"/>
                  </a:solidFill>
                  <a:latin typeface="Segoe UI Semibold"/>
                </a:rPr>
                <a:t>Pulumi</a:t>
              </a:r>
            </a:p>
          </p:txBody>
        </p:sp>
      </p:grpSp>
      <p:sp>
        <p:nvSpPr>
          <p:cNvPr id="46" name="Rounded Rectangle 45"/>
          <p:cNvSpPr/>
          <p:nvPr/>
        </p:nvSpPr>
        <p:spPr>
          <a:xfrm>
            <a:off x="3639312" y="2212848"/>
            <a:ext cx="1325880" cy="274320"/>
          </a:xfrm>
          <a:prstGeom prst="roundRect">
            <a:avLst>
              <a:gd name="adj" fmla="val 50000"/>
            </a:avLst>
          </a:prstGeom>
          <a:solidFill>
            <a:srgbClr val="199E70">
              <a:alpha val="16000"/>
            </a:srgbClr>
          </a:solidFill>
          <a:ln w="9525">
            <a:solidFill>
              <a:srgbClr val="199E70"/>
            </a:solidFill>
          </a:ln>
        </p:spPr>
        <p:txBody>
          <a:bodyPr wrap="square" lIns="18288" tIns="18288" rIns="18288" bIns="18288" rtlCol="0" anchor="ctr">
            <a:noAutofit/>
          </a:bodyPr>
          <a:lstStyle/>
          <a:p>
            <a:pPr algn="ctr">
              <a:lnSpc>
                <a:spcPct val="112000"/>
              </a:lnSpc>
              <a:spcAft>
                <a:spcPts val="0"/>
              </a:spcAft>
            </a:pPr>
            <a:r>
              <a:rPr sz="900" b="0" i="0">
                <a:solidFill>
                  <a:srgbClr val="FFFFFF"/>
                </a:solidFill>
                <a:latin typeface="Segoe UI Semibold"/>
              </a:rPr>
              <a:t>CODE-FIRST</a:t>
            </a:r>
          </a:p>
        </p:txBody>
      </p:sp>
      <p:sp>
        <p:nvSpPr>
          <p:cNvPr id="47" name="TextBox 46"/>
          <p:cNvSpPr txBox="1"/>
          <p:nvPr/>
        </p:nvSpPr>
        <p:spPr>
          <a:xfrm>
            <a:off x="3639312" y="2697480"/>
            <a:ext cx="2286000" cy="2011680"/>
          </a:xfrm>
          <a:prstGeom prst="rect">
            <a:avLst/>
          </a:prstGeom>
          <a:noFill/>
        </p:spPr>
        <p:txBody>
          <a:bodyPr wrap="square" lIns="0" tIns="0" rIns="0" bIns="0" anchor="t">
            <a:noAutofit/>
          </a:bodyPr>
          <a:lstStyle/>
          <a:p>
            <a:pPr marL="237744" indent="-237744" algn="l">
              <a:lnSpc>
                <a:spcPct val="112000"/>
              </a:lnSpc>
              <a:spcAft>
                <a:spcPts val="900"/>
              </a:spcAft>
              <a:buClr>
                <a:srgbClr val="4FD1A1"/>
              </a:buClr>
              <a:buSzPct val="100000"/>
              <a:buFont typeface="Arial"/>
              <a:buChar char="•"/>
            </a:pPr>
            <a:r>
              <a:rPr sz="1250" b="0" i="0">
                <a:solidFill>
                  <a:srgbClr val="C9D2E3"/>
                </a:solidFill>
                <a:latin typeface="Segoe UI"/>
              </a:rPr>
              <a:t>Python, TypeScript, Go, C#</a:t>
            </a:r>
          </a:p>
          <a:p>
            <a:pPr marL="237744" indent="-237744" algn="l">
              <a:lnSpc>
                <a:spcPct val="112000"/>
              </a:lnSpc>
              <a:spcAft>
                <a:spcPts val="900"/>
              </a:spcAft>
              <a:buClr>
                <a:srgbClr val="4FD1A1"/>
              </a:buClr>
              <a:buSzPct val="100000"/>
              <a:buFont typeface="Arial"/>
              <a:buChar char="•"/>
            </a:pPr>
            <a:r>
              <a:rPr sz="1250" b="0" i="0">
                <a:solidFill>
                  <a:srgbClr val="C9D2E3"/>
                </a:solidFill>
                <a:latin typeface="Segoe UI"/>
              </a:rPr>
              <a:t>Loops, tests, abstractions</a:t>
            </a:r>
          </a:p>
          <a:p>
            <a:pPr marL="237744" indent="-237744" algn="l">
              <a:lnSpc>
                <a:spcPct val="112000"/>
              </a:lnSpc>
              <a:spcAft>
                <a:spcPts val="900"/>
              </a:spcAft>
              <a:buClr>
                <a:srgbClr val="4FD1A1"/>
              </a:buClr>
              <a:buSzPct val="100000"/>
              <a:buFont typeface="Arial"/>
              <a:buChar char="•"/>
            </a:pPr>
            <a:r>
              <a:rPr sz="1250" b="0" i="0">
                <a:solidFill>
                  <a:srgbClr val="C9D2E3"/>
                </a:solidFill>
                <a:latin typeface="Segoe UI"/>
              </a:rPr>
              <a:t>Strong for platform teams</a:t>
            </a:r>
          </a:p>
        </p:txBody>
      </p:sp>
      <p:grpSp>
        <p:nvGrpSpPr>
          <p:cNvPr id="48" name="Group 47"/>
          <p:cNvGrpSpPr/>
          <p:nvPr/>
        </p:nvGrpSpPr>
        <p:grpSpPr>
          <a:xfrm>
            <a:off x="6181344" y="1645920"/>
            <a:ext cx="2679192" cy="3154680"/>
            <a:chOff x="6181344" y="1645920"/>
            <a:chExt cx="2679192" cy="3154680"/>
          </a:xfrm>
        </p:grpSpPr>
        <p:sp>
          <p:nvSpPr>
            <p:cNvPr id="49" name="Rounded Rectangle 48"/>
            <p:cNvSpPr/>
            <p:nvPr/>
          </p:nvSpPr>
          <p:spPr>
            <a:xfrm>
              <a:off x="6181344" y="1645920"/>
              <a:ext cx="2679192" cy="3154680"/>
            </a:xfrm>
            <a:prstGeom prst="roundRect">
              <a:avLst>
                <a:gd name="adj" fmla="val 6143"/>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50" name="Rectangle 49"/>
            <p:cNvSpPr/>
            <p:nvPr/>
          </p:nvSpPr>
          <p:spPr>
            <a:xfrm>
              <a:off x="6181344" y="1901952"/>
              <a:ext cx="45720" cy="384048"/>
            </a:xfrm>
            <a:prstGeom prst="rect">
              <a:avLst/>
            </a:prstGeom>
            <a:solidFill>
              <a:srgbClr val="9085E9"/>
            </a:solidFill>
            <a:ln>
              <a:noFill/>
            </a:ln>
          </p:spPr>
          <p:txBody>
            <a:bodyPr wrap="square" rtlCol="0" anchor="ctr"/>
            <a:lstStyle/>
            <a:p>
              <a:pPr algn="ctr"/>
              <a:endParaRPr/>
            </a:p>
          </p:txBody>
        </p:sp>
        <p:sp>
          <p:nvSpPr>
            <p:cNvPr id="51" name="TextBox 50"/>
            <p:cNvSpPr txBox="1"/>
            <p:nvPr/>
          </p:nvSpPr>
          <p:spPr>
            <a:xfrm>
              <a:off x="6437376" y="1847088"/>
              <a:ext cx="2240279" cy="411480"/>
            </a:xfrm>
            <a:prstGeom prst="rect">
              <a:avLst/>
            </a:prstGeom>
            <a:noFill/>
          </p:spPr>
          <p:txBody>
            <a:bodyPr wrap="square" lIns="0" tIns="0" rIns="0" bIns="0" anchor="t">
              <a:noAutofit/>
            </a:bodyPr>
            <a:lstStyle/>
            <a:p>
              <a:pPr algn="l">
                <a:lnSpc>
                  <a:spcPct val="112000"/>
                </a:lnSpc>
                <a:spcAft>
                  <a:spcPts val="0"/>
                </a:spcAft>
              </a:pPr>
              <a:r>
                <a:rPr sz="1550" b="0" i="0">
                  <a:solidFill>
                    <a:srgbClr val="FFFFFF"/>
                  </a:solidFill>
                  <a:latin typeface="Segoe UI Semibold"/>
                </a:rPr>
                <a:t>Crossplane</a:t>
              </a:r>
            </a:p>
          </p:txBody>
        </p:sp>
      </p:grpSp>
      <p:sp>
        <p:nvSpPr>
          <p:cNvPr id="52" name="Rounded Rectangle 51"/>
          <p:cNvSpPr/>
          <p:nvPr/>
        </p:nvSpPr>
        <p:spPr>
          <a:xfrm>
            <a:off x="6455664" y="2212848"/>
            <a:ext cx="1325880" cy="274320"/>
          </a:xfrm>
          <a:prstGeom prst="roundRect">
            <a:avLst>
              <a:gd name="adj" fmla="val 50000"/>
            </a:avLst>
          </a:prstGeom>
          <a:solidFill>
            <a:srgbClr val="9085E9">
              <a:alpha val="16000"/>
            </a:srgbClr>
          </a:solidFill>
          <a:ln w="9525">
            <a:solidFill>
              <a:srgbClr val="9085E9"/>
            </a:solidFill>
          </a:ln>
        </p:spPr>
        <p:txBody>
          <a:bodyPr wrap="square" lIns="18288" tIns="18288" rIns="18288" bIns="18288" rtlCol="0" anchor="ctr">
            <a:noAutofit/>
          </a:bodyPr>
          <a:lstStyle/>
          <a:p>
            <a:pPr algn="ctr">
              <a:lnSpc>
                <a:spcPct val="112000"/>
              </a:lnSpc>
              <a:spcAft>
                <a:spcPts val="0"/>
              </a:spcAft>
            </a:pPr>
            <a:r>
              <a:rPr sz="900" b="0" i="0">
                <a:solidFill>
                  <a:srgbClr val="FFFFFF"/>
                </a:solidFill>
                <a:latin typeface="Segoe UI Semibold"/>
              </a:rPr>
              <a:t>CONTROL LOOP</a:t>
            </a:r>
          </a:p>
        </p:txBody>
      </p:sp>
      <p:sp>
        <p:nvSpPr>
          <p:cNvPr id="53" name="TextBox 52"/>
          <p:cNvSpPr txBox="1"/>
          <p:nvPr/>
        </p:nvSpPr>
        <p:spPr>
          <a:xfrm>
            <a:off x="6455664" y="2697480"/>
            <a:ext cx="2286000" cy="2011680"/>
          </a:xfrm>
          <a:prstGeom prst="rect">
            <a:avLst/>
          </a:prstGeom>
          <a:noFill/>
        </p:spPr>
        <p:txBody>
          <a:bodyPr wrap="square" lIns="0" tIns="0" rIns="0" bIns="0" anchor="t">
            <a:noAutofit/>
          </a:bodyPr>
          <a:lstStyle/>
          <a:p>
            <a:pPr marL="237744" indent="-237744" algn="l">
              <a:lnSpc>
                <a:spcPct val="112000"/>
              </a:lnSpc>
              <a:spcAft>
                <a:spcPts val="900"/>
              </a:spcAft>
              <a:buClr>
                <a:srgbClr val="B5ADF5"/>
              </a:buClr>
              <a:buSzPct val="100000"/>
              <a:buFont typeface="Arial"/>
              <a:buChar char="•"/>
            </a:pPr>
            <a:r>
              <a:rPr sz="1250" b="0" i="0">
                <a:solidFill>
                  <a:srgbClr val="C9D2E3"/>
                </a:solidFill>
                <a:latin typeface="Segoe UI"/>
              </a:rPr>
              <a:t>Kubernetes-native APIs (XRDs)</a:t>
            </a:r>
          </a:p>
          <a:p>
            <a:pPr marL="237744" indent="-237744" algn="l">
              <a:lnSpc>
                <a:spcPct val="112000"/>
              </a:lnSpc>
              <a:spcAft>
                <a:spcPts val="900"/>
              </a:spcAft>
              <a:buClr>
                <a:srgbClr val="B5ADF5"/>
              </a:buClr>
              <a:buSzPct val="100000"/>
              <a:buFont typeface="Arial"/>
              <a:buChar char="•"/>
            </a:pPr>
            <a:r>
              <a:rPr sz="1250" b="0" i="0">
                <a:solidFill>
                  <a:srgbClr val="C9D2E3"/>
                </a:solidFill>
                <a:latin typeface="Segoe UI"/>
              </a:rPr>
              <a:t>Continuous reconciliation</a:t>
            </a:r>
          </a:p>
          <a:p>
            <a:pPr marL="237744" indent="-237744" algn="l">
              <a:lnSpc>
                <a:spcPct val="112000"/>
              </a:lnSpc>
              <a:spcAft>
                <a:spcPts val="900"/>
              </a:spcAft>
              <a:buClr>
                <a:srgbClr val="B5ADF5"/>
              </a:buClr>
              <a:buSzPct val="100000"/>
              <a:buFont typeface="Arial"/>
              <a:buChar char="•"/>
            </a:pPr>
            <a:r>
              <a:rPr sz="1250" b="0" i="0">
                <a:solidFill>
                  <a:srgbClr val="C9D2E3"/>
                </a:solidFill>
                <a:latin typeface="Segoe UI"/>
              </a:rPr>
              <a:t>Self-service compositions</a:t>
            </a:r>
          </a:p>
        </p:txBody>
      </p:sp>
      <p:grpSp>
        <p:nvGrpSpPr>
          <p:cNvPr id="54" name="Group 53"/>
          <p:cNvGrpSpPr/>
          <p:nvPr/>
        </p:nvGrpSpPr>
        <p:grpSpPr>
          <a:xfrm>
            <a:off x="8997696" y="1645920"/>
            <a:ext cx="2679192" cy="3154680"/>
            <a:chOff x="8997696" y="1645920"/>
            <a:chExt cx="2679192" cy="3154680"/>
          </a:xfrm>
        </p:grpSpPr>
        <p:sp>
          <p:nvSpPr>
            <p:cNvPr id="55" name="Rounded Rectangle 54"/>
            <p:cNvSpPr/>
            <p:nvPr/>
          </p:nvSpPr>
          <p:spPr>
            <a:xfrm>
              <a:off x="8997696" y="1645920"/>
              <a:ext cx="2679192" cy="3154680"/>
            </a:xfrm>
            <a:prstGeom prst="roundRect">
              <a:avLst>
                <a:gd name="adj" fmla="val 6143"/>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56" name="Rectangle 55"/>
            <p:cNvSpPr/>
            <p:nvPr/>
          </p:nvSpPr>
          <p:spPr>
            <a:xfrm>
              <a:off x="8997696" y="1901952"/>
              <a:ext cx="45720" cy="384048"/>
            </a:xfrm>
            <a:prstGeom prst="rect">
              <a:avLst/>
            </a:prstGeom>
            <a:solidFill>
              <a:srgbClr val="D95926"/>
            </a:solidFill>
            <a:ln>
              <a:noFill/>
            </a:ln>
          </p:spPr>
          <p:txBody>
            <a:bodyPr wrap="square" rtlCol="0" anchor="ctr"/>
            <a:lstStyle/>
            <a:p>
              <a:pPr algn="ctr"/>
              <a:endParaRPr/>
            </a:p>
          </p:txBody>
        </p:sp>
        <p:sp>
          <p:nvSpPr>
            <p:cNvPr id="57" name="TextBox 56"/>
            <p:cNvSpPr txBox="1"/>
            <p:nvPr/>
          </p:nvSpPr>
          <p:spPr>
            <a:xfrm>
              <a:off x="9253728" y="1847088"/>
              <a:ext cx="2240280" cy="411480"/>
            </a:xfrm>
            <a:prstGeom prst="rect">
              <a:avLst/>
            </a:prstGeom>
            <a:noFill/>
          </p:spPr>
          <p:txBody>
            <a:bodyPr wrap="square" lIns="0" tIns="0" rIns="0" bIns="0" anchor="t">
              <a:noAutofit/>
            </a:bodyPr>
            <a:lstStyle/>
            <a:p>
              <a:pPr algn="l">
                <a:lnSpc>
                  <a:spcPct val="112000"/>
                </a:lnSpc>
                <a:spcAft>
                  <a:spcPts val="0"/>
                </a:spcAft>
              </a:pPr>
              <a:r>
                <a:rPr sz="1550" b="0" i="0">
                  <a:solidFill>
                    <a:srgbClr val="FFFFFF"/>
                  </a:solidFill>
                  <a:latin typeface="Segoe UI Semibold"/>
                </a:rPr>
                <a:t>Provider-native</a:t>
              </a:r>
            </a:p>
          </p:txBody>
        </p:sp>
      </p:grpSp>
      <p:sp>
        <p:nvSpPr>
          <p:cNvPr id="58" name="Rounded Rectangle 57"/>
          <p:cNvSpPr/>
          <p:nvPr/>
        </p:nvSpPr>
        <p:spPr>
          <a:xfrm>
            <a:off x="9272016" y="2212848"/>
            <a:ext cx="1325880" cy="274320"/>
          </a:xfrm>
          <a:prstGeom prst="roundRect">
            <a:avLst>
              <a:gd name="adj" fmla="val 50000"/>
            </a:avLst>
          </a:prstGeom>
          <a:solidFill>
            <a:srgbClr val="D95926">
              <a:alpha val="16000"/>
            </a:srgbClr>
          </a:solidFill>
          <a:ln w="9525">
            <a:solidFill>
              <a:srgbClr val="D95926"/>
            </a:solidFill>
          </a:ln>
        </p:spPr>
        <p:txBody>
          <a:bodyPr wrap="square" lIns="18288" tIns="18288" rIns="18288" bIns="18288" rtlCol="0" anchor="ctr">
            <a:noAutofit/>
          </a:bodyPr>
          <a:lstStyle/>
          <a:p>
            <a:pPr algn="ctr">
              <a:lnSpc>
                <a:spcPct val="112000"/>
              </a:lnSpc>
              <a:spcAft>
                <a:spcPts val="0"/>
              </a:spcAft>
            </a:pPr>
            <a:r>
              <a:rPr sz="900" b="0" i="0">
                <a:solidFill>
                  <a:srgbClr val="FFFFFF"/>
                </a:solidFill>
                <a:latin typeface="Segoe UI Semibold"/>
              </a:rPr>
              <a:t>SINGLE CLOUD</a:t>
            </a:r>
          </a:p>
        </p:txBody>
      </p:sp>
      <p:sp>
        <p:nvSpPr>
          <p:cNvPr id="59" name="TextBox 58"/>
          <p:cNvSpPr txBox="1"/>
          <p:nvPr/>
        </p:nvSpPr>
        <p:spPr>
          <a:xfrm>
            <a:off x="9272016" y="2697480"/>
            <a:ext cx="2286000" cy="2011680"/>
          </a:xfrm>
          <a:prstGeom prst="rect">
            <a:avLst/>
          </a:prstGeom>
          <a:noFill/>
        </p:spPr>
        <p:txBody>
          <a:bodyPr wrap="square" lIns="0" tIns="0" rIns="0" bIns="0" anchor="t">
            <a:noAutofit/>
          </a:bodyPr>
          <a:lstStyle/>
          <a:p>
            <a:pPr marL="237744" indent="-237744" algn="l">
              <a:lnSpc>
                <a:spcPct val="112000"/>
              </a:lnSpc>
              <a:spcAft>
                <a:spcPts val="900"/>
              </a:spcAft>
              <a:buClr>
                <a:srgbClr val="F4925F"/>
              </a:buClr>
              <a:buSzPct val="100000"/>
              <a:buFont typeface="Arial"/>
              <a:buChar char="•"/>
            </a:pPr>
            <a:r>
              <a:rPr sz="1250" b="0" i="0">
                <a:solidFill>
                  <a:srgbClr val="C9D2E3"/>
                </a:solidFill>
                <a:latin typeface="Segoe UI"/>
              </a:rPr>
              <a:t>CloudFormation, Bicep / ARM</a:t>
            </a:r>
          </a:p>
          <a:p>
            <a:pPr marL="237744" indent="-237744" algn="l">
              <a:lnSpc>
                <a:spcPct val="112000"/>
              </a:lnSpc>
              <a:spcAft>
                <a:spcPts val="900"/>
              </a:spcAft>
              <a:buClr>
                <a:srgbClr val="F4925F"/>
              </a:buClr>
              <a:buSzPct val="100000"/>
              <a:buFont typeface="Arial"/>
              <a:buChar char="•"/>
            </a:pPr>
            <a:r>
              <a:rPr sz="1250" b="0" i="0">
                <a:solidFill>
                  <a:srgbClr val="C9D2E3"/>
                </a:solidFill>
                <a:latin typeface="Segoe UI"/>
              </a:rPr>
              <a:t>Google Infrastructure Manager</a:t>
            </a:r>
          </a:p>
          <a:p>
            <a:pPr marL="237744" indent="-237744" algn="l">
              <a:lnSpc>
                <a:spcPct val="112000"/>
              </a:lnSpc>
              <a:spcAft>
                <a:spcPts val="900"/>
              </a:spcAft>
              <a:buClr>
                <a:srgbClr val="F4925F"/>
              </a:buClr>
              <a:buSzPct val="100000"/>
              <a:buFont typeface="Arial"/>
              <a:buChar char="•"/>
            </a:pPr>
            <a:r>
              <a:rPr sz="1250" b="0" i="0">
                <a:solidFill>
                  <a:srgbClr val="C9D2E3"/>
                </a:solidFill>
                <a:latin typeface="Segoe UI"/>
              </a:rPr>
              <a:t>Deepest feature coverage</a:t>
            </a:r>
          </a:p>
        </p:txBody>
      </p:sp>
      <p:grpSp>
        <p:nvGrpSpPr>
          <p:cNvPr id="60" name="Group 59"/>
          <p:cNvGrpSpPr/>
          <p:nvPr/>
        </p:nvGrpSpPr>
        <p:grpSpPr>
          <a:xfrm>
            <a:off x="548640" y="5010912"/>
            <a:ext cx="11091672" cy="960120"/>
            <a:chOff x="548640" y="5010912"/>
            <a:chExt cx="11091672" cy="960120"/>
          </a:xfrm>
        </p:grpSpPr>
        <p:sp>
          <p:nvSpPr>
            <p:cNvPr id="61" name="Rounded Rectangle 60"/>
            <p:cNvSpPr/>
            <p:nvPr/>
          </p:nvSpPr>
          <p:spPr>
            <a:xfrm>
              <a:off x="548640" y="5010912"/>
              <a:ext cx="11091672" cy="960120"/>
            </a:xfrm>
            <a:prstGeom prst="roundRect">
              <a:avLst>
                <a:gd name="adj" fmla="val 15000"/>
              </a:avLst>
            </a:prstGeom>
            <a:gradFill rotWithShape="1">
              <a:gsLst>
                <a:gs pos="0">
                  <a:srgbClr val="199E70">
                    <a:alpha val="16000"/>
                  </a:srgbClr>
                </a:gs>
                <a:gs pos="100000">
                  <a:srgbClr val="3987E5">
                    <a:alpha val="6000"/>
                  </a:srgbClr>
                </a:gs>
              </a:gsLst>
              <a:lin ang="0" scaled="0"/>
            </a:gradFill>
            <a:ln w="12700">
              <a:solidFill>
                <a:srgbClr val="199E70">
                  <a:alpha val="60000"/>
                </a:srgbClr>
              </a:solidFill>
            </a:ln>
          </p:spPr>
          <p:txBody>
            <a:bodyPr wrap="square" rtlCol="0" anchor="ctr"/>
            <a:lstStyle/>
            <a:p>
              <a:pPr algn="ctr"/>
              <a:endParaRPr/>
            </a:p>
          </p:txBody>
        </p:sp>
        <p:sp>
          <p:nvSpPr>
            <p:cNvPr id="62" name="TextBox 61"/>
            <p:cNvSpPr txBox="1"/>
            <p:nvPr/>
          </p:nvSpPr>
          <p:spPr>
            <a:xfrm>
              <a:off x="822960" y="5010912"/>
              <a:ext cx="1463040" cy="960120"/>
            </a:xfrm>
            <a:prstGeom prst="rect">
              <a:avLst/>
            </a:prstGeom>
            <a:noFill/>
          </p:spPr>
          <p:txBody>
            <a:bodyPr wrap="square" lIns="0" tIns="0" rIns="0" bIns="0" anchor="ctr">
              <a:noAutofit/>
            </a:bodyPr>
            <a:lstStyle/>
            <a:p>
              <a:pPr algn="l">
                <a:lnSpc>
                  <a:spcPct val="112000"/>
                </a:lnSpc>
                <a:spcAft>
                  <a:spcPts val="0"/>
                </a:spcAft>
              </a:pPr>
              <a:r>
                <a:rPr sz="1200" b="0" i="0" spc="300">
                  <a:solidFill>
                    <a:srgbClr val="4FD1A1"/>
                  </a:solidFill>
                  <a:latin typeface="Segoe UI Semibold"/>
                </a:rPr>
                <a:t>TREND</a:t>
              </a:r>
            </a:p>
          </p:txBody>
        </p:sp>
        <p:sp>
          <p:nvSpPr>
            <p:cNvPr id="63" name="Rounded Rectangle 62"/>
            <p:cNvSpPr/>
            <p:nvPr/>
          </p:nvSpPr>
          <p:spPr>
            <a:xfrm>
              <a:off x="2148840" y="5212080"/>
              <a:ext cx="2011680" cy="548640"/>
            </a:xfrm>
            <a:prstGeom prst="roundRect">
              <a:avLst>
                <a:gd name="adj" fmla="val 50000"/>
              </a:avLst>
            </a:prstGeom>
            <a:solidFill>
              <a:srgbClr val="182A4C"/>
            </a:solidFill>
            <a:ln w="15875">
              <a:solidFill>
                <a:srgbClr val="3987E5"/>
              </a:solidFill>
            </a:ln>
          </p:spPr>
          <p:txBody>
            <a:bodyPr wrap="square" lIns="36576" tIns="36576" rIns="36576" bIns="36576" rtlCol="0" anchor="ctr">
              <a:noAutofit/>
            </a:bodyPr>
            <a:lstStyle/>
            <a:p>
              <a:pPr algn="ctr">
                <a:lnSpc>
                  <a:spcPct val="100000"/>
                </a:lnSpc>
                <a:spcAft>
                  <a:spcPts val="0"/>
                </a:spcAft>
              </a:pPr>
              <a:r>
                <a:rPr sz="1150" b="0" i="0">
                  <a:solidFill>
                    <a:srgbClr val="FFFFFF"/>
                  </a:solidFill>
                  <a:latin typeface="Segoe UI Semibold"/>
                </a:rPr>
                <a:t>One-shot provisioning</a:t>
              </a:r>
            </a:p>
          </p:txBody>
        </p:sp>
        <p:cxnSp>
          <p:nvCxnSpPr>
            <p:cNvPr id="64" name="Connector 63"/>
            <p:cNvCxnSpPr/>
            <p:nvPr/>
          </p:nvCxnSpPr>
          <p:spPr>
            <a:xfrm>
              <a:off x="4178808" y="5486400"/>
              <a:ext cx="329184" cy="0"/>
            </a:xfrm>
            <a:prstGeom prst="line">
              <a:avLst/>
            </a:prstGeom>
            <a:ln w="19050">
              <a:solidFill>
                <a:srgbClr val="4FD1A1"/>
              </a:solidFill>
              <a:tailEnd type="triangle" w="med" len="med"/>
            </a:ln>
          </p:spPr>
        </p:cxnSp>
        <p:sp>
          <p:nvSpPr>
            <p:cNvPr id="65" name="Rounded Rectangle 64"/>
            <p:cNvSpPr/>
            <p:nvPr/>
          </p:nvSpPr>
          <p:spPr>
            <a:xfrm>
              <a:off x="4526280" y="5212080"/>
              <a:ext cx="2011680" cy="548640"/>
            </a:xfrm>
            <a:prstGeom prst="roundRect">
              <a:avLst>
                <a:gd name="adj" fmla="val 50000"/>
              </a:avLst>
            </a:prstGeom>
            <a:solidFill>
              <a:srgbClr val="182A4C"/>
            </a:solidFill>
            <a:ln w="15875">
              <a:solidFill>
                <a:srgbClr val="199E70"/>
              </a:solidFill>
            </a:ln>
          </p:spPr>
          <p:txBody>
            <a:bodyPr wrap="square" lIns="36576" tIns="36576" rIns="36576" bIns="36576" rtlCol="0" anchor="ctr">
              <a:noAutofit/>
            </a:bodyPr>
            <a:lstStyle/>
            <a:p>
              <a:pPr algn="ctr">
                <a:lnSpc>
                  <a:spcPct val="100000"/>
                </a:lnSpc>
                <a:spcAft>
                  <a:spcPts val="0"/>
                </a:spcAft>
              </a:pPr>
              <a:r>
                <a:rPr sz="1150" b="0" i="0">
                  <a:solidFill>
                    <a:srgbClr val="FFFFFF"/>
                  </a:solidFill>
                  <a:latin typeface="Segoe UI Semibold"/>
                </a:rPr>
                <a:t>Drift detection</a:t>
              </a:r>
            </a:p>
          </p:txBody>
        </p:sp>
        <p:cxnSp>
          <p:nvCxnSpPr>
            <p:cNvPr id="66" name="Connector 65"/>
            <p:cNvCxnSpPr/>
            <p:nvPr/>
          </p:nvCxnSpPr>
          <p:spPr>
            <a:xfrm>
              <a:off x="6556248" y="5486400"/>
              <a:ext cx="329184" cy="0"/>
            </a:xfrm>
            <a:prstGeom prst="line">
              <a:avLst/>
            </a:prstGeom>
            <a:ln w="19050">
              <a:solidFill>
                <a:srgbClr val="4FD1A1"/>
              </a:solidFill>
              <a:tailEnd type="triangle" w="med" len="med"/>
            </a:ln>
          </p:spPr>
        </p:cxnSp>
        <p:sp>
          <p:nvSpPr>
            <p:cNvPr id="67" name="Rounded Rectangle 66"/>
            <p:cNvSpPr/>
            <p:nvPr/>
          </p:nvSpPr>
          <p:spPr>
            <a:xfrm>
              <a:off x="6903720" y="5212080"/>
              <a:ext cx="2011680" cy="548640"/>
            </a:xfrm>
            <a:prstGeom prst="roundRect">
              <a:avLst>
                <a:gd name="adj" fmla="val 50000"/>
              </a:avLst>
            </a:prstGeom>
            <a:solidFill>
              <a:srgbClr val="182A4C"/>
            </a:solidFill>
            <a:ln w="15875">
              <a:solidFill>
                <a:srgbClr val="199E70"/>
              </a:solidFill>
            </a:ln>
          </p:spPr>
          <p:txBody>
            <a:bodyPr wrap="square" lIns="36576" tIns="36576" rIns="36576" bIns="36576" rtlCol="0" anchor="ctr">
              <a:noAutofit/>
            </a:bodyPr>
            <a:lstStyle/>
            <a:p>
              <a:pPr algn="ctr">
                <a:lnSpc>
                  <a:spcPct val="100000"/>
                </a:lnSpc>
                <a:spcAft>
                  <a:spcPts val="0"/>
                </a:spcAft>
              </a:pPr>
              <a:r>
                <a:rPr sz="1150" b="0" i="0">
                  <a:solidFill>
                    <a:srgbClr val="FFFFFF"/>
                  </a:solidFill>
                  <a:latin typeface="Segoe UI Semibold"/>
                </a:rPr>
                <a:t>GitOps reconciliation</a:t>
              </a:r>
            </a:p>
          </p:txBody>
        </p:sp>
        <p:cxnSp>
          <p:nvCxnSpPr>
            <p:cNvPr id="68" name="Connector 67"/>
            <p:cNvCxnSpPr/>
            <p:nvPr/>
          </p:nvCxnSpPr>
          <p:spPr>
            <a:xfrm>
              <a:off x="8933688" y="5486400"/>
              <a:ext cx="329184" cy="0"/>
            </a:xfrm>
            <a:prstGeom prst="line">
              <a:avLst/>
            </a:prstGeom>
            <a:ln w="19050">
              <a:solidFill>
                <a:srgbClr val="4FD1A1"/>
              </a:solidFill>
              <a:tailEnd type="triangle" w="med" len="med"/>
            </a:ln>
          </p:spPr>
        </p:cxnSp>
        <p:sp>
          <p:nvSpPr>
            <p:cNvPr id="69" name="Rounded Rectangle 68"/>
            <p:cNvSpPr/>
            <p:nvPr/>
          </p:nvSpPr>
          <p:spPr>
            <a:xfrm>
              <a:off x="9281160" y="5212080"/>
              <a:ext cx="2011680" cy="548640"/>
            </a:xfrm>
            <a:prstGeom prst="roundRect">
              <a:avLst>
                <a:gd name="adj" fmla="val 50000"/>
              </a:avLst>
            </a:prstGeom>
            <a:solidFill>
              <a:srgbClr val="182A4C"/>
            </a:solidFill>
            <a:ln w="15875">
              <a:solidFill>
                <a:srgbClr val="199E70"/>
              </a:solidFill>
            </a:ln>
          </p:spPr>
          <p:txBody>
            <a:bodyPr wrap="square" lIns="36576" tIns="36576" rIns="36576" bIns="36576" rtlCol="0" anchor="ctr">
              <a:noAutofit/>
            </a:bodyPr>
            <a:lstStyle/>
            <a:p>
              <a:pPr algn="ctr">
                <a:lnSpc>
                  <a:spcPct val="100000"/>
                </a:lnSpc>
                <a:spcAft>
                  <a:spcPts val="0"/>
                </a:spcAft>
              </a:pPr>
              <a:r>
                <a:rPr sz="1150" b="0" i="0">
                  <a:solidFill>
                    <a:srgbClr val="FFFFFF"/>
                  </a:solidFill>
                  <a:latin typeface="Segoe UI Semibold"/>
                </a:rPr>
                <a:t>Platform APIs &amp; self-service</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600"/>
                                        <p:tgtEl>
                                          <p:spTgt spid="36"/>
                                        </p:tgtEl>
                                      </p:cBhvr>
                                    </p:animEffect>
                                    <p:anim calcmode="lin" valueType="num">
                                      <p:cBhvr>
                                        <p:cTn id="8" dur="600" fill="hold"/>
                                        <p:tgtEl>
                                          <p:spTgt spid="36"/>
                                        </p:tgtEl>
                                        <p:attrNameLst>
                                          <p:attrName>ppt_x</p:attrName>
                                        </p:attrNameLst>
                                      </p:cBhvr>
                                      <p:tavLst>
                                        <p:tav tm="0">
                                          <p:val>
                                            <p:strVal val="#ppt_x"/>
                                          </p:val>
                                        </p:tav>
                                        <p:tav tm="100000">
                                          <p:val>
                                            <p:strVal val="#ppt_x"/>
                                          </p:val>
                                        </p:tav>
                                      </p:tavLst>
                                    </p:anim>
                                    <p:anim calcmode="lin" valueType="num">
                                      <p:cBhvr>
                                        <p:cTn id="9" dur="600" fill="hold"/>
                                        <p:tgtEl>
                                          <p:spTgt spid="36"/>
                                        </p:tgtEl>
                                        <p:attrNameLst>
                                          <p:attrName>ppt_y</p:attrName>
                                        </p:attrNameLst>
                                      </p:cBhvr>
                                      <p:tavLst>
                                        <p:tav tm="0">
                                          <p:val>
                                            <p:strVal val="#ppt_y+.08"/>
                                          </p:val>
                                        </p:tav>
                                        <p:tav tm="100000">
                                          <p:val>
                                            <p:strVal val="#ppt_y"/>
                                          </p:val>
                                        </p:tav>
                                      </p:tavLst>
                                    </p:anim>
                                  </p:childTnLst>
                                </p:cTn>
                              </p:par>
                              <p:par>
                                <p:cTn id="10" presetID="10" presetClass="entr" presetSubtype="0" fill="hold" grpId="0" nodeType="withEffect">
                                  <p:stCondLst>
                                    <p:cond delay="45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600"/>
                                        <p:tgtEl>
                                          <p:spTgt spid="40"/>
                                        </p:tgtEl>
                                      </p:cBhvr>
                                    </p:animEffect>
                                  </p:childTnLst>
                                </p:cTn>
                              </p:par>
                              <p:par>
                                <p:cTn id="13" presetID="10" presetClass="entr" presetSubtype="0" fill="hold" grpId="0" nodeType="withEffect">
                                  <p:stCondLst>
                                    <p:cond delay="50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600"/>
                                        <p:tgtEl>
                                          <p:spTgt spid="41"/>
                                        </p:tgtEl>
                                      </p:cBhvr>
                                    </p:animEffect>
                                  </p:childTnLst>
                                </p:cTn>
                              </p:par>
                              <p:par>
                                <p:cTn id="16" presetID="42" presetClass="entr" presetSubtype="0" fill="hold" nodeType="withEffect">
                                  <p:stCondLst>
                                    <p:cond delay="410"/>
                                  </p:stCondLst>
                                  <p:childTnLst>
                                    <p:set>
                                      <p:cBhvr>
                                        <p:cTn id="17" dur="1" fill="hold">
                                          <p:stCondLst>
                                            <p:cond delay="0"/>
                                          </p:stCondLst>
                                        </p:cTn>
                                        <p:tgtEl>
                                          <p:spTgt spid="42"/>
                                        </p:tgtEl>
                                        <p:attrNameLst>
                                          <p:attrName>style.visibility</p:attrName>
                                        </p:attrNameLst>
                                      </p:cBhvr>
                                      <p:to>
                                        <p:strVal val="visible"/>
                                      </p:to>
                                    </p:set>
                                    <p:animEffect transition="in" filter="fade">
                                      <p:cBhvr>
                                        <p:cTn id="18" dur="600"/>
                                        <p:tgtEl>
                                          <p:spTgt spid="42"/>
                                        </p:tgtEl>
                                      </p:cBhvr>
                                    </p:animEffect>
                                    <p:anim calcmode="lin" valueType="num">
                                      <p:cBhvr>
                                        <p:cTn id="19" dur="600" fill="hold"/>
                                        <p:tgtEl>
                                          <p:spTgt spid="42"/>
                                        </p:tgtEl>
                                        <p:attrNameLst>
                                          <p:attrName>ppt_x</p:attrName>
                                        </p:attrNameLst>
                                      </p:cBhvr>
                                      <p:tavLst>
                                        <p:tav tm="0">
                                          <p:val>
                                            <p:strVal val="#ppt_x"/>
                                          </p:val>
                                        </p:tav>
                                        <p:tav tm="100000">
                                          <p:val>
                                            <p:strVal val="#ppt_x"/>
                                          </p:val>
                                        </p:tav>
                                      </p:tavLst>
                                    </p:anim>
                                    <p:anim calcmode="lin" valueType="num">
                                      <p:cBhvr>
                                        <p:cTn id="20" dur="600" fill="hold"/>
                                        <p:tgtEl>
                                          <p:spTgt spid="42"/>
                                        </p:tgtEl>
                                        <p:attrNameLst>
                                          <p:attrName>ppt_y</p:attrName>
                                        </p:attrNameLst>
                                      </p:cBhvr>
                                      <p:tavLst>
                                        <p:tav tm="0">
                                          <p:val>
                                            <p:strVal val="#ppt_y+.08"/>
                                          </p:val>
                                        </p:tav>
                                        <p:tav tm="100000">
                                          <p:val>
                                            <p:strVal val="#ppt_y"/>
                                          </p:val>
                                        </p:tav>
                                      </p:tavLst>
                                    </p:anim>
                                  </p:childTnLst>
                                </p:cTn>
                              </p:par>
                              <p:par>
                                <p:cTn id="21" presetID="10" presetClass="entr" presetSubtype="0" fill="hold" grpId="0" nodeType="withEffect">
                                  <p:stCondLst>
                                    <p:cond delay="610"/>
                                  </p:stCondLst>
                                  <p:childTnLst>
                                    <p:set>
                                      <p:cBhvr>
                                        <p:cTn id="22" dur="1" fill="hold">
                                          <p:stCondLst>
                                            <p:cond delay="0"/>
                                          </p:stCondLst>
                                        </p:cTn>
                                        <p:tgtEl>
                                          <p:spTgt spid="46"/>
                                        </p:tgtEl>
                                        <p:attrNameLst>
                                          <p:attrName>style.visibility</p:attrName>
                                        </p:attrNameLst>
                                      </p:cBhvr>
                                      <p:to>
                                        <p:strVal val="visible"/>
                                      </p:to>
                                    </p:set>
                                    <p:animEffect transition="in" filter="fade">
                                      <p:cBhvr>
                                        <p:cTn id="23" dur="600"/>
                                        <p:tgtEl>
                                          <p:spTgt spid="46"/>
                                        </p:tgtEl>
                                      </p:cBhvr>
                                    </p:animEffect>
                                  </p:childTnLst>
                                </p:cTn>
                              </p:par>
                              <p:par>
                                <p:cTn id="24" presetID="10" presetClass="entr" presetSubtype="0" fill="hold" grpId="0" nodeType="withEffect">
                                  <p:stCondLst>
                                    <p:cond delay="660"/>
                                  </p:stCondLst>
                                  <p:childTnLst>
                                    <p:set>
                                      <p:cBhvr>
                                        <p:cTn id="25" dur="1" fill="hold">
                                          <p:stCondLst>
                                            <p:cond delay="0"/>
                                          </p:stCondLst>
                                        </p:cTn>
                                        <p:tgtEl>
                                          <p:spTgt spid="47"/>
                                        </p:tgtEl>
                                        <p:attrNameLst>
                                          <p:attrName>style.visibility</p:attrName>
                                        </p:attrNameLst>
                                      </p:cBhvr>
                                      <p:to>
                                        <p:strVal val="visible"/>
                                      </p:to>
                                    </p:set>
                                    <p:animEffect transition="in" filter="fade">
                                      <p:cBhvr>
                                        <p:cTn id="26" dur="600"/>
                                        <p:tgtEl>
                                          <p:spTgt spid="47"/>
                                        </p:tgtEl>
                                      </p:cBhvr>
                                    </p:animEffect>
                                  </p:childTnLst>
                                </p:cTn>
                              </p:par>
                              <p:par>
                                <p:cTn id="27" presetID="42" presetClass="entr" presetSubtype="0" fill="hold" nodeType="withEffect">
                                  <p:stCondLst>
                                    <p:cond delay="570"/>
                                  </p:stCondLst>
                                  <p:childTnLst>
                                    <p:set>
                                      <p:cBhvr>
                                        <p:cTn id="28" dur="1" fill="hold">
                                          <p:stCondLst>
                                            <p:cond delay="0"/>
                                          </p:stCondLst>
                                        </p:cTn>
                                        <p:tgtEl>
                                          <p:spTgt spid="48"/>
                                        </p:tgtEl>
                                        <p:attrNameLst>
                                          <p:attrName>style.visibility</p:attrName>
                                        </p:attrNameLst>
                                      </p:cBhvr>
                                      <p:to>
                                        <p:strVal val="visible"/>
                                      </p:to>
                                    </p:set>
                                    <p:animEffect transition="in" filter="fade">
                                      <p:cBhvr>
                                        <p:cTn id="29" dur="600"/>
                                        <p:tgtEl>
                                          <p:spTgt spid="48"/>
                                        </p:tgtEl>
                                      </p:cBhvr>
                                    </p:animEffect>
                                    <p:anim calcmode="lin" valueType="num">
                                      <p:cBhvr>
                                        <p:cTn id="30" dur="600" fill="hold"/>
                                        <p:tgtEl>
                                          <p:spTgt spid="48"/>
                                        </p:tgtEl>
                                        <p:attrNameLst>
                                          <p:attrName>ppt_x</p:attrName>
                                        </p:attrNameLst>
                                      </p:cBhvr>
                                      <p:tavLst>
                                        <p:tav tm="0">
                                          <p:val>
                                            <p:strVal val="#ppt_x"/>
                                          </p:val>
                                        </p:tav>
                                        <p:tav tm="100000">
                                          <p:val>
                                            <p:strVal val="#ppt_x"/>
                                          </p:val>
                                        </p:tav>
                                      </p:tavLst>
                                    </p:anim>
                                    <p:anim calcmode="lin" valueType="num">
                                      <p:cBhvr>
                                        <p:cTn id="31" dur="600" fill="hold"/>
                                        <p:tgtEl>
                                          <p:spTgt spid="48"/>
                                        </p:tgtEl>
                                        <p:attrNameLst>
                                          <p:attrName>ppt_y</p:attrName>
                                        </p:attrNameLst>
                                      </p:cBhvr>
                                      <p:tavLst>
                                        <p:tav tm="0">
                                          <p:val>
                                            <p:strVal val="#ppt_y+.08"/>
                                          </p:val>
                                        </p:tav>
                                        <p:tav tm="100000">
                                          <p:val>
                                            <p:strVal val="#ppt_y"/>
                                          </p:val>
                                        </p:tav>
                                      </p:tavLst>
                                    </p:anim>
                                  </p:childTnLst>
                                </p:cTn>
                              </p:par>
                              <p:par>
                                <p:cTn id="32" presetID="10" presetClass="entr" presetSubtype="0" fill="hold" grpId="0" nodeType="withEffect">
                                  <p:stCondLst>
                                    <p:cond delay="770"/>
                                  </p:stCondLst>
                                  <p:childTnLst>
                                    <p:set>
                                      <p:cBhvr>
                                        <p:cTn id="33" dur="1" fill="hold">
                                          <p:stCondLst>
                                            <p:cond delay="0"/>
                                          </p:stCondLst>
                                        </p:cTn>
                                        <p:tgtEl>
                                          <p:spTgt spid="52"/>
                                        </p:tgtEl>
                                        <p:attrNameLst>
                                          <p:attrName>style.visibility</p:attrName>
                                        </p:attrNameLst>
                                      </p:cBhvr>
                                      <p:to>
                                        <p:strVal val="visible"/>
                                      </p:to>
                                    </p:set>
                                    <p:animEffect transition="in" filter="fade">
                                      <p:cBhvr>
                                        <p:cTn id="34" dur="600"/>
                                        <p:tgtEl>
                                          <p:spTgt spid="52"/>
                                        </p:tgtEl>
                                      </p:cBhvr>
                                    </p:animEffect>
                                  </p:childTnLst>
                                </p:cTn>
                              </p:par>
                              <p:par>
                                <p:cTn id="35" presetID="10" presetClass="entr" presetSubtype="0" fill="hold" grpId="0" nodeType="withEffect">
                                  <p:stCondLst>
                                    <p:cond delay="82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600"/>
                                        <p:tgtEl>
                                          <p:spTgt spid="53"/>
                                        </p:tgtEl>
                                      </p:cBhvr>
                                    </p:animEffect>
                                  </p:childTnLst>
                                </p:cTn>
                              </p:par>
                              <p:par>
                                <p:cTn id="38" presetID="42" presetClass="entr" presetSubtype="0" fill="hold" nodeType="withEffect">
                                  <p:stCondLst>
                                    <p:cond delay="730"/>
                                  </p:stCondLst>
                                  <p:childTnLst>
                                    <p:set>
                                      <p:cBhvr>
                                        <p:cTn id="39" dur="1" fill="hold">
                                          <p:stCondLst>
                                            <p:cond delay="0"/>
                                          </p:stCondLst>
                                        </p:cTn>
                                        <p:tgtEl>
                                          <p:spTgt spid="54"/>
                                        </p:tgtEl>
                                        <p:attrNameLst>
                                          <p:attrName>style.visibility</p:attrName>
                                        </p:attrNameLst>
                                      </p:cBhvr>
                                      <p:to>
                                        <p:strVal val="visible"/>
                                      </p:to>
                                    </p:set>
                                    <p:animEffect transition="in" filter="fade">
                                      <p:cBhvr>
                                        <p:cTn id="40" dur="600"/>
                                        <p:tgtEl>
                                          <p:spTgt spid="54"/>
                                        </p:tgtEl>
                                      </p:cBhvr>
                                    </p:animEffect>
                                    <p:anim calcmode="lin" valueType="num">
                                      <p:cBhvr>
                                        <p:cTn id="41" dur="600" fill="hold"/>
                                        <p:tgtEl>
                                          <p:spTgt spid="54"/>
                                        </p:tgtEl>
                                        <p:attrNameLst>
                                          <p:attrName>ppt_x</p:attrName>
                                        </p:attrNameLst>
                                      </p:cBhvr>
                                      <p:tavLst>
                                        <p:tav tm="0">
                                          <p:val>
                                            <p:strVal val="#ppt_x"/>
                                          </p:val>
                                        </p:tav>
                                        <p:tav tm="100000">
                                          <p:val>
                                            <p:strVal val="#ppt_x"/>
                                          </p:val>
                                        </p:tav>
                                      </p:tavLst>
                                    </p:anim>
                                    <p:anim calcmode="lin" valueType="num">
                                      <p:cBhvr>
                                        <p:cTn id="42" dur="600" fill="hold"/>
                                        <p:tgtEl>
                                          <p:spTgt spid="54"/>
                                        </p:tgtEl>
                                        <p:attrNameLst>
                                          <p:attrName>ppt_y</p:attrName>
                                        </p:attrNameLst>
                                      </p:cBhvr>
                                      <p:tavLst>
                                        <p:tav tm="0">
                                          <p:val>
                                            <p:strVal val="#ppt_y+.08"/>
                                          </p:val>
                                        </p:tav>
                                        <p:tav tm="100000">
                                          <p:val>
                                            <p:strVal val="#ppt_y"/>
                                          </p:val>
                                        </p:tav>
                                      </p:tavLst>
                                    </p:anim>
                                  </p:childTnLst>
                                </p:cTn>
                              </p:par>
                              <p:par>
                                <p:cTn id="43" presetID="10" presetClass="entr" presetSubtype="0" fill="hold" grpId="0" nodeType="withEffect">
                                  <p:stCondLst>
                                    <p:cond delay="930"/>
                                  </p:stCondLst>
                                  <p:childTnLst>
                                    <p:set>
                                      <p:cBhvr>
                                        <p:cTn id="44" dur="1" fill="hold">
                                          <p:stCondLst>
                                            <p:cond delay="0"/>
                                          </p:stCondLst>
                                        </p:cTn>
                                        <p:tgtEl>
                                          <p:spTgt spid="58"/>
                                        </p:tgtEl>
                                        <p:attrNameLst>
                                          <p:attrName>style.visibility</p:attrName>
                                        </p:attrNameLst>
                                      </p:cBhvr>
                                      <p:to>
                                        <p:strVal val="visible"/>
                                      </p:to>
                                    </p:set>
                                    <p:animEffect transition="in" filter="fade">
                                      <p:cBhvr>
                                        <p:cTn id="45" dur="600"/>
                                        <p:tgtEl>
                                          <p:spTgt spid="58"/>
                                        </p:tgtEl>
                                      </p:cBhvr>
                                    </p:animEffect>
                                  </p:childTnLst>
                                </p:cTn>
                              </p:par>
                              <p:par>
                                <p:cTn id="46" presetID="10" presetClass="entr" presetSubtype="0" fill="hold" grpId="0" nodeType="withEffect">
                                  <p:stCondLst>
                                    <p:cond delay="980"/>
                                  </p:stCondLst>
                                  <p:childTnLst>
                                    <p:set>
                                      <p:cBhvr>
                                        <p:cTn id="47" dur="1" fill="hold">
                                          <p:stCondLst>
                                            <p:cond delay="0"/>
                                          </p:stCondLst>
                                        </p:cTn>
                                        <p:tgtEl>
                                          <p:spTgt spid="59"/>
                                        </p:tgtEl>
                                        <p:attrNameLst>
                                          <p:attrName>style.visibility</p:attrName>
                                        </p:attrNameLst>
                                      </p:cBhvr>
                                      <p:to>
                                        <p:strVal val="visible"/>
                                      </p:to>
                                    </p:set>
                                    <p:animEffect transition="in" filter="fade">
                                      <p:cBhvr>
                                        <p:cTn id="48" dur="600"/>
                                        <p:tgtEl>
                                          <p:spTgt spid="59"/>
                                        </p:tgtEl>
                                      </p:cBhvr>
                                    </p:animEffect>
                                  </p:childTnLst>
                                </p:cTn>
                              </p:par>
                              <p:par>
                                <p:cTn id="49" presetID="22" presetClass="entr" presetSubtype="8" fill="hold" nodeType="withEffect">
                                  <p:stCondLst>
                                    <p:cond delay="890"/>
                                  </p:stCondLst>
                                  <p:childTnLst>
                                    <p:set>
                                      <p:cBhvr>
                                        <p:cTn id="50" dur="1" fill="hold">
                                          <p:stCondLst>
                                            <p:cond delay="0"/>
                                          </p:stCondLst>
                                        </p:cTn>
                                        <p:tgtEl>
                                          <p:spTgt spid="60"/>
                                        </p:tgtEl>
                                        <p:attrNameLst>
                                          <p:attrName>style.visibility</p:attrName>
                                        </p:attrNameLst>
                                      </p:cBhvr>
                                      <p:to>
                                        <p:strVal val="visible"/>
                                      </p:to>
                                    </p:set>
                                    <p:animEffect transition="in" filter="wipe(left)">
                                      <p:cBhvr>
                                        <p:cTn id="51" dur="9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6" grpId="0" animBg="1"/>
      <p:bldP spid="47" grpId="0" animBg="1"/>
      <p:bldP spid="52" grpId="0" animBg="1"/>
      <p:bldP spid="53" grpId="0" animBg="1"/>
      <p:bldP spid="58" grpId="0" animBg="1"/>
      <p:bldP spid="5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389753" y="-2604814"/>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067360" y="4235900"/>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040899" y="4634495"/>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STATE OF THE ART</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Multi-Cluster Orchestration with Kubernetes</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State of the Art</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lang="en-GB" sz="1000">
                <a:solidFill>
                  <a:srgbClr val="C9D2E3"/>
                </a:solidFill>
                <a:latin typeface="Segoe UI Semibold"/>
              </a:rPr>
              <a:t>13</a:t>
            </a:r>
            <a:r>
              <a:rPr sz="1000" b="0" i="0" dirty="0">
                <a:solidFill>
                  <a:srgbClr val="8C9AB5"/>
                </a:solidFill>
                <a:latin typeface="Segoe UI"/>
              </a:rPr>
              <a:t> / 30</a:t>
            </a:r>
          </a:p>
        </p:txBody>
      </p:sp>
      <p:grpSp>
        <p:nvGrpSpPr>
          <p:cNvPr id="36" name="Group 35"/>
          <p:cNvGrpSpPr/>
          <p:nvPr/>
        </p:nvGrpSpPr>
        <p:grpSpPr>
          <a:xfrm>
            <a:off x="1463040" y="1691640"/>
            <a:ext cx="4937760" cy="1051560"/>
            <a:chOff x="1463040" y="1691640"/>
            <a:chExt cx="4937760" cy="1051560"/>
          </a:xfrm>
        </p:grpSpPr>
        <p:sp>
          <p:nvSpPr>
            <p:cNvPr id="37" name="Rounded Rectangle 36"/>
            <p:cNvSpPr/>
            <p:nvPr/>
          </p:nvSpPr>
          <p:spPr>
            <a:xfrm>
              <a:off x="1463040" y="1691640"/>
              <a:ext cx="4937760" cy="1051560"/>
            </a:xfrm>
            <a:prstGeom prst="roundRect">
              <a:avLst>
                <a:gd name="adj" fmla="val 20000"/>
              </a:avLst>
            </a:prstGeom>
            <a:solidFill>
              <a:srgbClr val="9085E9">
                <a:alpha val="30000"/>
              </a:srgbClr>
            </a:solidFill>
            <a:ln w="15875">
              <a:solidFill>
                <a:srgbClr val="B5ADF5"/>
              </a:solidFill>
            </a:ln>
            <a:effectLst>
              <a:outerShdw blurRad="279400" dir="5400000" algn="t" rotWithShape="0">
                <a:srgbClr val="000000">
                  <a:alpha val="50000"/>
                </a:srgbClr>
              </a:outerShdw>
            </a:effectLst>
          </p:spPr>
          <p:txBody>
            <a:bodyPr wrap="square" lIns="45720" tIns="45720" rIns="45720" bIns="45720" rtlCol="0" anchor="ctr">
              <a:noAutofit/>
            </a:bodyPr>
            <a:lstStyle/>
            <a:p>
              <a:pPr algn="ctr">
                <a:lnSpc>
                  <a:spcPct val="110000"/>
                </a:lnSpc>
                <a:spcAft>
                  <a:spcPts val="0"/>
                </a:spcAft>
              </a:pPr>
              <a:r>
                <a:rPr sz="1600" b="0" i="0">
                  <a:solidFill>
                    <a:srgbClr val="FFFFFF"/>
                  </a:solidFill>
                  <a:latin typeface="Segoe UI Semibold"/>
                </a:rPr>
                <a:t>Fleet control plane</a:t>
              </a:r>
            </a:p>
            <a:p>
              <a:pPr algn="ctr">
                <a:lnSpc>
                  <a:spcPct val="110000"/>
                </a:lnSpc>
                <a:spcAft>
                  <a:spcPts val="0"/>
                </a:spcAft>
              </a:pPr>
              <a:r>
                <a:rPr sz="1150" b="0" i="0">
                  <a:solidFill>
                    <a:srgbClr val="C9D2E3"/>
                  </a:solidFill>
                  <a:latin typeface="Segoe UI"/>
                </a:rPr>
                <a:t>Karmada · GKE Enterprise · Azure Arc · Rancher</a:t>
              </a:r>
            </a:p>
          </p:txBody>
        </p:sp>
      </p:grpSp>
      <p:grpSp>
        <p:nvGrpSpPr>
          <p:cNvPr id="38" name="Group 37"/>
          <p:cNvGrpSpPr/>
          <p:nvPr/>
        </p:nvGrpSpPr>
        <p:grpSpPr>
          <a:xfrm>
            <a:off x="548640" y="2743200"/>
            <a:ext cx="3383280" cy="3154680"/>
            <a:chOff x="548640" y="2743200"/>
            <a:chExt cx="3383280" cy="3154680"/>
          </a:xfrm>
        </p:grpSpPr>
        <p:cxnSp>
          <p:nvCxnSpPr>
            <p:cNvPr id="39" name="Connector 38"/>
            <p:cNvCxnSpPr/>
            <p:nvPr/>
          </p:nvCxnSpPr>
          <p:spPr>
            <a:xfrm flipH="1">
              <a:off x="1298448" y="2743200"/>
              <a:ext cx="2633472" cy="1051560"/>
            </a:xfrm>
            <a:prstGeom prst="line">
              <a:avLst/>
            </a:prstGeom>
            <a:ln w="19050">
              <a:solidFill>
                <a:srgbClr val="3987E5">
                  <a:alpha val="75000"/>
                </a:srgbClr>
              </a:solidFill>
              <a:tailEnd type="triangle" w="med" len="med"/>
            </a:ln>
          </p:spPr>
        </p:cxnSp>
        <p:sp>
          <p:nvSpPr>
            <p:cNvPr id="40" name="Rounded Rectangle 39"/>
            <p:cNvSpPr/>
            <p:nvPr/>
          </p:nvSpPr>
          <p:spPr>
            <a:xfrm>
              <a:off x="548640" y="3794760"/>
              <a:ext cx="1508760" cy="2103120"/>
            </a:xfrm>
            <a:prstGeom prst="roundRect">
              <a:avLst>
                <a:gd name="adj" fmla="val 10000"/>
              </a:avLst>
            </a:prstGeom>
            <a:gradFill rotWithShape="1">
              <a:gsLst>
                <a:gs pos="0">
                  <a:srgbClr val="182A4C"/>
                </a:gs>
                <a:gs pos="100000">
                  <a:srgbClr val="13213D"/>
                </a:gs>
              </a:gsLst>
              <a:lin ang="5400000" scaled="0"/>
            </a:gradFill>
            <a:ln w="12700">
              <a:solidFill>
                <a:srgbClr val="3987E5">
                  <a:alpha val="70000"/>
                </a:srgbClr>
              </a:solidFill>
            </a:ln>
          </p:spPr>
          <p:txBody>
            <a:bodyPr wrap="square" rtlCol="0" anchor="ctr"/>
            <a:lstStyle/>
            <a:p>
              <a:pPr algn="ctr"/>
              <a:endParaRPr/>
            </a:p>
          </p:txBody>
        </p:sp>
        <p:sp>
          <p:nvSpPr>
            <p:cNvPr id="41" name="TextBox 40"/>
            <p:cNvSpPr txBox="1"/>
            <p:nvPr/>
          </p:nvSpPr>
          <p:spPr>
            <a:xfrm>
              <a:off x="640080" y="3886200"/>
              <a:ext cx="1325880" cy="320040"/>
            </a:xfrm>
            <a:prstGeom prst="rect">
              <a:avLst/>
            </a:prstGeom>
            <a:noFill/>
          </p:spPr>
          <p:txBody>
            <a:bodyPr wrap="square" lIns="0" tIns="0" rIns="0" bIns="0" anchor="t">
              <a:noAutofit/>
            </a:bodyPr>
            <a:lstStyle/>
            <a:p>
              <a:pPr algn="ctr">
                <a:lnSpc>
                  <a:spcPct val="112000"/>
                </a:lnSpc>
                <a:spcAft>
                  <a:spcPts val="0"/>
                </a:spcAft>
              </a:pPr>
              <a:r>
                <a:rPr sz="1300" b="0" i="0">
                  <a:solidFill>
                    <a:srgbClr val="FFFFFF"/>
                  </a:solidFill>
                  <a:latin typeface="Segoe UI Semibold"/>
                </a:rPr>
                <a:t>EKS</a:t>
              </a:r>
            </a:p>
          </p:txBody>
        </p:sp>
        <p:sp>
          <p:nvSpPr>
            <p:cNvPr id="42" name="TextBox 41"/>
            <p:cNvSpPr txBox="1"/>
            <p:nvPr/>
          </p:nvSpPr>
          <p:spPr>
            <a:xfrm>
              <a:off x="640080" y="4187952"/>
              <a:ext cx="1325880" cy="274320"/>
            </a:xfrm>
            <a:prstGeom prst="rect">
              <a:avLst/>
            </a:prstGeom>
            <a:noFill/>
          </p:spPr>
          <p:txBody>
            <a:bodyPr wrap="square" lIns="0" tIns="0" rIns="0" bIns="0" anchor="t">
              <a:noAutofit/>
            </a:bodyPr>
            <a:lstStyle/>
            <a:p>
              <a:pPr algn="ctr">
                <a:lnSpc>
                  <a:spcPct val="112000"/>
                </a:lnSpc>
                <a:spcAft>
                  <a:spcPts val="0"/>
                </a:spcAft>
              </a:pPr>
              <a:r>
                <a:rPr sz="1000" b="0" i="0">
                  <a:solidFill>
                    <a:srgbClr val="8C9AB5"/>
                  </a:solidFill>
                  <a:latin typeface="Segoe UI"/>
                </a:rPr>
                <a:t>AWS</a:t>
              </a:r>
            </a:p>
          </p:txBody>
        </p:sp>
        <p:sp>
          <p:nvSpPr>
            <p:cNvPr id="43" name="Rounded Rectangle 42"/>
            <p:cNvSpPr/>
            <p:nvPr/>
          </p:nvSpPr>
          <p:spPr>
            <a:xfrm>
              <a:off x="731520" y="4617720"/>
              <a:ext cx="329184" cy="347472"/>
            </a:xfrm>
            <a:prstGeom prst="roundRect">
              <a:avLst>
                <a:gd name="adj" fmla="val 20000"/>
              </a:avLst>
            </a:prstGeom>
            <a:solidFill>
              <a:srgbClr val="3987E5">
                <a:alpha val="35000"/>
              </a:srgbClr>
            </a:solidFill>
            <a:ln>
              <a:noFill/>
            </a:ln>
          </p:spPr>
          <p:txBody>
            <a:bodyPr wrap="square" rtlCol="0" anchor="ctr"/>
            <a:lstStyle/>
            <a:p>
              <a:pPr algn="ctr"/>
              <a:endParaRPr/>
            </a:p>
          </p:txBody>
        </p:sp>
        <p:sp>
          <p:nvSpPr>
            <p:cNvPr id="44" name="Rounded Rectangle 43"/>
            <p:cNvSpPr/>
            <p:nvPr/>
          </p:nvSpPr>
          <p:spPr>
            <a:xfrm>
              <a:off x="1124712" y="4617720"/>
              <a:ext cx="329184" cy="347472"/>
            </a:xfrm>
            <a:prstGeom prst="roundRect">
              <a:avLst>
                <a:gd name="adj" fmla="val 20000"/>
              </a:avLst>
            </a:prstGeom>
            <a:solidFill>
              <a:srgbClr val="3987E5">
                <a:alpha val="50000"/>
              </a:srgbClr>
            </a:solidFill>
            <a:ln>
              <a:noFill/>
            </a:ln>
          </p:spPr>
          <p:txBody>
            <a:bodyPr wrap="square" rtlCol="0" anchor="ctr"/>
            <a:lstStyle/>
            <a:p>
              <a:pPr algn="ctr"/>
              <a:endParaRPr/>
            </a:p>
          </p:txBody>
        </p:sp>
        <p:sp>
          <p:nvSpPr>
            <p:cNvPr id="45" name="Rounded Rectangle 44"/>
            <p:cNvSpPr/>
            <p:nvPr/>
          </p:nvSpPr>
          <p:spPr>
            <a:xfrm>
              <a:off x="1517904" y="4617720"/>
              <a:ext cx="329184" cy="347472"/>
            </a:xfrm>
            <a:prstGeom prst="roundRect">
              <a:avLst>
                <a:gd name="adj" fmla="val 20000"/>
              </a:avLst>
            </a:prstGeom>
            <a:solidFill>
              <a:srgbClr val="3987E5">
                <a:alpha val="64999"/>
              </a:srgbClr>
            </a:solidFill>
            <a:ln>
              <a:noFill/>
            </a:ln>
          </p:spPr>
          <p:txBody>
            <a:bodyPr wrap="square" rtlCol="0" anchor="ctr"/>
            <a:lstStyle/>
            <a:p>
              <a:pPr algn="ctr"/>
              <a:endParaRPr/>
            </a:p>
          </p:txBody>
        </p:sp>
        <p:sp>
          <p:nvSpPr>
            <p:cNvPr id="46" name="Rounded Rectangle 45"/>
            <p:cNvSpPr/>
            <p:nvPr/>
          </p:nvSpPr>
          <p:spPr>
            <a:xfrm>
              <a:off x="731520" y="5074920"/>
              <a:ext cx="329184" cy="347472"/>
            </a:xfrm>
            <a:prstGeom prst="roundRect">
              <a:avLst>
                <a:gd name="adj" fmla="val 20000"/>
              </a:avLst>
            </a:prstGeom>
            <a:solidFill>
              <a:srgbClr val="3987E5">
                <a:alpha val="35000"/>
              </a:srgbClr>
            </a:solidFill>
            <a:ln>
              <a:noFill/>
            </a:ln>
          </p:spPr>
          <p:txBody>
            <a:bodyPr wrap="square" rtlCol="0" anchor="ctr"/>
            <a:lstStyle/>
            <a:p>
              <a:pPr algn="ctr"/>
              <a:endParaRPr/>
            </a:p>
          </p:txBody>
        </p:sp>
        <p:sp>
          <p:nvSpPr>
            <p:cNvPr id="47" name="Rounded Rectangle 46"/>
            <p:cNvSpPr/>
            <p:nvPr/>
          </p:nvSpPr>
          <p:spPr>
            <a:xfrm>
              <a:off x="1124712" y="5074920"/>
              <a:ext cx="329184" cy="347472"/>
            </a:xfrm>
            <a:prstGeom prst="roundRect">
              <a:avLst>
                <a:gd name="adj" fmla="val 20000"/>
              </a:avLst>
            </a:prstGeom>
            <a:solidFill>
              <a:srgbClr val="3987E5">
                <a:alpha val="50000"/>
              </a:srgbClr>
            </a:solidFill>
            <a:ln>
              <a:noFill/>
            </a:ln>
          </p:spPr>
          <p:txBody>
            <a:bodyPr wrap="square" rtlCol="0" anchor="ctr"/>
            <a:lstStyle/>
            <a:p>
              <a:pPr algn="ctr"/>
              <a:endParaRPr/>
            </a:p>
          </p:txBody>
        </p:sp>
        <p:sp>
          <p:nvSpPr>
            <p:cNvPr id="48" name="Rounded Rectangle 47"/>
            <p:cNvSpPr/>
            <p:nvPr/>
          </p:nvSpPr>
          <p:spPr>
            <a:xfrm>
              <a:off x="1517904" y="5074920"/>
              <a:ext cx="329184" cy="347472"/>
            </a:xfrm>
            <a:prstGeom prst="roundRect">
              <a:avLst>
                <a:gd name="adj" fmla="val 20000"/>
              </a:avLst>
            </a:prstGeom>
            <a:solidFill>
              <a:srgbClr val="3987E5">
                <a:alpha val="64999"/>
              </a:srgbClr>
            </a:solidFill>
            <a:ln>
              <a:noFill/>
            </a:ln>
          </p:spPr>
          <p:txBody>
            <a:bodyPr wrap="square" rtlCol="0" anchor="ctr"/>
            <a:lstStyle/>
            <a:p>
              <a:pPr algn="ctr"/>
              <a:endParaRPr/>
            </a:p>
          </p:txBody>
        </p:sp>
      </p:grpSp>
      <p:grpSp>
        <p:nvGrpSpPr>
          <p:cNvPr id="49" name="Group 48"/>
          <p:cNvGrpSpPr/>
          <p:nvPr/>
        </p:nvGrpSpPr>
        <p:grpSpPr>
          <a:xfrm>
            <a:off x="2267712" y="2743200"/>
            <a:ext cx="1664208" cy="3154680"/>
            <a:chOff x="2267712" y="2743200"/>
            <a:chExt cx="1664208" cy="3154680"/>
          </a:xfrm>
        </p:grpSpPr>
        <p:cxnSp>
          <p:nvCxnSpPr>
            <p:cNvPr id="50" name="Connector 49"/>
            <p:cNvCxnSpPr/>
            <p:nvPr/>
          </p:nvCxnSpPr>
          <p:spPr>
            <a:xfrm flipH="1">
              <a:off x="3017520" y="2743200"/>
              <a:ext cx="914400" cy="1051560"/>
            </a:xfrm>
            <a:prstGeom prst="line">
              <a:avLst/>
            </a:prstGeom>
            <a:ln w="19050">
              <a:solidFill>
                <a:srgbClr val="9085E9">
                  <a:alpha val="75000"/>
                </a:srgbClr>
              </a:solidFill>
              <a:tailEnd type="triangle" w="med" len="med"/>
            </a:ln>
          </p:spPr>
        </p:cxnSp>
        <p:sp>
          <p:nvSpPr>
            <p:cNvPr id="51" name="Rounded Rectangle 50"/>
            <p:cNvSpPr/>
            <p:nvPr/>
          </p:nvSpPr>
          <p:spPr>
            <a:xfrm>
              <a:off x="2267712" y="3794760"/>
              <a:ext cx="1508760" cy="2103120"/>
            </a:xfrm>
            <a:prstGeom prst="roundRect">
              <a:avLst>
                <a:gd name="adj" fmla="val 10000"/>
              </a:avLst>
            </a:prstGeom>
            <a:gradFill rotWithShape="1">
              <a:gsLst>
                <a:gs pos="0">
                  <a:srgbClr val="182A4C"/>
                </a:gs>
                <a:gs pos="100000">
                  <a:srgbClr val="13213D"/>
                </a:gs>
              </a:gsLst>
              <a:lin ang="5400000" scaled="0"/>
            </a:gradFill>
            <a:ln w="12700">
              <a:solidFill>
                <a:srgbClr val="9085E9">
                  <a:alpha val="70000"/>
                </a:srgbClr>
              </a:solidFill>
            </a:ln>
          </p:spPr>
          <p:txBody>
            <a:bodyPr wrap="square" rtlCol="0" anchor="ctr"/>
            <a:lstStyle/>
            <a:p>
              <a:pPr algn="ctr"/>
              <a:endParaRPr/>
            </a:p>
          </p:txBody>
        </p:sp>
        <p:sp>
          <p:nvSpPr>
            <p:cNvPr id="52" name="TextBox 51"/>
            <p:cNvSpPr txBox="1"/>
            <p:nvPr/>
          </p:nvSpPr>
          <p:spPr>
            <a:xfrm>
              <a:off x="2359152" y="3886200"/>
              <a:ext cx="1325880" cy="320040"/>
            </a:xfrm>
            <a:prstGeom prst="rect">
              <a:avLst/>
            </a:prstGeom>
            <a:noFill/>
          </p:spPr>
          <p:txBody>
            <a:bodyPr wrap="square" lIns="0" tIns="0" rIns="0" bIns="0" anchor="t">
              <a:noAutofit/>
            </a:bodyPr>
            <a:lstStyle/>
            <a:p>
              <a:pPr algn="ctr">
                <a:lnSpc>
                  <a:spcPct val="112000"/>
                </a:lnSpc>
                <a:spcAft>
                  <a:spcPts val="0"/>
                </a:spcAft>
              </a:pPr>
              <a:r>
                <a:rPr sz="1300" b="0" i="0">
                  <a:solidFill>
                    <a:srgbClr val="FFFFFF"/>
                  </a:solidFill>
                  <a:latin typeface="Segoe UI Semibold"/>
                </a:rPr>
                <a:t>AKS</a:t>
              </a:r>
            </a:p>
          </p:txBody>
        </p:sp>
        <p:sp>
          <p:nvSpPr>
            <p:cNvPr id="53" name="TextBox 52"/>
            <p:cNvSpPr txBox="1"/>
            <p:nvPr/>
          </p:nvSpPr>
          <p:spPr>
            <a:xfrm>
              <a:off x="2359152" y="4187952"/>
              <a:ext cx="1325880" cy="274320"/>
            </a:xfrm>
            <a:prstGeom prst="rect">
              <a:avLst/>
            </a:prstGeom>
            <a:noFill/>
          </p:spPr>
          <p:txBody>
            <a:bodyPr wrap="square" lIns="0" tIns="0" rIns="0" bIns="0" anchor="t">
              <a:noAutofit/>
            </a:bodyPr>
            <a:lstStyle/>
            <a:p>
              <a:pPr algn="ctr">
                <a:lnSpc>
                  <a:spcPct val="112000"/>
                </a:lnSpc>
                <a:spcAft>
                  <a:spcPts val="0"/>
                </a:spcAft>
              </a:pPr>
              <a:r>
                <a:rPr sz="1000" b="0" i="0">
                  <a:solidFill>
                    <a:srgbClr val="8C9AB5"/>
                  </a:solidFill>
                  <a:latin typeface="Segoe UI"/>
                </a:rPr>
                <a:t>Azure</a:t>
              </a:r>
            </a:p>
          </p:txBody>
        </p:sp>
        <p:sp>
          <p:nvSpPr>
            <p:cNvPr id="54" name="Rounded Rectangle 53"/>
            <p:cNvSpPr/>
            <p:nvPr/>
          </p:nvSpPr>
          <p:spPr>
            <a:xfrm>
              <a:off x="2450592" y="4617720"/>
              <a:ext cx="329184" cy="347472"/>
            </a:xfrm>
            <a:prstGeom prst="roundRect">
              <a:avLst>
                <a:gd name="adj" fmla="val 20000"/>
              </a:avLst>
            </a:prstGeom>
            <a:solidFill>
              <a:srgbClr val="9085E9">
                <a:alpha val="35000"/>
              </a:srgbClr>
            </a:solidFill>
            <a:ln>
              <a:noFill/>
            </a:ln>
          </p:spPr>
          <p:txBody>
            <a:bodyPr wrap="square" rtlCol="0" anchor="ctr"/>
            <a:lstStyle/>
            <a:p>
              <a:pPr algn="ctr"/>
              <a:endParaRPr/>
            </a:p>
          </p:txBody>
        </p:sp>
        <p:sp>
          <p:nvSpPr>
            <p:cNvPr id="55" name="Rounded Rectangle 54"/>
            <p:cNvSpPr/>
            <p:nvPr/>
          </p:nvSpPr>
          <p:spPr>
            <a:xfrm>
              <a:off x="2843784" y="4617720"/>
              <a:ext cx="329184" cy="347472"/>
            </a:xfrm>
            <a:prstGeom prst="roundRect">
              <a:avLst>
                <a:gd name="adj" fmla="val 20000"/>
              </a:avLst>
            </a:prstGeom>
            <a:solidFill>
              <a:srgbClr val="9085E9">
                <a:alpha val="50000"/>
              </a:srgbClr>
            </a:solidFill>
            <a:ln>
              <a:noFill/>
            </a:ln>
          </p:spPr>
          <p:txBody>
            <a:bodyPr wrap="square" rtlCol="0" anchor="ctr"/>
            <a:lstStyle/>
            <a:p>
              <a:pPr algn="ctr"/>
              <a:endParaRPr/>
            </a:p>
          </p:txBody>
        </p:sp>
        <p:sp>
          <p:nvSpPr>
            <p:cNvPr id="56" name="Rounded Rectangle 55"/>
            <p:cNvSpPr/>
            <p:nvPr/>
          </p:nvSpPr>
          <p:spPr>
            <a:xfrm>
              <a:off x="3236976" y="4617720"/>
              <a:ext cx="329184" cy="347472"/>
            </a:xfrm>
            <a:prstGeom prst="roundRect">
              <a:avLst>
                <a:gd name="adj" fmla="val 20000"/>
              </a:avLst>
            </a:prstGeom>
            <a:solidFill>
              <a:srgbClr val="9085E9">
                <a:alpha val="64999"/>
              </a:srgbClr>
            </a:solidFill>
            <a:ln>
              <a:noFill/>
            </a:ln>
          </p:spPr>
          <p:txBody>
            <a:bodyPr wrap="square" rtlCol="0" anchor="ctr"/>
            <a:lstStyle/>
            <a:p>
              <a:pPr algn="ctr"/>
              <a:endParaRPr/>
            </a:p>
          </p:txBody>
        </p:sp>
        <p:sp>
          <p:nvSpPr>
            <p:cNvPr id="57" name="Rounded Rectangle 56"/>
            <p:cNvSpPr/>
            <p:nvPr/>
          </p:nvSpPr>
          <p:spPr>
            <a:xfrm>
              <a:off x="2450592" y="5074920"/>
              <a:ext cx="329184" cy="347472"/>
            </a:xfrm>
            <a:prstGeom prst="roundRect">
              <a:avLst>
                <a:gd name="adj" fmla="val 20000"/>
              </a:avLst>
            </a:prstGeom>
            <a:solidFill>
              <a:srgbClr val="9085E9">
                <a:alpha val="35000"/>
              </a:srgbClr>
            </a:solidFill>
            <a:ln>
              <a:noFill/>
            </a:ln>
          </p:spPr>
          <p:txBody>
            <a:bodyPr wrap="square" rtlCol="0" anchor="ctr"/>
            <a:lstStyle/>
            <a:p>
              <a:pPr algn="ctr"/>
              <a:endParaRPr/>
            </a:p>
          </p:txBody>
        </p:sp>
        <p:sp>
          <p:nvSpPr>
            <p:cNvPr id="58" name="Rounded Rectangle 57"/>
            <p:cNvSpPr/>
            <p:nvPr/>
          </p:nvSpPr>
          <p:spPr>
            <a:xfrm>
              <a:off x="2843784" y="5074920"/>
              <a:ext cx="329184" cy="347472"/>
            </a:xfrm>
            <a:prstGeom prst="roundRect">
              <a:avLst>
                <a:gd name="adj" fmla="val 20000"/>
              </a:avLst>
            </a:prstGeom>
            <a:solidFill>
              <a:srgbClr val="9085E9">
                <a:alpha val="50000"/>
              </a:srgbClr>
            </a:solidFill>
            <a:ln>
              <a:noFill/>
            </a:ln>
          </p:spPr>
          <p:txBody>
            <a:bodyPr wrap="square" rtlCol="0" anchor="ctr"/>
            <a:lstStyle/>
            <a:p>
              <a:pPr algn="ctr"/>
              <a:endParaRPr/>
            </a:p>
          </p:txBody>
        </p:sp>
        <p:sp>
          <p:nvSpPr>
            <p:cNvPr id="59" name="Rounded Rectangle 58"/>
            <p:cNvSpPr/>
            <p:nvPr/>
          </p:nvSpPr>
          <p:spPr>
            <a:xfrm>
              <a:off x="3236976" y="5074920"/>
              <a:ext cx="329184" cy="347472"/>
            </a:xfrm>
            <a:prstGeom prst="roundRect">
              <a:avLst>
                <a:gd name="adj" fmla="val 20000"/>
              </a:avLst>
            </a:prstGeom>
            <a:solidFill>
              <a:srgbClr val="9085E9">
                <a:alpha val="64999"/>
              </a:srgbClr>
            </a:solidFill>
            <a:ln>
              <a:noFill/>
            </a:ln>
          </p:spPr>
          <p:txBody>
            <a:bodyPr wrap="square" rtlCol="0" anchor="ctr"/>
            <a:lstStyle/>
            <a:p>
              <a:pPr algn="ctr"/>
              <a:endParaRPr/>
            </a:p>
          </p:txBody>
        </p:sp>
      </p:grpSp>
      <p:grpSp>
        <p:nvGrpSpPr>
          <p:cNvPr id="60" name="Group 59"/>
          <p:cNvGrpSpPr/>
          <p:nvPr/>
        </p:nvGrpSpPr>
        <p:grpSpPr>
          <a:xfrm>
            <a:off x="3931920" y="2743200"/>
            <a:ext cx="1563623" cy="3154680"/>
            <a:chOff x="3931920" y="2743200"/>
            <a:chExt cx="1563623" cy="3154680"/>
          </a:xfrm>
        </p:grpSpPr>
        <p:cxnSp>
          <p:nvCxnSpPr>
            <p:cNvPr id="61" name="Connector 60"/>
            <p:cNvCxnSpPr/>
            <p:nvPr/>
          </p:nvCxnSpPr>
          <p:spPr>
            <a:xfrm>
              <a:off x="3931920" y="2743200"/>
              <a:ext cx="804672" cy="1051560"/>
            </a:xfrm>
            <a:prstGeom prst="line">
              <a:avLst/>
            </a:prstGeom>
            <a:ln w="19050">
              <a:solidFill>
                <a:srgbClr val="199E70">
                  <a:alpha val="75000"/>
                </a:srgbClr>
              </a:solidFill>
              <a:tailEnd type="triangle" w="med" len="med"/>
            </a:ln>
          </p:spPr>
        </p:cxnSp>
        <p:sp>
          <p:nvSpPr>
            <p:cNvPr id="62" name="Rounded Rectangle 61"/>
            <p:cNvSpPr/>
            <p:nvPr/>
          </p:nvSpPr>
          <p:spPr>
            <a:xfrm>
              <a:off x="3986783" y="3794760"/>
              <a:ext cx="1508760" cy="2103120"/>
            </a:xfrm>
            <a:prstGeom prst="roundRect">
              <a:avLst>
                <a:gd name="adj" fmla="val 10000"/>
              </a:avLst>
            </a:prstGeom>
            <a:gradFill rotWithShape="1">
              <a:gsLst>
                <a:gs pos="0">
                  <a:srgbClr val="182A4C"/>
                </a:gs>
                <a:gs pos="100000">
                  <a:srgbClr val="13213D"/>
                </a:gs>
              </a:gsLst>
              <a:lin ang="5400000" scaled="0"/>
            </a:gradFill>
            <a:ln w="12700">
              <a:solidFill>
                <a:srgbClr val="199E70">
                  <a:alpha val="70000"/>
                </a:srgbClr>
              </a:solidFill>
            </a:ln>
          </p:spPr>
          <p:txBody>
            <a:bodyPr wrap="square" rtlCol="0" anchor="ctr"/>
            <a:lstStyle/>
            <a:p>
              <a:pPr algn="ctr"/>
              <a:endParaRPr/>
            </a:p>
          </p:txBody>
        </p:sp>
        <p:sp>
          <p:nvSpPr>
            <p:cNvPr id="63" name="TextBox 62"/>
            <p:cNvSpPr txBox="1"/>
            <p:nvPr/>
          </p:nvSpPr>
          <p:spPr>
            <a:xfrm>
              <a:off x="4078223" y="3886200"/>
              <a:ext cx="1325880" cy="320040"/>
            </a:xfrm>
            <a:prstGeom prst="rect">
              <a:avLst/>
            </a:prstGeom>
            <a:noFill/>
          </p:spPr>
          <p:txBody>
            <a:bodyPr wrap="square" lIns="0" tIns="0" rIns="0" bIns="0" anchor="t">
              <a:noAutofit/>
            </a:bodyPr>
            <a:lstStyle/>
            <a:p>
              <a:pPr algn="ctr">
                <a:lnSpc>
                  <a:spcPct val="112000"/>
                </a:lnSpc>
                <a:spcAft>
                  <a:spcPts val="0"/>
                </a:spcAft>
              </a:pPr>
              <a:r>
                <a:rPr sz="1300" b="0" i="0">
                  <a:solidFill>
                    <a:srgbClr val="FFFFFF"/>
                  </a:solidFill>
                  <a:latin typeface="Segoe UI Semibold"/>
                </a:rPr>
                <a:t>GKE</a:t>
              </a:r>
            </a:p>
          </p:txBody>
        </p:sp>
        <p:sp>
          <p:nvSpPr>
            <p:cNvPr id="64" name="TextBox 63"/>
            <p:cNvSpPr txBox="1"/>
            <p:nvPr/>
          </p:nvSpPr>
          <p:spPr>
            <a:xfrm>
              <a:off x="4078223" y="4187952"/>
              <a:ext cx="1325880" cy="274320"/>
            </a:xfrm>
            <a:prstGeom prst="rect">
              <a:avLst/>
            </a:prstGeom>
            <a:noFill/>
          </p:spPr>
          <p:txBody>
            <a:bodyPr wrap="square" lIns="0" tIns="0" rIns="0" bIns="0" anchor="t">
              <a:noAutofit/>
            </a:bodyPr>
            <a:lstStyle/>
            <a:p>
              <a:pPr algn="ctr">
                <a:lnSpc>
                  <a:spcPct val="112000"/>
                </a:lnSpc>
                <a:spcAft>
                  <a:spcPts val="0"/>
                </a:spcAft>
              </a:pPr>
              <a:r>
                <a:rPr sz="1000" b="0" i="0">
                  <a:solidFill>
                    <a:srgbClr val="8C9AB5"/>
                  </a:solidFill>
                  <a:latin typeface="Segoe UI"/>
                </a:rPr>
                <a:t>Google Cloud</a:t>
              </a:r>
            </a:p>
          </p:txBody>
        </p:sp>
        <p:sp>
          <p:nvSpPr>
            <p:cNvPr id="65" name="Rounded Rectangle 64"/>
            <p:cNvSpPr/>
            <p:nvPr/>
          </p:nvSpPr>
          <p:spPr>
            <a:xfrm>
              <a:off x="4169663" y="4617720"/>
              <a:ext cx="329184" cy="347472"/>
            </a:xfrm>
            <a:prstGeom prst="roundRect">
              <a:avLst>
                <a:gd name="adj" fmla="val 20000"/>
              </a:avLst>
            </a:prstGeom>
            <a:solidFill>
              <a:srgbClr val="199E70">
                <a:alpha val="35000"/>
              </a:srgbClr>
            </a:solidFill>
            <a:ln>
              <a:noFill/>
            </a:ln>
          </p:spPr>
          <p:txBody>
            <a:bodyPr wrap="square" rtlCol="0" anchor="ctr"/>
            <a:lstStyle/>
            <a:p>
              <a:pPr algn="ctr"/>
              <a:endParaRPr/>
            </a:p>
          </p:txBody>
        </p:sp>
        <p:sp>
          <p:nvSpPr>
            <p:cNvPr id="66" name="Rounded Rectangle 65"/>
            <p:cNvSpPr/>
            <p:nvPr/>
          </p:nvSpPr>
          <p:spPr>
            <a:xfrm>
              <a:off x="4562855" y="4617720"/>
              <a:ext cx="329184" cy="347472"/>
            </a:xfrm>
            <a:prstGeom prst="roundRect">
              <a:avLst>
                <a:gd name="adj" fmla="val 20000"/>
              </a:avLst>
            </a:prstGeom>
            <a:solidFill>
              <a:srgbClr val="199E70">
                <a:alpha val="50000"/>
              </a:srgbClr>
            </a:solidFill>
            <a:ln>
              <a:noFill/>
            </a:ln>
          </p:spPr>
          <p:txBody>
            <a:bodyPr wrap="square" rtlCol="0" anchor="ctr"/>
            <a:lstStyle/>
            <a:p>
              <a:pPr algn="ctr"/>
              <a:endParaRPr/>
            </a:p>
          </p:txBody>
        </p:sp>
        <p:sp>
          <p:nvSpPr>
            <p:cNvPr id="67" name="Rounded Rectangle 66"/>
            <p:cNvSpPr/>
            <p:nvPr/>
          </p:nvSpPr>
          <p:spPr>
            <a:xfrm>
              <a:off x="4956048" y="4617720"/>
              <a:ext cx="329184" cy="347472"/>
            </a:xfrm>
            <a:prstGeom prst="roundRect">
              <a:avLst>
                <a:gd name="adj" fmla="val 20000"/>
              </a:avLst>
            </a:prstGeom>
            <a:solidFill>
              <a:srgbClr val="199E70">
                <a:alpha val="64999"/>
              </a:srgbClr>
            </a:solidFill>
            <a:ln>
              <a:noFill/>
            </a:ln>
          </p:spPr>
          <p:txBody>
            <a:bodyPr wrap="square" rtlCol="0" anchor="ctr"/>
            <a:lstStyle/>
            <a:p>
              <a:pPr algn="ctr"/>
              <a:endParaRPr/>
            </a:p>
          </p:txBody>
        </p:sp>
        <p:sp>
          <p:nvSpPr>
            <p:cNvPr id="68" name="Rounded Rectangle 67"/>
            <p:cNvSpPr/>
            <p:nvPr/>
          </p:nvSpPr>
          <p:spPr>
            <a:xfrm>
              <a:off x="4169663" y="5074920"/>
              <a:ext cx="329184" cy="347472"/>
            </a:xfrm>
            <a:prstGeom prst="roundRect">
              <a:avLst>
                <a:gd name="adj" fmla="val 20000"/>
              </a:avLst>
            </a:prstGeom>
            <a:solidFill>
              <a:srgbClr val="199E70">
                <a:alpha val="35000"/>
              </a:srgbClr>
            </a:solidFill>
            <a:ln>
              <a:noFill/>
            </a:ln>
          </p:spPr>
          <p:txBody>
            <a:bodyPr wrap="square" rtlCol="0" anchor="ctr"/>
            <a:lstStyle/>
            <a:p>
              <a:pPr algn="ctr"/>
              <a:endParaRPr/>
            </a:p>
          </p:txBody>
        </p:sp>
        <p:sp>
          <p:nvSpPr>
            <p:cNvPr id="69" name="Rounded Rectangle 68"/>
            <p:cNvSpPr/>
            <p:nvPr/>
          </p:nvSpPr>
          <p:spPr>
            <a:xfrm>
              <a:off x="4562855" y="5074920"/>
              <a:ext cx="329184" cy="347472"/>
            </a:xfrm>
            <a:prstGeom prst="roundRect">
              <a:avLst>
                <a:gd name="adj" fmla="val 20000"/>
              </a:avLst>
            </a:prstGeom>
            <a:solidFill>
              <a:srgbClr val="199E70">
                <a:alpha val="50000"/>
              </a:srgbClr>
            </a:solidFill>
            <a:ln>
              <a:noFill/>
            </a:ln>
          </p:spPr>
          <p:txBody>
            <a:bodyPr wrap="square" rtlCol="0" anchor="ctr"/>
            <a:lstStyle/>
            <a:p>
              <a:pPr algn="ctr"/>
              <a:endParaRPr/>
            </a:p>
          </p:txBody>
        </p:sp>
        <p:sp>
          <p:nvSpPr>
            <p:cNvPr id="70" name="Rounded Rectangle 69"/>
            <p:cNvSpPr/>
            <p:nvPr/>
          </p:nvSpPr>
          <p:spPr>
            <a:xfrm>
              <a:off x="4956048" y="5074920"/>
              <a:ext cx="329184" cy="347472"/>
            </a:xfrm>
            <a:prstGeom prst="roundRect">
              <a:avLst>
                <a:gd name="adj" fmla="val 20000"/>
              </a:avLst>
            </a:prstGeom>
            <a:solidFill>
              <a:srgbClr val="199E70">
                <a:alpha val="64999"/>
              </a:srgbClr>
            </a:solidFill>
            <a:ln>
              <a:noFill/>
            </a:ln>
          </p:spPr>
          <p:txBody>
            <a:bodyPr wrap="square" rtlCol="0" anchor="ctr"/>
            <a:lstStyle/>
            <a:p>
              <a:pPr algn="ctr"/>
              <a:endParaRPr/>
            </a:p>
          </p:txBody>
        </p:sp>
      </p:grpSp>
      <p:grpSp>
        <p:nvGrpSpPr>
          <p:cNvPr id="71" name="Group 70"/>
          <p:cNvGrpSpPr/>
          <p:nvPr/>
        </p:nvGrpSpPr>
        <p:grpSpPr>
          <a:xfrm>
            <a:off x="3931920" y="2743200"/>
            <a:ext cx="3282695" cy="3154680"/>
            <a:chOff x="3931920" y="2743200"/>
            <a:chExt cx="3282695" cy="3154680"/>
          </a:xfrm>
        </p:grpSpPr>
        <p:cxnSp>
          <p:nvCxnSpPr>
            <p:cNvPr id="72" name="Connector 71"/>
            <p:cNvCxnSpPr/>
            <p:nvPr/>
          </p:nvCxnSpPr>
          <p:spPr>
            <a:xfrm>
              <a:off x="3931920" y="2743200"/>
              <a:ext cx="2523744" cy="1051560"/>
            </a:xfrm>
            <a:prstGeom prst="line">
              <a:avLst/>
            </a:prstGeom>
            <a:ln w="19050">
              <a:solidFill>
                <a:srgbClr val="D95926">
                  <a:alpha val="75000"/>
                </a:srgbClr>
              </a:solidFill>
              <a:tailEnd type="triangle" w="med" len="med"/>
            </a:ln>
          </p:spPr>
        </p:cxnSp>
        <p:sp>
          <p:nvSpPr>
            <p:cNvPr id="73" name="Rounded Rectangle 72"/>
            <p:cNvSpPr/>
            <p:nvPr/>
          </p:nvSpPr>
          <p:spPr>
            <a:xfrm>
              <a:off x="5705855" y="3794760"/>
              <a:ext cx="1508760" cy="2103120"/>
            </a:xfrm>
            <a:prstGeom prst="roundRect">
              <a:avLst>
                <a:gd name="adj" fmla="val 10000"/>
              </a:avLst>
            </a:prstGeom>
            <a:gradFill rotWithShape="1">
              <a:gsLst>
                <a:gs pos="0">
                  <a:srgbClr val="182A4C"/>
                </a:gs>
                <a:gs pos="100000">
                  <a:srgbClr val="13213D"/>
                </a:gs>
              </a:gsLst>
              <a:lin ang="5400000" scaled="0"/>
            </a:gradFill>
            <a:ln w="12700">
              <a:solidFill>
                <a:srgbClr val="D95926">
                  <a:alpha val="70000"/>
                </a:srgbClr>
              </a:solidFill>
            </a:ln>
          </p:spPr>
          <p:txBody>
            <a:bodyPr wrap="square" rtlCol="0" anchor="ctr"/>
            <a:lstStyle/>
            <a:p>
              <a:pPr algn="ctr"/>
              <a:endParaRPr/>
            </a:p>
          </p:txBody>
        </p:sp>
        <p:sp>
          <p:nvSpPr>
            <p:cNvPr id="74" name="TextBox 73"/>
            <p:cNvSpPr txBox="1"/>
            <p:nvPr/>
          </p:nvSpPr>
          <p:spPr>
            <a:xfrm>
              <a:off x="5797295" y="3886200"/>
              <a:ext cx="1325880" cy="320040"/>
            </a:xfrm>
            <a:prstGeom prst="rect">
              <a:avLst/>
            </a:prstGeom>
            <a:noFill/>
          </p:spPr>
          <p:txBody>
            <a:bodyPr wrap="square" lIns="0" tIns="0" rIns="0" bIns="0" anchor="t">
              <a:noAutofit/>
            </a:bodyPr>
            <a:lstStyle/>
            <a:p>
              <a:pPr algn="ctr">
                <a:lnSpc>
                  <a:spcPct val="112000"/>
                </a:lnSpc>
                <a:spcAft>
                  <a:spcPts val="0"/>
                </a:spcAft>
              </a:pPr>
              <a:r>
                <a:rPr sz="1300" b="0" i="0">
                  <a:solidFill>
                    <a:srgbClr val="FFFFFF"/>
                  </a:solidFill>
                  <a:latin typeface="Segoe UI Semibold"/>
                </a:rPr>
                <a:t>K3s / OpenShift</a:t>
              </a:r>
            </a:p>
          </p:txBody>
        </p:sp>
        <p:sp>
          <p:nvSpPr>
            <p:cNvPr id="75" name="TextBox 74"/>
            <p:cNvSpPr txBox="1"/>
            <p:nvPr/>
          </p:nvSpPr>
          <p:spPr>
            <a:xfrm>
              <a:off x="5797295" y="4187952"/>
              <a:ext cx="1325880" cy="274320"/>
            </a:xfrm>
            <a:prstGeom prst="rect">
              <a:avLst/>
            </a:prstGeom>
            <a:noFill/>
          </p:spPr>
          <p:txBody>
            <a:bodyPr wrap="square" lIns="0" tIns="0" rIns="0" bIns="0" anchor="t">
              <a:noAutofit/>
            </a:bodyPr>
            <a:lstStyle/>
            <a:p>
              <a:pPr algn="ctr">
                <a:lnSpc>
                  <a:spcPct val="112000"/>
                </a:lnSpc>
                <a:spcAft>
                  <a:spcPts val="0"/>
                </a:spcAft>
              </a:pPr>
              <a:r>
                <a:rPr sz="1000" b="0" i="0">
                  <a:solidFill>
                    <a:srgbClr val="8C9AB5"/>
                  </a:solidFill>
                  <a:latin typeface="Segoe UI"/>
                </a:rPr>
                <a:t>On-prem / Edge</a:t>
              </a:r>
            </a:p>
          </p:txBody>
        </p:sp>
        <p:sp>
          <p:nvSpPr>
            <p:cNvPr id="76" name="Rounded Rectangle 75"/>
            <p:cNvSpPr/>
            <p:nvPr/>
          </p:nvSpPr>
          <p:spPr>
            <a:xfrm>
              <a:off x="5888736" y="4617720"/>
              <a:ext cx="329184" cy="347472"/>
            </a:xfrm>
            <a:prstGeom prst="roundRect">
              <a:avLst>
                <a:gd name="adj" fmla="val 20000"/>
              </a:avLst>
            </a:prstGeom>
            <a:solidFill>
              <a:srgbClr val="D95926">
                <a:alpha val="35000"/>
              </a:srgbClr>
            </a:solidFill>
            <a:ln>
              <a:noFill/>
            </a:ln>
          </p:spPr>
          <p:txBody>
            <a:bodyPr wrap="square" rtlCol="0" anchor="ctr"/>
            <a:lstStyle/>
            <a:p>
              <a:pPr algn="ctr"/>
              <a:endParaRPr/>
            </a:p>
          </p:txBody>
        </p:sp>
        <p:sp>
          <p:nvSpPr>
            <p:cNvPr id="77" name="Rounded Rectangle 76"/>
            <p:cNvSpPr/>
            <p:nvPr/>
          </p:nvSpPr>
          <p:spPr>
            <a:xfrm>
              <a:off x="6281927" y="4617720"/>
              <a:ext cx="329184" cy="347472"/>
            </a:xfrm>
            <a:prstGeom prst="roundRect">
              <a:avLst>
                <a:gd name="adj" fmla="val 20000"/>
              </a:avLst>
            </a:prstGeom>
            <a:solidFill>
              <a:srgbClr val="D95926">
                <a:alpha val="50000"/>
              </a:srgbClr>
            </a:solidFill>
            <a:ln>
              <a:noFill/>
            </a:ln>
          </p:spPr>
          <p:txBody>
            <a:bodyPr wrap="square" rtlCol="0" anchor="ctr"/>
            <a:lstStyle/>
            <a:p>
              <a:pPr algn="ctr"/>
              <a:endParaRPr/>
            </a:p>
          </p:txBody>
        </p:sp>
        <p:sp>
          <p:nvSpPr>
            <p:cNvPr id="78" name="Rounded Rectangle 77"/>
            <p:cNvSpPr/>
            <p:nvPr/>
          </p:nvSpPr>
          <p:spPr>
            <a:xfrm>
              <a:off x="6675120" y="4617720"/>
              <a:ext cx="329184" cy="347472"/>
            </a:xfrm>
            <a:prstGeom prst="roundRect">
              <a:avLst>
                <a:gd name="adj" fmla="val 20000"/>
              </a:avLst>
            </a:prstGeom>
            <a:solidFill>
              <a:srgbClr val="D95926">
                <a:alpha val="64999"/>
              </a:srgbClr>
            </a:solidFill>
            <a:ln>
              <a:noFill/>
            </a:ln>
          </p:spPr>
          <p:txBody>
            <a:bodyPr wrap="square" rtlCol="0" anchor="ctr"/>
            <a:lstStyle/>
            <a:p>
              <a:pPr algn="ctr"/>
              <a:endParaRPr/>
            </a:p>
          </p:txBody>
        </p:sp>
        <p:sp>
          <p:nvSpPr>
            <p:cNvPr id="79" name="Rounded Rectangle 78"/>
            <p:cNvSpPr/>
            <p:nvPr/>
          </p:nvSpPr>
          <p:spPr>
            <a:xfrm>
              <a:off x="5888736" y="5074920"/>
              <a:ext cx="329184" cy="347472"/>
            </a:xfrm>
            <a:prstGeom prst="roundRect">
              <a:avLst>
                <a:gd name="adj" fmla="val 20000"/>
              </a:avLst>
            </a:prstGeom>
            <a:solidFill>
              <a:srgbClr val="D95926">
                <a:alpha val="35000"/>
              </a:srgbClr>
            </a:solidFill>
            <a:ln>
              <a:noFill/>
            </a:ln>
          </p:spPr>
          <p:txBody>
            <a:bodyPr wrap="square" rtlCol="0" anchor="ctr"/>
            <a:lstStyle/>
            <a:p>
              <a:pPr algn="ctr"/>
              <a:endParaRPr/>
            </a:p>
          </p:txBody>
        </p:sp>
        <p:sp>
          <p:nvSpPr>
            <p:cNvPr id="80" name="Rounded Rectangle 79"/>
            <p:cNvSpPr/>
            <p:nvPr/>
          </p:nvSpPr>
          <p:spPr>
            <a:xfrm>
              <a:off x="6281927" y="5074920"/>
              <a:ext cx="329184" cy="347472"/>
            </a:xfrm>
            <a:prstGeom prst="roundRect">
              <a:avLst>
                <a:gd name="adj" fmla="val 20000"/>
              </a:avLst>
            </a:prstGeom>
            <a:solidFill>
              <a:srgbClr val="D95926">
                <a:alpha val="50000"/>
              </a:srgbClr>
            </a:solidFill>
            <a:ln>
              <a:noFill/>
            </a:ln>
          </p:spPr>
          <p:txBody>
            <a:bodyPr wrap="square" rtlCol="0" anchor="ctr"/>
            <a:lstStyle/>
            <a:p>
              <a:pPr algn="ctr"/>
              <a:endParaRPr/>
            </a:p>
          </p:txBody>
        </p:sp>
        <p:sp>
          <p:nvSpPr>
            <p:cNvPr id="81" name="Rounded Rectangle 80"/>
            <p:cNvSpPr/>
            <p:nvPr/>
          </p:nvSpPr>
          <p:spPr>
            <a:xfrm>
              <a:off x="6675120" y="5074920"/>
              <a:ext cx="329184" cy="347472"/>
            </a:xfrm>
            <a:prstGeom prst="roundRect">
              <a:avLst>
                <a:gd name="adj" fmla="val 20000"/>
              </a:avLst>
            </a:prstGeom>
            <a:solidFill>
              <a:srgbClr val="D95926">
                <a:alpha val="64999"/>
              </a:srgbClr>
            </a:solidFill>
            <a:ln>
              <a:noFill/>
            </a:ln>
          </p:spPr>
          <p:txBody>
            <a:bodyPr wrap="square" rtlCol="0" anchor="ctr"/>
            <a:lstStyle/>
            <a:p>
              <a:pPr algn="ctr"/>
              <a:endParaRPr/>
            </a:p>
          </p:txBody>
        </p:sp>
      </p:grpSp>
      <p:sp>
        <p:nvSpPr>
          <p:cNvPr id="82" name="TextBox 81"/>
          <p:cNvSpPr txBox="1"/>
          <p:nvPr/>
        </p:nvSpPr>
        <p:spPr>
          <a:xfrm>
            <a:off x="548640" y="2944368"/>
            <a:ext cx="3291840" cy="274320"/>
          </a:xfrm>
          <a:prstGeom prst="rect">
            <a:avLst/>
          </a:prstGeom>
          <a:noFill/>
        </p:spPr>
        <p:txBody>
          <a:bodyPr wrap="square" lIns="0" tIns="0" rIns="0" bIns="0" anchor="t">
            <a:noAutofit/>
          </a:bodyPr>
          <a:lstStyle/>
          <a:p>
            <a:pPr algn="l">
              <a:lnSpc>
                <a:spcPct val="112000"/>
              </a:lnSpc>
              <a:spcAft>
                <a:spcPts val="0"/>
              </a:spcAft>
            </a:pPr>
            <a:r>
              <a:rPr sz="1050" b="0" i="0">
                <a:solidFill>
                  <a:srgbClr val="8C9AB5"/>
                </a:solidFill>
                <a:latin typeface="Segoe UI"/>
              </a:rPr>
              <a:t>propagate · schedule · failover</a:t>
            </a:r>
          </a:p>
        </p:txBody>
      </p:sp>
      <p:grpSp>
        <p:nvGrpSpPr>
          <p:cNvPr id="83" name="Group 82"/>
          <p:cNvGrpSpPr/>
          <p:nvPr/>
        </p:nvGrpSpPr>
        <p:grpSpPr>
          <a:xfrm>
            <a:off x="7315200" y="1691640"/>
            <a:ext cx="4343400" cy="822960"/>
            <a:chOff x="7315200" y="1691640"/>
            <a:chExt cx="4343400" cy="822960"/>
          </a:xfrm>
        </p:grpSpPr>
        <p:sp>
          <p:nvSpPr>
            <p:cNvPr id="84" name="Oval 83"/>
            <p:cNvSpPr/>
            <p:nvPr/>
          </p:nvSpPr>
          <p:spPr>
            <a:xfrm>
              <a:off x="7315200" y="1783080"/>
              <a:ext cx="329184" cy="329184"/>
            </a:xfrm>
            <a:prstGeom prst="ellipse">
              <a:avLst/>
            </a:prstGeom>
            <a:solidFill>
              <a:srgbClr val="199E70">
                <a:alpha val="25000"/>
              </a:srgbClr>
            </a:solidFill>
            <a:ln w="12700">
              <a:solidFill>
                <a:srgbClr val="4FD1A1"/>
              </a:solidFill>
            </a:ln>
          </p:spPr>
          <p:txBody>
            <a:bodyPr wrap="square" rtlCol="0" anchor="ctr"/>
            <a:lstStyle/>
            <a:p>
              <a:pPr algn="ctr"/>
              <a:endParaRPr/>
            </a:p>
          </p:txBody>
        </p:sp>
        <p:sp>
          <p:nvSpPr>
            <p:cNvPr id="85" name="TextBox 84"/>
            <p:cNvSpPr txBox="1"/>
            <p:nvPr/>
          </p:nvSpPr>
          <p:spPr>
            <a:xfrm>
              <a:off x="7315200" y="1783080"/>
              <a:ext cx="329184" cy="329184"/>
            </a:xfrm>
            <a:prstGeom prst="rect">
              <a:avLst/>
            </a:prstGeom>
            <a:noFill/>
          </p:spPr>
          <p:txBody>
            <a:bodyPr wrap="square" lIns="0" tIns="0" rIns="0" bIns="0" anchor="ctr">
              <a:noAutofit/>
            </a:bodyPr>
            <a:lstStyle/>
            <a:p>
              <a:pPr algn="ctr">
                <a:lnSpc>
                  <a:spcPct val="112000"/>
                </a:lnSpc>
                <a:spcAft>
                  <a:spcPts val="0"/>
                </a:spcAft>
              </a:pPr>
              <a:r>
                <a:rPr sz="1100" b="0" i="0">
                  <a:solidFill>
                    <a:srgbClr val="4FD1A1"/>
                  </a:solidFill>
                  <a:latin typeface="Segoe UI Semibold"/>
                </a:rPr>
                <a:t>✓</a:t>
              </a:r>
            </a:p>
          </p:txBody>
        </p:sp>
        <p:sp>
          <p:nvSpPr>
            <p:cNvPr id="86" name="TextBox 85"/>
            <p:cNvSpPr txBox="1"/>
            <p:nvPr/>
          </p:nvSpPr>
          <p:spPr>
            <a:xfrm>
              <a:off x="7818120" y="1691640"/>
              <a:ext cx="3840480" cy="329184"/>
            </a:xfrm>
            <a:prstGeom prst="rect">
              <a:avLst/>
            </a:prstGeom>
            <a:noFill/>
          </p:spPr>
          <p:txBody>
            <a:bodyPr wrap="square" lIns="0" tIns="0" rIns="0" bIns="0" anchor="t">
              <a:noAutofit/>
            </a:bodyPr>
            <a:lstStyle/>
            <a:p>
              <a:pPr algn="l">
                <a:lnSpc>
                  <a:spcPct val="112000"/>
                </a:lnSpc>
                <a:spcAft>
                  <a:spcPts val="0"/>
                </a:spcAft>
              </a:pPr>
              <a:r>
                <a:rPr sz="1450" b="0" i="0">
                  <a:solidFill>
                    <a:srgbClr val="FFFFFF"/>
                  </a:solidFill>
                  <a:latin typeface="Segoe UI Semibold"/>
                </a:rPr>
                <a:t>Workload propagation</a:t>
              </a:r>
            </a:p>
          </p:txBody>
        </p:sp>
        <p:sp>
          <p:nvSpPr>
            <p:cNvPr id="87" name="TextBox 86"/>
            <p:cNvSpPr txBox="1"/>
            <p:nvPr/>
          </p:nvSpPr>
          <p:spPr>
            <a:xfrm>
              <a:off x="7818120" y="2011680"/>
              <a:ext cx="3840480" cy="502920"/>
            </a:xfrm>
            <a:prstGeom prst="rect">
              <a:avLst/>
            </a:prstGeom>
            <a:noFill/>
          </p:spPr>
          <p:txBody>
            <a:bodyPr wrap="square" lIns="0" tIns="0" rIns="0" bIns="0" anchor="t">
              <a:noAutofit/>
            </a:bodyPr>
            <a:lstStyle/>
            <a:p>
              <a:pPr algn="l">
                <a:lnSpc>
                  <a:spcPct val="110000"/>
                </a:lnSpc>
                <a:spcAft>
                  <a:spcPts val="0"/>
                </a:spcAft>
              </a:pPr>
              <a:r>
                <a:rPr sz="1150" b="0" i="0">
                  <a:solidFill>
                    <a:srgbClr val="C9D2E3"/>
                  </a:solidFill>
                  <a:latin typeface="Segoe UI"/>
                </a:rPr>
                <a:t>Deploy once; policies decide which clusters receive which resources.</a:t>
              </a:r>
            </a:p>
          </p:txBody>
        </p:sp>
      </p:grpSp>
      <p:grpSp>
        <p:nvGrpSpPr>
          <p:cNvPr id="88" name="Group 87"/>
          <p:cNvGrpSpPr/>
          <p:nvPr/>
        </p:nvGrpSpPr>
        <p:grpSpPr>
          <a:xfrm>
            <a:off x="7315200" y="2532888"/>
            <a:ext cx="4343400" cy="822960"/>
            <a:chOff x="7315200" y="2532888"/>
            <a:chExt cx="4343400" cy="822960"/>
          </a:xfrm>
        </p:grpSpPr>
        <p:sp>
          <p:nvSpPr>
            <p:cNvPr id="89" name="Oval 88"/>
            <p:cNvSpPr/>
            <p:nvPr/>
          </p:nvSpPr>
          <p:spPr>
            <a:xfrm>
              <a:off x="7315200" y="2624328"/>
              <a:ext cx="329184" cy="329184"/>
            </a:xfrm>
            <a:prstGeom prst="ellipse">
              <a:avLst/>
            </a:prstGeom>
            <a:solidFill>
              <a:srgbClr val="199E70">
                <a:alpha val="25000"/>
              </a:srgbClr>
            </a:solidFill>
            <a:ln w="12700">
              <a:solidFill>
                <a:srgbClr val="4FD1A1"/>
              </a:solidFill>
            </a:ln>
          </p:spPr>
          <p:txBody>
            <a:bodyPr wrap="square" rtlCol="0" anchor="ctr"/>
            <a:lstStyle/>
            <a:p>
              <a:pPr algn="ctr"/>
              <a:endParaRPr/>
            </a:p>
          </p:txBody>
        </p:sp>
        <p:sp>
          <p:nvSpPr>
            <p:cNvPr id="90" name="TextBox 89"/>
            <p:cNvSpPr txBox="1"/>
            <p:nvPr/>
          </p:nvSpPr>
          <p:spPr>
            <a:xfrm>
              <a:off x="7315200" y="2624328"/>
              <a:ext cx="329184" cy="329184"/>
            </a:xfrm>
            <a:prstGeom prst="rect">
              <a:avLst/>
            </a:prstGeom>
            <a:noFill/>
          </p:spPr>
          <p:txBody>
            <a:bodyPr wrap="square" lIns="0" tIns="0" rIns="0" bIns="0" anchor="ctr">
              <a:noAutofit/>
            </a:bodyPr>
            <a:lstStyle/>
            <a:p>
              <a:pPr algn="ctr">
                <a:lnSpc>
                  <a:spcPct val="112000"/>
                </a:lnSpc>
                <a:spcAft>
                  <a:spcPts val="0"/>
                </a:spcAft>
              </a:pPr>
              <a:r>
                <a:rPr sz="1100" b="0" i="0">
                  <a:solidFill>
                    <a:srgbClr val="4FD1A1"/>
                  </a:solidFill>
                  <a:latin typeface="Segoe UI Semibold"/>
                </a:rPr>
                <a:t>✓</a:t>
              </a:r>
            </a:p>
          </p:txBody>
        </p:sp>
        <p:sp>
          <p:nvSpPr>
            <p:cNvPr id="91" name="TextBox 90"/>
            <p:cNvSpPr txBox="1"/>
            <p:nvPr/>
          </p:nvSpPr>
          <p:spPr>
            <a:xfrm>
              <a:off x="7818120" y="2532888"/>
              <a:ext cx="3840480" cy="329184"/>
            </a:xfrm>
            <a:prstGeom prst="rect">
              <a:avLst/>
            </a:prstGeom>
            <a:noFill/>
          </p:spPr>
          <p:txBody>
            <a:bodyPr wrap="square" lIns="0" tIns="0" rIns="0" bIns="0" anchor="t">
              <a:noAutofit/>
            </a:bodyPr>
            <a:lstStyle/>
            <a:p>
              <a:pPr algn="l">
                <a:lnSpc>
                  <a:spcPct val="112000"/>
                </a:lnSpc>
                <a:spcAft>
                  <a:spcPts val="0"/>
                </a:spcAft>
              </a:pPr>
              <a:r>
                <a:rPr sz="1450" b="0" i="0">
                  <a:solidFill>
                    <a:srgbClr val="FFFFFF"/>
                  </a:solidFill>
                  <a:latin typeface="Segoe UI Semibold"/>
                </a:rPr>
                <a:t>Cross-cluster scheduling</a:t>
              </a:r>
            </a:p>
          </p:txBody>
        </p:sp>
        <p:sp>
          <p:nvSpPr>
            <p:cNvPr id="92" name="TextBox 91"/>
            <p:cNvSpPr txBox="1"/>
            <p:nvPr/>
          </p:nvSpPr>
          <p:spPr>
            <a:xfrm>
              <a:off x="7818120" y="2852928"/>
              <a:ext cx="3840480" cy="502920"/>
            </a:xfrm>
            <a:prstGeom prst="rect">
              <a:avLst/>
            </a:prstGeom>
            <a:noFill/>
          </p:spPr>
          <p:txBody>
            <a:bodyPr wrap="square" lIns="0" tIns="0" rIns="0" bIns="0" anchor="t">
              <a:noAutofit/>
            </a:bodyPr>
            <a:lstStyle/>
            <a:p>
              <a:pPr algn="l">
                <a:lnSpc>
                  <a:spcPct val="110000"/>
                </a:lnSpc>
                <a:spcAft>
                  <a:spcPts val="0"/>
                </a:spcAft>
              </a:pPr>
              <a:r>
                <a:rPr sz="1150" b="0" i="0">
                  <a:solidFill>
                    <a:srgbClr val="C9D2E3"/>
                  </a:solidFill>
                  <a:latin typeface="Segoe UI"/>
                </a:rPr>
                <a:t>Place replicas by capacity, cost, region and affinity rules.</a:t>
              </a:r>
            </a:p>
          </p:txBody>
        </p:sp>
      </p:grpSp>
      <p:grpSp>
        <p:nvGrpSpPr>
          <p:cNvPr id="93" name="Group 92"/>
          <p:cNvGrpSpPr/>
          <p:nvPr/>
        </p:nvGrpSpPr>
        <p:grpSpPr>
          <a:xfrm>
            <a:off x="7315200" y="3374136"/>
            <a:ext cx="4343400" cy="822960"/>
            <a:chOff x="7315200" y="3374136"/>
            <a:chExt cx="4343400" cy="822960"/>
          </a:xfrm>
        </p:grpSpPr>
        <p:sp>
          <p:nvSpPr>
            <p:cNvPr id="94" name="Oval 93"/>
            <p:cNvSpPr/>
            <p:nvPr/>
          </p:nvSpPr>
          <p:spPr>
            <a:xfrm>
              <a:off x="7315200" y="3465576"/>
              <a:ext cx="329184" cy="329184"/>
            </a:xfrm>
            <a:prstGeom prst="ellipse">
              <a:avLst/>
            </a:prstGeom>
            <a:solidFill>
              <a:srgbClr val="199E70">
                <a:alpha val="25000"/>
              </a:srgbClr>
            </a:solidFill>
            <a:ln w="12700">
              <a:solidFill>
                <a:srgbClr val="4FD1A1"/>
              </a:solidFill>
            </a:ln>
          </p:spPr>
          <p:txBody>
            <a:bodyPr wrap="square" rtlCol="0" anchor="ctr"/>
            <a:lstStyle/>
            <a:p>
              <a:pPr algn="ctr"/>
              <a:endParaRPr/>
            </a:p>
          </p:txBody>
        </p:sp>
        <p:sp>
          <p:nvSpPr>
            <p:cNvPr id="95" name="TextBox 94"/>
            <p:cNvSpPr txBox="1"/>
            <p:nvPr/>
          </p:nvSpPr>
          <p:spPr>
            <a:xfrm>
              <a:off x="7315200" y="3465576"/>
              <a:ext cx="329184" cy="329184"/>
            </a:xfrm>
            <a:prstGeom prst="rect">
              <a:avLst/>
            </a:prstGeom>
            <a:noFill/>
          </p:spPr>
          <p:txBody>
            <a:bodyPr wrap="square" lIns="0" tIns="0" rIns="0" bIns="0" anchor="ctr">
              <a:noAutofit/>
            </a:bodyPr>
            <a:lstStyle/>
            <a:p>
              <a:pPr algn="ctr">
                <a:lnSpc>
                  <a:spcPct val="112000"/>
                </a:lnSpc>
                <a:spcAft>
                  <a:spcPts val="0"/>
                </a:spcAft>
              </a:pPr>
              <a:r>
                <a:rPr sz="1100" b="0" i="0">
                  <a:solidFill>
                    <a:srgbClr val="4FD1A1"/>
                  </a:solidFill>
                  <a:latin typeface="Segoe UI Semibold"/>
                </a:rPr>
                <a:t>✓</a:t>
              </a:r>
            </a:p>
          </p:txBody>
        </p:sp>
        <p:sp>
          <p:nvSpPr>
            <p:cNvPr id="96" name="TextBox 95"/>
            <p:cNvSpPr txBox="1"/>
            <p:nvPr/>
          </p:nvSpPr>
          <p:spPr>
            <a:xfrm>
              <a:off x="7818120" y="3374136"/>
              <a:ext cx="3840480" cy="329184"/>
            </a:xfrm>
            <a:prstGeom prst="rect">
              <a:avLst/>
            </a:prstGeom>
            <a:noFill/>
          </p:spPr>
          <p:txBody>
            <a:bodyPr wrap="square" lIns="0" tIns="0" rIns="0" bIns="0" anchor="t">
              <a:noAutofit/>
            </a:bodyPr>
            <a:lstStyle/>
            <a:p>
              <a:pPr algn="l">
                <a:lnSpc>
                  <a:spcPct val="112000"/>
                </a:lnSpc>
                <a:spcAft>
                  <a:spcPts val="0"/>
                </a:spcAft>
              </a:pPr>
              <a:r>
                <a:rPr sz="1450" b="0" i="0">
                  <a:solidFill>
                    <a:srgbClr val="FFFFFF"/>
                  </a:solidFill>
                  <a:latin typeface="Segoe UI Semibold"/>
                </a:rPr>
                <a:t>Failover &amp; resilience</a:t>
              </a:r>
            </a:p>
          </p:txBody>
        </p:sp>
        <p:sp>
          <p:nvSpPr>
            <p:cNvPr id="97" name="TextBox 96"/>
            <p:cNvSpPr txBox="1"/>
            <p:nvPr/>
          </p:nvSpPr>
          <p:spPr>
            <a:xfrm>
              <a:off x="7818120" y="3694176"/>
              <a:ext cx="3840480" cy="502920"/>
            </a:xfrm>
            <a:prstGeom prst="rect">
              <a:avLst/>
            </a:prstGeom>
            <a:noFill/>
          </p:spPr>
          <p:txBody>
            <a:bodyPr wrap="square" lIns="0" tIns="0" rIns="0" bIns="0" anchor="t">
              <a:noAutofit/>
            </a:bodyPr>
            <a:lstStyle/>
            <a:p>
              <a:pPr algn="l">
                <a:lnSpc>
                  <a:spcPct val="110000"/>
                </a:lnSpc>
                <a:spcAft>
                  <a:spcPts val="0"/>
                </a:spcAft>
              </a:pPr>
              <a:r>
                <a:rPr sz="1150" b="0" i="0">
                  <a:solidFill>
                    <a:srgbClr val="C9D2E3"/>
                  </a:solidFill>
                  <a:latin typeface="Segoe UI"/>
                </a:rPr>
                <a:t>Reschedule automatically when a cluster or region fails.</a:t>
              </a:r>
            </a:p>
          </p:txBody>
        </p:sp>
      </p:grpSp>
      <p:grpSp>
        <p:nvGrpSpPr>
          <p:cNvPr id="98" name="Group 97"/>
          <p:cNvGrpSpPr/>
          <p:nvPr/>
        </p:nvGrpSpPr>
        <p:grpSpPr>
          <a:xfrm>
            <a:off x="7315200" y="4215384"/>
            <a:ext cx="4343400" cy="822960"/>
            <a:chOff x="7315200" y="4215384"/>
            <a:chExt cx="4343400" cy="822960"/>
          </a:xfrm>
        </p:grpSpPr>
        <p:sp>
          <p:nvSpPr>
            <p:cNvPr id="99" name="Oval 98"/>
            <p:cNvSpPr/>
            <p:nvPr/>
          </p:nvSpPr>
          <p:spPr>
            <a:xfrm>
              <a:off x="7315200" y="4306824"/>
              <a:ext cx="329184" cy="329184"/>
            </a:xfrm>
            <a:prstGeom prst="ellipse">
              <a:avLst/>
            </a:prstGeom>
            <a:solidFill>
              <a:srgbClr val="199E70">
                <a:alpha val="25000"/>
              </a:srgbClr>
            </a:solidFill>
            <a:ln w="12700">
              <a:solidFill>
                <a:srgbClr val="4FD1A1"/>
              </a:solidFill>
            </a:ln>
          </p:spPr>
          <p:txBody>
            <a:bodyPr wrap="square" rtlCol="0" anchor="ctr"/>
            <a:lstStyle/>
            <a:p>
              <a:pPr algn="ctr"/>
              <a:endParaRPr/>
            </a:p>
          </p:txBody>
        </p:sp>
        <p:sp>
          <p:nvSpPr>
            <p:cNvPr id="100" name="TextBox 99"/>
            <p:cNvSpPr txBox="1"/>
            <p:nvPr/>
          </p:nvSpPr>
          <p:spPr>
            <a:xfrm>
              <a:off x="7315200" y="4306824"/>
              <a:ext cx="329184" cy="329184"/>
            </a:xfrm>
            <a:prstGeom prst="rect">
              <a:avLst/>
            </a:prstGeom>
            <a:noFill/>
          </p:spPr>
          <p:txBody>
            <a:bodyPr wrap="square" lIns="0" tIns="0" rIns="0" bIns="0" anchor="ctr">
              <a:noAutofit/>
            </a:bodyPr>
            <a:lstStyle/>
            <a:p>
              <a:pPr algn="ctr">
                <a:lnSpc>
                  <a:spcPct val="112000"/>
                </a:lnSpc>
                <a:spcAft>
                  <a:spcPts val="0"/>
                </a:spcAft>
              </a:pPr>
              <a:r>
                <a:rPr sz="1100" b="0" i="0">
                  <a:solidFill>
                    <a:srgbClr val="4FD1A1"/>
                  </a:solidFill>
                  <a:latin typeface="Segoe UI Semibold"/>
                </a:rPr>
                <a:t>✓</a:t>
              </a:r>
            </a:p>
          </p:txBody>
        </p:sp>
        <p:sp>
          <p:nvSpPr>
            <p:cNvPr id="101" name="TextBox 100"/>
            <p:cNvSpPr txBox="1"/>
            <p:nvPr/>
          </p:nvSpPr>
          <p:spPr>
            <a:xfrm>
              <a:off x="7818120" y="4215384"/>
              <a:ext cx="3840480" cy="329184"/>
            </a:xfrm>
            <a:prstGeom prst="rect">
              <a:avLst/>
            </a:prstGeom>
            <a:noFill/>
          </p:spPr>
          <p:txBody>
            <a:bodyPr wrap="square" lIns="0" tIns="0" rIns="0" bIns="0" anchor="t">
              <a:noAutofit/>
            </a:bodyPr>
            <a:lstStyle/>
            <a:p>
              <a:pPr algn="l">
                <a:lnSpc>
                  <a:spcPct val="112000"/>
                </a:lnSpc>
                <a:spcAft>
                  <a:spcPts val="0"/>
                </a:spcAft>
              </a:pPr>
              <a:r>
                <a:rPr sz="1450" b="0" i="0">
                  <a:solidFill>
                    <a:srgbClr val="FFFFFF"/>
                  </a:solidFill>
                  <a:latin typeface="Segoe UI Semibold"/>
                </a:rPr>
                <a:t>Mesh networking</a:t>
              </a:r>
            </a:p>
          </p:txBody>
        </p:sp>
        <p:sp>
          <p:nvSpPr>
            <p:cNvPr id="102" name="TextBox 101"/>
            <p:cNvSpPr txBox="1"/>
            <p:nvPr/>
          </p:nvSpPr>
          <p:spPr>
            <a:xfrm>
              <a:off x="7818120" y="4535424"/>
              <a:ext cx="3840480" cy="502920"/>
            </a:xfrm>
            <a:prstGeom prst="rect">
              <a:avLst/>
            </a:prstGeom>
            <a:noFill/>
          </p:spPr>
          <p:txBody>
            <a:bodyPr wrap="square" lIns="0" tIns="0" rIns="0" bIns="0" anchor="t">
              <a:noAutofit/>
            </a:bodyPr>
            <a:lstStyle/>
            <a:p>
              <a:pPr algn="l">
                <a:lnSpc>
                  <a:spcPct val="110000"/>
                </a:lnSpc>
                <a:spcAft>
                  <a:spcPts val="0"/>
                </a:spcAft>
              </a:pPr>
              <a:r>
                <a:rPr sz="1150" b="0" i="0">
                  <a:solidFill>
                    <a:srgbClr val="C9D2E3"/>
                  </a:solidFill>
                  <a:latin typeface="Segoe UI"/>
                </a:rPr>
                <a:t>Istio / Cilium Cluster Mesh for mTLS service-to-service traffic.</a:t>
              </a:r>
            </a:p>
          </p:txBody>
        </p:sp>
      </p:grpSp>
      <p:grpSp>
        <p:nvGrpSpPr>
          <p:cNvPr id="103" name="Group 102"/>
          <p:cNvGrpSpPr/>
          <p:nvPr/>
        </p:nvGrpSpPr>
        <p:grpSpPr>
          <a:xfrm>
            <a:off x="7315200" y="5056632"/>
            <a:ext cx="4343400" cy="822960"/>
            <a:chOff x="7315200" y="5056632"/>
            <a:chExt cx="4343400" cy="822960"/>
          </a:xfrm>
        </p:grpSpPr>
        <p:sp>
          <p:nvSpPr>
            <p:cNvPr id="104" name="Oval 103"/>
            <p:cNvSpPr/>
            <p:nvPr/>
          </p:nvSpPr>
          <p:spPr>
            <a:xfrm>
              <a:off x="7315200" y="5148072"/>
              <a:ext cx="329184" cy="329184"/>
            </a:xfrm>
            <a:prstGeom prst="ellipse">
              <a:avLst/>
            </a:prstGeom>
            <a:solidFill>
              <a:srgbClr val="199E70">
                <a:alpha val="25000"/>
              </a:srgbClr>
            </a:solidFill>
            <a:ln w="12700">
              <a:solidFill>
                <a:srgbClr val="4FD1A1"/>
              </a:solidFill>
            </a:ln>
          </p:spPr>
          <p:txBody>
            <a:bodyPr wrap="square" rtlCol="0" anchor="ctr"/>
            <a:lstStyle/>
            <a:p>
              <a:pPr algn="ctr"/>
              <a:endParaRPr/>
            </a:p>
          </p:txBody>
        </p:sp>
        <p:sp>
          <p:nvSpPr>
            <p:cNvPr id="105" name="TextBox 104"/>
            <p:cNvSpPr txBox="1"/>
            <p:nvPr/>
          </p:nvSpPr>
          <p:spPr>
            <a:xfrm>
              <a:off x="7315200" y="5148072"/>
              <a:ext cx="329184" cy="329184"/>
            </a:xfrm>
            <a:prstGeom prst="rect">
              <a:avLst/>
            </a:prstGeom>
            <a:noFill/>
          </p:spPr>
          <p:txBody>
            <a:bodyPr wrap="square" lIns="0" tIns="0" rIns="0" bIns="0" anchor="ctr">
              <a:noAutofit/>
            </a:bodyPr>
            <a:lstStyle/>
            <a:p>
              <a:pPr algn="ctr">
                <a:lnSpc>
                  <a:spcPct val="112000"/>
                </a:lnSpc>
                <a:spcAft>
                  <a:spcPts val="0"/>
                </a:spcAft>
              </a:pPr>
              <a:r>
                <a:rPr sz="1100" b="0" i="0">
                  <a:solidFill>
                    <a:srgbClr val="4FD1A1"/>
                  </a:solidFill>
                  <a:latin typeface="Segoe UI Semibold"/>
                </a:rPr>
                <a:t>✓</a:t>
              </a:r>
            </a:p>
          </p:txBody>
        </p:sp>
        <p:sp>
          <p:nvSpPr>
            <p:cNvPr id="106" name="TextBox 105"/>
            <p:cNvSpPr txBox="1"/>
            <p:nvPr/>
          </p:nvSpPr>
          <p:spPr>
            <a:xfrm>
              <a:off x="7818120" y="5056632"/>
              <a:ext cx="3840480" cy="329184"/>
            </a:xfrm>
            <a:prstGeom prst="rect">
              <a:avLst/>
            </a:prstGeom>
            <a:noFill/>
          </p:spPr>
          <p:txBody>
            <a:bodyPr wrap="square" lIns="0" tIns="0" rIns="0" bIns="0" anchor="t">
              <a:noAutofit/>
            </a:bodyPr>
            <a:lstStyle/>
            <a:p>
              <a:pPr algn="l">
                <a:lnSpc>
                  <a:spcPct val="112000"/>
                </a:lnSpc>
                <a:spcAft>
                  <a:spcPts val="0"/>
                </a:spcAft>
              </a:pPr>
              <a:r>
                <a:rPr sz="1450" b="0" i="0">
                  <a:solidFill>
                    <a:srgbClr val="FFFFFF"/>
                  </a:solidFill>
                  <a:latin typeface="Segoe UI Semibold"/>
                </a:rPr>
                <a:t>GitOps at fleet scale</a:t>
              </a:r>
            </a:p>
          </p:txBody>
        </p:sp>
        <p:sp>
          <p:nvSpPr>
            <p:cNvPr id="107" name="TextBox 106"/>
            <p:cNvSpPr txBox="1"/>
            <p:nvPr/>
          </p:nvSpPr>
          <p:spPr>
            <a:xfrm>
              <a:off x="7818120" y="5376672"/>
              <a:ext cx="3840480" cy="502920"/>
            </a:xfrm>
            <a:prstGeom prst="rect">
              <a:avLst/>
            </a:prstGeom>
            <a:noFill/>
          </p:spPr>
          <p:txBody>
            <a:bodyPr wrap="square" lIns="0" tIns="0" rIns="0" bIns="0" anchor="t">
              <a:noAutofit/>
            </a:bodyPr>
            <a:lstStyle/>
            <a:p>
              <a:pPr algn="l">
                <a:lnSpc>
                  <a:spcPct val="110000"/>
                </a:lnSpc>
                <a:spcAft>
                  <a:spcPts val="0"/>
                </a:spcAft>
              </a:pPr>
              <a:r>
                <a:rPr sz="1150" b="0" i="0">
                  <a:solidFill>
                    <a:srgbClr val="C9D2E3"/>
                  </a:solidFill>
                  <a:latin typeface="Segoe UI"/>
                </a:rPr>
                <a:t>Argo CD / Flux keep every cluster at the declared state.</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250"/>
                                  </p:stCondLst>
                                  <p:childTnLst>
                                    <p:set>
                                      <p:cBhvr>
                                        <p:cTn id="6" dur="1" fill="hold">
                                          <p:stCondLst>
                                            <p:cond delay="0"/>
                                          </p:stCondLst>
                                        </p:cTn>
                                        <p:tgtEl>
                                          <p:spTgt spid="36"/>
                                        </p:tgtEl>
                                        <p:attrNameLst>
                                          <p:attrName>style.visibility</p:attrName>
                                        </p:attrNameLst>
                                      </p:cBhvr>
                                      <p:to>
                                        <p:strVal val="visible"/>
                                      </p:to>
                                    </p:set>
                                    <p:anim calcmode="lin" valueType="num">
                                      <p:cBhvr>
                                        <p:cTn id="7" dur="700" fill="hold"/>
                                        <p:tgtEl>
                                          <p:spTgt spid="36"/>
                                        </p:tgtEl>
                                        <p:attrNameLst>
                                          <p:attrName>ppt_w</p:attrName>
                                        </p:attrNameLst>
                                      </p:cBhvr>
                                      <p:tavLst>
                                        <p:tav tm="0">
                                          <p:val>
                                            <p:fltVal val="0"/>
                                          </p:val>
                                        </p:tav>
                                        <p:tav tm="100000">
                                          <p:val>
                                            <p:strVal val="#ppt_w"/>
                                          </p:val>
                                        </p:tav>
                                      </p:tavLst>
                                    </p:anim>
                                    <p:anim calcmode="lin" valueType="num">
                                      <p:cBhvr>
                                        <p:cTn id="8" dur="700" fill="hold"/>
                                        <p:tgtEl>
                                          <p:spTgt spid="36"/>
                                        </p:tgtEl>
                                        <p:attrNameLst>
                                          <p:attrName>ppt_h</p:attrName>
                                        </p:attrNameLst>
                                      </p:cBhvr>
                                      <p:tavLst>
                                        <p:tav tm="0">
                                          <p:val>
                                            <p:fltVal val="0"/>
                                          </p:val>
                                        </p:tav>
                                        <p:tav tm="100000">
                                          <p:val>
                                            <p:strVal val="#ppt_h"/>
                                          </p:val>
                                        </p:tav>
                                      </p:tavLst>
                                    </p:anim>
                                    <p:animEffect transition="in" filter="fade">
                                      <p:cBhvr>
                                        <p:cTn id="9" dur="700"/>
                                        <p:tgtEl>
                                          <p:spTgt spid="36"/>
                                        </p:tgtEl>
                                      </p:cBhvr>
                                    </p:animEffect>
                                  </p:childTnLst>
                                </p:cTn>
                              </p:par>
                              <p:par>
                                <p:cTn id="10" presetID="42" presetClass="entr" presetSubtype="0" fill="hold" nodeType="withEffect">
                                  <p:stCondLst>
                                    <p:cond delay="41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600"/>
                                        <p:tgtEl>
                                          <p:spTgt spid="38"/>
                                        </p:tgtEl>
                                      </p:cBhvr>
                                    </p:animEffect>
                                    <p:anim calcmode="lin" valueType="num">
                                      <p:cBhvr>
                                        <p:cTn id="13" dur="600" fill="hold"/>
                                        <p:tgtEl>
                                          <p:spTgt spid="38"/>
                                        </p:tgtEl>
                                        <p:attrNameLst>
                                          <p:attrName>ppt_x</p:attrName>
                                        </p:attrNameLst>
                                      </p:cBhvr>
                                      <p:tavLst>
                                        <p:tav tm="0">
                                          <p:val>
                                            <p:strVal val="#ppt_x"/>
                                          </p:val>
                                        </p:tav>
                                        <p:tav tm="100000">
                                          <p:val>
                                            <p:strVal val="#ppt_x"/>
                                          </p:val>
                                        </p:tav>
                                      </p:tavLst>
                                    </p:anim>
                                    <p:anim calcmode="lin" valueType="num">
                                      <p:cBhvr>
                                        <p:cTn id="14" dur="600" fill="hold"/>
                                        <p:tgtEl>
                                          <p:spTgt spid="38"/>
                                        </p:tgtEl>
                                        <p:attrNameLst>
                                          <p:attrName>ppt_y</p:attrName>
                                        </p:attrNameLst>
                                      </p:cBhvr>
                                      <p:tavLst>
                                        <p:tav tm="0">
                                          <p:val>
                                            <p:strVal val="#ppt_y+.08"/>
                                          </p:val>
                                        </p:tav>
                                        <p:tav tm="100000">
                                          <p:val>
                                            <p:strVal val="#ppt_y"/>
                                          </p:val>
                                        </p:tav>
                                      </p:tavLst>
                                    </p:anim>
                                  </p:childTnLst>
                                </p:cTn>
                              </p:par>
                              <p:par>
                                <p:cTn id="15" presetID="42" presetClass="entr" presetSubtype="0" fill="hold" nodeType="withEffect">
                                  <p:stCondLst>
                                    <p:cond delay="570"/>
                                  </p:stCondLst>
                                  <p:childTnLst>
                                    <p:set>
                                      <p:cBhvr>
                                        <p:cTn id="16" dur="1" fill="hold">
                                          <p:stCondLst>
                                            <p:cond delay="0"/>
                                          </p:stCondLst>
                                        </p:cTn>
                                        <p:tgtEl>
                                          <p:spTgt spid="49"/>
                                        </p:tgtEl>
                                        <p:attrNameLst>
                                          <p:attrName>style.visibility</p:attrName>
                                        </p:attrNameLst>
                                      </p:cBhvr>
                                      <p:to>
                                        <p:strVal val="visible"/>
                                      </p:to>
                                    </p:set>
                                    <p:animEffect transition="in" filter="fade">
                                      <p:cBhvr>
                                        <p:cTn id="17" dur="600"/>
                                        <p:tgtEl>
                                          <p:spTgt spid="49"/>
                                        </p:tgtEl>
                                      </p:cBhvr>
                                    </p:animEffect>
                                    <p:anim calcmode="lin" valueType="num">
                                      <p:cBhvr>
                                        <p:cTn id="18" dur="600" fill="hold"/>
                                        <p:tgtEl>
                                          <p:spTgt spid="49"/>
                                        </p:tgtEl>
                                        <p:attrNameLst>
                                          <p:attrName>ppt_x</p:attrName>
                                        </p:attrNameLst>
                                      </p:cBhvr>
                                      <p:tavLst>
                                        <p:tav tm="0">
                                          <p:val>
                                            <p:strVal val="#ppt_x"/>
                                          </p:val>
                                        </p:tav>
                                        <p:tav tm="100000">
                                          <p:val>
                                            <p:strVal val="#ppt_x"/>
                                          </p:val>
                                        </p:tav>
                                      </p:tavLst>
                                    </p:anim>
                                    <p:anim calcmode="lin" valueType="num">
                                      <p:cBhvr>
                                        <p:cTn id="19" dur="600" fill="hold"/>
                                        <p:tgtEl>
                                          <p:spTgt spid="49"/>
                                        </p:tgtEl>
                                        <p:attrNameLst>
                                          <p:attrName>ppt_y</p:attrName>
                                        </p:attrNameLst>
                                      </p:cBhvr>
                                      <p:tavLst>
                                        <p:tav tm="0">
                                          <p:val>
                                            <p:strVal val="#ppt_y+.08"/>
                                          </p:val>
                                        </p:tav>
                                        <p:tav tm="100000">
                                          <p:val>
                                            <p:strVal val="#ppt_y"/>
                                          </p:val>
                                        </p:tav>
                                      </p:tavLst>
                                    </p:anim>
                                  </p:childTnLst>
                                </p:cTn>
                              </p:par>
                              <p:par>
                                <p:cTn id="20" presetID="42" presetClass="entr" presetSubtype="0" fill="hold" nodeType="withEffect">
                                  <p:stCondLst>
                                    <p:cond delay="730"/>
                                  </p:stCondLst>
                                  <p:childTnLst>
                                    <p:set>
                                      <p:cBhvr>
                                        <p:cTn id="21" dur="1" fill="hold">
                                          <p:stCondLst>
                                            <p:cond delay="0"/>
                                          </p:stCondLst>
                                        </p:cTn>
                                        <p:tgtEl>
                                          <p:spTgt spid="60"/>
                                        </p:tgtEl>
                                        <p:attrNameLst>
                                          <p:attrName>style.visibility</p:attrName>
                                        </p:attrNameLst>
                                      </p:cBhvr>
                                      <p:to>
                                        <p:strVal val="visible"/>
                                      </p:to>
                                    </p:set>
                                    <p:animEffect transition="in" filter="fade">
                                      <p:cBhvr>
                                        <p:cTn id="22" dur="600"/>
                                        <p:tgtEl>
                                          <p:spTgt spid="60"/>
                                        </p:tgtEl>
                                      </p:cBhvr>
                                    </p:animEffect>
                                    <p:anim calcmode="lin" valueType="num">
                                      <p:cBhvr>
                                        <p:cTn id="23" dur="600" fill="hold"/>
                                        <p:tgtEl>
                                          <p:spTgt spid="60"/>
                                        </p:tgtEl>
                                        <p:attrNameLst>
                                          <p:attrName>ppt_x</p:attrName>
                                        </p:attrNameLst>
                                      </p:cBhvr>
                                      <p:tavLst>
                                        <p:tav tm="0">
                                          <p:val>
                                            <p:strVal val="#ppt_x"/>
                                          </p:val>
                                        </p:tav>
                                        <p:tav tm="100000">
                                          <p:val>
                                            <p:strVal val="#ppt_x"/>
                                          </p:val>
                                        </p:tav>
                                      </p:tavLst>
                                    </p:anim>
                                    <p:anim calcmode="lin" valueType="num">
                                      <p:cBhvr>
                                        <p:cTn id="24" dur="600" fill="hold"/>
                                        <p:tgtEl>
                                          <p:spTgt spid="60"/>
                                        </p:tgtEl>
                                        <p:attrNameLst>
                                          <p:attrName>ppt_y</p:attrName>
                                        </p:attrNameLst>
                                      </p:cBhvr>
                                      <p:tavLst>
                                        <p:tav tm="0">
                                          <p:val>
                                            <p:strVal val="#ppt_y+.08"/>
                                          </p:val>
                                        </p:tav>
                                        <p:tav tm="100000">
                                          <p:val>
                                            <p:strVal val="#ppt_y"/>
                                          </p:val>
                                        </p:tav>
                                      </p:tavLst>
                                    </p:anim>
                                  </p:childTnLst>
                                </p:cTn>
                              </p:par>
                              <p:par>
                                <p:cTn id="25" presetID="42" presetClass="entr" presetSubtype="0" fill="hold" nodeType="withEffect">
                                  <p:stCondLst>
                                    <p:cond delay="890"/>
                                  </p:stCondLst>
                                  <p:childTnLst>
                                    <p:set>
                                      <p:cBhvr>
                                        <p:cTn id="26" dur="1" fill="hold">
                                          <p:stCondLst>
                                            <p:cond delay="0"/>
                                          </p:stCondLst>
                                        </p:cTn>
                                        <p:tgtEl>
                                          <p:spTgt spid="71"/>
                                        </p:tgtEl>
                                        <p:attrNameLst>
                                          <p:attrName>style.visibility</p:attrName>
                                        </p:attrNameLst>
                                      </p:cBhvr>
                                      <p:to>
                                        <p:strVal val="visible"/>
                                      </p:to>
                                    </p:set>
                                    <p:animEffect transition="in" filter="fade">
                                      <p:cBhvr>
                                        <p:cTn id="27" dur="600"/>
                                        <p:tgtEl>
                                          <p:spTgt spid="71"/>
                                        </p:tgtEl>
                                      </p:cBhvr>
                                    </p:animEffect>
                                    <p:anim calcmode="lin" valueType="num">
                                      <p:cBhvr>
                                        <p:cTn id="28" dur="600" fill="hold"/>
                                        <p:tgtEl>
                                          <p:spTgt spid="71"/>
                                        </p:tgtEl>
                                        <p:attrNameLst>
                                          <p:attrName>ppt_x</p:attrName>
                                        </p:attrNameLst>
                                      </p:cBhvr>
                                      <p:tavLst>
                                        <p:tav tm="0">
                                          <p:val>
                                            <p:strVal val="#ppt_x"/>
                                          </p:val>
                                        </p:tav>
                                        <p:tav tm="100000">
                                          <p:val>
                                            <p:strVal val="#ppt_x"/>
                                          </p:val>
                                        </p:tav>
                                      </p:tavLst>
                                    </p:anim>
                                    <p:anim calcmode="lin" valueType="num">
                                      <p:cBhvr>
                                        <p:cTn id="29" dur="600" fill="hold"/>
                                        <p:tgtEl>
                                          <p:spTgt spid="71"/>
                                        </p:tgtEl>
                                        <p:attrNameLst>
                                          <p:attrName>ppt_y</p:attrName>
                                        </p:attrNameLst>
                                      </p:cBhvr>
                                      <p:tavLst>
                                        <p:tav tm="0">
                                          <p:val>
                                            <p:strVal val="#ppt_y+.08"/>
                                          </p:val>
                                        </p:tav>
                                        <p:tav tm="100000">
                                          <p:val>
                                            <p:strVal val="#ppt_y"/>
                                          </p:val>
                                        </p:tav>
                                      </p:tavLst>
                                    </p:anim>
                                  </p:childTnLst>
                                </p:cTn>
                              </p:par>
                              <p:par>
                                <p:cTn id="30" presetID="10" presetClass="entr" presetSubtype="0" fill="hold" grpId="0" nodeType="withEffect">
                                  <p:stCondLst>
                                    <p:cond delay="1050"/>
                                  </p:stCondLst>
                                  <p:childTnLst>
                                    <p:set>
                                      <p:cBhvr>
                                        <p:cTn id="31" dur="1" fill="hold">
                                          <p:stCondLst>
                                            <p:cond delay="0"/>
                                          </p:stCondLst>
                                        </p:cTn>
                                        <p:tgtEl>
                                          <p:spTgt spid="82"/>
                                        </p:tgtEl>
                                        <p:attrNameLst>
                                          <p:attrName>style.visibility</p:attrName>
                                        </p:attrNameLst>
                                      </p:cBhvr>
                                      <p:to>
                                        <p:strVal val="visible"/>
                                      </p:to>
                                    </p:set>
                                    <p:animEffect transition="in" filter="fade">
                                      <p:cBhvr>
                                        <p:cTn id="32" dur="600"/>
                                        <p:tgtEl>
                                          <p:spTgt spid="82"/>
                                        </p:tgtEl>
                                      </p:cBhvr>
                                    </p:animEffect>
                                  </p:childTnLst>
                                </p:cTn>
                              </p:par>
                              <p:par>
                                <p:cTn id="33" presetID="42" presetClass="entr" presetSubtype="0" fill="hold" nodeType="withEffect">
                                  <p:stCondLst>
                                    <p:cond delay="1050"/>
                                  </p:stCondLst>
                                  <p:childTnLst>
                                    <p:set>
                                      <p:cBhvr>
                                        <p:cTn id="34" dur="1" fill="hold">
                                          <p:stCondLst>
                                            <p:cond delay="0"/>
                                          </p:stCondLst>
                                        </p:cTn>
                                        <p:tgtEl>
                                          <p:spTgt spid="83"/>
                                        </p:tgtEl>
                                        <p:attrNameLst>
                                          <p:attrName>style.visibility</p:attrName>
                                        </p:attrNameLst>
                                      </p:cBhvr>
                                      <p:to>
                                        <p:strVal val="visible"/>
                                      </p:to>
                                    </p:set>
                                    <p:animEffect transition="in" filter="fade">
                                      <p:cBhvr>
                                        <p:cTn id="35" dur="600"/>
                                        <p:tgtEl>
                                          <p:spTgt spid="83"/>
                                        </p:tgtEl>
                                      </p:cBhvr>
                                    </p:animEffect>
                                    <p:anim calcmode="lin" valueType="num">
                                      <p:cBhvr>
                                        <p:cTn id="36" dur="600" fill="hold"/>
                                        <p:tgtEl>
                                          <p:spTgt spid="83"/>
                                        </p:tgtEl>
                                        <p:attrNameLst>
                                          <p:attrName>ppt_x</p:attrName>
                                        </p:attrNameLst>
                                      </p:cBhvr>
                                      <p:tavLst>
                                        <p:tav tm="0">
                                          <p:val>
                                            <p:strVal val="#ppt_x"/>
                                          </p:val>
                                        </p:tav>
                                        <p:tav tm="100000">
                                          <p:val>
                                            <p:strVal val="#ppt_x"/>
                                          </p:val>
                                        </p:tav>
                                      </p:tavLst>
                                    </p:anim>
                                    <p:anim calcmode="lin" valueType="num">
                                      <p:cBhvr>
                                        <p:cTn id="37" dur="600" fill="hold"/>
                                        <p:tgtEl>
                                          <p:spTgt spid="83"/>
                                        </p:tgtEl>
                                        <p:attrNameLst>
                                          <p:attrName>ppt_y</p:attrName>
                                        </p:attrNameLst>
                                      </p:cBhvr>
                                      <p:tavLst>
                                        <p:tav tm="0">
                                          <p:val>
                                            <p:strVal val="#ppt_y+.08"/>
                                          </p:val>
                                        </p:tav>
                                        <p:tav tm="100000">
                                          <p:val>
                                            <p:strVal val="#ppt_y"/>
                                          </p:val>
                                        </p:tav>
                                      </p:tavLst>
                                    </p:anim>
                                  </p:childTnLst>
                                </p:cTn>
                              </p:par>
                              <p:par>
                                <p:cTn id="38" presetID="42" presetClass="entr" presetSubtype="0" fill="hold" nodeType="withEffect">
                                  <p:stCondLst>
                                    <p:cond delay="1210"/>
                                  </p:stCondLst>
                                  <p:childTnLst>
                                    <p:set>
                                      <p:cBhvr>
                                        <p:cTn id="39" dur="1" fill="hold">
                                          <p:stCondLst>
                                            <p:cond delay="0"/>
                                          </p:stCondLst>
                                        </p:cTn>
                                        <p:tgtEl>
                                          <p:spTgt spid="88"/>
                                        </p:tgtEl>
                                        <p:attrNameLst>
                                          <p:attrName>style.visibility</p:attrName>
                                        </p:attrNameLst>
                                      </p:cBhvr>
                                      <p:to>
                                        <p:strVal val="visible"/>
                                      </p:to>
                                    </p:set>
                                    <p:animEffect transition="in" filter="fade">
                                      <p:cBhvr>
                                        <p:cTn id="40" dur="600"/>
                                        <p:tgtEl>
                                          <p:spTgt spid="88"/>
                                        </p:tgtEl>
                                      </p:cBhvr>
                                    </p:animEffect>
                                    <p:anim calcmode="lin" valueType="num">
                                      <p:cBhvr>
                                        <p:cTn id="41" dur="600" fill="hold"/>
                                        <p:tgtEl>
                                          <p:spTgt spid="88"/>
                                        </p:tgtEl>
                                        <p:attrNameLst>
                                          <p:attrName>ppt_x</p:attrName>
                                        </p:attrNameLst>
                                      </p:cBhvr>
                                      <p:tavLst>
                                        <p:tav tm="0">
                                          <p:val>
                                            <p:strVal val="#ppt_x"/>
                                          </p:val>
                                        </p:tav>
                                        <p:tav tm="100000">
                                          <p:val>
                                            <p:strVal val="#ppt_x"/>
                                          </p:val>
                                        </p:tav>
                                      </p:tavLst>
                                    </p:anim>
                                    <p:anim calcmode="lin" valueType="num">
                                      <p:cBhvr>
                                        <p:cTn id="42" dur="600" fill="hold"/>
                                        <p:tgtEl>
                                          <p:spTgt spid="88"/>
                                        </p:tgtEl>
                                        <p:attrNameLst>
                                          <p:attrName>ppt_y</p:attrName>
                                        </p:attrNameLst>
                                      </p:cBhvr>
                                      <p:tavLst>
                                        <p:tav tm="0">
                                          <p:val>
                                            <p:strVal val="#ppt_y+.08"/>
                                          </p:val>
                                        </p:tav>
                                        <p:tav tm="100000">
                                          <p:val>
                                            <p:strVal val="#ppt_y"/>
                                          </p:val>
                                        </p:tav>
                                      </p:tavLst>
                                    </p:anim>
                                  </p:childTnLst>
                                </p:cTn>
                              </p:par>
                              <p:par>
                                <p:cTn id="43" presetID="42" presetClass="entr" presetSubtype="0" fill="hold" nodeType="withEffect">
                                  <p:stCondLst>
                                    <p:cond delay="1370"/>
                                  </p:stCondLst>
                                  <p:childTnLst>
                                    <p:set>
                                      <p:cBhvr>
                                        <p:cTn id="44" dur="1" fill="hold">
                                          <p:stCondLst>
                                            <p:cond delay="0"/>
                                          </p:stCondLst>
                                        </p:cTn>
                                        <p:tgtEl>
                                          <p:spTgt spid="93"/>
                                        </p:tgtEl>
                                        <p:attrNameLst>
                                          <p:attrName>style.visibility</p:attrName>
                                        </p:attrNameLst>
                                      </p:cBhvr>
                                      <p:to>
                                        <p:strVal val="visible"/>
                                      </p:to>
                                    </p:set>
                                    <p:animEffect transition="in" filter="fade">
                                      <p:cBhvr>
                                        <p:cTn id="45" dur="600"/>
                                        <p:tgtEl>
                                          <p:spTgt spid="93"/>
                                        </p:tgtEl>
                                      </p:cBhvr>
                                    </p:animEffect>
                                    <p:anim calcmode="lin" valueType="num">
                                      <p:cBhvr>
                                        <p:cTn id="46" dur="600" fill="hold"/>
                                        <p:tgtEl>
                                          <p:spTgt spid="93"/>
                                        </p:tgtEl>
                                        <p:attrNameLst>
                                          <p:attrName>ppt_x</p:attrName>
                                        </p:attrNameLst>
                                      </p:cBhvr>
                                      <p:tavLst>
                                        <p:tav tm="0">
                                          <p:val>
                                            <p:strVal val="#ppt_x"/>
                                          </p:val>
                                        </p:tav>
                                        <p:tav tm="100000">
                                          <p:val>
                                            <p:strVal val="#ppt_x"/>
                                          </p:val>
                                        </p:tav>
                                      </p:tavLst>
                                    </p:anim>
                                    <p:anim calcmode="lin" valueType="num">
                                      <p:cBhvr>
                                        <p:cTn id="47" dur="600" fill="hold"/>
                                        <p:tgtEl>
                                          <p:spTgt spid="93"/>
                                        </p:tgtEl>
                                        <p:attrNameLst>
                                          <p:attrName>ppt_y</p:attrName>
                                        </p:attrNameLst>
                                      </p:cBhvr>
                                      <p:tavLst>
                                        <p:tav tm="0">
                                          <p:val>
                                            <p:strVal val="#ppt_y+.08"/>
                                          </p:val>
                                        </p:tav>
                                        <p:tav tm="100000">
                                          <p:val>
                                            <p:strVal val="#ppt_y"/>
                                          </p:val>
                                        </p:tav>
                                      </p:tavLst>
                                    </p:anim>
                                  </p:childTnLst>
                                </p:cTn>
                              </p:par>
                              <p:par>
                                <p:cTn id="48" presetID="42" presetClass="entr" presetSubtype="0" fill="hold" nodeType="withEffect">
                                  <p:stCondLst>
                                    <p:cond delay="1530"/>
                                  </p:stCondLst>
                                  <p:childTnLst>
                                    <p:set>
                                      <p:cBhvr>
                                        <p:cTn id="49" dur="1" fill="hold">
                                          <p:stCondLst>
                                            <p:cond delay="0"/>
                                          </p:stCondLst>
                                        </p:cTn>
                                        <p:tgtEl>
                                          <p:spTgt spid="98"/>
                                        </p:tgtEl>
                                        <p:attrNameLst>
                                          <p:attrName>style.visibility</p:attrName>
                                        </p:attrNameLst>
                                      </p:cBhvr>
                                      <p:to>
                                        <p:strVal val="visible"/>
                                      </p:to>
                                    </p:set>
                                    <p:animEffect transition="in" filter="fade">
                                      <p:cBhvr>
                                        <p:cTn id="50" dur="600"/>
                                        <p:tgtEl>
                                          <p:spTgt spid="98"/>
                                        </p:tgtEl>
                                      </p:cBhvr>
                                    </p:animEffect>
                                    <p:anim calcmode="lin" valueType="num">
                                      <p:cBhvr>
                                        <p:cTn id="51" dur="600" fill="hold"/>
                                        <p:tgtEl>
                                          <p:spTgt spid="98"/>
                                        </p:tgtEl>
                                        <p:attrNameLst>
                                          <p:attrName>ppt_x</p:attrName>
                                        </p:attrNameLst>
                                      </p:cBhvr>
                                      <p:tavLst>
                                        <p:tav tm="0">
                                          <p:val>
                                            <p:strVal val="#ppt_x"/>
                                          </p:val>
                                        </p:tav>
                                        <p:tav tm="100000">
                                          <p:val>
                                            <p:strVal val="#ppt_x"/>
                                          </p:val>
                                        </p:tav>
                                      </p:tavLst>
                                    </p:anim>
                                    <p:anim calcmode="lin" valueType="num">
                                      <p:cBhvr>
                                        <p:cTn id="52" dur="600" fill="hold"/>
                                        <p:tgtEl>
                                          <p:spTgt spid="98"/>
                                        </p:tgtEl>
                                        <p:attrNameLst>
                                          <p:attrName>ppt_y</p:attrName>
                                        </p:attrNameLst>
                                      </p:cBhvr>
                                      <p:tavLst>
                                        <p:tav tm="0">
                                          <p:val>
                                            <p:strVal val="#ppt_y+.08"/>
                                          </p:val>
                                        </p:tav>
                                        <p:tav tm="100000">
                                          <p:val>
                                            <p:strVal val="#ppt_y"/>
                                          </p:val>
                                        </p:tav>
                                      </p:tavLst>
                                    </p:anim>
                                  </p:childTnLst>
                                </p:cTn>
                              </p:par>
                              <p:par>
                                <p:cTn id="53" presetID="42" presetClass="entr" presetSubtype="0" fill="hold" nodeType="withEffect">
                                  <p:stCondLst>
                                    <p:cond delay="1690"/>
                                  </p:stCondLst>
                                  <p:childTnLst>
                                    <p:set>
                                      <p:cBhvr>
                                        <p:cTn id="54" dur="1" fill="hold">
                                          <p:stCondLst>
                                            <p:cond delay="0"/>
                                          </p:stCondLst>
                                        </p:cTn>
                                        <p:tgtEl>
                                          <p:spTgt spid="103"/>
                                        </p:tgtEl>
                                        <p:attrNameLst>
                                          <p:attrName>style.visibility</p:attrName>
                                        </p:attrNameLst>
                                      </p:cBhvr>
                                      <p:to>
                                        <p:strVal val="visible"/>
                                      </p:to>
                                    </p:set>
                                    <p:animEffect transition="in" filter="fade">
                                      <p:cBhvr>
                                        <p:cTn id="55" dur="600"/>
                                        <p:tgtEl>
                                          <p:spTgt spid="103"/>
                                        </p:tgtEl>
                                      </p:cBhvr>
                                    </p:animEffect>
                                    <p:anim calcmode="lin" valueType="num">
                                      <p:cBhvr>
                                        <p:cTn id="56" dur="600" fill="hold"/>
                                        <p:tgtEl>
                                          <p:spTgt spid="103"/>
                                        </p:tgtEl>
                                        <p:attrNameLst>
                                          <p:attrName>ppt_x</p:attrName>
                                        </p:attrNameLst>
                                      </p:cBhvr>
                                      <p:tavLst>
                                        <p:tav tm="0">
                                          <p:val>
                                            <p:strVal val="#ppt_x"/>
                                          </p:val>
                                        </p:tav>
                                        <p:tav tm="100000">
                                          <p:val>
                                            <p:strVal val="#ppt_x"/>
                                          </p:val>
                                        </p:tav>
                                      </p:tavLst>
                                    </p:anim>
                                    <p:anim calcmode="lin" valueType="num">
                                      <p:cBhvr>
                                        <p:cTn id="57" dur="600" fill="hold"/>
                                        <p:tgtEl>
                                          <p:spTgt spid="10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829594" y="-2652404"/>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578522" y="4155547"/>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9799528" y="4753559"/>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STATE OF THE ART</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Observability, Security &amp; Governance</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State of the Art</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lang="en-GB" sz="1000">
                <a:solidFill>
                  <a:srgbClr val="C9D2E3"/>
                </a:solidFill>
                <a:latin typeface="Segoe UI Semibold"/>
              </a:rPr>
              <a:t>14</a:t>
            </a:r>
            <a:r>
              <a:rPr sz="1000" b="0" i="0" dirty="0">
                <a:solidFill>
                  <a:srgbClr val="8C9AB5"/>
                </a:solidFill>
                <a:latin typeface="Segoe UI"/>
              </a:rPr>
              <a:t> / 30</a:t>
            </a:r>
          </a:p>
        </p:txBody>
      </p:sp>
      <p:grpSp>
        <p:nvGrpSpPr>
          <p:cNvPr id="36" name="Group 35"/>
          <p:cNvGrpSpPr/>
          <p:nvPr/>
        </p:nvGrpSpPr>
        <p:grpSpPr>
          <a:xfrm>
            <a:off x="548640" y="1645920"/>
            <a:ext cx="3593592" cy="4343400"/>
            <a:chOff x="548640" y="1645920"/>
            <a:chExt cx="3593592" cy="4343400"/>
          </a:xfrm>
        </p:grpSpPr>
        <p:sp>
          <p:nvSpPr>
            <p:cNvPr id="37" name="Rounded Rectangle 36"/>
            <p:cNvSpPr/>
            <p:nvPr/>
          </p:nvSpPr>
          <p:spPr>
            <a:xfrm>
              <a:off x="548640" y="1645920"/>
              <a:ext cx="3593592" cy="4343400"/>
            </a:xfrm>
            <a:prstGeom prst="roundRect">
              <a:avLst>
                <a:gd name="adj" fmla="val 6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38" name="Rounded Rectangle 37"/>
            <p:cNvSpPr/>
            <p:nvPr/>
          </p:nvSpPr>
          <p:spPr>
            <a:xfrm>
              <a:off x="548640" y="1645920"/>
              <a:ext cx="3593592" cy="1051560"/>
            </a:xfrm>
            <a:prstGeom prst="roundRect">
              <a:avLst>
                <a:gd name="adj" fmla="val 20000"/>
              </a:avLst>
            </a:prstGeom>
            <a:gradFill rotWithShape="1">
              <a:gsLst>
                <a:gs pos="0">
                  <a:srgbClr val="3987E5">
                    <a:alpha val="38000"/>
                  </a:srgbClr>
                </a:gs>
                <a:gs pos="100000">
                  <a:srgbClr val="3987E5">
                    <a:alpha val="5000"/>
                  </a:srgbClr>
                </a:gs>
              </a:gsLst>
              <a:lin ang="0" scaled="0"/>
            </a:gradFill>
            <a:ln>
              <a:noFill/>
            </a:ln>
          </p:spPr>
          <p:txBody>
            <a:bodyPr wrap="square" rtlCol="0" anchor="ctr"/>
            <a:lstStyle/>
            <a:p>
              <a:pPr algn="ctr"/>
              <a:endParaRPr/>
            </a:p>
          </p:txBody>
        </p:sp>
        <p:sp>
          <p:nvSpPr>
            <p:cNvPr id="39" name="TextBox 38"/>
            <p:cNvSpPr txBox="1"/>
            <p:nvPr/>
          </p:nvSpPr>
          <p:spPr>
            <a:xfrm>
              <a:off x="822959" y="1737360"/>
              <a:ext cx="3108960" cy="457200"/>
            </a:xfrm>
            <a:prstGeom prst="rect">
              <a:avLst/>
            </a:prstGeom>
            <a:noFill/>
          </p:spPr>
          <p:txBody>
            <a:bodyPr wrap="square" lIns="0" tIns="0" rIns="0" bIns="0" anchor="t">
              <a:noAutofit/>
            </a:bodyPr>
            <a:lstStyle/>
            <a:p>
              <a:pPr algn="l">
                <a:lnSpc>
                  <a:spcPct val="112000"/>
                </a:lnSpc>
                <a:spcAft>
                  <a:spcPts val="0"/>
                </a:spcAft>
              </a:pPr>
              <a:r>
                <a:rPr sz="1900" b="0" i="0">
                  <a:solidFill>
                    <a:srgbClr val="FFFFFF"/>
                  </a:solidFill>
                  <a:latin typeface="Segoe UI Semibold"/>
                </a:rPr>
                <a:t>Observability</a:t>
              </a:r>
            </a:p>
          </p:txBody>
        </p:sp>
        <p:sp>
          <p:nvSpPr>
            <p:cNvPr id="40" name="TextBox 39"/>
            <p:cNvSpPr txBox="1"/>
            <p:nvPr/>
          </p:nvSpPr>
          <p:spPr>
            <a:xfrm>
              <a:off x="822959" y="2176272"/>
              <a:ext cx="3108960" cy="365760"/>
            </a:xfrm>
            <a:prstGeom prst="rect">
              <a:avLst/>
            </a:prstGeom>
            <a:noFill/>
          </p:spPr>
          <p:txBody>
            <a:bodyPr wrap="square" lIns="0" tIns="0" rIns="0" bIns="0" anchor="t">
              <a:noAutofit/>
            </a:bodyPr>
            <a:lstStyle/>
            <a:p>
              <a:pPr algn="l">
                <a:lnSpc>
                  <a:spcPct val="112000"/>
                </a:lnSpc>
                <a:spcAft>
                  <a:spcPts val="0"/>
                </a:spcAft>
              </a:pPr>
              <a:r>
                <a:rPr sz="1200" b="0" i="0">
                  <a:solidFill>
                    <a:srgbClr val="7DB3F5"/>
                  </a:solidFill>
                  <a:latin typeface="Segoe UI"/>
                </a:rPr>
                <a:t>See everything, everywhere</a:t>
              </a:r>
            </a:p>
          </p:txBody>
        </p:sp>
        <p:sp>
          <p:nvSpPr>
            <p:cNvPr id="41" name="TextBox 40"/>
            <p:cNvSpPr txBox="1"/>
            <p:nvPr/>
          </p:nvSpPr>
          <p:spPr>
            <a:xfrm>
              <a:off x="822959" y="2926080"/>
              <a:ext cx="3108960" cy="2926080"/>
            </a:xfrm>
            <a:prstGeom prst="rect">
              <a:avLst/>
            </a:prstGeom>
            <a:noFill/>
          </p:spPr>
          <p:txBody>
            <a:bodyPr wrap="square" lIns="0" tIns="0" rIns="0" bIns="0" anchor="t">
              <a:noAutofit/>
            </a:bodyPr>
            <a:lstStyle/>
            <a:p>
              <a:pPr marL="237744" indent="-237744" algn="l">
                <a:lnSpc>
                  <a:spcPct val="112000"/>
                </a:lnSpc>
                <a:spcAft>
                  <a:spcPts val="1200"/>
                </a:spcAft>
                <a:buClr>
                  <a:srgbClr val="7DB3F5"/>
                </a:buClr>
                <a:buSzPct val="100000"/>
                <a:buFont typeface="Arial"/>
                <a:buChar char="•"/>
              </a:pPr>
              <a:r>
                <a:rPr sz="1300" b="0" i="0">
                  <a:solidFill>
                    <a:srgbClr val="FFFFFF"/>
                  </a:solidFill>
                  <a:latin typeface="Segoe UI Semibold"/>
                </a:rPr>
                <a:t>OpenTelemetry</a:t>
              </a:r>
              <a:r>
                <a:rPr sz="1300" b="0" i="0">
                  <a:solidFill>
                    <a:srgbClr val="C9D2E3"/>
                  </a:solidFill>
                  <a:latin typeface="Segoe UI"/>
                </a:rPr>
                <a:t> as vendor-neutral standard</a:t>
              </a:r>
            </a:p>
            <a:p>
              <a:pPr marL="237744" indent="-237744" algn="l">
                <a:lnSpc>
                  <a:spcPct val="112000"/>
                </a:lnSpc>
                <a:spcAft>
                  <a:spcPts val="1200"/>
                </a:spcAft>
                <a:buClr>
                  <a:srgbClr val="7DB3F5"/>
                </a:buClr>
                <a:buSzPct val="100000"/>
                <a:buFont typeface="Arial"/>
                <a:buChar char="•"/>
              </a:pPr>
              <a:r>
                <a:rPr sz="1300" b="0" i="0">
                  <a:solidFill>
                    <a:srgbClr val="C9D2E3"/>
                  </a:solidFill>
                  <a:latin typeface="Segoe UI"/>
                </a:rPr>
                <a:t>Prometheus + Thanos / Mimir for global metrics</a:t>
              </a:r>
            </a:p>
            <a:p>
              <a:pPr marL="237744" indent="-237744" algn="l">
                <a:lnSpc>
                  <a:spcPct val="112000"/>
                </a:lnSpc>
                <a:spcAft>
                  <a:spcPts val="1200"/>
                </a:spcAft>
                <a:buClr>
                  <a:srgbClr val="7DB3F5"/>
                </a:buClr>
                <a:buSzPct val="100000"/>
                <a:buFont typeface="Arial"/>
                <a:buChar char="•"/>
              </a:pPr>
              <a:r>
                <a:rPr sz="1300" b="0" i="0">
                  <a:solidFill>
                    <a:srgbClr val="C9D2E3"/>
                  </a:solidFill>
                  <a:latin typeface="Segoe UI"/>
                </a:rPr>
                <a:t>Unified dashboards &amp; SLOs (Grafana)</a:t>
              </a:r>
            </a:p>
            <a:p>
              <a:pPr marL="237744" indent="-237744" algn="l">
                <a:lnSpc>
                  <a:spcPct val="112000"/>
                </a:lnSpc>
                <a:spcAft>
                  <a:spcPts val="1200"/>
                </a:spcAft>
                <a:buClr>
                  <a:srgbClr val="7DB3F5"/>
                </a:buClr>
                <a:buSzPct val="100000"/>
                <a:buFont typeface="Arial"/>
                <a:buChar char="•"/>
              </a:pPr>
              <a:r>
                <a:rPr sz="1300" b="0" i="0">
                  <a:solidFill>
                    <a:srgbClr val="FFFFFF"/>
                  </a:solidFill>
                  <a:latin typeface="Segoe UI Semibold"/>
                </a:rPr>
                <a:t>AIOps</a:t>
              </a:r>
              <a:r>
                <a:rPr sz="1300" b="0" i="0">
                  <a:solidFill>
                    <a:srgbClr val="C9D2E3"/>
                  </a:solidFill>
                  <a:latin typeface="Segoe UI"/>
                </a:rPr>
                <a:t>: anomaly detection, root-cause hints</a:t>
              </a:r>
            </a:p>
          </p:txBody>
        </p:sp>
      </p:grpSp>
      <p:grpSp>
        <p:nvGrpSpPr>
          <p:cNvPr id="42" name="Group 41"/>
          <p:cNvGrpSpPr/>
          <p:nvPr/>
        </p:nvGrpSpPr>
        <p:grpSpPr>
          <a:xfrm>
            <a:off x="4297679" y="1645920"/>
            <a:ext cx="3593592" cy="4343400"/>
            <a:chOff x="4297679" y="1645920"/>
            <a:chExt cx="3593592" cy="4343400"/>
          </a:xfrm>
        </p:grpSpPr>
        <p:sp>
          <p:nvSpPr>
            <p:cNvPr id="43" name="Rounded Rectangle 42"/>
            <p:cNvSpPr/>
            <p:nvPr/>
          </p:nvSpPr>
          <p:spPr>
            <a:xfrm>
              <a:off x="4297679" y="1645920"/>
              <a:ext cx="3593592" cy="4343400"/>
            </a:xfrm>
            <a:prstGeom prst="roundRect">
              <a:avLst>
                <a:gd name="adj" fmla="val 6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44" name="Rounded Rectangle 43"/>
            <p:cNvSpPr/>
            <p:nvPr/>
          </p:nvSpPr>
          <p:spPr>
            <a:xfrm>
              <a:off x="4297679" y="1645920"/>
              <a:ext cx="3593592" cy="1051560"/>
            </a:xfrm>
            <a:prstGeom prst="roundRect">
              <a:avLst>
                <a:gd name="adj" fmla="val 20000"/>
              </a:avLst>
            </a:prstGeom>
            <a:gradFill rotWithShape="1">
              <a:gsLst>
                <a:gs pos="0">
                  <a:srgbClr val="9085E9">
                    <a:alpha val="38000"/>
                  </a:srgbClr>
                </a:gs>
                <a:gs pos="100000">
                  <a:srgbClr val="9085E9">
                    <a:alpha val="5000"/>
                  </a:srgbClr>
                </a:gs>
              </a:gsLst>
              <a:lin ang="0" scaled="0"/>
            </a:gradFill>
            <a:ln>
              <a:noFill/>
            </a:ln>
          </p:spPr>
          <p:txBody>
            <a:bodyPr wrap="square" rtlCol="0" anchor="ctr"/>
            <a:lstStyle/>
            <a:p>
              <a:pPr algn="ctr"/>
              <a:endParaRPr/>
            </a:p>
          </p:txBody>
        </p:sp>
        <p:sp>
          <p:nvSpPr>
            <p:cNvPr id="45" name="TextBox 44"/>
            <p:cNvSpPr txBox="1"/>
            <p:nvPr/>
          </p:nvSpPr>
          <p:spPr>
            <a:xfrm>
              <a:off x="4571999" y="1737360"/>
              <a:ext cx="3108960" cy="457200"/>
            </a:xfrm>
            <a:prstGeom prst="rect">
              <a:avLst/>
            </a:prstGeom>
            <a:noFill/>
          </p:spPr>
          <p:txBody>
            <a:bodyPr wrap="square" lIns="0" tIns="0" rIns="0" bIns="0" anchor="t">
              <a:noAutofit/>
            </a:bodyPr>
            <a:lstStyle/>
            <a:p>
              <a:pPr algn="l">
                <a:lnSpc>
                  <a:spcPct val="112000"/>
                </a:lnSpc>
                <a:spcAft>
                  <a:spcPts val="0"/>
                </a:spcAft>
              </a:pPr>
              <a:r>
                <a:rPr sz="1900" b="0" i="0">
                  <a:solidFill>
                    <a:srgbClr val="FFFFFF"/>
                  </a:solidFill>
                  <a:latin typeface="Segoe UI Semibold"/>
                </a:rPr>
                <a:t>Security</a:t>
              </a:r>
            </a:p>
          </p:txBody>
        </p:sp>
        <p:sp>
          <p:nvSpPr>
            <p:cNvPr id="46" name="TextBox 45"/>
            <p:cNvSpPr txBox="1"/>
            <p:nvPr/>
          </p:nvSpPr>
          <p:spPr>
            <a:xfrm>
              <a:off x="4571999" y="2176272"/>
              <a:ext cx="3108960" cy="365760"/>
            </a:xfrm>
            <a:prstGeom prst="rect">
              <a:avLst/>
            </a:prstGeom>
            <a:noFill/>
          </p:spPr>
          <p:txBody>
            <a:bodyPr wrap="square" lIns="0" tIns="0" rIns="0" bIns="0" anchor="t">
              <a:noAutofit/>
            </a:bodyPr>
            <a:lstStyle/>
            <a:p>
              <a:pPr algn="l">
                <a:lnSpc>
                  <a:spcPct val="112000"/>
                </a:lnSpc>
                <a:spcAft>
                  <a:spcPts val="0"/>
                </a:spcAft>
              </a:pPr>
              <a:r>
                <a:rPr sz="1200" b="0" i="0">
                  <a:solidFill>
                    <a:srgbClr val="B5ADF5"/>
                  </a:solidFill>
                  <a:latin typeface="Segoe UI"/>
                </a:rPr>
                <a:t>Zero trust across providers</a:t>
              </a:r>
            </a:p>
          </p:txBody>
        </p:sp>
        <p:sp>
          <p:nvSpPr>
            <p:cNvPr id="47" name="TextBox 46"/>
            <p:cNvSpPr txBox="1"/>
            <p:nvPr/>
          </p:nvSpPr>
          <p:spPr>
            <a:xfrm>
              <a:off x="4571999" y="2926080"/>
              <a:ext cx="3108960" cy="2926080"/>
            </a:xfrm>
            <a:prstGeom prst="rect">
              <a:avLst/>
            </a:prstGeom>
            <a:noFill/>
          </p:spPr>
          <p:txBody>
            <a:bodyPr wrap="square" lIns="0" tIns="0" rIns="0" bIns="0" anchor="t">
              <a:noAutofit/>
            </a:bodyPr>
            <a:lstStyle/>
            <a:p>
              <a:pPr marL="237744" indent="-237744" algn="l">
                <a:lnSpc>
                  <a:spcPct val="112000"/>
                </a:lnSpc>
                <a:spcAft>
                  <a:spcPts val="1200"/>
                </a:spcAft>
                <a:buClr>
                  <a:srgbClr val="B5ADF5"/>
                </a:buClr>
                <a:buSzPct val="100000"/>
                <a:buFont typeface="Arial"/>
                <a:buChar char="•"/>
              </a:pPr>
              <a:r>
                <a:rPr sz="1300" b="0" i="0">
                  <a:solidFill>
                    <a:srgbClr val="C9D2E3"/>
                  </a:solidFill>
                  <a:latin typeface="Segoe UI"/>
                </a:rPr>
                <a:t>Federated identity (OIDC, SSO), no static keys</a:t>
              </a:r>
            </a:p>
            <a:p>
              <a:pPr marL="237744" indent="-237744" algn="l">
                <a:lnSpc>
                  <a:spcPct val="112000"/>
                </a:lnSpc>
                <a:spcAft>
                  <a:spcPts val="1200"/>
                </a:spcAft>
                <a:buClr>
                  <a:srgbClr val="B5ADF5"/>
                </a:buClr>
                <a:buSzPct val="100000"/>
                <a:buFont typeface="Arial"/>
                <a:buChar char="•"/>
              </a:pPr>
              <a:r>
                <a:rPr sz="1300" b="0" i="0">
                  <a:solidFill>
                    <a:srgbClr val="FFFFFF"/>
                  </a:solidFill>
                  <a:latin typeface="Segoe UI Semibold"/>
                </a:rPr>
                <a:t>CSPM / CNAPP</a:t>
              </a:r>
              <a:r>
                <a:rPr sz="1300" b="0" i="0">
                  <a:solidFill>
                    <a:srgbClr val="C9D2E3"/>
                  </a:solidFill>
                  <a:latin typeface="Segoe UI"/>
                </a:rPr>
                <a:t> posture scanning per cloud</a:t>
              </a:r>
            </a:p>
            <a:p>
              <a:pPr marL="237744" indent="-237744" algn="l">
                <a:lnSpc>
                  <a:spcPct val="112000"/>
                </a:lnSpc>
                <a:spcAft>
                  <a:spcPts val="1200"/>
                </a:spcAft>
                <a:buClr>
                  <a:srgbClr val="B5ADF5"/>
                </a:buClr>
                <a:buSzPct val="100000"/>
                <a:buFont typeface="Arial"/>
                <a:buChar char="•"/>
              </a:pPr>
              <a:r>
                <a:rPr sz="1300" b="0" i="0">
                  <a:solidFill>
                    <a:srgbClr val="C9D2E3"/>
                  </a:solidFill>
                  <a:latin typeface="Segoe UI"/>
                </a:rPr>
                <a:t>Central secrets &amp; key management</a:t>
              </a:r>
            </a:p>
            <a:p>
              <a:pPr marL="237744" indent="-237744" algn="l">
                <a:lnSpc>
                  <a:spcPct val="112000"/>
                </a:lnSpc>
                <a:spcAft>
                  <a:spcPts val="1200"/>
                </a:spcAft>
                <a:buClr>
                  <a:srgbClr val="B5ADF5"/>
                </a:buClr>
                <a:buSzPct val="100000"/>
                <a:buFont typeface="Arial"/>
                <a:buChar char="•"/>
              </a:pPr>
              <a:r>
                <a:rPr sz="1300" b="0" i="0">
                  <a:solidFill>
                    <a:srgbClr val="C9D2E3"/>
                  </a:solidFill>
                  <a:latin typeface="Segoe UI"/>
                </a:rPr>
                <a:t>Encryption in transit (mTLS) and at rest</a:t>
              </a:r>
            </a:p>
          </p:txBody>
        </p:sp>
      </p:grpSp>
      <p:grpSp>
        <p:nvGrpSpPr>
          <p:cNvPr id="48" name="Group 47"/>
          <p:cNvGrpSpPr/>
          <p:nvPr/>
        </p:nvGrpSpPr>
        <p:grpSpPr>
          <a:xfrm>
            <a:off x="8046719" y="1645920"/>
            <a:ext cx="3593592" cy="4343400"/>
            <a:chOff x="8046719" y="1645920"/>
            <a:chExt cx="3593592" cy="4343400"/>
          </a:xfrm>
        </p:grpSpPr>
        <p:sp>
          <p:nvSpPr>
            <p:cNvPr id="49" name="Rounded Rectangle 48"/>
            <p:cNvSpPr/>
            <p:nvPr/>
          </p:nvSpPr>
          <p:spPr>
            <a:xfrm>
              <a:off x="8046719" y="1645920"/>
              <a:ext cx="3593592" cy="4343400"/>
            </a:xfrm>
            <a:prstGeom prst="roundRect">
              <a:avLst>
                <a:gd name="adj" fmla="val 6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50" name="Rounded Rectangle 49"/>
            <p:cNvSpPr/>
            <p:nvPr/>
          </p:nvSpPr>
          <p:spPr>
            <a:xfrm>
              <a:off x="8046719" y="1645920"/>
              <a:ext cx="3593592" cy="1051560"/>
            </a:xfrm>
            <a:prstGeom prst="roundRect">
              <a:avLst>
                <a:gd name="adj" fmla="val 20000"/>
              </a:avLst>
            </a:prstGeom>
            <a:gradFill rotWithShape="1">
              <a:gsLst>
                <a:gs pos="0">
                  <a:srgbClr val="199E70">
                    <a:alpha val="38000"/>
                  </a:srgbClr>
                </a:gs>
                <a:gs pos="100000">
                  <a:srgbClr val="199E70">
                    <a:alpha val="5000"/>
                  </a:srgbClr>
                </a:gs>
              </a:gsLst>
              <a:lin ang="0" scaled="0"/>
            </a:gradFill>
            <a:ln>
              <a:noFill/>
            </a:ln>
          </p:spPr>
          <p:txBody>
            <a:bodyPr wrap="square" rtlCol="0" anchor="ctr"/>
            <a:lstStyle/>
            <a:p>
              <a:pPr algn="ctr"/>
              <a:endParaRPr/>
            </a:p>
          </p:txBody>
        </p:sp>
        <p:sp>
          <p:nvSpPr>
            <p:cNvPr id="51" name="TextBox 50"/>
            <p:cNvSpPr txBox="1"/>
            <p:nvPr/>
          </p:nvSpPr>
          <p:spPr>
            <a:xfrm>
              <a:off x="8321040" y="1737360"/>
              <a:ext cx="3108960" cy="457200"/>
            </a:xfrm>
            <a:prstGeom prst="rect">
              <a:avLst/>
            </a:prstGeom>
            <a:noFill/>
          </p:spPr>
          <p:txBody>
            <a:bodyPr wrap="square" lIns="0" tIns="0" rIns="0" bIns="0" anchor="t">
              <a:noAutofit/>
            </a:bodyPr>
            <a:lstStyle/>
            <a:p>
              <a:pPr algn="l">
                <a:lnSpc>
                  <a:spcPct val="112000"/>
                </a:lnSpc>
                <a:spcAft>
                  <a:spcPts val="0"/>
                </a:spcAft>
              </a:pPr>
              <a:r>
                <a:rPr sz="1900" b="0" i="0">
                  <a:solidFill>
                    <a:srgbClr val="FFFFFF"/>
                  </a:solidFill>
                  <a:latin typeface="Segoe UI Semibold"/>
                </a:rPr>
                <a:t>Governance</a:t>
              </a:r>
            </a:p>
          </p:txBody>
        </p:sp>
        <p:sp>
          <p:nvSpPr>
            <p:cNvPr id="52" name="TextBox 51"/>
            <p:cNvSpPr txBox="1"/>
            <p:nvPr/>
          </p:nvSpPr>
          <p:spPr>
            <a:xfrm>
              <a:off x="8321040" y="2176272"/>
              <a:ext cx="3108960" cy="365760"/>
            </a:xfrm>
            <a:prstGeom prst="rect">
              <a:avLst/>
            </a:prstGeom>
            <a:noFill/>
          </p:spPr>
          <p:txBody>
            <a:bodyPr wrap="square" lIns="0" tIns="0" rIns="0" bIns="0" anchor="t">
              <a:noAutofit/>
            </a:bodyPr>
            <a:lstStyle/>
            <a:p>
              <a:pPr algn="l">
                <a:lnSpc>
                  <a:spcPct val="112000"/>
                </a:lnSpc>
                <a:spcAft>
                  <a:spcPts val="0"/>
                </a:spcAft>
              </a:pPr>
              <a:r>
                <a:rPr sz="1200" b="0" i="0">
                  <a:solidFill>
                    <a:srgbClr val="4FD1A1"/>
                  </a:solidFill>
                  <a:latin typeface="Segoe UI"/>
                </a:rPr>
                <a:t>Policies as code</a:t>
              </a:r>
            </a:p>
          </p:txBody>
        </p:sp>
        <p:sp>
          <p:nvSpPr>
            <p:cNvPr id="53" name="TextBox 52"/>
            <p:cNvSpPr txBox="1"/>
            <p:nvPr/>
          </p:nvSpPr>
          <p:spPr>
            <a:xfrm>
              <a:off x="8321040" y="2926080"/>
              <a:ext cx="3108960" cy="2926080"/>
            </a:xfrm>
            <a:prstGeom prst="rect">
              <a:avLst/>
            </a:prstGeom>
            <a:noFill/>
          </p:spPr>
          <p:txBody>
            <a:bodyPr wrap="square" lIns="0" tIns="0" rIns="0" bIns="0" anchor="t">
              <a:noAutofit/>
            </a:bodyPr>
            <a:lstStyle/>
            <a:p>
              <a:pPr marL="237744" indent="-237744" algn="l">
                <a:lnSpc>
                  <a:spcPct val="112000"/>
                </a:lnSpc>
                <a:spcAft>
                  <a:spcPts val="1200"/>
                </a:spcAft>
                <a:buClr>
                  <a:srgbClr val="4FD1A1"/>
                </a:buClr>
                <a:buSzPct val="100000"/>
                <a:buFont typeface="Arial"/>
                <a:buChar char="•"/>
              </a:pPr>
              <a:r>
                <a:rPr sz="1300" b="0" i="0">
                  <a:solidFill>
                    <a:srgbClr val="FFFFFF"/>
                  </a:solidFill>
                  <a:latin typeface="Segoe UI Semibold"/>
                </a:rPr>
                <a:t>OPA / Gatekeeper, Kyverno, Sentinel</a:t>
              </a:r>
            </a:p>
            <a:p>
              <a:pPr marL="237744" indent="-237744" algn="l">
                <a:lnSpc>
                  <a:spcPct val="112000"/>
                </a:lnSpc>
                <a:spcAft>
                  <a:spcPts val="1200"/>
                </a:spcAft>
                <a:buClr>
                  <a:srgbClr val="4FD1A1"/>
                </a:buClr>
                <a:buSzPct val="100000"/>
                <a:buFont typeface="Arial"/>
                <a:buChar char="•"/>
              </a:pPr>
              <a:r>
                <a:rPr sz="1300" b="0" i="0">
                  <a:solidFill>
                    <a:srgbClr val="C9D2E3"/>
                  </a:solidFill>
                  <a:latin typeface="Segoe UI"/>
                </a:rPr>
                <a:t>Guardrails: regions, sizes, tags, encryption</a:t>
              </a:r>
            </a:p>
            <a:p>
              <a:pPr marL="237744" indent="-237744" algn="l">
                <a:lnSpc>
                  <a:spcPct val="112000"/>
                </a:lnSpc>
                <a:spcAft>
                  <a:spcPts val="1200"/>
                </a:spcAft>
                <a:buClr>
                  <a:srgbClr val="4FD1A1"/>
                </a:buClr>
                <a:buSzPct val="100000"/>
                <a:buFont typeface="Arial"/>
                <a:buChar char="•"/>
              </a:pPr>
              <a:r>
                <a:rPr sz="1300" b="0" i="0">
                  <a:solidFill>
                    <a:srgbClr val="C9D2E3"/>
                  </a:solidFill>
                  <a:latin typeface="Segoe UI"/>
                </a:rPr>
                <a:t>Continuous compliance (ISO 27001, GDPR, SOC 2)</a:t>
              </a:r>
            </a:p>
            <a:p>
              <a:pPr marL="237744" indent="-237744" algn="l">
                <a:lnSpc>
                  <a:spcPct val="112000"/>
                </a:lnSpc>
                <a:spcAft>
                  <a:spcPts val="1200"/>
                </a:spcAft>
                <a:buClr>
                  <a:srgbClr val="4FD1A1"/>
                </a:buClr>
                <a:buSzPct val="100000"/>
                <a:buFont typeface="Arial"/>
                <a:buChar char="•"/>
              </a:pPr>
              <a:r>
                <a:rPr sz="1300" b="0" i="0">
                  <a:solidFill>
                    <a:srgbClr val="C9D2E3"/>
                  </a:solidFill>
                  <a:latin typeface="Segoe UI"/>
                </a:rPr>
                <a:t>Audit trails &amp; landing zones per cloud</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600"/>
                                        <p:tgtEl>
                                          <p:spTgt spid="36"/>
                                        </p:tgtEl>
                                      </p:cBhvr>
                                    </p:animEffect>
                                    <p:anim calcmode="lin" valueType="num">
                                      <p:cBhvr>
                                        <p:cTn id="8" dur="600" fill="hold"/>
                                        <p:tgtEl>
                                          <p:spTgt spid="36"/>
                                        </p:tgtEl>
                                        <p:attrNameLst>
                                          <p:attrName>ppt_x</p:attrName>
                                        </p:attrNameLst>
                                      </p:cBhvr>
                                      <p:tavLst>
                                        <p:tav tm="0">
                                          <p:val>
                                            <p:strVal val="#ppt_x"/>
                                          </p:val>
                                        </p:tav>
                                        <p:tav tm="100000">
                                          <p:val>
                                            <p:strVal val="#ppt_x"/>
                                          </p:val>
                                        </p:tav>
                                      </p:tavLst>
                                    </p:anim>
                                    <p:anim calcmode="lin" valueType="num">
                                      <p:cBhvr>
                                        <p:cTn id="9" dur="600" fill="hold"/>
                                        <p:tgtEl>
                                          <p:spTgt spid="36"/>
                                        </p:tgtEl>
                                        <p:attrNameLst>
                                          <p:attrName>ppt_y</p:attrName>
                                        </p:attrNameLst>
                                      </p:cBhvr>
                                      <p:tavLst>
                                        <p:tav tm="0">
                                          <p:val>
                                            <p:strVal val="#ppt_y+.08"/>
                                          </p:val>
                                        </p:tav>
                                        <p:tav tm="100000">
                                          <p:val>
                                            <p:strVal val="#ppt_y"/>
                                          </p:val>
                                        </p:tav>
                                      </p:tavLst>
                                    </p:anim>
                                  </p:childTnLst>
                                </p:cTn>
                              </p:par>
                              <p:par>
                                <p:cTn id="10" presetID="42" presetClass="entr" presetSubtype="0" fill="hold" nodeType="withEffect">
                                  <p:stCondLst>
                                    <p:cond delay="41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600"/>
                                        <p:tgtEl>
                                          <p:spTgt spid="42"/>
                                        </p:tgtEl>
                                      </p:cBhvr>
                                    </p:animEffect>
                                    <p:anim calcmode="lin" valueType="num">
                                      <p:cBhvr>
                                        <p:cTn id="13" dur="600" fill="hold"/>
                                        <p:tgtEl>
                                          <p:spTgt spid="42"/>
                                        </p:tgtEl>
                                        <p:attrNameLst>
                                          <p:attrName>ppt_x</p:attrName>
                                        </p:attrNameLst>
                                      </p:cBhvr>
                                      <p:tavLst>
                                        <p:tav tm="0">
                                          <p:val>
                                            <p:strVal val="#ppt_x"/>
                                          </p:val>
                                        </p:tav>
                                        <p:tav tm="100000">
                                          <p:val>
                                            <p:strVal val="#ppt_x"/>
                                          </p:val>
                                        </p:tav>
                                      </p:tavLst>
                                    </p:anim>
                                    <p:anim calcmode="lin" valueType="num">
                                      <p:cBhvr>
                                        <p:cTn id="14" dur="600" fill="hold"/>
                                        <p:tgtEl>
                                          <p:spTgt spid="42"/>
                                        </p:tgtEl>
                                        <p:attrNameLst>
                                          <p:attrName>ppt_y</p:attrName>
                                        </p:attrNameLst>
                                      </p:cBhvr>
                                      <p:tavLst>
                                        <p:tav tm="0">
                                          <p:val>
                                            <p:strVal val="#ppt_y+.08"/>
                                          </p:val>
                                        </p:tav>
                                        <p:tav tm="100000">
                                          <p:val>
                                            <p:strVal val="#ppt_y"/>
                                          </p:val>
                                        </p:tav>
                                      </p:tavLst>
                                    </p:anim>
                                  </p:childTnLst>
                                </p:cTn>
                              </p:par>
                              <p:par>
                                <p:cTn id="15" presetID="42" presetClass="entr" presetSubtype="0" fill="hold" nodeType="withEffect">
                                  <p:stCondLst>
                                    <p:cond delay="570"/>
                                  </p:stCondLst>
                                  <p:childTnLst>
                                    <p:set>
                                      <p:cBhvr>
                                        <p:cTn id="16" dur="1" fill="hold">
                                          <p:stCondLst>
                                            <p:cond delay="0"/>
                                          </p:stCondLst>
                                        </p:cTn>
                                        <p:tgtEl>
                                          <p:spTgt spid="48"/>
                                        </p:tgtEl>
                                        <p:attrNameLst>
                                          <p:attrName>style.visibility</p:attrName>
                                        </p:attrNameLst>
                                      </p:cBhvr>
                                      <p:to>
                                        <p:strVal val="visible"/>
                                      </p:to>
                                    </p:set>
                                    <p:animEffect transition="in" filter="fade">
                                      <p:cBhvr>
                                        <p:cTn id="17" dur="600"/>
                                        <p:tgtEl>
                                          <p:spTgt spid="48"/>
                                        </p:tgtEl>
                                      </p:cBhvr>
                                    </p:animEffect>
                                    <p:anim calcmode="lin" valueType="num">
                                      <p:cBhvr>
                                        <p:cTn id="18" dur="600" fill="hold"/>
                                        <p:tgtEl>
                                          <p:spTgt spid="48"/>
                                        </p:tgtEl>
                                        <p:attrNameLst>
                                          <p:attrName>ppt_x</p:attrName>
                                        </p:attrNameLst>
                                      </p:cBhvr>
                                      <p:tavLst>
                                        <p:tav tm="0">
                                          <p:val>
                                            <p:strVal val="#ppt_x"/>
                                          </p:val>
                                        </p:tav>
                                        <p:tav tm="100000">
                                          <p:val>
                                            <p:strVal val="#ppt_x"/>
                                          </p:val>
                                        </p:tav>
                                      </p:tavLst>
                                    </p:anim>
                                    <p:anim calcmode="lin" valueType="num">
                                      <p:cBhvr>
                                        <p:cTn id="19" dur="600" fill="hold"/>
                                        <p:tgtEl>
                                          <p:spTgt spid="4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867286" y="-2600733"/>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1952014" y="4516387"/>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211231" y="4874462"/>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STATE OF THE ART</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FinOps: Managing Multi-Cloud Cost</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State of the Art</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lang="en-GB" sz="1000">
                <a:solidFill>
                  <a:srgbClr val="C9D2E3"/>
                </a:solidFill>
                <a:latin typeface="Segoe UI Semibold"/>
              </a:rPr>
              <a:t>15</a:t>
            </a:r>
            <a:r>
              <a:rPr sz="1000" b="0" i="0" dirty="0">
                <a:solidFill>
                  <a:srgbClr val="8C9AB5"/>
                </a:solidFill>
                <a:latin typeface="Segoe UI"/>
              </a:rPr>
              <a:t> / 30</a:t>
            </a:r>
          </a:p>
        </p:txBody>
      </p:sp>
      <p:sp>
        <p:nvSpPr>
          <p:cNvPr id="36" name="Oval 35"/>
          <p:cNvSpPr/>
          <p:nvPr/>
        </p:nvSpPr>
        <p:spPr>
          <a:xfrm>
            <a:off x="2331720" y="1828800"/>
            <a:ext cx="1737360" cy="1737360"/>
          </a:xfrm>
          <a:prstGeom prst="ellipse">
            <a:avLst/>
          </a:prstGeom>
          <a:gradFill rotWithShape="1">
            <a:gsLst>
              <a:gs pos="0">
                <a:srgbClr val="7DB3F5">
                  <a:alpha val="85000"/>
                </a:srgbClr>
              </a:gs>
              <a:gs pos="100000">
                <a:srgbClr val="3987E5">
                  <a:alpha val="55000"/>
                </a:srgbClr>
              </a:gs>
            </a:gsLst>
            <a:lin ang="2700000" scaled="0"/>
          </a:gradFill>
          <a:ln>
            <a:noFill/>
          </a:ln>
          <a:effectLst>
            <a:outerShdw blurRad="254000" dist="25400" dir="5400000" algn="t" rotWithShape="0">
              <a:srgbClr val="000000">
                <a:alpha val="45000"/>
              </a:srgbClr>
            </a:outerShdw>
          </a:effectLst>
        </p:spPr>
        <p:txBody>
          <a:bodyPr wrap="square" lIns="137160" tIns="137160" rIns="137160" bIns="137160" rtlCol="0" anchor="ctr">
            <a:noAutofit/>
          </a:bodyPr>
          <a:lstStyle/>
          <a:p>
            <a:pPr algn="ctr">
              <a:lnSpc>
                <a:spcPct val="100000"/>
              </a:lnSpc>
              <a:spcAft>
                <a:spcPts val="0"/>
              </a:spcAft>
            </a:pPr>
            <a:r>
              <a:rPr sz="1600" b="0" i="0">
                <a:solidFill>
                  <a:srgbClr val="FFFFFF"/>
                </a:solidFill>
                <a:latin typeface="Segoe UI Semibold"/>
              </a:rPr>
              <a:t>Inform</a:t>
            </a:r>
          </a:p>
          <a:p>
            <a:pPr algn="ctr">
              <a:lnSpc>
                <a:spcPct val="100000"/>
              </a:lnSpc>
              <a:spcAft>
                <a:spcPts val="0"/>
              </a:spcAft>
            </a:pPr>
            <a:r>
              <a:rPr sz="1050" b="0" i="0">
                <a:solidFill>
                  <a:srgbClr val="FFFFFF"/>
                </a:solidFill>
                <a:latin typeface="Segoe UI"/>
              </a:rPr>
              <a:t>Visibility &amp; allocation</a:t>
            </a:r>
          </a:p>
        </p:txBody>
      </p:sp>
      <p:sp>
        <p:nvSpPr>
          <p:cNvPr id="37" name="Oval 36"/>
          <p:cNvSpPr/>
          <p:nvPr/>
        </p:nvSpPr>
        <p:spPr>
          <a:xfrm>
            <a:off x="4160520" y="4114800"/>
            <a:ext cx="1737360" cy="1737360"/>
          </a:xfrm>
          <a:prstGeom prst="ellipse">
            <a:avLst/>
          </a:prstGeom>
          <a:gradFill rotWithShape="1">
            <a:gsLst>
              <a:gs pos="0">
                <a:srgbClr val="4FD1A1">
                  <a:alpha val="85000"/>
                </a:srgbClr>
              </a:gs>
              <a:gs pos="100000">
                <a:srgbClr val="199E70">
                  <a:alpha val="55000"/>
                </a:srgbClr>
              </a:gs>
            </a:gsLst>
            <a:lin ang="2700000" scaled="0"/>
          </a:gradFill>
          <a:ln>
            <a:noFill/>
          </a:ln>
          <a:effectLst>
            <a:outerShdw blurRad="254000" dist="25400" dir="5400000" algn="t" rotWithShape="0">
              <a:srgbClr val="000000">
                <a:alpha val="45000"/>
              </a:srgbClr>
            </a:outerShdw>
          </a:effectLst>
        </p:spPr>
        <p:txBody>
          <a:bodyPr wrap="square" lIns="137160" tIns="137160" rIns="137160" bIns="137160" rtlCol="0" anchor="ctr">
            <a:noAutofit/>
          </a:bodyPr>
          <a:lstStyle/>
          <a:p>
            <a:pPr algn="ctr">
              <a:lnSpc>
                <a:spcPct val="100000"/>
              </a:lnSpc>
              <a:spcAft>
                <a:spcPts val="0"/>
              </a:spcAft>
            </a:pPr>
            <a:r>
              <a:rPr sz="1600" b="0" i="0">
                <a:solidFill>
                  <a:srgbClr val="FFFFFF"/>
                </a:solidFill>
                <a:latin typeface="Segoe UI Semibold"/>
              </a:rPr>
              <a:t>Optimize</a:t>
            </a:r>
          </a:p>
          <a:p>
            <a:pPr algn="ctr">
              <a:lnSpc>
                <a:spcPct val="100000"/>
              </a:lnSpc>
              <a:spcAft>
                <a:spcPts val="0"/>
              </a:spcAft>
            </a:pPr>
            <a:r>
              <a:rPr sz="1050" b="0" i="0">
                <a:solidFill>
                  <a:srgbClr val="FFFFFF"/>
                </a:solidFill>
                <a:latin typeface="Segoe UI"/>
              </a:rPr>
              <a:t>Rates &amp; usage</a:t>
            </a:r>
          </a:p>
        </p:txBody>
      </p:sp>
      <p:sp>
        <p:nvSpPr>
          <p:cNvPr id="38" name="Oval 37"/>
          <p:cNvSpPr/>
          <p:nvPr/>
        </p:nvSpPr>
        <p:spPr>
          <a:xfrm>
            <a:off x="502920" y="4114800"/>
            <a:ext cx="1737360" cy="1737360"/>
          </a:xfrm>
          <a:prstGeom prst="ellipse">
            <a:avLst/>
          </a:prstGeom>
          <a:gradFill rotWithShape="1">
            <a:gsLst>
              <a:gs pos="0">
                <a:srgbClr val="B5ADF5">
                  <a:alpha val="85000"/>
                </a:srgbClr>
              </a:gs>
              <a:gs pos="100000">
                <a:srgbClr val="9085E9">
                  <a:alpha val="55000"/>
                </a:srgbClr>
              </a:gs>
            </a:gsLst>
            <a:lin ang="2700000" scaled="0"/>
          </a:gradFill>
          <a:ln>
            <a:noFill/>
          </a:ln>
          <a:effectLst>
            <a:outerShdw blurRad="254000" dist="25400" dir="5400000" algn="t" rotWithShape="0">
              <a:srgbClr val="000000">
                <a:alpha val="45000"/>
              </a:srgbClr>
            </a:outerShdw>
          </a:effectLst>
        </p:spPr>
        <p:txBody>
          <a:bodyPr wrap="square" lIns="137160" tIns="137160" rIns="137160" bIns="137160" rtlCol="0" anchor="ctr">
            <a:noAutofit/>
          </a:bodyPr>
          <a:lstStyle/>
          <a:p>
            <a:pPr algn="ctr">
              <a:lnSpc>
                <a:spcPct val="100000"/>
              </a:lnSpc>
              <a:spcAft>
                <a:spcPts val="0"/>
              </a:spcAft>
            </a:pPr>
            <a:r>
              <a:rPr sz="1600" b="0" i="0">
                <a:solidFill>
                  <a:srgbClr val="FFFFFF"/>
                </a:solidFill>
                <a:latin typeface="Segoe UI Semibold"/>
              </a:rPr>
              <a:t>Operate</a:t>
            </a:r>
          </a:p>
          <a:p>
            <a:pPr algn="ctr">
              <a:lnSpc>
                <a:spcPct val="100000"/>
              </a:lnSpc>
              <a:spcAft>
                <a:spcPts val="0"/>
              </a:spcAft>
            </a:pPr>
            <a:r>
              <a:rPr sz="1050" b="0" i="0">
                <a:solidFill>
                  <a:srgbClr val="FFFFFF"/>
                </a:solidFill>
                <a:latin typeface="Segoe UI"/>
              </a:rPr>
              <a:t>Continuous governance</a:t>
            </a:r>
          </a:p>
        </p:txBody>
      </p:sp>
      <p:cxnSp>
        <p:nvCxnSpPr>
          <p:cNvPr id="39" name="Connector 38"/>
          <p:cNvCxnSpPr/>
          <p:nvPr/>
        </p:nvCxnSpPr>
        <p:spPr>
          <a:xfrm>
            <a:off x="3977639" y="2697480"/>
            <a:ext cx="822961" cy="1280159"/>
          </a:xfrm>
          <a:prstGeom prst="line">
            <a:avLst/>
          </a:prstGeom>
          <a:ln w="22225">
            <a:solidFill>
              <a:srgbClr val="C9D2E3">
                <a:alpha val="70000"/>
              </a:srgbClr>
            </a:solidFill>
            <a:tailEnd type="triangle" w="med" len="med"/>
          </a:ln>
        </p:spPr>
      </p:cxnSp>
      <p:cxnSp>
        <p:nvCxnSpPr>
          <p:cNvPr id="40" name="Connector 39"/>
          <p:cNvCxnSpPr/>
          <p:nvPr/>
        </p:nvCxnSpPr>
        <p:spPr>
          <a:xfrm flipH="1">
            <a:off x="2331720" y="4983480"/>
            <a:ext cx="1737360" cy="0"/>
          </a:xfrm>
          <a:prstGeom prst="line">
            <a:avLst/>
          </a:prstGeom>
          <a:ln w="22225">
            <a:solidFill>
              <a:srgbClr val="C9D2E3">
                <a:alpha val="70000"/>
              </a:srgbClr>
            </a:solidFill>
            <a:tailEnd type="triangle" w="med" len="med"/>
          </a:ln>
        </p:spPr>
      </p:cxnSp>
      <p:cxnSp>
        <p:nvCxnSpPr>
          <p:cNvPr id="41" name="Connector 40"/>
          <p:cNvCxnSpPr/>
          <p:nvPr/>
        </p:nvCxnSpPr>
        <p:spPr>
          <a:xfrm flipV="1">
            <a:off x="1508760" y="2743200"/>
            <a:ext cx="822960" cy="1234439"/>
          </a:xfrm>
          <a:prstGeom prst="line">
            <a:avLst/>
          </a:prstGeom>
          <a:ln w="22225">
            <a:solidFill>
              <a:srgbClr val="C9D2E3">
                <a:alpha val="70000"/>
              </a:srgbClr>
            </a:solidFill>
            <a:tailEnd type="triangle" w="med" len="med"/>
          </a:ln>
        </p:spPr>
      </p:cxnSp>
      <p:sp>
        <p:nvSpPr>
          <p:cNvPr id="42" name="Rounded Rectangle 41"/>
          <p:cNvSpPr/>
          <p:nvPr/>
        </p:nvSpPr>
        <p:spPr>
          <a:xfrm>
            <a:off x="2103120" y="3840480"/>
            <a:ext cx="2194560" cy="384048"/>
          </a:xfrm>
          <a:prstGeom prst="roundRect">
            <a:avLst>
              <a:gd name="adj" fmla="val 50000"/>
            </a:avLst>
          </a:prstGeom>
          <a:solidFill>
            <a:srgbClr val="199E70">
              <a:alpha val="18000"/>
            </a:srgbClr>
          </a:solidFill>
          <a:ln w="9525">
            <a:solidFill>
              <a:srgbClr val="199E70"/>
            </a:solidFill>
          </a:ln>
        </p:spPr>
        <p:txBody>
          <a:bodyPr wrap="square" lIns="18288" tIns="18288" rIns="18288" bIns="18288" rtlCol="0" anchor="ctr">
            <a:noAutofit/>
          </a:bodyPr>
          <a:lstStyle/>
          <a:p>
            <a:pPr algn="ctr">
              <a:lnSpc>
                <a:spcPct val="112000"/>
              </a:lnSpc>
              <a:spcAft>
                <a:spcPts val="0"/>
              </a:spcAft>
            </a:pPr>
            <a:r>
              <a:rPr sz="1000" b="0" i="0">
                <a:solidFill>
                  <a:srgbClr val="FFFFFF"/>
                </a:solidFill>
                <a:latin typeface="Segoe UI Semibold"/>
              </a:rPr>
              <a:t>FOCUS · unified billing data</a:t>
            </a:r>
          </a:p>
        </p:txBody>
      </p:sp>
      <p:sp>
        <p:nvSpPr>
          <p:cNvPr id="43" name="TextBox 42"/>
          <p:cNvSpPr txBox="1"/>
          <p:nvPr/>
        </p:nvSpPr>
        <p:spPr>
          <a:xfrm>
            <a:off x="6492240" y="1600200"/>
            <a:ext cx="5120640" cy="320040"/>
          </a:xfrm>
          <a:prstGeom prst="rect">
            <a:avLst/>
          </a:prstGeom>
          <a:noFill/>
        </p:spPr>
        <p:txBody>
          <a:bodyPr wrap="square" lIns="0" tIns="0" rIns="0" bIns="0" anchor="t">
            <a:noAutofit/>
          </a:bodyPr>
          <a:lstStyle/>
          <a:p>
            <a:pPr algn="l">
              <a:lnSpc>
                <a:spcPct val="112000"/>
              </a:lnSpc>
              <a:spcAft>
                <a:spcPts val="0"/>
              </a:spcAft>
            </a:pPr>
            <a:r>
              <a:rPr sz="1050" b="0" i="0" spc="300">
                <a:solidFill>
                  <a:srgbClr val="8C9AB5"/>
                </a:solidFill>
                <a:latin typeface="Segoe UI Semibold"/>
              </a:rPr>
              <a:t>HIGH-IMPACT OPTIMIZATION LEVERS</a:t>
            </a:r>
          </a:p>
        </p:txBody>
      </p:sp>
      <p:grpSp>
        <p:nvGrpSpPr>
          <p:cNvPr id="44" name="Group 43"/>
          <p:cNvGrpSpPr/>
          <p:nvPr/>
        </p:nvGrpSpPr>
        <p:grpSpPr>
          <a:xfrm>
            <a:off x="6492240" y="2011680"/>
            <a:ext cx="5148072" cy="521208"/>
            <a:chOff x="6492240" y="2011680"/>
            <a:chExt cx="5148072" cy="521208"/>
          </a:xfrm>
        </p:grpSpPr>
        <p:sp>
          <p:nvSpPr>
            <p:cNvPr id="45" name="TextBox 44"/>
            <p:cNvSpPr txBox="1"/>
            <p:nvPr/>
          </p:nvSpPr>
          <p:spPr>
            <a:xfrm>
              <a:off x="6492240" y="2011680"/>
              <a:ext cx="3840480" cy="320040"/>
            </a:xfrm>
            <a:prstGeom prst="rect">
              <a:avLst/>
            </a:prstGeom>
            <a:noFill/>
          </p:spPr>
          <p:txBody>
            <a:bodyPr wrap="square" lIns="0" tIns="0" rIns="0" bIns="0" anchor="t">
              <a:noAutofit/>
            </a:bodyPr>
            <a:lstStyle/>
            <a:p>
              <a:pPr algn="l">
                <a:lnSpc>
                  <a:spcPct val="112000"/>
                </a:lnSpc>
                <a:spcAft>
                  <a:spcPts val="0"/>
                </a:spcAft>
              </a:pPr>
              <a:r>
                <a:rPr sz="1300" b="0" i="0">
                  <a:solidFill>
                    <a:srgbClr val="FFFFFF"/>
                  </a:solidFill>
                  <a:latin typeface="Segoe UI Semibold"/>
                </a:rPr>
                <a:t>Spot / preemptible capacity</a:t>
              </a:r>
            </a:p>
          </p:txBody>
        </p:sp>
        <p:sp>
          <p:nvSpPr>
            <p:cNvPr id="46" name="TextBox 45"/>
            <p:cNvSpPr txBox="1"/>
            <p:nvPr/>
          </p:nvSpPr>
          <p:spPr>
            <a:xfrm>
              <a:off x="10058400" y="2011680"/>
              <a:ext cx="1581912" cy="320040"/>
            </a:xfrm>
            <a:prstGeom prst="rect">
              <a:avLst/>
            </a:prstGeom>
            <a:noFill/>
          </p:spPr>
          <p:txBody>
            <a:bodyPr wrap="square" lIns="0" tIns="0" rIns="0" bIns="0" anchor="t">
              <a:noAutofit/>
            </a:bodyPr>
            <a:lstStyle/>
            <a:p>
              <a:pPr algn="r">
                <a:lnSpc>
                  <a:spcPct val="112000"/>
                </a:lnSpc>
                <a:spcAft>
                  <a:spcPts val="0"/>
                </a:spcAft>
              </a:pPr>
              <a:r>
                <a:rPr sz="1300" b="0" i="0">
                  <a:solidFill>
                    <a:srgbClr val="F4925F"/>
                  </a:solidFill>
                  <a:latin typeface="Segoe UI Semibold"/>
                </a:rPr>
                <a:t>up to 90%</a:t>
              </a:r>
            </a:p>
          </p:txBody>
        </p:sp>
        <p:sp>
          <p:nvSpPr>
            <p:cNvPr id="47" name="Rounded Rectangle 46"/>
            <p:cNvSpPr/>
            <p:nvPr/>
          </p:nvSpPr>
          <p:spPr>
            <a:xfrm>
              <a:off x="6492240" y="2404872"/>
              <a:ext cx="5148072" cy="128016"/>
            </a:xfrm>
            <a:prstGeom prst="roundRect">
              <a:avLst>
                <a:gd name="adj" fmla="val 50000"/>
              </a:avLst>
            </a:prstGeom>
            <a:solidFill>
              <a:srgbClr val="223559"/>
            </a:solidFill>
            <a:ln>
              <a:noFill/>
            </a:ln>
          </p:spPr>
          <p:txBody>
            <a:bodyPr wrap="square" rtlCol="0" anchor="ctr"/>
            <a:lstStyle/>
            <a:p>
              <a:pPr algn="ctr"/>
              <a:endParaRPr/>
            </a:p>
          </p:txBody>
        </p:sp>
        <p:sp>
          <p:nvSpPr>
            <p:cNvPr id="48" name="Rounded Rectangle 47"/>
            <p:cNvSpPr/>
            <p:nvPr/>
          </p:nvSpPr>
          <p:spPr>
            <a:xfrm>
              <a:off x="6492240" y="2404872"/>
              <a:ext cx="4633264" cy="128016"/>
            </a:xfrm>
            <a:prstGeom prst="roundRect">
              <a:avLst>
                <a:gd name="adj" fmla="val 50000"/>
              </a:avLst>
            </a:prstGeom>
            <a:gradFill rotWithShape="1">
              <a:gsLst>
                <a:gs pos="0">
                  <a:srgbClr val="D95926"/>
                </a:gs>
                <a:gs pos="100000">
                  <a:srgbClr val="F4925F"/>
                </a:gs>
              </a:gsLst>
              <a:lin ang="0" scaled="0"/>
            </a:gradFill>
            <a:ln>
              <a:noFill/>
            </a:ln>
          </p:spPr>
          <p:txBody>
            <a:bodyPr wrap="square" rtlCol="0" anchor="ctr"/>
            <a:lstStyle/>
            <a:p>
              <a:pPr algn="ctr"/>
              <a:endParaRPr/>
            </a:p>
          </p:txBody>
        </p:sp>
      </p:grpSp>
      <p:grpSp>
        <p:nvGrpSpPr>
          <p:cNvPr id="49" name="Group 48"/>
          <p:cNvGrpSpPr/>
          <p:nvPr/>
        </p:nvGrpSpPr>
        <p:grpSpPr>
          <a:xfrm>
            <a:off x="6492240" y="2788920"/>
            <a:ext cx="5148072" cy="521208"/>
            <a:chOff x="6492240" y="2788920"/>
            <a:chExt cx="5148072" cy="521208"/>
          </a:xfrm>
        </p:grpSpPr>
        <p:sp>
          <p:nvSpPr>
            <p:cNvPr id="50" name="TextBox 49"/>
            <p:cNvSpPr txBox="1"/>
            <p:nvPr/>
          </p:nvSpPr>
          <p:spPr>
            <a:xfrm>
              <a:off x="6492240" y="2788920"/>
              <a:ext cx="3840480" cy="320040"/>
            </a:xfrm>
            <a:prstGeom prst="rect">
              <a:avLst/>
            </a:prstGeom>
            <a:noFill/>
          </p:spPr>
          <p:txBody>
            <a:bodyPr wrap="square" lIns="0" tIns="0" rIns="0" bIns="0" anchor="t">
              <a:noAutofit/>
            </a:bodyPr>
            <a:lstStyle/>
            <a:p>
              <a:pPr algn="l">
                <a:lnSpc>
                  <a:spcPct val="112000"/>
                </a:lnSpc>
                <a:spcAft>
                  <a:spcPts val="0"/>
                </a:spcAft>
              </a:pPr>
              <a:r>
                <a:rPr sz="1300" b="0" i="0">
                  <a:solidFill>
                    <a:srgbClr val="FFFFFF"/>
                  </a:solidFill>
                  <a:latin typeface="Segoe UI Semibold"/>
                </a:rPr>
                <a:t>Commitments (RIs, Savings Plans, CUDs)</a:t>
              </a:r>
            </a:p>
          </p:txBody>
        </p:sp>
        <p:sp>
          <p:nvSpPr>
            <p:cNvPr id="51" name="TextBox 50"/>
            <p:cNvSpPr txBox="1"/>
            <p:nvPr/>
          </p:nvSpPr>
          <p:spPr>
            <a:xfrm>
              <a:off x="10058400" y="2788920"/>
              <a:ext cx="1581912" cy="320040"/>
            </a:xfrm>
            <a:prstGeom prst="rect">
              <a:avLst/>
            </a:prstGeom>
            <a:noFill/>
          </p:spPr>
          <p:txBody>
            <a:bodyPr wrap="square" lIns="0" tIns="0" rIns="0" bIns="0" anchor="t">
              <a:noAutofit/>
            </a:bodyPr>
            <a:lstStyle/>
            <a:p>
              <a:pPr algn="r">
                <a:lnSpc>
                  <a:spcPct val="112000"/>
                </a:lnSpc>
                <a:spcAft>
                  <a:spcPts val="0"/>
                </a:spcAft>
              </a:pPr>
              <a:r>
                <a:rPr sz="1300" b="0" i="0">
                  <a:solidFill>
                    <a:srgbClr val="7DB3F5"/>
                  </a:solidFill>
                  <a:latin typeface="Segoe UI Semibold"/>
                </a:rPr>
                <a:t>up to 72%</a:t>
              </a:r>
            </a:p>
          </p:txBody>
        </p:sp>
        <p:sp>
          <p:nvSpPr>
            <p:cNvPr id="52" name="Rounded Rectangle 51"/>
            <p:cNvSpPr/>
            <p:nvPr/>
          </p:nvSpPr>
          <p:spPr>
            <a:xfrm>
              <a:off x="6492240" y="3182112"/>
              <a:ext cx="5148072" cy="128016"/>
            </a:xfrm>
            <a:prstGeom prst="roundRect">
              <a:avLst>
                <a:gd name="adj" fmla="val 50000"/>
              </a:avLst>
            </a:prstGeom>
            <a:solidFill>
              <a:srgbClr val="223559"/>
            </a:solidFill>
            <a:ln>
              <a:noFill/>
            </a:ln>
          </p:spPr>
          <p:txBody>
            <a:bodyPr wrap="square" rtlCol="0" anchor="ctr"/>
            <a:lstStyle/>
            <a:p>
              <a:pPr algn="ctr"/>
              <a:endParaRPr/>
            </a:p>
          </p:txBody>
        </p:sp>
        <p:sp>
          <p:nvSpPr>
            <p:cNvPr id="53" name="Rounded Rectangle 52"/>
            <p:cNvSpPr/>
            <p:nvPr/>
          </p:nvSpPr>
          <p:spPr>
            <a:xfrm>
              <a:off x="6492240" y="3182112"/>
              <a:ext cx="3706611" cy="128016"/>
            </a:xfrm>
            <a:prstGeom prst="roundRect">
              <a:avLst>
                <a:gd name="adj" fmla="val 50000"/>
              </a:avLst>
            </a:prstGeom>
            <a:gradFill rotWithShape="1">
              <a:gsLst>
                <a:gs pos="0">
                  <a:srgbClr val="3987E5"/>
                </a:gs>
                <a:gs pos="100000">
                  <a:srgbClr val="7DB3F5"/>
                </a:gs>
              </a:gsLst>
              <a:lin ang="0" scaled="0"/>
            </a:gradFill>
            <a:ln>
              <a:noFill/>
            </a:ln>
          </p:spPr>
          <p:txBody>
            <a:bodyPr wrap="square" rtlCol="0" anchor="ctr"/>
            <a:lstStyle/>
            <a:p>
              <a:pPr algn="ctr"/>
              <a:endParaRPr/>
            </a:p>
          </p:txBody>
        </p:sp>
      </p:grpSp>
      <p:grpSp>
        <p:nvGrpSpPr>
          <p:cNvPr id="54" name="Group 53"/>
          <p:cNvGrpSpPr/>
          <p:nvPr/>
        </p:nvGrpSpPr>
        <p:grpSpPr>
          <a:xfrm>
            <a:off x="6492240" y="3566160"/>
            <a:ext cx="5148072" cy="521208"/>
            <a:chOff x="6492240" y="3566160"/>
            <a:chExt cx="5148072" cy="521208"/>
          </a:xfrm>
        </p:grpSpPr>
        <p:sp>
          <p:nvSpPr>
            <p:cNvPr id="55" name="TextBox 54"/>
            <p:cNvSpPr txBox="1"/>
            <p:nvPr/>
          </p:nvSpPr>
          <p:spPr>
            <a:xfrm>
              <a:off x="6492240" y="3566160"/>
              <a:ext cx="3840480" cy="320040"/>
            </a:xfrm>
            <a:prstGeom prst="rect">
              <a:avLst/>
            </a:prstGeom>
            <a:noFill/>
          </p:spPr>
          <p:txBody>
            <a:bodyPr wrap="square" lIns="0" tIns="0" rIns="0" bIns="0" anchor="t">
              <a:noAutofit/>
            </a:bodyPr>
            <a:lstStyle/>
            <a:p>
              <a:pPr algn="l">
                <a:lnSpc>
                  <a:spcPct val="112000"/>
                </a:lnSpc>
                <a:spcAft>
                  <a:spcPts val="0"/>
                </a:spcAft>
              </a:pPr>
              <a:r>
                <a:rPr sz="1300" b="0" i="0">
                  <a:solidFill>
                    <a:srgbClr val="FFFFFF"/>
                  </a:solidFill>
                  <a:latin typeface="Segoe UI Semibold"/>
                </a:rPr>
                <a:t>Off-hours scheduling (non-prod)</a:t>
              </a:r>
            </a:p>
          </p:txBody>
        </p:sp>
        <p:sp>
          <p:nvSpPr>
            <p:cNvPr id="56" name="TextBox 55"/>
            <p:cNvSpPr txBox="1"/>
            <p:nvPr/>
          </p:nvSpPr>
          <p:spPr>
            <a:xfrm>
              <a:off x="10058400" y="3566160"/>
              <a:ext cx="1581912" cy="320040"/>
            </a:xfrm>
            <a:prstGeom prst="rect">
              <a:avLst/>
            </a:prstGeom>
            <a:noFill/>
          </p:spPr>
          <p:txBody>
            <a:bodyPr wrap="square" lIns="0" tIns="0" rIns="0" bIns="0" anchor="t">
              <a:noAutofit/>
            </a:bodyPr>
            <a:lstStyle/>
            <a:p>
              <a:pPr algn="r">
                <a:lnSpc>
                  <a:spcPct val="112000"/>
                </a:lnSpc>
                <a:spcAft>
                  <a:spcPts val="0"/>
                </a:spcAft>
              </a:pPr>
              <a:r>
                <a:rPr sz="1300" b="0" i="0">
                  <a:solidFill>
                    <a:srgbClr val="4FD1A1"/>
                  </a:solidFill>
                  <a:latin typeface="Segoe UI Semibold"/>
                </a:rPr>
                <a:t>~65%</a:t>
              </a:r>
            </a:p>
          </p:txBody>
        </p:sp>
        <p:sp>
          <p:nvSpPr>
            <p:cNvPr id="57" name="Rounded Rectangle 56"/>
            <p:cNvSpPr/>
            <p:nvPr/>
          </p:nvSpPr>
          <p:spPr>
            <a:xfrm>
              <a:off x="6492240" y="3959352"/>
              <a:ext cx="5148072" cy="128016"/>
            </a:xfrm>
            <a:prstGeom prst="roundRect">
              <a:avLst>
                <a:gd name="adj" fmla="val 50000"/>
              </a:avLst>
            </a:prstGeom>
            <a:solidFill>
              <a:srgbClr val="223559"/>
            </a:solidFill>
            <a:ln>
              <a:noFill/>
            </a:ln>
          </p:spPr>
          <p:txBody>
            <a:bodyPr wrap="square" rtlCol="0" anchor="ctr"/>
            <a:lstStyle/>
            <a:p>
              <a:pPr algn="ctr"/>
              <a:endParaRPr/>
            </a:p>
          </p:txBody>
        </p:sp>
        <p:sp>
          <p:nvSpPr>
            <p:cNvPr id="58" name="Rounded Rectangle 57"/>
            <p:cNvSpPr/>
            <p:nvPr/>
          </p:nvSpPr>
          <p:spPr>
            <a:xfrm>
              <a:off x="6492240" y="3959352"/>
              <a:ext cx="3346246" cy="128016"/>
            </a:xfrm>
            <a:prstGeom prst="roundRect">
              <a:avLst>
                <a:gd name="adj" fmla="val 50000"/>
              </a:avLst>
            </a:prstGeom>
            <a:gradFill rotWithShape="1">
              <a:gsLst>
                <a:gs pos="0">
                  <a:srgbClr val="199E70"/>
                </a:gs>
                <a:gs pos="100000">
                  <a:srgbClr val="4FD1A1"/>
                </a:gs>
              </a:gsLst>
              <a:lin ang="0" scaled="0"/>
            </a:gradFill>
            <a:ln>
              <a:noFill/>
            </a:ln>
          </p:spPr>
          <p:txBody>
            <a:bodyPr wrap="square" rtlCol="0" anchor="ctr"/>
            <a:lstStyle/>
            <a:p>
              <a:pPr algn="ctr"/>
              <a:endParaRPr/>
            </a:p>
          </p:txBody>
        </p:sp>
      </p:grpSp>
      <p:grpSp>
        <p:nvGrpSpPr>
          <p:cNvPr id="59" name="Group 58"/>
          <p:cNvGrpSpPr/>
          <p:nvPr/>
        </p:nvGrpSpPr>
        <p:grpSpPr>
          <a:xfrm>
            <a:off x="6492240" y="4343400"/>
            <a:ext cx="5148072" cy="521208"/>
            <a:chOff x="6492240" y="4343400"/>
            <a:chExt cx="5148072" cy="521208"/>
          </a:xfrm>
        </p:grpSpPr>
        <p:sp>
          <p:nvSpPr>
            <p:cNvPr id="60" name="TextBox 59"/>
            <p:cNvSpPr txBox="1"/>
            <p:nvPr/>
          </p:nvSpPr>
          <p:spPr>
            <a:xfrm>
              <a:off x="6492240" y="4343400"/>
              <a:ext cx="3840480" cy="320040"/>
            </a:xfrm>
            <a:prstGeom prst="rect">
              <a:avLst/>
            </a:prstGeom>
            <a:noFill/>
          </p:spPr>
          <p:txBody>
            <a:bodyPr wrap="square" lIns="0" tIns="0" rIns="0" bIns="0" anchor="t">
              <a:noAutofit/>
            </a:bodyPr>
            <a:lstStyle/>
            <a:p>
              <a:pPr algn="l">
                <a:lnSpc>
                  <a:spcPct val="112000"/>
                </a:lnSpc>
                <a:spcAft>
                  <a:spcPts val="0"/>
                </a:spcAft>
              </a:pPr>
              <a:r>
                <a:rPr sz="1300" b="0" i="0">
                  <a:solidFill>
                    <a:srgbClr val="FFFFFF"/>
                  </a:solidFill>
                  <a:latin typeface="Segoe UI Semibold"/>
                </a:rPr>
                <a:t>Rightsizing over-provisioned VMs</a:t>
              </a:r>
            </a:p>
          </p:txBody>
        </p:sp>
        <p:sp>
          <p:nvSpPr>
            <p:cNvPr id="61" name="TextBox 60"/>
            <p:cNvSpPr txBox="1"/>
            <p:nvPr/>
          </p:nvSpPr>
          <p:spPr>
            <a:xfrm>
              <a:off x="10058400" y="4343400"/>
              <a:ext cx="1581912" cy="320040"/>
            </a:xfrm>
            <a:prstGeom prst="rect">
              <a:avLst/>
            </a:prstGeom>
            <a:noFill/>
          </p:spPr>
          <p:txBody>
            <a:bodyPr wrap="square" lIns="0" tIns="0" rIns="0" bIns="0" anchor="t">
              <a:noAutofit/>
            </a:bodyPr>
            <a:lstStyle/>
            <a:p>
              <a:pPr algn="r">
                <a:lnSpc>
                  <a:spcPct val="112000"/>
                </a:lnSpc>
                <a:spcAft>
                  <a:spcPts val="0"/>
                </a:spcAft>
              </a:pPr>
              <a:r>
                <a:rPr sz="1300" b="0" i="0">
                  <a:solidFill>
                    <a:srgbClr val="B5ADF5"/>
                  </a:solidFill>
                  <a:latin typeface="Segoe UI Semibold"/>
                </a:rPr>
                <a:t>20–40%</a:t>
              </a:r>
            </a:p>
          </p:txBody>
        </p:sp>
        <p:sp>
          <p:nvSpPr>
            <p:cNvPr id="62" name="Rounded Rectangle 61"/>
            <p:cNvSpPr/>
            <p:nvPr/>
          </p:nvSpPr>
          <p:spPr>
            <a:xfrm>
              <a:off x="6492240" y="4736592"/>
              <a:ext cx="5148072" cy="128016"/>
            </a:xfrm>
            <a:prstGeom prst="roundRect">
              <a:avLst>
                <a:gd name="adj" fmla="val 50000"/>
              </a:avLst>
            </a:prstGeom>
            <a:solidFill>
              <a:srgbClr val="223559"/>
            </a:solidFill>
            <a:ln>
              <a:noFill/>
            </a:ln>
          </p:spPr>
          <p:txBody>
            <a:bodyPr wrap="square" rtlCol="0" anchor="ctr"/>
            <a:lstStyle/>
            <a:p>
              <a:pPr algn="ctr"/>
              <a:endParaRPr/>
            </a:p>
          </p:txBody>
        </p:sp>
        <p:sp>
          <p:nvSpPr>
            <p:cNvPr id="63" name="Rounded Rectangle 62"/>
            <p:cNvSpPr/>
            <p:nvPr/>
          </p:nvSpPr>
          <p:spPr>
            <a:xfrm>
              <a:off x="6492240" y="4736592"/>
              <a:ext cx="2059228" cy="128016"/>
            </a:xfrm>
            <a:prstGeom prst="roundRect">
              <a:avLst>
                <a:gd name="adj" fmla="val 50000"/>
              </a:avLst>
            </a:prstGeom>
            <a:gradFill rotWithShape="1">
              <a:gsLst>
                <a:gs pos="0">
                  <a:srgbClr val="9085E9"/>
                </a:gs>
                <a:gs pos="100000">
                  <a:srgbClr val="B5ADF5"/>
                </a:gs>
              </a:gsLst>
              <a:lin ang="0" scaled="0"/>
            </a:gradFill>
            <a:ln>
              <a:noFill/>
            </a:ln>
          </p:spPr>
          <p:txBody>
            <a:bodyPr wrap="square" rtlCol="0" anchor="ctr"/>
            <a:lstStyle/>
            <a:p>
              <a:pPr algn="ctr"/>
              <a:endParaRPr/>
            </a:p>
          </p:txBody>
        </p:sp>
      </p:grpSp>
      <p:grpSp>
        <p:nvGrpSpPr>
          <p:cNvPr id="64" name="Group 63"/>
          <p:cNvGrpSpPr/>
          <p:nvPr/>
        </p:nvGrpSpPr>
        <p:grpSpPr>
          <a:xfrm>
            <a:off x="6492240" y="5120640"/>
            <a:ext cx="5148072" cy="521207"/>
            <a:chOff x="6492240" y="5120640"/>
            <a:chExt cx="5148072" cy="521207"/>
          </a:xfrm>
        </p:grpSpPr>
        <p:sp>
          <p:nvSpPr>
            <p:cNvPr id="65" name="TextBox 64"/>
            <p:cNvSpPr txBox="1"/>
            <p:nvPr/>
          </p:nvSpPr>
          <p:spPr>
            <a:xfrm>
              <a:off x="6492240" y="5120640"/>
              <a:ext cx="3840480" cy="320040"/>
            </a:xfrm>
            <a:prstGeom prst="rect">
              <a:avLst/>
            </a:prstGeom>
            <a:noFill/>
          </p:spPr>
          <p:txBody>
            <a:bodyPr wrap="square" lIns="0" tIns="0" rIns="0" bIns="0" anchor="t">
              <a:noAutofit/>
            </a:bodyPr>
            <a:lstStyle/>
            <a:p>
              <a:pPr algn="l">
                <a:lnSpc>
                  <a:spcPct val="112000"/>
                </a:lnSpc>
                <a:spcAft>
                  <a:spcPts val="0"/>
                </a:spcAft>
              </a:pPr>
              <a:r>
                <a:rPr sz="1300" b="0" i="0">
                  <a:solidFill>
                    <a:srgbClr val="FFFFFF"/>
                  </a:solidFill>
                  <a:latin typeface="Segoe UI Semibold"/>
                </a:rPr>
                <a:t>Storage tiering &amp; lifecycle rules</a:t>
              </a:r>
            </a:p>
          </p:txBody>
        </p:sp>
        <p:sp>
          <p:nvSpPr>
            <p:cNvPr id="66" name="TextBox 65"/>
            <p:cNvSpPr txBox="1"/>
            <p:nvPr/>
          </p:nvSpPr>
          <p:spPr>
            <a:xfrm>
              <a:off x="10058400" y="5120640"/>
              <a:ext cx="1581912" cy="320040"/>
            </a:xfrm>
            <a:prstGeom prst="rect">
              <a:avLst/>
            </a:prstGeom>
            <a:noFill/>
          </p:spPr>
          <p:txBody>
            <a:bodyPr wrap="square" lIns="0" tIns="0" rIns="0" bIns="0" anchor="t">
              <a:noAutofit/>
            </a:bodyPr>
            <a:lstStyle/>
            <a:p>
              <a:pPr algn="r">
                <a:lnSpc>
                  <a:spcPct val="112000"/>
                </a:lnSpc>
                <a:spcAft>
                  <a:spcPts val="0"/>
                </a:spcAft>
              </a:pPr>
              <a:r>
                <a:rPr sz="1300" b="0" i="0">
                  <a:solidFill>
                    <a:srgbClr val="7DB3F5"/>
                  </a:solidFill>
                  <a:latin typeface="Segoe UI Semibold"/>
                </a:rPr>
                <a:t>30–60%</a:t>
              </a:r>
            </a:p>
          </p:txBody>
        </p:sp>
        <p:sp>
          <p:nvSpPr>
            <p:cNvPr id="67" name="Rounded Rectangle 66"/>
            <p:cNvSpPr/>
            <p:nvPr/>
          </p:nvSpPr>
          <p:spPr>
            <a:xfrm>
              <a:off x="6492240" y="5513831"/>
              <a:ext cx="5148072" cy="128016"/>
            </a:xfrm>
            <a:prstGeom prst="roundRect">
              <a:avLst>
                <a:gd name="adj" fmla="val 50000"/>
              </a:avLst>
            </a:prstGeom>
            <a:solidFill>
              <a:srgbClr val="223559"/>
            </a:solidFill>
            <a:ln>
              <a:noFill/>
            </a:ln>
          </p:spPr>
          <p:txBody>
            <a:bodyPr wrap="square" rtlCol="0" anchor="ctr"/>
            <a:lstStyle/>
            <a:p>
              <a:pPr algn="ctr"/>
              <a:endParaRPr/>
            </a:p>
          </p:txBody>
        </p:sp>
        <p:sp>
          <p:nvSpPr>
            <p:cNvPr id="68" name="Rounded Rectangle 67"/>
            <p:cNvSpPr/>
            <p:nvPr/>
          </p:nvSpPr>
          <p:spPr>
            <a:xfrm>
              <a:off x="6492240" y="5513831"/>
              <a:ext cx="2574036" cy="128016"/>
            </a:xfrm>
            <a:prstGeom prst="roundRect">
              <a:avLst>
                <a:gd name="adj" fmla="val 50000"/>
              </a:avLst>
            </a:prstGeom>
            <a:gradFill rotWithShape="1">
              <a:gsLst>
                <a:gs pos="0">
                  <a:srgbClr val="3987E5"/>
                </a:gs>
                <a:gs pos="100000">
                  <a:srgbClr val="7DB3F5"/>
                </a:gs>
              </a:gsLst>
              <a:lin ang="0" scaled="0"/>
            </a:gradFill>
            <a:ln>
              <a:noFill/>
            </a:ln>
          </p:spPr>
          <p:txBody>
            <a:bodyPr wrap="square" rtlCol="0" anchor="ctr"/>
            <a:lstStyle/>
            <a:p>
              <a:pPr algn="ctr"/>
              <a:endParaRPr/>
            </a:p>
          </p:txBody>
        </p:sp>
      </p:grpSp>
      <p:sp>
        <p:nvSpPr>
          <p:cNvPr id="69" name="TextBox 68"/>
          <p:cNvSpPr txBox="1"/>
          <p:nvPr/>
        </p:nvSpPr>
        <p:spPr>
          <a:xfrm>
            <a:off x="548640" y="6089904"/>
            <a:ext cx="11064240" cy="256032"/>
          </a:xfrm>
          <a:prstGeom prst="rect">
            <a:avLst/>
          </a:prstGeom>
          <a:noFill/>
        </p:spPr>
        <p:txBody>
          <a:bodyPr wrap="square" lIns="0" tIns="0" rIns="0" bIns="0" anchor="t">
            <a:noAutofit/>
          </a:bodyPr>
          <a:lstStyle/>
          <a:p>
            <a:pPr algn="l">
              <a:lnSpc>
                <a:spcPct val="112000"/>
              </a:lnSpc>
              <a:spcAft>
                <a:spcPts val="0"/>
              </a:spcAft>
            </a:pPr>
            <a:r>
              <a:rPr sz="900" b="0" i="0">
                <a:solidFill>
                  <a:srgbClr val="8C9AB5"/>
                </a:solidFill>
                <a:latin typeface="Segoe UI"/>
              </a:rPr>
              <a:t>Max savings vs on-demand as published by providers (AWS Spot up to 90%, Savings Plans up to 72%); scheduling assumes 12h × 5 days usage. Other ranges are typical industry estimates.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250"/>
                                  </p:stCondLst>
                                  <p:childTnLst>
                                    <p:set>
                                      <p:cBhvr>
                                        <p:cTn id="6" dur="1" fill="hold">
                                          <p:stCondLst>
                                            <p:cond delay="0"/>
                                          </p:stCondLst>
                                        </p:cTn>
                                        <p:tgtEl>
                                          <p:spTgt spid="36"/>
                                        </p:tgtEl>
                                        <p:attrNameLst>
                                          <p:attrName>style.visibility</p:attrName>
                                        </p:attrNameLst>
                                      </p:cBhvr>
                                      <p:to>
                                        <p:strVal val="visible"/>
                                      </p:to>
                                    </p:set>
                                    <p:anim calcmode="lin" valueType="num">
                                      <p:cBhvr>
                                        <p:cTn id="7" dur="600" fill="hold"/>
                                        <p:tgtEl>
                                          <p:spTgt spid="36"/>
                                        </p:tgtEl>
                                        <p:attrNameLst>
                                          <p:attrName>ppt_w</p:attrName>
                                        </p:attrNameLst>
                                      </p:cBhvr>
                                      <p:tavLst>
                                        <p:tav tm="0">
                                          <p:val>
                                            <p:fltVal val="0"/>
                                          </p:val>
                                        </p:tav>
                                        <p:tav tm="100000">
                                          <p:val>
                                            <p:strVal val="#ppt_w"/>
                                          </p:val>
                                        </p:tav>
                                      </p:tavLst>
                                    </p:anim>
                                    <p:anim calcmode="lin" valueType="num">
                                      <p:cBhvr>
                                        <p:cTn id="8" dur="600" fill="hold"/>
                                        <p:tgtEl>
                                          <p:spTgt spid="36"/>
                                        </p:tgtEl>
                                        <p:attrNameLst>
                                          <p:attrName>ppt_h</p:attrName>
                                        </p:attrNameLst>
                                      </p:cBhvr>
                                      <p:tavLst>
                                        <p:tav tm="0">
                                          <p:val>
                                            <p:fltVal val="0"/>
                                          </p:val>
                                        </p:tav>
                                        <p:tav tm="100000">
                                          <p:val>
                                            <p:strVal val="#ppt_h"/>
                                          </p:val>
                                        </p:tav>
                                      </p:tavLst>
                                    </p:anim>
                                    <p:animEffect transition="in" filter="fade">
                                      <p:cBhvr>
                                        <p:cTn id="9" dur="600"/>
                                        <p:tgtEl>
                                          <p:spTgt spid="36"/>
                                        </p:tgtEl>
                                      </p:cBhvr>
                                    </p:animEffect>
                                  </p:childTnLst>
                                </p:cTn>
                              </p:par>
                              <p:par>
                                <p:cTn id="10" presetID="53" presetClass="entr" presetSubtype="16" fill="hold" grpId="0" nodeType="withEffect">
                                  <p:stCondLst>
                                    <p:cond delay="570"/>
                                  </p:stCondLst>
                                  <p:childTnLst>
                                    <p:set>
                                      <p:cBhvr>
                                        <p:cTn id="11" dur="1" fill="hold">
                                          <p:stCondLst>
                                            <p:cond delay="0"/>
                                          </p:stCondLst>
                                        </p:cTn>
                                        <p:tgtEl>
                                          <p:spTgt spid="37"/>
                                        </p:tgtEl>
                                        <p:attrNameLst>
                                          <p:attrName>style.visibility</p:attrName>
                                        </p:attrNameLst>
                                      </p:cBhvr>
                                      <p:to>
                                        <p:strVal val="visible"/>
                                      </p:to>
                                    </p:set>
                                    <p:anim calcmode="lin" valueType="num">
                                      <p:cBhvr>
                                        <p:cTn id="12" dur="600" fill="hold"/>
                                        <p:tgtEl>
                                          <p:spTgt spid="37"/>
                                        </p:tgtEl>
                                        <p:attrNameLst>
                                          <p:attrName>ppt_w</p:attrName>
                                        </p:attrNameLst>
                                      </p:cBhvr>
                                      <p:tavLst>
                                        <p:tav tm="0">
                                          <p:val>
                                            <p:fltVal val="0"/>
                                          </p:val>
                                        </p:tav>
                                        <p:tav tm="100000">
                                          <p:val>
                                            <p:strVal val="#ppt_w"/>
                                          </p:val>
                                        </p:tav>
                                      </p:tavLst>
                                    </p:anim>
                                    <p:anim calcmode="lin" valueType="num">
                                      <p:cBhvr>
                                        <p:cTn id="13" dur="600" fill="hold"/>
                                        <p:tgtEl>
                                          <p:spTgt spid="37"/>
                                        </p:tgtEl>
                                        <p:attrNameLst>
                                          <p:attrName>ppt_h</p:attrName>
                                        </p:attrNameLst>
                                      </p:cBhvr>
                                      <p:tavLst>
                                        <p:tav tm="0">
                                          <p:val>
                                            <p:fltVal val="0"/>
                                          </p:val>
                                        </p:tav>
                                        <p:tav tm="100000">
                                          <p:val>
                                            <p:strVal val="#ppt_h"/>
                                          </p:val>
                                        </p:tav>
                                      </p:tavLst>
                                    </p:anim>
                                    <p:animEffect transition="in" filter="fade">
                                      <p:cBhvr>
                                        <p:cTn id="14" dur="600"/>
                                        <p:tgtEl>
                                          <p:spTgt spid="37"/>
                                        </p:tgtEl>
                                      </p:cBhvr>
                                    </p:animEffect>
                                  </p:childTnLst>
                                </p:cTn>
                              </p:par>
                              <p:par>
                                <p:cTn id="15" presetID="53" presetClass="entr" presetSubtype="16" fill="hold" grpId="0" nodeType="withEffect">
                                  <p:stCondLst>
                                    <p:cond delay="890"/>
                                  </p:stCondLst>
                                  <p:childTnLst>
                                    <p:set>
                                      <p:cBhvr>
                                        <p:cTn id="16" dur="1" fill="hold">
                                          <p:stCondLst>
                                            <p:cond delay="0"/>
                                          </p:stCondLst>
                                        </p:cTn>
                                        <p:tgtEl>
                                          <p:spTgt spid="38"/>
                                        </p:tgtEl>
                                        <p:attrNameLst>
                                          <p:attrName>style.visibility</p:attrName>
                                        </p:attrNameLst>
                                      </p:cBhvr>
                                      <p:to>
                                        <p:strVal val="visible"/>
                                      </p:to>
                                    </p:set>
                                    <p:anim calcmode="lin" valueType="num">
                                      <p:cBhvr>
                                        <p:cTn id="17" dur="600" fill="hold"/>
                                        <p:tgtEl>
                                          <p:spTgt spid="38"/>
                                        </p:tgtEl>
                                        <p:attrNameLst>
                                          <p:attrName>ppt_w</p:attrName>
                                        </p:attrNameLst>
                                      </p:cBhvr>
                                      <p:tavLst>
                                        <p:tav tm="0">
                                          <p:val>
                                            <p:fltVal val="0"/>
                                          </p:val>
                                        </p:tav>
                                        <p:tav tm="100000">
                                          <p:val>
                                            <p:strVal val="#ppt_w"/>
                                          </p:val>
                                        </p:tav>
                                      </p:tavLst>
                                    </p:anim>
                                    <p:anim calcmode="lin" valueType="num">
                                      <p:cBhvr>
                                        <p:cTn id="18" dur="600" fill="hold"/>
                                        <p:tgtEl>
                                          <p:spTgt spid="38"/>
                                        </p:tgtEl>
                                        <p:attrNameLst>
                                          <p:attrName>ppt_h</p:attrName>
                                        </p:attrNameLst>
                                      </p:cBhvr>
                                      <p:tavLst>
                                        <p:tav tm="0">
                                          <p:val>
                                            <p:fltVal val="0"/>
                                          </p:val>
                                        </p:tav>
                                        <p:tav tm="100000">
                                          <p:val>
                                            <p:strVal val="#ppt_h"/>
                                          </p:val>
                                        </p:tav>
                                      </p:tavLst>
                                    </p:anim>
                                    <p:animEffect transition="in" filter="fade">
                                      <p:cBhvr>
                                        <p:cTn id="19" dur="600"/>
                                        <p:tgtEl>
                                          <p:spTgt spid="38"/>
                                        </p:tgtEl>
                                      </p:cBhvr>
                                    </p:animEffect>
                                  </p:childTnLst>
                                </p:cTn>
                              </p:par>
                              <p:par>
                                <p:cTn id="20" presetID="10" presetClass="entr" presetSubtype="0" fill="hold" nodeType="withEffect">
                                  <p:stCondLst>
                                    <p:cond delay="41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600"/>
                                        <p:tgtEl>
                                          <p:spTgt spid="39"/>
                                        </p:tgtEl>
                                      </p:cBhvr>
                                    </p:animEffect>
                                  </p:childTnLst>
                                </p:cTn>
                              </p:par>
                              <p:par>
                                <p:cTn id="23" presetID="10" presetClass="entr" presetSubtype="0" fill="hold" nodeType="withEffect">
                                  <p:stCondLst>
                                    <p:cond delay="73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600"/>
                                        <p:tgtEl>
                                          <p:spTgt spid="40"/>
                                        </p:tgtEl>
                                      </p:cBhvr>
                                    </p:animEffect>
                                  </p:childTnLst>
                                </p:cTn>
                              </p:par>
                              <p:par>
                                <p:cTn id="26" presetID="10" presetClass="entr" presetSubtype="0" fill="hold" nodeType="withEffect">
                                  <p:stCondLst>
                                    <p:cond delay="105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600"/>
                                        <p:tgtEl>
                                          <p:spTgt spid="41"/>
                                        </p:tgtEl>
                                      </p:cBhvr>
                                    </p:animEffect>
                                  </p:childTnLst>
                                </p:cTn>
                              </p:par>
                              <p:par>
                                <p:cTn id="29" presetID="10" presetClass="entr" presetSubtype="0" fill="hold" grpId="0" nodeType="withEffect">
                                  <p:stCondLst>
                                    <p:cond delay="1210"/>
                                  </p:stCondLst>
                                  <p:childTnLst>
                                    <p:set>
                                      <p:cBhvr>
                                        <p:cTn id="30" dur="1" fill="hold">
                                          <p:stCondLst>
                                            <p:cond delay="0"/>
                                          </p:stCondLst>
                                        </p:cTn>
                                        <p:tgtEl>
                                          <p:spTgt spid="42"/>
                                        </p:tgtEl>
                                        <p:attrNameLst>
                                          <p:attrName>style.visibility</p:attrName>
                                        </p:attrNameLst>
                                      </p:cBhvr>
                                      <p:to>
                                        <p:strVal val="visible"/>
                                      </p:to>
                                    </p:set>
                                    <p:animEffect transition="in" filter="fade">
                                      <p:cBhvr>
                                        <p:cTn id="31" dur="600"/>
                                        <p:tgtEl>
                                          <p:spTgt spid="42"/>
                                        </p:tgtEl>
                                      </p:cBhvr>
                                    </p:animEffect>
                                  </p:childTnLst>
                                </p:cTn>
                              </p:par>
                              <p:par>
                                <p:cTn id="32" presetID="22" presetClass="entr" presetSubtype="8" fill="hold" nodeType="withEffect">
                                  <p:stCondLst>
                                    <p:cond delay="410"/>
                                  </p:stCondLst>
                                  <p:childTnLst>
                                    <p:set>
                                      <p:cBhvr>
                                        <p:cTn id="33" dur="1" fill="hold">
                                          <p:stCondLst>
                                            <p:cond delay="0"/>
                                          </p:stCondLst>
                                        </p:cTn>
                                        <p:tgtEl>
                                          <p:spTgt spid="44"/>
                                        </p:tgtEl>
                                        <p:attrNameLst>
                                          <p:attrName>style.visibility</p:attrName>
                                        </p:attrNameLst>
                                      </p:cBhvr>
                                      <p:to>
                                        <p:strVal val="visible"/>
                                      </p:to>
                                    </p:set>
                                    <p:animEffect transition="in" filter="wipe(left)">
                                      <p:cBhvr>
                                        <p:cTn id="34" dur="600"/>
                                        <p:tgtEl>
                                          <p:spTgt spid="44"/>
                                        </p:tgtEl>
                                      </p:cBhvr>
                                    </p:animEffect>
                                  </p:childTnLst>
                                </p:cTn>
                              </p:par>
                              <p:par>
                                <p:cTn id="35" presetID="22" presetClass="entr" presetSubtype="8" fill="hold" nodeType="withEffect">
                                  <p:stCondLst>
                                    <p:cond delay="570"/>
                                  </p:stCondLst>
                                  <p:childTnLst>
                                    <p:set>
                                      <p:cBhvr>
                                        <p:cTn id="36" dur="1" fill="hold">
                                          <p:stCondLst>
                                            <p:cond delay="0"/>
                                          </p:stCondLst>
                                        </p:cTn>
                                        <p:tgtEl>
                                          <p:spTgt spid="49"/>
                                        </p:tgtEl>
                                        <p:attrNameLst>
                                          <p:attrName>style.visibility</p:attrName>
                                        </p:attrNameLst>
                                      </p:cBhvr>
                                      <p:to>
                                        <p:strVal val="visible"/>
                                      </p:to>
                                    </p:set>
                                    <p:animEffect transition="in" filter="wipe(left)">
                                      <p:cBhvr>
                                        <p:cTn id="37" dur="600"/>
                                        <p:tgtEl>
                                          <p:spTgt spid="49"/>
                                        </p:tgtEl>
                                      </p:cBhvr>
                                    </p:animEffect>
                                  </p:childTnLst>
                                </p:cTn>
                              </p:par>
                              <p:par>
                                <p:cTn id="38" presetID="22" presetClass="entr" presetSubtype="8" fill="hold" nodeType="withEffect">
                                  <p:stCondLst>
                                    <p:cond delay="730"/>
                                  </p:stCondLst>
                                  <p:childTnLst>
                                    <p:set>
                                      <p:cBhvr>
                                        <p:cTn id="39" dur="1" fill="hold">
                                          <p:stCondLst>
                                            <p:cond delay="0"/>
                                          </p:stCondLst>
                                        </p:cTn>
                                        <p:tgtEl>
                                          <p:spTgt spid="54"/>
                                        </p:tgtEl>
                                        <p:attrNameLst>
                                          <p:attrName>style.visibility</p:attrName>
                                        </p:attrNameLst>
                                      </p:cBhvr>
                                      <p:to>
                                        <p:strVal val="visible"/>
                                      </p:to>
                                    </p:set>
                                    <p:animEffect transition="in" filter="wipe(left)">
                                      <p:cBhvr>
                                        <p:cTn id="40" dur="600"/>
                                        <p:tgtEl>
                                          <p:spTgt spid="54"/>
                                        </p:tgtEl>
                                      </p:cBhvr>
                                    </p:animEffect>
                                  </p:childTnLst>
                                </p:cTn>
                              </p:par>
                              <p:par>
                                <p:cTn id="41" presetID="22" presetClass="entr" presetSubtype="8" fill="hold" nodeType="withEffect">
                                  <p:stCondLst>
                                    <p:cond delay="890"/>
                                  </p:stCondLst>
                                  <p:childTnLst>
                                    <p:set>
                                      <p:cBhvr>
                                        <p:cTn id="42" dur="1" fill="hold">
                                          <p:stCondLst>
                                            <p:cond delay="0"/>
                                          </p:stCondLst>
                                        </p:cTn>
                                        <p:tgtEl>
                                          <p:spTgt spid="59"/>
                                        </p:tgtEl>
                                        <p:attrNameLst>
                                          <p:attrName>style.visibility</p:attrName>
                                        </p:attrNameLst>
                                      </p:cBhvr>
                                      <p:to>
                                        <p:strVal val="visible"/>
                                      </p:to>
                                    </p:set>
                                    <p:animEffect transition="in" filter="wipe(left)">
                                      <p:cBhvr>
                                        <p:cTn id="43" dur="600"/>
                                        <p:tgtEl>
                                          <p:spTgt spid="59"/>
                                        </p:tgtEl>
                                      </p:cBhvr>
                                    </p:animEffect>
                                  </p:childTnLst>
                                </p:cTn>
                              </p:par>
                              <p:par>
                                <p:cTn id="44" presetID="22" presetClass="entr" presetSubtype="8" fill="hold" nodeType="withEffect">
                                  <p:stCondLst>
                                    <p:cond delay="1050"/>
                                  </p:stCondLst>
                                  <p:childTnLst>
                                    <p:set>
                                      <p:cBhvr>
                                        <p:cTn id="45" dur="1" fill="hold">
                                          <p:stCondLst>
                                            <p:cond delay="0"/>
                                          </p:stCondLst>
                                        </p:cTn>
                                        <p:tgtEl>
                                          <p:spTgt spid="64"/>
                                        </p:tgtEl>
                                        <p:attrNameLst>
                                          <p:attrName>style.visibility</p:attrName>
                                        </p:attrNameLst>
                                      </p:cBhvr>
                                      <p:to>
                                        <p:strVal val="visible"/>
                                      </p:to>
                                    </p:set>
                                    <p:animEffect transition="in" filter="wipe(left)">
                                      <p:cBhvr>
                                        <p:cTn id="46" dur="6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4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372817" y="-2146547"/>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029565" y="4122182"/>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036968" y="4532411"/>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STATE OF THE ART</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Research Frontiers</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State of the Art</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lang="en-GB" sz="1000">
                <a:solidFill>
                  <a:srgbClr val="C9D2E3"/>
                </a:solidFill>
                <a:latin typeface="Segoe UI Semibold"/>
              </a:rPr>
              <a:t>16</a:t>
            </a:r>
            <a:r>
              <a:rPr sz="1000" b="0" i="0" dirty="0">
                <a:solidFill>
                  <a:srgbClr val="8C9AB5"/>
                </a:solidFill>
                <a:latin typeface="Segoe UI"/>
              </a:rPr>
              <a:t> / 30</a:t>
            </a:r>
          </a:p>
        </p:txBody>
      </p:sp>
      <p:grpSp>
        <p:nvGrpSpPr>
          <p:cNvPr id="36" name="Group 35"/>
          <p:cNvGrpSpPr/>
          <p:nvPr/>
        </p:nvGrpSpPr>
        <p:grpSpPr>
          <a:xfrm>
            <a:off x="548640" y="1645920"/>
            <a:ext cx="3593592" cy="2084831"/>
            <a:chOff x="548640" y="1645920"/>
            <a:chExt cx="3593592" cy="2084831"/>
          </a:xfrm>
        </p:grpSpPr>
        <p:sp>
          <p:nvSpPr>
            <p:cNvPr id="37" name="Rounded Rectangle 36"/>
            <p:cNvSpPr/>
            <p:nvPr/>
          </p:nvSpPr>
          <p:spPr>
            <a:xfrm>
              <a:off x="548640" y="1645920"/>
              <a:ext cx="3593592" cy="2084831"/>
            </a:xfrm>
            <a:prstGeom prst="roundRect">
              <a:avLst>
                <a:gd name="adj" fmla="val 7894"/>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38" name="Rectangle 37"/>
            <p:cNvSpPr/>
            <p:nvPr/>
          </p:nvSpPr>
          <p:spPr>
            <a:xfrm>
              <a:off x="548640" y="1901952"/>
              <a:ext cx="45720" cy="384048"/>
            </a:xfrm>
            <a:prstGeom prst="rect">
              <a:avLst/>
            </a:prstGeom>
            <a:solidFill>
              <a:srgbClr val="3987E5"/>
            </a:solidFill>
            <a:ln>
              <a:noFill/>
            </a:ln>
          </p:spPr>
          <p:txBody>
            <a:bodyPr wrap="square" rtlCol="0" anchor="ctr"/>
            <a:lstStyle/>
            <a:p>
              <a:pPr algn="ctr"/>
              <a:endParaRPr/>
            </a:p>
          </p:txBody>
        </p:sp>
        <p:sp>
          <p:nvSpPr>
            <p:cNvPr id="39" name="Rounded Rectangle 38"/>
            <p:cNvSpPr/>
            <p:nvPr/>
          </p:nvSpPr>
          <p:spPr>
            <a:xfrm>
              <a:off x="822959" y="1847088"/>
              <a:ext cx="1051560" cy="274320"/>
            </a:xfrm>
            <a:prstGeom prst="roundRect">
              <a:avLst>
                <a:gd name="adj" fmla="val 50000"/>
              </a:avLst>
            </a:prstGeom>
            <a:solidFill>
              <a:srgbClr val="3987E5">
                <a:alpha val="22000"/>
              </a:srgbClr>
            </a:solidFill>
            <a:ln w="9525">
              <a:solidFill>
                <a:srgbClr val="3987E5"/>
              </a:solidFill>
            </a:ln>
          </p:spPr>
          <p:txBody>
            <a:bodyPr wrap="square" lIns="0" tIns="0" rIns="0" bIns="0" rtlCol="0" anchor="ctr">
              <a:noAutofit/>
            </a:bodyPr>
            <a:lstStyle/>
            <a:p>
              <a:pPr algn="ctr">
                <a:lnSpc>
                  <a:spcPct val="112000"/>
                </a:lnSpc>
                <a:spcAft>
                  <a:spcPts val="0"/>
                </a:spcAft>
              </a:pPr>
              <a:r>
                <a:rPr sz="950" b="0" i="0">
                  <a:solidFill>
                    <a:srgbClr val="FFFFFF"/>
                  </a:solidFill>
                  <a:latin typeface="Segoe UI Semibold"/>
                </a:rPr>
                <a:t>EMERGING</a:t>
              </a:r>
            </a:p>
          </p:txBody>
        </p:sp>
        <p:sp>
          <p:nvSpPr>
            <p:cNvPr id="40" name="TextBox 39"/>
            <p:cNvSpPr txBox="1"/>
            <p:nvPr/>
          </p:nvSpPr>
          <p:spPr>
            <a:xfrm>
              <a:off x="804672" y="2212848"/>
              <a:ext cx="3154680" cy="411480"/>
            </a:xfrm>
            <a:prstGeom prst="rect">
              <a:avLst/>
            </a:prstGeom>
            <a:noFill/>
          </p:spPr>
          <p:txBody>
            <a:bodyPr wrap="square" lIns="0" tIns="0" rIns="0" bIns="0" anchor="t">
              <a:noAutofit/>
            </a:bodyPr>
            <a:lstStyle/>
            <a:p>
              <a:pPr algn="l">
                <a:lnSpc>
                  <a:spcPct val="112000"/>
                </a:lnSpc>
                <a:spcAft>
                  <a:spcPts val="0"/>
                </a:spcAft>
              </a:pPr>
              <a:r>
                <a:rPr sz="1550" b="0" i="0">
                  <a:solidFill>
                    <a:srgbClr val="FFFFFF"/>
                  </a:solidFill>
                  <a:latin typeface="Segoe UI Semibold"/>
                </a:rPr>
                <a:t>Sky computing</a:t>
              </a:r>
            </a:p>
          </p:txBody>
        </p:sp>
        <p:sp>
          <p:nvSpPr>
            <p:cNvPr id="41" name="TextBox 40"/>
            <p:cNvSpPr txBox="1"/>
            <p:nvPr/>
          </p:nvSpPr>
          <p:spPr>
            <a:xfrm>
              <a:off x="822959" y="2761488"/>
              <a:ext cx="3090672" cy="832104"/>
            </a:xfrm>
            <a:prstGeom prst="rect">
              <a:avLst/>
            </a:prstGeom>
            <a:noFill/>
          </p:spPr>
          <p:txBody>
            <a:bodyPr wrap="square" lIns="0" tIns="0" rIns="0" bIns="0" anchor="t">
              <a:noAutofit/>
            </a:bodyPr>
            <a:lstStyle/>
            <a:p>
              <a:pPr algn="l">
                <a:lnSpc>
                  <a:spcPct val="115000"/>
                </a:lnSpc>
                <a:spcAft>
                  <a:spcPts val="400"/>
                </a:spcAft>
              </a:pPr>
              <a:r>
                <a:rPr sz="1300" b="0" i="0">
                  <a:solidFill>
                    <a:srgbClr val="C9D2E3"/>
                  </a:solidFill>
                  <a:latin typeface="Segoe UI"/>
                </a:rPr>
                <a:t>Intercloud brokers that pick the cheapest available cloud per job (e.g. SkyPilot).</a:t>
              </a:r>
            </a:p>
          </p:txBody>
        </p:sp>
      </p:grpSp>
      <p:grpSp>
        <p:nvGrpSpPr>
          <p:cNvPr id="42" name="Group 41"/>
          <p:cNvGrpSpPr/>
          <p:nvPr/>
        </p:nvGrpSpPr>
        <p:grpSpPr>
          <a:xfrm>
            <a:off x="4297679" y="1645920"/>
            <a:ext cx="3593592" cy="2084831"/>
            <a:chOff x="4297679" y="1645920"/>
            <a:chExt cx="3593592" cy="2084831"/>
          </a:xfrm>
        </p:grpSpPr>
        <p:sp>
          <p:nvSpPr>
            <p:cNvPr id="43" name="Rounded Rectangle 42"/>
            <p:cNvSpPr/>
            <p:nvPr/>
          </p:nvSpPr>
          <p:spPr>
            <a:xfrm>
              <a:off x="4297679" y="1645920"/>
              <a:ext cx="3593592" cy="2084831"/>
            </a:xfrm>
            <a:prstGeom prst="roundRect">
              <a:avLst>
                <a:gd name="adj" fmla="val 7894"/>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44" name="Rectangle 43"/>
            <p:cNvSpPr/>
            <p:nvPr/>
          </p:nvSpPr>
          <p:spPr>
            <a:xfrm>
              <a:off x="4297679" y="1901952"/>
              <a:ext cx="45720" cy="384048"/>
            </a:xfrm>
            <a:prstGeom prst="rect">
              <a:avLst/>
            </a:prstGeom>
            <a:solidFill>
              <a:srgbClr val="199E70"/>
            </a:solidFill>
            <a:ln>
              <a:noFill/>
            </a:ln>
          </p:spPr>
          <p:txBody>
            <a:bodyPr wrap="square" rtlCol="0" anchor="ctr"/>
            <a:lstStyle/>
            <a:p>
              <a:pPr algn="ctr"/>
              <a:endParaRPr/>
            </a:p>
          </p:txBody>
        </p:sp>
        <p:sp>
          <p:nvSpPr>
            <p:cNvPr id="45" name="Rounded Rectangle 44"/>
            <p:cNvSpPr/>
            <p:nvPr/>
          </p:nvSpPr>
          <p:spPr>
            <a:xfrm>
              <a:off x="4571999" y="1847088"/>
              <a:ext cx="1051560" cy="274320"/>
            </a:xfrm>
            <a:prstGeom prst="roundRect">
              <a:avLst>
                <a:gd name="adj" fmla="val 50000"/>
              </a:avLst>
            </a:prstGeom>
            <a:solidFill>
              <a:srgbClr val="199E70">
                <a:alpha val="22000"/>
              </a:srgbClr>
            </a:solidFill>
            <a:ln w="9525">
              <a:solidFill>
                <a:srgbClr val="199E70"/>
              </a:solidFill>
            </a:ln>
          </p:spPr>
          <p:txBody>
            <a:bodyPr wrap="square" lIns="0" tIns="0" rIns="0" bIns="0" rtlCol="0" anchor="ctr">
              <a:noAutofit/>
            </a:bodyPr>
            <a:lstStyle/>
            <a:p>
              <a:pPr algn="ctr">
                <a:lnSpc>
                  <a:spcPct val="112000"/>
                </a:lnSpc>
                <a:spcAft>
                  <a:spcPts val="0"/>
                </a:spcAft>
              </a:pPr>
              <a:r>
                <a:rPr sz="950" b="0" i="0">
                  <a:solidFill>
                    <a:srgbClr val="FFFFFF"/>
                  </a:solidFill>
                  <a:latin typeface="Segoe UI Semibold"/>
                </a:rPr>
                <a:t>EMERGING</a:t>
              </a:r>
            </a:p>
          </p:txBody>
        </p:sp>
        <p:sp>
          <p:nvSpPr>
            <p:cNvPr id="46" name="TextBox 45"/>
            <p:cNvSpPr txBox="1"/>
            <p:nvPr/>
          </p:nvSpPr>
          <p:spPr>
            <a:xfrm>
              <a:off x="4553712" y="2212848"/>
              <a:ext cx="3154679" cy="411480"/>
            </a:xfrm>
            <a:prstGeom prst="rect">
              <a:avLst/>
            </a:prstGeom>
            <a:noFill/>
          </p:spPr>
          <p:txBody>
            <a:bodyPr wrap="square" lIns="0" tIns="0" rIns="0" bIns="0" anchor="t">
              <a:noAutofit/>
            </a:bodyPr>
            <a:lstStyle/>
            <a:p>
              <a:pPr algn="l">
                <a:lnSpc>
                  <a:spcPct val="112000"/>
                </a:lnSpc>
                <a:spcAft>
                  <a:spcPts val="0"/>
                </a:spcAft>
              </a:pPr>
              <a:r>
                <a:rPr sz="1550" b="0" i="0">
                  <a:solidFill>
                    <a:srgbClr val="FFFFFF"/>
                  </a:solidFill>
                  <a:latin typeface="Segoe UI Semibold"/>
                </a:rPr>
                <a:t>Intent-based management</a:t>
              </a:r>
            </a:p>
          </p:txBody>
        </p:sp>
        <p:sp>
          <p:nvSpPr>
            <p:cNvPr id="47" name="TextBox 46"/>
            <p:cNvSpPr txBox="1"/>
            <p:nvPr/>
          </p:nvSpPr>
          <p:spPr>
            <a:xfrm>
              <a:off x="4571999" y="2761488"/>
              <a:ext cx="3090672" cy="832104"/>
            </a:xfrm>
            <a:prstGeom prst="rect">
              <a:avLst/>
            </a:prstGeom>
            <a:noFill/>
          </p:spPr>
          <p:txBody>
            <a:bodyPr wrap="square" lIns="0" tIns="0" rIns="0" bIns="0" anchor="t">
              <a:noAutofit/>
            </a:bodyPr>
            <a:lstStyle/>
            <a:p>
              <a:pPr algn="l">
                <a:lnSpc>
                  <a:spcPct val="115000"/>
                </a:lnSpc>
                <a:spcAft>
                  <a:spcPts val="400"/>
                </a:spcAft>
              </a:pPr>
              <a:r>
                <a:rPr sz="1300" b="0" i="0">
                  <a:solidFill>
                    <a:srgbClr val="C9D2E3"/>
                  </a:solidFill>
                  <a:latin typeface="Segoe UI"/>
                </a:rPr>
                <a:t>Declare goals (SLO, budget, region); the system derives the configuration.</a:t>
              </a:r>
            </a:p>
          </p:txBody>
        </p:sp>
      </p:grpSp>
      <p:grpSp>
        <p:nvGrpSpPr>
          <p:cNvPr id="48" name="Group 47"/>
          <p:cNvGrpSpPr/>
          <p:nvPr/>
        </p:nvGrpSpPr>
        <p:grpSpPr>
          <a:xfrm>
            <a:off x="8046719" y="1645920"/>
            <a:ext cx="3593592" cy="2084831"/>
            <a:chOff x="8046719" y="1645920"/>
            <a:chExt cx="3593592" cy="2084831"/>
          </a:xfrm>
        </p:grpSpPr>
        <p:sp>
          <p:nvSpPr>
            <p:cNvPr id="49" name="Rounded Rectangle 48"/>
            <p:cNvSpPr/>
            <p:nvPr/>
          </p:nvSpPr>
          <p:spPr>
            <a:xfrm>
              <a:off x="8046719" y="1645920"/>
              <a:ext cx="3593592" cy="2084831"/>
            </a:xfrm>
            <a:prstGeom prst="roundRect">
              <a:avLst>
                <a:gd name="adj" fmla="val 7894"/>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50" name="Rectangle 49"/>
            <p:cNvSpPr/>
            <p:nvPr/>
          </p:nvSpPr>
          <p:spPr>
            <a:xfrm>
              <a:off x="8046719" y="1901952"/>
              <a:ext cx="45720" cy="384048"/>
            </a:xfrm>
            <a:prstGeom prst="rect">
              <a:avLst/>
            </a:prstGeom>
            <a:solidFill>
              <a:srgbClr val="D95926"/>
            </a:solidFill>
            <a:ln>
              <a:noFill/>
            </a:ln>
          </p:spPr>
          <p:txBody>
            <a:bodyPr wrap="square" rtlCol="0" anchor="ctr"/>
            <a:lstStyle/>
            <a:p>
              <a:pPr algn="ctr"/>
              <a:endParaRPr/>
            </a:p>
          </p:txBody>
        </p:sp>
        <p:sp>
          <p:nvSpPr>
            <p:cNvPr id="51" name="Rounded Rectangle 50"/>
            <p:cNvSpPr/>
            <p:nvPr/>
          </p:nvSpPr>
          <p:spPr>
            <a:xfrm>
              <a:off x="8321040" y="1847088"/>
              <a:ext cx="1051560" cy="274320"/>
            </a:xfrm>
            <a:prstGeom prst="roundRect">
              <a:avLst>
                <a:gd name="adj" fmla="val 50000"/>
              </a:avLst>
            </a:prstGeom>
            <a:solidFill>
              <a:srgbClr val="D95926">
                <a:alpha val="22000"/>
              </a:srgbClr>
            </a:solidFill>
            <a:ln w="9525">
              <a:solidFill>
                <a:srgbClr val="D95926"/>
              </a:solidFill>
            </a:ln>
          </p:spPr>
          <p:txBody>
            <a:bodyPr wrap="square" lIns="0" tIns="0" rIns="0" bIns="0" rtlCol="0" anchor="ctr">
              <a:noAutofit/>
            </a:bodyPr>
            <a:lstStyle/>
            <a:p>
              <a:pPr algn="ctr">
                <a:lnSpc>
                  <a:spcPct val="112000"/>
                </a:lnSpc>
                <a:spcAft>
                  <a:spcPts val="0"/>
                </a:spcAft>
              </a:pPr>
              <a:r>
                <a:rPr sz="950" b="0" i="0">
                  <a:solidFill>
                    <a:srgbClr val="FFFFFF"/>
                  </a:solidFill>
                  <a:latin typeface="Segoe UI Semibold"/>
                </a:rPr>
                <a:t>HOT</a:t>
              </a:r>
            </a:p>
          </p:txBody>
        </p:sp>
        <p:sp>
          <p:nvSpPr>
            <p:cNvPr id="52" name="TextBox 51"/>
            <p:cNvSpPr txBox="1"/>
            <p:nvPr/>
          </p:nvSpPr>
          <p:spPr>
            <a:xfrm>
              <a:off x="8302751" y="2212848"/>
              <a:ext cx="3154680" cy="411480"/>
            </a:xfrm>
            <a:prstGeom prst="rect">
              <a:avLst/>
            </a:prstGeom>
            <a:noFill/>
          </p:spPr>
          <p:txBody>
            <a:bodyPr wrap="square" lIns="0" tIns="0" rIns="0" bIns="0" anchor="t">
              <a:noAutofit/>
            </a:bodyPr>
            <a:lstStyle/>
            <a:p>
              <a:pPr algn="l">
                <a:lnSpc>
                  <a:spcPct val="112000"/>
                </a:lnSpc>
                <a:spcAft>
                  <a:spcPts val="0"/>
                </a:spcAft>
              </a:pPr>
              <a:r>
                <a:rPr sz="1550" b="0" i="0">
                  <a:solidFill>
                    <a:srgbClr val="FFFFFF"/>
                  </a:solidFill>
                  <a:latin typeface="Segoe UI Semibold"/>
                </a:rPr>
                <a:t>AI &amp; agentic operations</a:t>
              </a:r>
            </a:p>
          </p:txBody>
        </p:sp>
        <p:sp>
          <p:nvSpPr>
            <p:cNvPr id="53" name="TextBox 52"/>
            <p:cNvSpPr txBox="1"/>
            <p:nvPr/>
          </p:nvSpPr>
          <p:spPr>
            <a:xfrm>
              <a:off x="8321040" y="2761488"/>
              <a:ext cx="3090672" cy="832104"/>
            </a:xfrm>
            <a:prstGeom prst="rect">
              <a:avLst/>
            </a:prstGeom>
            <a:noFill/>
          </p:spPr>
          <p:txBody>
            <a:bodyPr wrap="square" lIns="0" tIns="0" rIns="0" bIns="0" anchor="t">
              <a:noAutofit/>
            </a:bodyPr>
            <a:lstStyle/>
            <a:p>
              <a:pPr algn="l">
                <a:lnSpc>
                  <a:spcPct val="115000"/>
                </a:lnSpc>
                <a:spcAft>
                  <a:spcPts val="400"/>
                </a:spcAft>
              </a:pPr>
              <a:r>
                <a:rPr sz="1300" b="0" i="0">
                  <a:solidFill>
                    <a:srgbClr val="C9D2E3"/>
                  </a:solidFill>
                  <a:latin typeface="Segoe UI"/>
                </a:rPr>
                <a:t>ML forecasting, DRL schedulers and LLM agents for planning and remediation.</a:t>
              </a:r>
            </a:p>
          </p:txBody>
        </p:sp>
      </p:grpSp>
      <p:grpSp>
        <p:nvGrpSpPr>
          <p:cNvPr id="54" name="Group 53"/>
          <p:cNvGrpSpPr/>
          <p:nvPr/>
        </p:nvGrpSpPr>
        <p:grpSpPr>
          <a:xfrm>
            <a:off x="548640" y="3867912"/>
            <a:ext cx="3593592" cy="2084831"/>
            <a:chOff x="548640" y="3867912"/>
            <a:chExt cx="3593592" cy="2084831"/>
          </a:xfrm>
        </p:grpSpPr>
        <p:sp>
          <p:nvSpPr>
            <p:cNvPr id="55" name="Rounded Rectangle 54"/>
            <p:cNvSpPr/>
            <p:nvPr/>
          </p:nvSpPr>
          <p:spPr>
            <a:xfrm>
              <a:off x="548640" y="3867912"/>
              <a:ext cx="3593592" cy="2084831"/>
            </a:xfrm>
            <a:prstGeom prst="roundRect">
              <a:avLst>
                <a:gd name="adj" fmla="val 7894"/>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56" name="Rectangle 55"/>
            <p:cNvSpPr/>
            <p:nvPr/>
          </p:nvSpPr>
          <p:spPr>
            <a:xfrm>
              <a:off x="548640" y="4123944"/>
              <a:ext cx="45720" cy="384048"/>
            </a:xfrm>
            <a:prstGeom prst="rect">
              <a:avLst/>
            </a:prstGeom>
            <a:solidFill>
              <a:srgbClr val="199E70"/>
            </a:solidFill>
            <a:ln>
              <a:noFill/>
            </a:ln>
          </p:spPr>
          <p:txBody>
            <a:bodyPr wrap="square" rtlCol="0" anchor="ctr"/>
            <a:lstStyle/>
            <a:p>
              <a:pPr algn="ctr"/>
              <a:endParaRPr/>
            </a:p>
          </p:txBody>
        </p:sp>
        <p:sp>
          <p:nvSpPr>
            <p:cNvPr id="57" name="Rounded Rectangle 56"/>
            <p:cNvSpPr/>
            <p:nvPr/>
          </p:nvSpPr>
          <p:spPr>
            <a:xfrm>
              <a:off x="822959" y="4069080"/>
              <a:ext cx="1051560" cy="274320"/>
            </a:xfrm>
            <a:prstGeom prst="roundRect">
              <a:avLst>
                <a:gd name="adj" fmla="val 50000"/>
              </a:avLst>
            </a:prstGeom>
            <a:solidFill>
              <a:srgbClr val="199E70">
                <a:alpha val="22000"/>
              </a:srgbClr>
            </a:solidFill>
            <a:ln w="9525">
              <a:solidFill>
                <a:srgbClr val="199E70"/>
              </a:solidFill>
            </a:ln>
          </p:spPr>
          <p:txBody>
            <a:bodyPr wrap="square" lIns="0" tIns="0" rIns="0" bIns="0" rtlCol="0" anchor="ctr">
              <a:noAutofit/>
            </a:bodyPr>
            <a:lstStyle/>
            <a:p>
              <a:pPr algn="ctr">
                <a:lnSpc>
                  <a:spcPct val="112000"/>
                </a:lnSpc>
                <a:spcAft>
                  <a:spcPts val="0"/>
                </a:spcAft>
              </a:pPr>
              <a:r>
                <a:rPr sz="950" b="0" i="0">
                  <a:solidFill>
                    <a:srgbClr val="FFFFFF"/>
                  </a:solidFill>
                  <a:latin typeface="Segoe UI Semibold"/>
                </a:rPr>
                <a:t>GROWING</a:t>
              </a:r>
            </a:p>
          </p:txBody>
        </p:sp>
        <p:sp>
          <p:nvSpPr>
            <p:cNvPr id="58" name="TextBox 57"/>
            <p:cNvSpPr txBox="1"/>
            <p:nvPr/>
          </p:nvSpPr>
          <p:spPr>
            <a:xfrm>
              <a:off x="804672" y="4434840"/>
              <a:ext cx="3154680" cy="411480"/>
            </a:xfrm>
            <a:prstGeom prst="rect">
              <a:avLst/>
            </a:prstGeom>
            <a:noFill/>
          </p:spPr>
          <p:txBody>
            <a:bodyPr wrap="square" lIns="0" tIns="0" rIns="0" bIns="0" anchor="t">
              <a:noAutofit/>
            </a:bodyPr>
            <a:lstStyle/>
            <a:p>
              <a:pPr algn="l">
                <a:lnSpc>
                  <a:spcPct val="112000"/>
                </a:lnSpc>
                <a:spcAft>
                  <a:spcPts val="0"/>
                </a:spcAft>
              </a:pPr>
              <a:r>
                <a:rPr sz="1550" b="0" i="0">
                  <a:solidFill>
                    <a:srgbClr val="FFFFFF"/>
                  </a:solidFill>
                  <a:latin typeface="Segoe UI Semibold"/>
                </a:rPr>
                <a:t>Carbon-aware scheduling</a:t>
              </a:r>
            </a:p>
          </p:txBody>
        </p:sp>
        <p:sp>
          <p:nvSpPr>
            <p:cNvPr id="59" name="TextBox 58"/>
            <p:cNvSpPr txBox="1"/>
            <p:nvPr/>
          </p:nvSpPr>
          <p:spPr>
            <a:xfrm>
              <a:off x="822959" y="4983480"/>
              <a:ext cx="3090672" cy="832103"/>
            </a:xfrm>
            <a:prstGeom prst="rect">
              <a:avLst/>
            </a:prstGeom>
            <a:noFill/>
          </p:spPr>
          <p:txBody>
            <a:bodyPr wrap="square" lIns="0" tIns="0" rIns="0" bIns="0" anchor="t">
              <a:noAutofit/>
            </a:bodyPr>
            <a:lstStyle/>
            <a:p>
              <a:pPr algn="l">
                <a:lnSpc>
                  <a:spcPct val="115000"/>
                </a:lnSpc>
                <a:spcAft>
                  <a:spcPts val="400"/>
                </a:spcAft>
              </a:pPr>
              <a:r>
                <a:rPr sz="1300" b="0" i="0">
                  <a:solidFill>
                    <a:srgbClr val="C9D2E3"/>
                  </a:solidFill>
                  <a:latin typeface="Segoe UI"/>
                </a:rPr>
                <a:t>Shift workloads in time and region to follow low-carbon electricity.</a:t>
              </a:r>
            </a:p>
          </p:txBody>
        </p:sp>
      </p:grpSp>
      <p:grpSp>
        <p:nvGrpSpPr>
          <p:cNvPr id="60" name="Group 59"/>
          <p:cNvGrpSpPr/>
          <p:nvPr/>
        </p:nvGrpSpPr>
        <p:grpSpPr>
          <a:xfrm>
            <a:off x="4297679" y="3867912"/>
            <a:ext cx="3593592" cy="2084831"/>
            <a:chOff x="4297679" y="3867912"/>
            <a:chExt cx="3593592" cy="2084831"/>
          </a:xfrm>
        </p:grpSpPr>
        <p:sp>
          <p:nvSpPr>
            <p:cNvPr id="61" name="Rounded Rectangle 60"/>
            <p:cNvSpPr/>
            <p:nvPr/>
          </p:nvSpPr>
          <p:spPr>
            <a:xfrm>
              <a:off x="4297679" y="3867912"/>
              <a:ext cx="3593592" cy="2084831"/>
            </a:xfrm>
            <a:prstGeom prst="roundRect">
              <a:avLst>
                <a:gd name="adj" fmla="val 7894"/>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62" name="Rectangle 61"/>
            <p:cNvSpPr/>
            <p:nvPr/>
          </p:nvSpPr>
          <p:spPr>
            <a:xfrm>
              <a:off x="4297679" y="4123944"/>
              <a:ext cx="45720" cy="384048"/>
            </a:xfrm>
            <a:prstGeom prst="rect">
              <a:avLst/>
            </a:prstGeom>
            <a:solidFill>
              <a:srgbClr val="9085E9"/>
            </a:solidFill>
            <a:ln>
              <a:noFill/>
            </a:ln>
          </p:spPr>
          <p:txBody>
            <a:bodyPr wrap="square" rtlCol="0" anchor="ctr"/>
            <a:lstStyle/>
            <a:p>
              <a:pPr algn="ctr"/>
              <a:endParaRPr/>
            </a:p>
          </p:txBody>
        </p:sp>
        <p:sp>
          <p:nvSpPr>
            <p:cNvPr id="63" name="Rounded Rectangle 62"/>
            <p:cNvSpPr/>
            <p:nvPr/>
          </p:nvSpPr>
          <p:spPr>
            <a:xfrm>
              <a:off x="4571999" y="4069080"/>
              <a:ext cx="1051560" cy="274320"/>
            </a:xfrm>
            <a:prstGeom prst="roundRect">
              <a:avLst>
                <a:gd name="adj" fmla="val 50000"/>
              </a:avLst>
            </a:prstGeom>
            <a:solidFill>
              <a:srgbClr val="9085E9">
                <a:alpha val="22000"/>
              </a:srgbClr>
            </a:solidFill>
            <a:ln w="9525">
              <a:solidFill>
                <a:srgbClr val="9085E9"/>
              </a:solidFill>
            </a:ln>
          </p:spPr>
          <p:txBody>
            <a:bodyPr wrap="square" lIns="0" tIns="0" rIns="0" bIns="0" rtlCol="0" anchor="ctr">
              <a:noAutofit/>
            </a:bodyPr>
            <a:lstStyle/>
            <a:p>
              <a:pPr algn="ctr">
                <a:lnSpc>
                  <a:spcPct val="112000"/>
                </a:lnSpc>
                <a:spcAft>
                  <a:spcPts val="0"/>
                </a:spcAft>
              </a:pPr>
              <a:r>
                <a:rPr sz="950" b="0" i="0">
                  <a:solidFill>
                    <a:srgbClr val="FFFFFF"/>
                  </a:solidFill>
                  <a:latin typeface="Segoe UI Semibold"/>
                </a:rPr>
                <a:t>GROWING</a:t>
              </a:r>
            </a:p>
          </p:txBody>
        </p:sp>
        <p:sp>
          <p:nvSpPr>
            <p:cNvPr id="64" name="TextBox 63"/>
            <p:cNvSpPr txBox="1"/>
            <p:nvPr/>
          </p:nvSpPr>
          <p:spPr>
            <a:xfrm>
              <a:off x="4553712" y="4434840"/>
              <a:ext cx="3154679" cy="411480"/>
            </a:xfrm>
            <a:prstGeom prst="rect">
              <a:avLst/>
            </a:prstGeom>
            <a:noFill/>
          </p:spPr>
          <p:txBody>
            <a:bodyPr wrap="square" lIns="0" tIns="0" rIns="0" bIns="0" anchor="t">
              <a:noAutofit/>
            </a:bodyPr>
            <a:lstStyle/>
            <a:p>
              <a:pPr algn="l">
                <a:lnSpc>
                  <a:spcPct val="112000"/>
                </a:lnSpc>
                <a:spcAft>
                  <a:spcPts val="0"/>
                </a:spcAft>
              </a:pPr>
              <a:r>
                <a:rPr sz="1550" b="0" i="0">
                  <a:solidFill>
                    <a:srgbClr val="FFFFFF"/>
                  </a:solidFill>
                  <a:latin typeface="Segoe UI Semibold"/>
                </a:rPr>
                <a:t>Cloud–edge continuum</a:t>
              </a:r>
            </a:p>
          </p:txBody>
        </p:sp>
        <p:sp>
          <p:nvSpPr>
            <p:cNvPr id="65" name="TextBox 64"/>
            <p:cNvSpPr txBox="1"/>
            <p:nvPr/>
          </p:nvSpPr>
          <p:spPr>
            <a:xfrm>
              <a:off x="4571999" y="4983480"/>
              <a:ext cx="3090672" cy="832103"/>
            </a:xfrm>
            <a:prstGeom prst="rect">
              <a:avLst/>
            </a:prstGeom>
            <a:noFill/>
          </p:spPr>
          <p:txBody>
            <a:bodyPr wrap="square" lIns="0" tIns="0" rIns="0" bIns="0" anchor="t">
              <a:noAutofit/>
            </a:bodyPr>
            <a:lstStyle/>
            <a:p>
              <a:pPr algn="l">
                <a:lnSpc>
                  <a:spcPct val="115000"/>
                </a:lnSpc>
                <a:spcAft>
                  <a:spcPts val="400"/>
                </a:spcAft>
              </a:pPr>
              <a:r>
                <a:rPr sz="1300" b="0" i="0">
                  <a:solidFill>
                    <a:srgbClr val="C9D2E3"/>
                  </a:solidFill>
                  <a:latin typeface="Segoe UI"/>
                </a:rPr>
                <a:t>Serverless and edge resources managed as one pool with the cloud.</a:t>
              </a:r>
            </a:p>
          </p:txBody>
        </p:sp>
      </p:grpSp>
      <p:grpSp>
        <p:nvGrpSpPr>
          <p:cNvPr id="66" name="Group 65"/>
          <p:cNvGrpSpPr/>
          <p:nvPr/>
        </p:nvGrpSpPr>
        <p:grpSpPr>
          <a:xfrm>
            <a:off x="8046719" y="3867912"/>
            <a:ext cx="3593592" cy="2084831"/>
            <a:chOff x="8046719" y="3867912"/>
            <a:chExt cx="3593592" cy="2084831"/>
          </a:xfrm>
        </p:grpSpPr>
        <p:sp>
          <p:nvSpPr>
            <p:cNvPr id="67" name="Rounded Rectangle 66"/>
            <p:cNvSpPr/>
            <p:nvPr/>
          </p:nvSpPr>
          <p:spPr>
            <a:xfrm>
              <a:off x="8046719" y="3867912"/>
              <a:ext cx="3593592" cy="2084831"/>
            </a:xfrm>
            <a:prstGeom prst="roundRect">
              <a:avLst>
                <a:gd name="adj" fmla="val 7894"/>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68" name="Rectangle 67"/>
            <p:cNvSpPr/>
            <p:nvPr/>
          </p:nvSpPr>
          <p:spPr>
            <a:xfrm>
              <a:off x="8046719" y="4123944"/>
              <a:ext cx="45720" cy="384048"/>
            </a:xfrm>
            <a:prstGeom prst="rect">
              <a:avLst/>
            </a:prstGeom>
            <a:solidFill>
              <a:srgbClr val="9085E9"/>
            </a:solidFill>
            <a:ln>
              <a:noFill/>
            </a:ln>
          </p:spPr>
          <p:txBody>
            <a:bodyPr wrap="square" rtlCol="0" anchor="ctr"/>
            <a:lstStyle/>
            <a:p>
              <a:pPr algn="ctr"/>
              <a:endParaRPr/>
            </a:p>
          </p:txBody>
        </p:sp>
        <p:sp>
          <p:nvSpPr>
            <p:cNvPr id="69" name="Rounded Rectangle 68"/>
            <p:cNvSpPr/>
            <p:nvPr/>
          </p:nvSpPr>
          <p:spPr>
            <a:xfrm>
              <a:off x="8321040" y="4069080"/>
              <a:ext cx="1051560" cy="274320"/>
            </a:xfrm>
            <a:prstGeom prst="roundRect">
              <a:avLst>
                <a:gd name="adj" fmla="val 50000"/>
              </a:avLst>
            </a:prstGeom>
            <a:solidFill>
              <a:srgbClr val="9085E9">
                <a:alpha val="22000"/>
              </a:srgbClr>
            </a:solidFill>
            <a:ln w="9525">
              <a:solidFill>
                <a:srgbClr val="9085E9"/>
              </a:solidFill>
            </a:ln>
          </p:spPr>
          <p:txBody>
            <a:bodyPr wrap="square" lIns="0" tIns="0" rIns="0" bIns="0" rtlCol="0" anchor="ctr">
              <a:noAutofit/>
            </a:bodyPr>
            <a:lstStyle/>
            <a:p>
              <a:pPr algn="ctr">
                <a:lnSpc>
                  <a:spcPct val="112000"/>
                </a:lnSpc>
                <a:spcAft>
                  <a:spcPts val="0"/>
                </a:spcAft>
              </a:pPr>
              <a:r>
                <a:rPr sz="950" b="0" i="0">
                  <a:solidFill>
                    <a:srgbClr val="FFFFFF"/>
                  </a:solidFill>
                  <a:latin typeface="Segoe UI Semibold"/>
                </a:rPr>
                <a:t>GROWING</a:t>
              </a:r>
            </a:p>
          </p:txBody>
        </p:sp>
        <p:sp>
          <p:nvSpPr>
            <p:cNvPr id="70" name="TextBox 69"/>
            <p:cNvSpPr txBox="1"/>
            <p:nvPr/>
          </p:nvSpPr>
          <p:spPr>
            <a:xfrm>
              <a:off x="8302751" y="4434840"/>
              <a:ext cx="3154680" cy="411480"/>
            </a:xfrm>
            <a:prstGeom prst="rect">
              <a:avLst/>
            </a:prstGeom>
            <a:noFill/>
          </p:spPr>
          <p:txBody>
            <a:bodyPr wrap="square" lIns="0" tIns="0" rIns="0" bIns="0" anchor="t">
              <a:noAutofit/>
            </a:bodyPr>
            <a:lstStyle/>
            <a:p>
              <a:pPr algn="l">
                <a:lnSpc>
                  <a:spcPct val="112000"/>
                </a:lnSpc>
                <a:spcAft>
                  <a:spcPts val="0"/>
                </a:spcAft>
              </a:pPr>
              <a:r>
                <a:rPr sz="1550" b="0" i="0">
                  <a:solidFill>
                    <a:srgbClr val="FFFFFF"/>
                  </a:solidFill>
                  <a:latin typeface="Segoe UI Semibold"/>
                </a:rPr>
                <a:t>Confidential &amp; sovereign</a:t>
              </a:r>
            </a:p>
          </p:txBody>
        </p:sp>
        <p:sp>
          <p:nvSpPr>
            <p:cNvPr id="71" name="TextBox 70"/>
            <p:cNvSpPr txBox="1"/>
            <p:nvPr/>
          </p:nvSpPr>
          <p:spPr>
            <a:xfrm>
              <a:off x="8321040" y="4983480"/>
              <a:ext cx="3090672" cy="832103"/>
            </a:xfrm>
            <a:prstGeom prst="rect">
              <a:avLst/>
            </a:prstGeom>
            <a:noFill/>
          </p:spPr>
          <p:txBody>
            <a:bodyPr wrap="square" lIns="0" tIns="0" rIns="0" bIns="0" anchor="t">
              <a:noAutofit/>
            </a:bodyPr>
            <a:lstStyle/>
            <a:p>
              <a:pPr algn="l">
                <a:lnSpc>
                  <a:spcPct val="115000"/>
                </a:lnSpc>
                <a:spcAft>
                  <a:spcPts val="400"/>
                </a:spcAft>
              </a:pPr>
              <a:r>
                <a:rPr sz="1300" b="0" i="0">
                  <a:solidFill>
                    <a:srgbClr val="C9D2E3"/>
                  </a:solidFill>
                  <a:latin typeface="Segoe UI"/>
                </a:rPr>
                <a:t>Trusted execution and sovereign clouds for regulated data anywhere.</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600"/>
                                        <p:tgtEl>
                                          <p:spTgt spid="36"/>
                                        </p:tgtEl>
                                      </p:cBhvr>
                                    </p:animEffect>
                                    <p:anim calcmode="lin" valueType="num">
                                      <p:cBhvr>
                                        <p:cTn id="8" dur="600" fill="hold"/>
                                        <p:tgtEl>
                                          <p:spTgt spid="36"/>
                                        </p:tgtEl>
                                        <p:attrNameLst>
                                          <p:attrName>ppt_x</p:attrName>
                                        </p:attrNameLst>
                                      </p:cBhvr>
                                      <p:tavLst>
                                        <p:tav tm="0">
                                          <p:val>
                                            <p:strVal val="#ppt_x"/>
                                          </p:val>
                                        </p:tav>
                                        <p:tav tm="100000">
                                          <p:val>
                                            <p:strVal val="#ppt_x"/>
                                          </p:val>
                                        </p:tav>
                                      </p:tavLst>
                                    </p:anim>
                                    <p:anim calcmode="lin" valueType="num">
                                      <p:cBhvr>
                                        <p:cTn id="9" dur="600" fill="hold"/>
                                        <p:tgtEl>
                                          <p:spTgt spid="36"/>
                                        </p:tgtEl>
                                        <p:attrNameLst>
                                          <p:attrName>ppt_y</p:attrName>
                                        </p:attrNameLst>
                                      </p:cBhvr>
                                      <p:tavLst>
                                        <p:tav tm="0">
                                          <p:val>
                                            <p:strVal val="#ppt_y+.08"/>
                                          </p:val>
                                        </p:tav>
                                        <p:tav tm="100000">
                                          <p:val>
                                            <p:strVal val="#ppt_y"/>
                                          </p:val>
                                        </p:tav>
                                      </p:tavLst>
                                    </p:anim>
                                  </p:childTnLst>
                                </p:cTn>
                              </p:par>
                              <p:par>
                                <p:cTn id="10" presetID="42" presetClass="entr" presetSubtype="0" fill="hold" nodeType="withEffect">
                                  <p:stCondLst>
                                    <p:cond delay="41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600"/>
                                        <p:tgtEl>
                                          <p:spTgt spid="42"/>
                                        </p:tgtEl>
                                      </p:cBhvr>
                                    </p:animEffect>
                                    <p:anim calcmode="lin" valueType="num">
                                      <p:cBhvr>
                                        <p:cTn id="13" dur="600" fill="hold"/>
                                        <p:tgtEl>
                                          <p:spTgt spid="42"/>
                                        </p:tgtEl>
                                        <p:attrNameLst>
                                          <p:attrName>ppt_x</p:attrName>
                                        </p:attrNameLst>
                                      </p:cBhvr>
                                      <p:tavLst>
                                        <p:tav tm="0">
                                          <p:val>
                                            <p:strVal val="#ppt_x"/>
                                          </p:val>
                                        </p:tav>
                                        <p:tav tm="100000">
                                          <p:val>
                                            <p:strVal val="#ppt_x"/>
                                          </p:val>
                                        </p:tav>
                                      </p:tavLst>
                                    </p:anim>
                                    <p:anim calcmode="lin" valueType="num">
                                      <p:cBhvr>
                                        <p:cTn id="14" dur="600" fill="hold"/>
                                        <p:tgtEl>
                                          <p:spTgt spid="42"/>
                                        </p:tgtEl>
                                        <p:attrNameLst>
                                          <p:attrName>ppt_y</p:attrName>
                                        </p:attrNameLst>
                                      </p:cBhvr>
                                      <p:tavLst>
                                        <p:tav tm="0">
                                          <p:val>
                                            <p:strVal val="#ppt_y+.08"/>
                                          </p:val>
                                        </p:tav>
                                        <p:tav tm="100000">
                                          <p:val>
                                            <p:strVal val="#ppt_y"/>
                                          </p:val>
                                        </p:tav>
                                      </p:tavLst>
                                    </p:anim>
                                  </p:childTnLst>
                                </p:cTn>
                              </p:par>
                              <p:par>
                                <p:cTn id="15" presetID="42" presetClass="entr" presetSubtype="0" fill="hold" nodeType="withEffect">
                                  <p:stCondLst>
                                    <p:cond delay="570"/>
                                  </p:stCondLst>
                                  <p:childTnLst>
                                    <p:set>
                                      <p:cBhvr>
                                        <p:cTn id="16" dur="1" fill="hold">
                                          <p:stCondLst>
                                            <p:cond delay="0"/>
                                          </p:stCondLst>
                                        </p:cTn>
                                        <p:tgtEl>
                                          <p:spTgt spid="48"/>
                                        </p:tgtEl>
                                        <p:attrNameLst>
                                          <p:attrName>style.visibility</p:attrName>
                                        </p:attrNameLst>
                                      </p:cBhvr>
                                      <p:to>
                                        <p:strVal val="visible"/>
                                      </p:to>
                                    </p:set>
                                    <p:animEffect transition="in" filter="fade">
                                      <p:cBhvr>
                                        <p:cTn id="17" dur="600"/>
                                        <p:tgtEl>
                                          <p:spTgt spid="48"/>
                                        </p:tgtEl>
                                      </p:cBhvr>
                                    </p:animEffect>
                                    <p:anim calcmode="lin" valueType="num">
                                      <p:cBhvr>
                                        <p:cTn id="18" dur="600" fill="hold"/>
                                        <p:tgtEl>
                                          <p:spTgt spid="48"/>
                                        </p:tgtEl>
                                        <p:attrNameLst>
                                          <p:attrName>ppt_x</p:attrName>
                                        </p:attrNameLst>
                                      </p:cBhvr>
                                      <p:tavLst>
                                        <p:tav tm="0">
                                          <p:val>
                                            <p:strVal val="#ppt_x"/>
                                          </p:val>
                                        </p:tav>
                                        <p:tav tm="100000">
                                          <p:val>
                                            <p:strVal val="#ppt_x"/>
                                          </p:val>
                                        </p:tav>
                                      </p:tavLst>
                                    </p:anim>
                                    <p:anim calcmode="lin" valueType="num">
                                      <p:cBhvr>
                                        <p:cTn id="19" dur="600" fill="hold"/>
                                        <p:tgtEl>
                                          <p:spTgt spid="48"/>
                                        </p:tgtEl>
                                        <p:attrNameLst>
                                          <p:attrName>ppt_y</p:attrName>
                                        </p:attrNameLst>
                                      </p:cBhvr>
                                      <p:tavLst>
                                        <p:tav tm="0">
                                          <p:val>
                                            <p:strVal val="#ppt_y+.08"/>
                                          </p:val>
                                        </p:tav>
                                        <p:tav tm="100000">
                                          <p:val>
                                            <p:strVal val="#ppt_y"/>
                                          </p:val>
                                        </p:tav>
                                      </p:tavLst>
                                    </p:anim>
                                  </p:childTnLst>
                                </p:cTn>
                              </p:par>
                              <p:par>
                                <p:cTn id="20" presetID="42" presetClass="entr" presetSubtype="0" fill="hold" nodeType="withEffect">
                                  <p:stCondLst>
                                    <p:cond delay="730"/>
                                  </p:stCondLst>
                                  <p:childTnLst>
                                    <p:set>
                                      <p:cBhvr>
                                        <p:cTn id="21" dur="1" fill="hold">
                                          <p:stCondLst>
                                            <p:cond delay="0"/>
                                          </p:stCondLst>
                                        </p:cTn>
                                        <p:tgtEl>
                                          <p:spTgt spid="54"/>
                                        </p:tgtEl>
                                        <p:attrNameLst>
                                          <p:attrName>style.visibility</p:attrName>
                                        </p:attrNameLst>
                                      </p:cBhvr>
                                      <p:to>
                                        <p:strVal val="visible"/>
                                      </p:to>
                                    </p:set>
                                    <p:animEffect transition="in" filter="fade">
                                      <p:cBhvr>
                                        <p:cTn id="22" dur="600"/>
                                        <p:tgtEl>
                                          <p:spTgt spid="54"/>
                                        </p:tgtEl>
                                      </p:cBhvr>
                                    </p:animEffect>
                                    <p:anim calcmode="lin" valueType="num">
                                      <p:cBhvr>
                                        <p:cTn id="23" dur="600" fill="hold"/>
                                        <p:tgtEl>
                                          <p:spTgt spid="54"/>
                                        </p:tgtEl>
                                        <p:attrNameLst>
                                          <p:attrName>ppt_x</p:attrName>
                                        </p:attrNameLst>
                                      </p:cBhvr>
                                      <p:tavLst>
                                        <p:tav tm="0">
                                          <p:val>
                                            <p:strVal val="#ppt_x"/>
                                          </p:val>
                                        </p:tav>
                                        <p:tav tm="100000">
                                          <p:val>
                                            <p:strVal val="#ppt_x"/>
                                          </p:val>
                                        </p:tav>
                                      </p:tavLst>
                                    </p:anim>
                                    <p:anim calcmode="lin" valueType="num">
                                      <p:cBhvr>
                                        <p:cTn id="24" dur="600" fill="hold"/>
                                        <p:tgtEl>
                                          <p:spTgt spid="54"/>
                                        </p:tgtEl>
                                        <p:attrNameLst>
                                          <p:attrName>ppt_y</p:attrName>
                                        </p:attrNameLst>
                                      </p:cBhvr>
                                      <p:tavLst>
                                        <p:tav tm="0">
                                          <p:val>
                                            <p:strVal val="#ppt_y+.08"/>
                                          </p:val>
                                        </p:tav>
                                        <p:tav tm="100000">
                                          <p:val>
                                            <p:strVal val="#ppt_y"/>
                                          </p:val>
                                        </p:tav>
                                      </p:tavLst>
                                    </p:anim>
                                  </p:childTnLst>
                                </p:cTn>
                              </p:par>
                              <p:par>
                                <p:cTn id="25" presetID="42" presetClass="entr" presetSubtype="0" fill="hold" nodeType="withEffect">
                                  <p:stCondLst>
                                    <p:cond delay="890"/>
                                  </p:stCondLst>
                                  <p:childTnLst>
                                    <p:set>
                                      <p:cBhvr>
                                        <p:cTn id="26" dur="1" fill="hold">
                                          <p:stCondLst>
                                            <p:cond delay="0"/>
                                          </p:stCondLst>
                                        </p:cTn>
                                        <p:tgtEl>
                                          <p:spTgt spid="60"/>
                                        </p:tgtEl>
                                        <p:attrNameLst>
                                          <p:attrName>style.visibility</p:attrName>
                                        </p:attrNameLst>
                                      </p:cBhvr>
                                      <p:to>
                                        <p:strVal val="visible"/>
                                      </p:to>
                                    </p:set>
                                    <p:animEffect transition="in" filter="fade">
                                      <p:cBhvr>
                                        <p:cTn id="27" dur="600"/>
                                        <p:tgtEl>
                                          <p:spTgt spid="60"/>
                                        </p:tgtEl>
                                      </p:cBhvr>
                                    </p:animEffect>
                                    <p:anim calcmode="lin" valueType="num">
                                      <p:cBhvr>
                                        <p:cTn id="28" dur="600" fill="hold"/>
                                        <p:tgtEl>
                                          <p:spTgt spid="60"/>
                                        </p:tgtEl>
                                        <p:attrNameLst>
                                          <p:attrName>ppt_x</p:attrName>
                                        </p:attrNameLst>
                                      </p:cBhvr>
                                      <p:tavLst>
                                        <p:tav tm="0">
                                          <p:val>
                                            <p:strVal val="#ppt_x"/>
                                          </p:val>
                                        </p:tav>
                                        <p:tav tm="100000">
                                          <p:val>
                                            <p:strVal val="#ppt_x"/>
                                          </p:val>
                                        </p:tav>
                                      </p:tavLst>
                                    </p:anim>
                                    <p:anim calcmode="lin" valueType="num">
                                      <p:cBhvr>
                                        <p:cTn id="29" dur="600" fill="hold"/>
                                        <p:tgtEl>
                                          <p:spTgt spid="60"/>
                                        </p:tgtEl>
                                        <p:attrNameLst>
                                          <p:attrName>ppt_y</p:attrName>
                                        </p:attrNameLst>
                                      </p:cBhvr>
                                      <p:tavLst>
                                        <p:tav tm="0">
                                          <p:val>
                                            <p:strVal val="#ppt_y+.08"/>
                                          </p:val>
                                        </p:tav>
                                        <p:tav tm="100000">
                                          <p:val>
                                            <p:strVal val="#ppt_y"/>
                                          </p:val>
                                        </p:tav>
                                      </p:tavLst>
                                    </p:anim>
                                  </p:childTnLst>
                                </p:cTn>
                              </p:par>
                              <p:par>
                                <p:cTn id="30" presetID="42" presetClass="entr" presetSubtype="0" fill="hold" nodeType="withEffect">
                                  <p:stCondLst>
                                    <p:cond delay="1050"/>
                                  </p:stCondLst>
                                  <p:childTnLst>
                                    <p:set>
                                      <p:cBhvr>
                                        <p:cTn id="31" dur="1" fill="hold">
                                          <p:stCondLst>
                                            <p:cond delay="0"/>
                                          </p:stCondLst>
                                        </p:cTn>
                                        <p:tgtEl>
                                          <p:spTgt spid="66"/>
                                        </p:tgtEl>
                                        <p:attrNameLst>
                                          <p:attrName>style.visibility</p:attrName>
                                        </p:attrNameLst>
                                      </p:cBhvr>
                                      <p:to>
                                        <p:strVal val="visible"/>
                                      </p:to>
                                    </p:set>
                                    <p:animEffect transition="in" filter="fade">
                                      <p:cBhvr>
                                        <p:cTn id="32" dur="600"/>
                                        <p:tgtEl>
                                          <p:spTgt spid="66"/>
                                        </p:tgtEl>
                                      </p:cBhvr>
                                    </p:animEffect>
                                    <p:anim calcmode="lin" valueType="num">
                                      <p:cBhvr>
                                        <p:cTn id="33" dur="600" fill="hold"/>
                                        <p:tgtEl>
                                          <p:spTgt spid="66"/>
                                        </p:tgtEl>
                                        <p:attrNameLst>
                                          <p:attrName>ppt_x</p:attrName>
                                        </p:attrNameLst>
                                      </p:cBhvr>
                                      <p:tavLst>
                                        <p:tav tm="0">
                                          <p:val>
                                            <p:strVal val="#ppt_x"/>
                                          </p:val>
                                        </p:tav>
                                        <p:tav tm="100000">
                                          <p:val>
                                            <p:strVal val="#ppt_x"/>
                                          </p:val>
                                        </p:tav>
                                      </p:tavLst>
                                    </p:anim>
                                    <p:anim calcmode="lin" valueType="num">
                                      <p:cBhvr>
                                        <p:cTn id="34" dur="600" fill="hold"/>
                                        <p:tgtEl>
                                          <p:spTgt spid="6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6217920" y="-1097280"/>
            <a:ext cx="7132320" cy="7132320"/>
          </a:xfrm>
          <a:prstGeom prst="ellipse">
            <a:avLst/>
          </a:prstGeom>
          <a:gradFill rotWithShape="1">
            <a:gsLst>
              <a:gs pos="0">
                <a:srgbClr val="3987E5">
                  <a:alpha val="42000"/>
                </a:srgbClr>
              </a:gs>
              <a:gs pos="55000">
                <a:srgbClr val="3987E5">
                  <a:alpha val="147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011680" y="3108960"/>
            <a:ext cx="5486400" cy="5486400"/>
          </a:xfrm>
          <a:prstGeom prst="ellipse">
            <a:avLst/>
          </a:prstGeom>
          <a:gradFill rotWithShape="1">
            <a:gsLst>
              <a:gs pos="0">
                <a:srgbClr val="199E70">
                  <a:alpha val="22000"/>
                </a:srgbClr>
              </a:gs>
              <a:gs pos="55000">
                <a:srgbClr val="199E70">
                  <a:alpha val="7700"/>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8778240" y="2926080"/>
            <a:ext cx="5120640" cy="5120640"/>
          </a:xfrm>
          <a:prstGeom prst="ellipse">
            <a:avLst/>
          </a:prstGeom>
          <a:gradFill rotWithShape="1">
            <a:gsLst>
              <a:gs pos="0">
                <a:srgbClr val="9085E9">
                  <a:alpha val="24000"/>
                </a:srgbClr>
              </a:gs>
              <a:gs pos="55000">
                <a:srgbClr val="9085E9">
                  <a:alpha val="8400"/>
                </a:srgbClr>
              </a:gs>
              <a:gs pos="100000">
                <a:srgbClr val="9085E9">
                  <a:alpha val="0"/>
                </a:srgbClr>
              </a:gs>
            </a:gsLst>
            <a:path path="circle">
              <a:fillToRect l="50000" t="50000" r="50000" b="50000"/>
            </a:path>
          </a:gradFill>
          <a:ln>
            <a:noFill/>
          </a:ln>
        </p:spPr>
        <p:txBody>
          <a:bodyPr wrap="square" rtlCol="0" anchor="ctr"/>
          <a:lstStyle/>
          <a:p>
            <a:pPr algn="ctr"/>
            <a:endParaRPr/>
          </a:p>
        </p:txBody>
      </p:sp>
      <p:sp>
        <p:nvSpPr>
          <p:cNvPr id="5" name="!!secnum"/>
          <p:cNvSpPr txBox="1"/>
          <p:nvPr/>
        </p:nvSpPr>
        <p:spPr>
          <a:xfrm>
            <a:off x="457200" y="822960"/>
            <a:ext cx="4572000" cy="2377440"/>
          </a:xfrm>
          <a:prstGeom prst="rect">
            <a:avLst/>
          </a:prstGeom>
          <a:noFill/>
        </p:spPr>
        <p:txBody>
          <a:bodyPr wrap="square" lIns="0" tIns="0" rIns="0" bIns="0" anchor="t">
            <a:noAutofit/>
          </a:bodyPr>
          <a:lstStyle/>
          <a:p>
            <a:pPr algn="l">
              <a:lnSpc>
                <a:spcPct val="112000"/>
              </a:lnSpc>
              <a:spcAft>
                <a:spcPts val="0"/>
              </a:spcAft>
            </a:pPr>
            <a:r>
              <a:rPr sz="15000" b="0" i="0">
                <a:gradFill>
                  <a:gsLst>
                    <a:gs pos="0">
                      <a:srgbClr val="D95926">
                        <a:alpha val="95000"/>
                      </a:srgbClr>
                    </a:gs>
                    <a:gs pos="100000">
                      <a:srgbClr val="D95926">
                        <a:alpha val="15000"/>
                      </a:srgbClr>
                    </a:gs>
                  </a:gsLst>
                  <a:lin ang="5400000" scaled="0"/>
                </a:gradFill>
                <a:latin typeface="Segoe UI Semibold"/>
              </a:rPr>
              <a:t>02</a:t>
            </a:r>
          </a:p>
        </p:txBody>
      </p:sp>
      <p:sp>
        <p:nvSpPr>
          <p:cNvPr id="6" name="TextBox 5"/>
          <p:cNvSpPr txBox="1"/>
          <p:nvPr/>
        </p:nvSpPr>
        <p:spPr>
          <a:xfrm>
            <a:off x="685800" y="3200400"/>
            <a:ext cx="3200400" cy="320040"/>
          </a:xfrm>
          <a:prstGeom prst="rect">
            <a:avLst/>
          </a:prstGeom>
          <a:noFill/>
        </p:spPr>
        <p:txBody>
          <a:bodyPr wrap="square" lIns="0" tIns="0" rIns="0" bIns="0" anchor="t">
            <a:noAutofit/>
          </a:bodyPr>
          <a:lstStyle/>
          <a:p>
            <a:pPr algn="l">
              <a:lnSpc>
                <a:spcPct val="112000"/>
              </a:lnSpc>
              <a:spcAft>
                <a:spcPts val="0"/>
              </a:spcAft>
            </a:pPr>
            <a:r>
              <a:rPr sz="1200" b="0" i="0" spc="400">
                <a:solidFill>
                  <a:srgbClr val="F4925F"/>
                </a:solidFill>
                <a:latin typeface="Segoe UI Semibold"/>
              </a:rPr>
              <a:t>PART 02</a:t>
            </a:r>
          </a:p>
        </p:txBody>
      </p:sp>
      <p:sp>
        <p:nvSpPr>
          <p:cNvPr id="7" name="!!title"/>
          <p:cNvSpPr txBox="1"/>
          <p:nvPr/>
        </p:nvSpPr>
        <p:spPr>
          <a:xfrm>
            <a:off x="640080" y="3520440"/>
            <a:ext cx="6858000" cy="914400"/>
          </a:xfrm>
          <a:prstGeom prst="rect">
            <a:avLst/>
          </a:prstGeom>
          <a:noFill/>
        </p:spPr>
        <p:txBody>
          <a:bodyPr wrap="square" lIns="0" tIns="0" rIns="0" bIns="0" anchor="t">
            <a:noAutofit/>
          </a:bodyPr>
          <a:lstStyle/>
          <a:p>
            <a:pPr algn="l">
              <a:lnSpc>
                <a:spcPct val="112000"/>
              </a:lnSpc>
              <a:spcAft>
                <a:spcPts val="0"/>
              </a:spcAft>
            </a:pPr>
            <a:r>
              <a:rPr sz="4600" b="0" i="0">
                <a:solidFill>
                  <a:srgbClr val="FFFFFF"/>
                </a:solidFill>
                <a:latin typeface="Segoe UI Semibold"/>
              </a:rPr>
              <a:t>Resource Allocation</a:t>
            </a:r>
          </a:p>
        </p:txBody>
      </p:sp>
      <p:sp>
        <p:nvSpPr>
          <p:cNvPr id="8" name="!!accent"/>
          <p:cNvSpPr/>
          <p:nvPr/>
        </p:nvSpPr>
        <p:spPr>
          <a:xfrm>
            <a:off x="685800" y="4526280"/>
            <a:ext cx="1188720" cy="64008"/>
          </a:xfrm>
          <a:prstGeom prst="rect">
            <a:avLst/>
          </a:prstGeom>
          <a:gradFill rotWithShape="1">
            <a:gsLst>
              <a:gs pos="0">
                <a:srgbClr val="D95926"/>
              </a:gs>
              <a:gs pos="100000">
                <a:srgbClr val="F4925F"/>
              </a:gs>
            </a:gsLst>
            <a:lin ang="0" scaled="0"/>
          </a:gradFill>
          <a:ln>
            <a:noFill/>
          </a:ln>
        </p:spPr>
        <p:txBody>
          <a:bodyPr wrap="square" rtlCol="0" anchor="ctr"/>
          <a:lstStyle/>
          <a:p>
            <a:pPr algn="ctr"/>
            <a:endParaRPr/>
          </a:p>
        </p:txBody>
      </p:sp>
      <p:sp>
        <p:nvSpPr>
          <p:cNvPr id="9" name="TextBox 8"/>
          <p:cNvSpPr txBox="1"/>
          <p:nvPr/>
        </p:nvSpPr>
        <p:spPr>
          <a:xfrm>
            <a:off x="640080" y="4754880"/>
            <a:ext cx="5943600" cy="914400"/>
          </a:xfrm>
          <a:prstGeom prst="rect">
            <a:avLst/>
          </a:prstGeom>
          <a:noFill/>
        </p:spPr>
        <p:txBody>
          <a:bodyPr wrap="square" lIns="0" tIns="0" rIns="0" bIns="0" anchor="t">
            <a:noAutofit/>
          </a:bodyPr>
          <a:lstStyle/>
          <a:p>
            <a:pPr algn="l">
              <a:lnSpc>
                <a:spcPct val="120000"/>
              </a:lnSpc>
              <a:spcAft>
                <a:spcPts val="0"/>
              </a:spcAft>
            </a:pPr>
            <a:r>
              <a:rPr sz="1600" b="0" i="0">
                <a:solidFill>
                  <a:srgbClr val="C9D2E3"/>
                </a:solidFill>
                <a:latin typeface="Segoe UI Light"/>
              </a:rPr>
              <a:t>Deciding which resources, on which cloud, at what time — and the algorithms that make those decisions.</a:t>
            </a:r>
          </a:p>
        </p:txBody>
      </p:sp>
      <p:grpSp>
        <p:nvGrpSpPr>
          <p:cNvPr id="10" name="Group 9"/>
          <p:cNvGrpSpPr/>
          <p:nvPr/>
        </p:nvGrpSpPr>
        <p:grpSpPr>
          <a:xfrm>
            <a:off x="7680960" y="1234440"/>
            <a:ext cx="3959352" cy="493776"/>
            <a:chOff x="7680960" y="1234440"/>
            <a:chExt cx="3959352" cy="493776"/>
          </a:xfrm>
        </p:grpSpPr>
        <p:sp>
          <p:nvSpPr>
            <p:cNvPr id="11" name="Rounded Rectangle 10"/>
            <p:cNvSpPr/>
            <p:nvPr/>
          </p:nvSpPr>
          <p:spPr>
            <a:xfrm>
              <a:off x="7680960" y="1234440"/>
              <a:ext cx="3959352" cy="493776"/>
            </a:xfrm>
            <a:prstGeom prst="roundRect">
              <a:avLst>
                <a:gd name="adj" fmla="val 50000"/>
              </a:avLst>
            </a:prstGeom>
            <a:solidFill>
              <a:srgbClr val="13213D">
                <a:alpha val="85000"/>
              </a:srgbClr>
            </a:solidFill>
            <a:ln w="9525">
              <a:solidFill>
                <a:srgbClr val="2A3F69"/>
              </a:solidFill>
            </a:ln>
          </p:spPr>
          <p:txBody>
            <a:bodyPr wrap="square" rtlCol="0" anchor="ctr"/>
            <a:lstStyle/>
            <a:p>
              <a:pPr algn="ctr"/>
              <a:endParaRPr/>
            </a:p>
          </p:txBody>
        </p:sp>
        <p:sp>
          <p:nvSpPr>
            <p:cNvPr id="12" name="Oval 11"/>
            <p:cNvSpPr/>
            <p:nvPr/>
          </p:nvSpPr>
          <p:spPr>
            <a:xfrm>
              <a:off x="7818120" y="1389888"/>
              <a:ext cx="182880" cy="182880"/>
            </a:xfrm>
            <a:prstGeom prst="ellipse">
              <a:avLst/>
            </a:prstGeom>
            <a:solidFill>
              <a:srgbClr val="D95926"/>
            </a:solidFill>
            <a:ln>
              <a:noFill/>
            </a:ln>
          </p:spPr>
          <p:txBody>
            <a:bodyPr wrap="square" rtlCol="0" anchor="ctr"/>
            <a:lstStyle/>
            <a:p>
              <a:pPr algn="ctr"/>
              <a:endParaRPr/>
            </a:p>
          </p:txBody>
        </p:sp>
        <p:sp>
          <p:nvSpPr>
            <p:cNvPr id="13" name="TextBox 12"/>
            <p:cNvSpPr txBox="1"/>
            <p:nvPr/>
          </p:nvSpPr>
          <p:spPr>
            <a:xfrm>
              <a:off x="8138160" y="1234440"/>
              <a:ext cx="2743200" cy="493776"/>
            </a:xfrm>
            <a:prstGeom prst="rect">
              <a:avLst/>
            </a:prstGeom>
            <a:noFill/>
          </p:spPr>
          <p:txBody>
            <a:bodyPr wrap="square" lIns="0" tIns="0" rIns="0" bIns="0" anchor="ctr">
              <a:noAutofit/>
            </a:bodyPr>
            <a:lstStyle/>
            <a:p>
              <a:pPr algn="l">
                <a:lnSpc>
                  <a:spcPct val="112000"/>
                </a:lnSpc>
                <a:spcAft>
                  <a:spcPts val="0"/>
                </a:spcAft>
              </a:pPr>
              <a:r>
                <a:rPr sz="1300" b="0" i="0">
                  <a:solidFill>
                    <a:srgbClr val="FFFFFF"/>
                  </a:solidFill>
                  <a:latin typeface="Segoe UI Semibold"/>
                </a:rPr>
                <a:t>Problem formulation</a:t>
              </a:r>
            </a:p>
          </p:txBody>
        </p:sp>
        <p:sp>
          <p:nvSpPr>
            <p:cNvPr id="14" name="TextBox 13"/>
            <p:cNvSpPr txBox="1"/>
            <p:nvPr/>
          </p:nvSpPr>
          <p:spPr>
            <a:xfrm>
              <a:off x="10744200" y="1234440"/>
              <a:ext cx="777240" cy="493776"/>
            </a:xfrm>
            <a:prstGeom prst="rect">
              <a:avLst/>
            </a:prstGeom>
            <a:noFill/>
          </p:spPr>
          <p:txBody>
            <a:bodyPr wrap="square" lIns="0" tIns="0" rIns="0" bIns="0" anchor="ctr">
              <a:noAutofit/>
            </a:bodyPr>
            <a:lstStyle/>
            <a:p>
              <a:pPr algn="r">
                <a:lnSpc>
                  <a:spcPct val="112000"/>
                </a:lnSpc>
                <a:spcAft>
                  <a:spcPts val="0"/>
                </a:spcAft>
              </a:pPr>
              <a:r>
                <a:rPr sz="1100" b="0" i="0">
                  <a:solidFill>
                    <a:srgbClr val="8C9AB5"/>
                  </a:solidFill>
                  <a:latin typeface="Segoe UI"/>
                </a:rPr>
                <a:t>17</a:t>
              </a:r>
            </a:p>
          </p:txBody>
        </p:sp>
      </p:grpSp>
      <p:grpSp>
        <p:nvGrpSpPr>
          <p:cNvPr id="15" name="Group 14"/>
          <p:cNvGrpSpPr/>
          <p:nvPr/>
        </p:nvGrpSpPr>
        <p:grpSpPr>
          <a:xfrm>
            <a:off x="7680960" y="1837944"/>
            <a:ext cx="3959352" cy="493776"/>
            <a:chOff x="7680960" y="1837944"/>
            <a:chExt cx="3959352" cy="493776"/>
          </a:xfrm>
        </p:grpSpPr>
        <p:sp>
          <p:nvSpPr>
            <p:cNvPr id="16" name="Rounded Rectangle 15"/>
            <p:cNvSpPr/>
            <p:nvPr/>
          </p:nvSpPr>
          <p:spPr>
            <a:xfrm>
              <a:off x="7680960" y="1837944"/>
              <a:ext cx="3959352" cy="493776"/>
            </a:xfrm>
            <a:prstGeom prst="roundRect">
              <a:avLst>
                <a:gd name="adj" fmla="val 50000"/>
              </a:avLst>
            </a:prstGeom>
            <a:solidFill>
              <a:srgbClr val="13213D">
                <a:alpha val="85000"/>
              </a:srgbClr>
            </a:solidFill>
            <a:ln w="9525">
              <a:solidFill>
                <a:srgbClr val="2A3F69"/>
              </a:solidFill>
            </a:ln>
          </p:spPr>
          <p:txBody>
            <a:bodyPr wrap="square" rtlCol="0" anchor="ctr"/>
            <a:lstStyle/>
            <a:p>
              <a:pPr algn="ctr"/>
              <a:endParaRPr/>
            </a:p>
          </p:txBody>
        </p:sp>
        <p:sp>
          <p:nvSpPr>
            <p:cNvPr id="17" name="Oval 16"/>
            <p:cNvSpPr/>
            <p:nvPr/>
          </p:nvSpPr>
          <p:spPr>
            <a:xfrm>
              <a:off x="7818120" y="1993392"/>
              <a:ext cx="182880" cy="182880"/>
            </a:xfrm>
            <a:prstGeom prst="ellipse">
              <a:avLst/>
            </a:prstGeom>
            <a:solidFill>
              <a:srgbClr val="D95926"/>
            </a:solidFill>
            <a:ln>
              <a:noFill/>
            </a:ln>
          </p:spPr>
          <p:txBody>
            <a:bodyPr wrap="square" rtlCol="0" anchor="ctr"/>
            <a:lstStyle/>
            <a:p>
              <a:pPr algn="ctr"/>
              <a:endParaRPr/>
            </a:p>
          </p:txBody>
        </p:sp>
        <p:sp>
          <p:nvSpPr>
            <p:cNvPr id="18" name="TextBox 17"/>
            <p:cNvSpPr txBox="1"/>
            <p:nvPr/>
          </p:nvSpPr>
          <p:spPr>
            <a:xfrm>
              <a:off x="8138160" y="1837944"/>
              <a:ext cx="2743200" cy="493776"/>
            </a:xfrm>
            <a:prstGeom prst="rect">
              <a:avLst/>
            </a:prstGeom>
            <a:noFill/>
          </p:spPr>
          <p:txBody>
            <a:bodyPr wrap="square" lIns="0" tIns="0" rIns="0" bIns="0" anchor="ctr">
              <a:noAutofit/>
            </a:bodyPr>
            <a:lstStyle/>
            <a:p>
              <a:pPr algn="l">
                <a:lnSpc>
                  <a:spcPct val="112000"/>
                </a:lnSpc>
                <a:spcAft>
                  <a:spcPts val="0"/>
                </a:spcAft>
              </a:pPr>
              <a:r>
                <a:rPr sz="1300" b="0" i="0">
                  <a:solidFill>
                    <a:srgbClr val="FFFFFF"/>
                  </a:solidFill>
                  <a:latin typeface="Segoe UI Semibold"/>
                </a:rPr>
                <a:t>Objectives &amp; trade-offs</a:t>
              </a:r>
            </a:p>
          </p:txBody>
        </p:sp>
        <p:sp>
          <p:nvSpPr>
            <p:cNvPr id="19" name="TextBox 18"/>
            <p:cNvSpPr txBox="1"/>
            <p:nvPr/>
          </p:nvSpPr>
          <p:spPr>
            <a:xfrm>
              <a:off x="10744200" y="1837944"/>
              <a:ext cx="777240" cy="493776"/>
            </a:xfrm>
            <a:prstGeom prst="rect">
              <a:avLst/>
            </a:prstGeom>
            <a:noFill/>
          </p:spPr>
          <p:txBody>
            <a:bodyPr wrap="square" lIns="0" tIns="0" rIns="0" bIns="0" anchor="ctr">
              <a:noAutofit/>
            </a:bodyPr>
            <a:lstStyle/>
            <a:p>
              <a:pPr algn="r">
                <a:lnSpc>
                  <a:spcPct val="112000"/>
                </a:lnSpc>
                <a:spcAft>
                  <a:spcPts val="0"/>
                </a:spcAft>
              </a:pPr>
              <a:r>
                <a:rPr sz="1100" b="0" i="0">
                  <a:solidFill>
                    <a:srgbClr val="8C9AB5"/>
                  </a:solidFill>
                  <a:latin typeface="Segoe UI"/>
                </a:rPr>
                <a:t>18</a:t>
              </a:r>
            </a:p>
          </p:txBody>
        </p:sp>
      </p:grpSp>
      <p:grpSp>
        <p:nvGrpSpPr>
          <p:cNvPr id="20" name="Group 19"/>
          <p:cNvGrpSpPr/>
          <p:nvPr/>
        </p:nvGrpSpPr>
        <p:grpSpPr>
          <a:xfrm>
            <a:off x="7680960" y="2441448"/>
            <a:ext cx="3959352" cy="493776"/>
            <a:chOff x="7680960" y="2441448"/>
            <a:chExt cx="3959352" cy="493776"/>
          </a:xfrm>
        </p:grpSpPr>
        <p:sp>
          <p:nvSpPr>
            <p:cNvPr id="21" name="Rounded Rectangle 20"/>
            <p:cNvSpPr/>
            <p:nvPr/>
          </p:nvSpPr>
          <p:spPr>
            <a:xfrm>
              <a:off x="7680960" y="2441448"/>
              <a:ext cx="3959352" cy="493776"/>
            </a:xfrm>
            <a:prstGeom prst="roundRect">
              <a:avLst>
                <a:gd name="adj" fmla="val 50000"/>
              </a:avLst>
            </a:prstGeom>
            <a:solidFill>
              <a:srgbClr val="13213D">
                <a:alpha val="85000"/>
              </a:srgbClr>
            </a:solidFill>
            <a:ln w="9525">
              <a:solidFill>
                <a:srgbClr val="2A3F69"/>
              </a:solidFill>
            </a:ln>
          </p:spPr>
          <p:txBody>
            <a:bodyPr wrap="square" rtlCol="0" anchor="ctr"/>
            <a:lstStyle/>
            <a:p>
              <a:pPr algn="ctr"/>
              <a:endParaRPr/>
            </a:p>
          </p:txBody>
        </p:sp>
        <p:sp>
          <p:nvSpPr>
            <p:cNvPr id="22" name="Oval 21"/>
            <p:cNvSpPr/>
            <p:nvPr/>
          </p:nvSpPr>
          <p:spPr>
            <a:xfrm>
              <a:off x="7818120" y="2596896"/>
              <a:ext cx="182880" cy="182880"/>
            </a:xfrm>
            <a:prstGeom prst="ellipse">
              <a:avLst/>
            </a:prstGeom>
            <a:solidFill>
              <a:srgbClr val="D95926"/>
            </a:solidFill>
            <a:ln>
              <a:noFill/>
            </a:ln>
          </p:spPr>
          <p:txBody>
            <a:bodyPr wrap="square" rtlCol="0" anchor="ctr"/>
            <a:lstStyle/>
            <a:p>
              <a:pPr algn="ctr"/>
              <a:endParaRPr/>
            </a:p>
          </p:txBody>
        </p:sp>
        <p:sp>
          <p:nvSpPr>
            <p:cNvPr id="23" name="TextBox 22"/>
            <p:cNvSpPr txBox="1"/>
            <p:nvPr/>
          </p:nvSpPr>
          <p:spPr>
            <a:xfrm>
              <a:off x="8138160" y="2441448"/>
              <a:ext cx="2743200" cy="493776"/>
            </a:xfrm>
            <a:prstGeom prst="rect">
              <a:avLst/>
            </a:prstGeom>
            <a:noFill/>
          </p:spPr>
          <p:txBody>
            <a:bodyPr wrap="square" lIns="0" tIns="0" rIns="0" bIns="0" anchor="ctr">
              <a:noAutofit/>
            </a:bodyPr>
            <a:lstStyle/>
            <a:p>
              <a:pPr algn="l">
                <a:lnSpc>
                  <a:spcPct val="112000"/>
                </a:lnSpc>
                <a:spcAft>
                  <a:spcPts val="0"/>
                </a:spcAft>
              </a:pPr>
              <a:r>
                <a:rPr sz="1300" b="0" i="0">
                  <a:solidFill>
                    <a:srgbClr val="FFFFFF"/>
                  </a:solidFill>
                  <a:latin typeface="Segoe UI Semibold"/>
                </a:rPr>
                <a:t>Taxonomy of approaches</a:t>
              </a:r>
            </a:p>
          </p:txBody>
        </p:sp>
        <p:sp>
          <p:nvSpPr>
            <p:cNvPr id="24" name="TextBox 23"/>
            <p:cNvSpPr txBox="1"/>
            <p:nvPr/>
          </p:nvSpPr>
          <p:spPr>
            <a:xfrm>
              <a:off x="10744200" y="2441448"/>
              <a:ext cx="777240" cy="493776"/>
            </a:xfrm>
            <a:prstGeom prst="rect">
              <a:avLst/>
            </a:prstGeom>
            <a:noFill/>
          </p:spPr>
          <p:txBody>
            <a:bodyPr wrap="square" lIns="0" tIns="0" rIns="0" bIns="0" anchor="ctr">
              <a:noAutofit/>
            </a:bodyPr>
            <a:lstStyle/>
            <a:p>
              <a:pPr algn="r">
                <a:lnSpc>
                  <a:spcPct val="112000"/>
                </a:lnSpc>
                <a:spcAft>
                  <a:spcPts val="0"/>
                </a:spcAft>
              </a:pPr>
              <a:r>
                <a:rPr sz="1100" b="0" i="0">
                  <a:solidFill>
                    <a:srgbClr val="8C9AB5"/>
                  </a:solidFill>
                  <a:latin typeface="Segoe UI"/>
                </a:rPr>
                <a:t>19</a:t>
              </a:r>
            </a:p>
          </p:txBody>
        </p:sp>
      </p:grpSp>
      <p:grpSp>
        <p:nvGrpSpPr>
          <p:cNvPr id="25" name="Group 24"/>
          <p:cNvGrpSpPr/>
          <p:nvPr/>
        </p:nvGrpSpPr>
        <p:grpSpPr>
          <a:xfrm>
            <a:off x="7680960" y="3044952"/>
            <a:ext cx="3959352" cy="493776"/>
            <a:chOff x="7680960" y="3044952"/>
            <a:chExt cx="3959352" cy="493776"/>
          </a:xfrm>
        </p:grpSpPr>
        <p:sp>
          <p:nvSpPr>
            <p:cNvPr id="26" name="Rounded Rectangle 25"/>
            <p:cNvSpPr/>
            <p:nvPr/>
          </p:nvSpPr>
          <p:spPr>
            <a:xfrm>
              <a:off x="7680960" y="3044952"/>
              <a:ext cx="3959352" cy="493776"/>
            </a:xfrm>
            <a:prstGeom prst="roundRect">
              <a:avLst>
                <a:gd name="adj" fmla="val 50000"/>
              </a:avLst>
            </a:prstGeom>
            <a:solidFill>
              <a:srgbClr val="13213D">
                <a:alpha val="85000"/>
              </a:srgbClr>
            </a:solidFill>
            <a:ln w="9525">
              <a:solidFill>
                <a:srgbClr val="2A3F69"/>
              </a:solidFill>
            </a:ln>
          </p:spPr>
          <p:txBody>
            <a:bodyPr wrap="square" rtlCol="0" anchor="ctr"/>
            <a:lstStyle/>
            <a:p>
              <a:pPr algn="ctr"/>
              <a:endParaRPr/>
            </a:p>
          </p:txBody>
        </p:sp>
        <p:sp>
          <p:nvSpPr>
            <p:cNvPr id="27" name="Oval 26"/>
            <p:cNvSpPr/>
            <p:nvPr/>
          </p:nvSpPr>
          <p:spPr>
            <a:xfrm>
              <a:off x="7818120" y="3200400"/>
              <a:ext cx="182880" cy="182880"/>
            </a:xfrm>
            <a:prstGeom prst="ellipse">
              <a:avLst/>
            </a:prstGeom>
            <a:solidFill>
              <a:srgbClr val="D95926"/>
            </a:solidFill>
            <a:ln>
              <a:noFill/>
            </a:ln>
          </p:spPr>
          <p:txBody>
            <a:bodyPr wrap="square" rtlCol="0" anchor="ctr"/>
            <a:lstStyle/>
            <a:p>
              <a:pPr algn="ctr"/>
              <a:endParaRPr/>
            </a:p>
          </p:txBody>
        </p:sp>
        <p:sp>
          <p:nvSpPr>
            <p:cNvPr id="28" name="TextBox 27"/>
            <p:cNvSpPr txBox="1"/>
            <p:nvPr/>
          </p:nvSpPr>
          <p:spPr>
            <a:xfrm>
              <a:off x="8138160" y="3044952"/>
              <a:ext cx="2743200" cy="493776"/>
            </a:xfrm>
            <a:prstGeom prst="rect">
              <a:avLst/>
            </a:prstGeom>
            <a:noFill/>
          </p:spPr>
          <p:txBody>
            <a:bodyPr wrap="square" lIns="0" tIns="0" rIns="0" bIns="0" anchor="ctr">
              <a:noAutofit/>
            </a:bodyPr>
            <a:lstStyle/>
            <a:p>
              <a:pPr algn="l">
                <a:lnSpc>
                  <a:spcPct val="112000"/>
                </a:lnSpc>
                <a:spcAft>
                  <a:spcPts val="0"/>
                </a:spcAft>
              </a:pPr>
              <a:r>
                <a:rPr sz="1300" b="0" i="0">
                  <a:solidFill>
                    <a:srgbClr val="FFFFFF"/>
                  </a:solidFill>
                  <a:latin typeface="Segoe UI Semibold"/>
                </a:rPr>
                <a:t>Exact &amp; heuristic methods</a:t>
              </a:r>
            </a:p>
          </p:txBody>
        </p:sp>
        <p:sp>
          <p:nvSpPr>
            <p:cNvPr id="29" name="TextBox 28"/>
            <p:cNvSpPr txBox="1"/>
            <p:nvPr/>
          </p:nvSpPr>
          <p:spPr>
            <a:xfrm>
              <a:off x="10744200" y="3044952"/>
              <a:ext cx="777240" cy="493776"/>
            </a:xfrm>
            <a:prstGeom prst="rect">
              <a:avLst/>
            </a:prstGeom>
            <a:noFill/>
          </p:spPr>
          <p:txBody>
            <a:bodyPr wrap="square" lIns="0" tIns="0" rIns="0" bIns="0" anchor="ctr">
              <a:noAutofit/>
            </a:bodyPr>
            <a:lstStyle/>
            <a:p>
              <a:pPr algn="r">
                <a:lnSpc>
                  <a:spcPct val="112000"/>
                </a:lnSpc>
                <a:spcAft>
                  <a:spcPts val="0"/>
                </a:spcAft>
              </a:pPr>
              <a:r>
                <a:rPr sz="1100" b="0" i="0">
                  <a:solidFill>
                    <a:srgbClr val="8C9AB5"/>
                  </a:solidFill>
                  <a:latin typeface="Segoe UI"/>
                </a:rPr>
                <a:t>20</a:t>
              </a:r>
            </a:p>
          </p:txBody>
        </p:sp>
      </p:grpSp>
      <p:grpSp>
        <p:nvGrpSpPr>
          <p:cNvPr id="30" name="Group 29"/>
          <p:cNvGrpSpPr/>
          <p:nvPr/>
        </p:nvGrpSpPr>
        <p:grpSpPr>
          <a:xfrm>
            <a:off x="7680960" y="3648456"/>
            <a:ext cx="3959352" cy="493776"/>
            <a:chOff x="7680960" y="3648456"/>
            <a:chExt cx="3959352" cy="493776"/>
          </a:xfrm>
        </p:grpSpPr>
        <p:sp>
          <p:nvSpPr>
            <p:cNvPr id="31" name="Rounded Rectangle 30"/>
            <p:cNvSpPr/>
            <p:nvPr/>
          </p:nvSpPr>
          <p:spPr>
            <a:xfrm>
              <a:off x="7680960" y="3648456"/>
              <a:ext cx="3959352" cy="493776"/>
            </a:xfrm>
            <a:prstGeom prst="roundRect">
              <a:avLst>
                <a:gd name="adj" fmla="val 50000"/>
              </a:avLst>
            </a:prstGeom>
            <a:solidFill>
              <a:srgbClr val="13213D">
                <a:alpha val="85000"/>
              </a:srgbClr>
            </a:solidFill>
            <a:ln w="9525">
              <a:solidFill>
                <a:srgbClr val="2A3F69"/>
              </a:solidFill>
            </a:ln>
          </p:spPr>
          <p:txBody>
            <a:bodyPr wrap="square" rtlCol="0" anchor="ctr"/>
            <a:lstStyle/>
            <a:p>
              <a:pPr algn="ctr"/>
              <a:endParaRPr/>
            </a:p>
          </p:txBody>
        </p:sp>
        <p:sp>
          <p:nvSpPr>
            <p:cNvPr id="32" name="Oval 31"/>
            <p:cNvSpPr/>
            <p:nvPr/>
          </p:nvSpPr>
          <p:spPr>
            <a:xfrm>
              <a:off x="7818120" y="3803904"/>
              <a:ext cx="182880" cy="182880"/>
            </a:xfrm>
            <a:prstGeom prst="ellipse">
              <a:avLst/>
            </a:prstGeom>
            <a:solidFill>
              <a:srgbClr val="D95926"/>
            </a:solidFill>
            <a:ln>
              <a:noFill/>
            </a:ln>
          </p:spPr>
          <p:txBody>
            <a:bodyPr wrap="square" rtlCol="0" anchor="ctr"/>
            <a:lstStyle/>
            <a:p>
              <a:pPr algn="ctr"/>
              <a:endParaRPr/>
            </a:p>
          </p:txBody>
        </p:sp>
        <p:sp>
          <p:nvSpPr>
            <p:cNvPr id="33" name="TextBox 32"/>
            <p:cNvSpPr txBox="1"/>
            <p:nvPr/>
          </p:nvSpPr>
          <p:spPr>
            <a:xfrm>
              <a:off x="8138160" y="3648456"/>
              <a:ext cx="2743200" cy="493776"/>
            </a:xfrm>
            <a:prstGeom prst="rect">
              <a:avLst/>
            </a:prstGeom>
            <a:noFill/>
          </p:spPr>
          <p:txBody>
            <a:bodyPr wrap="square" lIns="0" tIns="0" rIns="0" bIns="0" anchor="ctr">
              <a:noAutofit/>
            </a:bodyPr>
            <a:lstStyle/>
            <a:p>
              <a:pPr algn="l">
                <a:lnSpc>
                  <a:spcPct val="112000"/>
                </a:lnSpc>
                <a:spcAft>
                  <a:spcPts val="0"/>
                </a:spcAft>
              </a:pPr>
              <a:r>
                <a:rPr sz="1300" b="0" i="0">
                  <a:solidFill>
                    <a:srgbClr val="FFFFFF"/>
                  </a:solidFill>
                  <a:latin typeface="Segoe UI Semibold"/>
                </a:rPr>
                <a:t>Metaheuristics</a:t>
              </a:r>
            </a:p>
          </p:txBody>
        </p:sp>
        <p:sp>
          <p:nvSpPr>
            <p:cNvPr id="34" name="TextBox 33"/>
            <p:cNvSpPr txBox="1"/>
            <p:nvPr/>
          </p:nvSpPr>
          <p:spPr>
            <a:xfrm>
              <a:off x="10744200" y="3648456"/>
              <a:ext cx="777240" cy="493776"/>
            </a:xfrm>
            <a:prstGeom prst="rect">
              <a:avLst/>
            </a:prstGeom>
            <a:noFill/>
          </p:spPr>
          <p:txBody>
            <a:bodyPr wrap="square" lIns="0" tIns="0" rIns="0" bIns="0" anchor="ctr">
              <a:noAutofit/>
            </a:bodyPr>
            <a:lstStyle/>
            <a:p>
              <a:pPr algn="r">
                <a:lnSpc>
                  <a:spcPct val="112000"/>
                </a:lnSpc>
                <a:spcAft>
                  <a:spcPts val="0"/>
                </a:spcAft>
              </a:pPr>
              <a:r>
                <a:rPr sz="1100" b="0" i="0">
                  <a:solidFill>
                    <a:srgbClr val="8C9AB5"/>
                  </a:solidFill>
                  <a:latin typeface="Segoe UI"/>
                </a:rPr>
                <a:t>21</a:t>
              </a:r>
            </a:p>
          </p:txBody>
        </p:sp>
      </p:grpSp>
      <p:grpSp>
        <p:nvGrpSpPr>
          <p:cNvPr id="35" name="Group 34"/>
          <p:cNvGrpSpPr/>
          <p:nvPr/>
        </p:nvGrpSpPr>
        <p:grpSpPr>
          <a:xfrm>
            <a:off x="7680960" y="4251960"/>
            <a:ext cx="3959352" cy="493776"/>
            <a:chOff x="7680960" y="4251960"/>
            <a:chExt cx="3959352" cy="493776"/>
          </a:xfrm>
        </p:grpSpPr>
        <p:sp>
          <p:nvSpPr>
            <p:cNvPr id="36" name="Rounded Rectangle 35"/>
            <p:cNvSpPr/>
            <p:nvPr/>
          </p:nvSpPr>
          <p:spPr>
            <a:xfrm>
              <a:off x="7680960" y="4251960"/>
              <a:ext cx="3959352" cy="493776"/>
            </a:xfrm>
            <a:prstGeom prst="roundRect">
              <a:avLst>
                <a:gd name="adj" fmla="val 50000"/>
              </a:avLst>
            </a:prstGeom>
            <a:solidFill>
              <a:srgbClr val="13213D">
                <a:alpha val="85000"/>
              </a:srgbClr>
            </a:solidFill>
            <a:ln w="9525">
              <a:solidFill>
                <a:srgbClr val="2A3F69"/>
              </a:solidFill>
            </a:ln>
          </p:spPr>
          <p:txBody>
            <a:bodyPr wrap="square" rtlCol="0" anchor="ctr"/>
            <a:lstStyle/>
            <a:p>
              <a:pPr algn="ctr"/>
              <a:endParaRPr/>
            </a:p>
          </p:txBody>
        </p:sp>
        <p:sp>
          <p:nvSpPr>
            <p:cNvPr id="37" name="Oval 36"/>
            <p:cNvSpPr/>
            <p:nvPr/>
          </p:nvSpPr>
          <p:spPr>
            <a:xfrm>
              <a:off x="7818120" y="4407408"/>
              <a:ext cx="182880" cy="182880"/>
            </a:xfrm>
            <a:prstGeom prst="ellipse">
              <a:avLst/>
            </a:prstGeom>
            <a:solidFill>
              <a:srgbClr val="D95926"/>
            </a:solidFill>
            <a:ln>
              <a:noFill/>
            </a:ln>
          </p:spPr>
          <p:txBody>
            <a:bodyPr wrap="square" rtlCol="0" anchor="ctr"/>
            <a:lstStyle/>
            <a:p>
              <a:pPr algn="ctr"/>
              <a:endParaRPr/>
            </a:p>
          </p:txBody>
        </p:sp>
        <p:sp>
          <p:nvSpPr>
            <p:cNvPr id="38" name="TextBox 37"/>
            <p:cNvSpPr txBox="1"/>
            <p:nvPr/>
          </p:nvSpPr>
          <p:spPr>
            <a:xfrm>
              <a:off x="8138160" y="4251960"/>
              <a:ext cx="2743200" cy="493776"/>
            </a:xfrm>
            <a:prstGeom prst="rect">
              <a:avLst/>
            </a:prstGeom>
            <a:noFill/>
          </p:spPr>
          <p:txBody>
            <a:bodyPr wrap="square" lIns="0" tIns="0" rIns="0" bIns="0" anchor="ctr">
              <a:noAutofit/>
            </a:bodyPr>
            <a:lstStyle/>
            <a:p>
              <a:pPr algn="l">
                <a:lnSpc>
                  <a:spcPct val="112000"/>
                </a:lnSpc>
                <a:spcAft>
                  <a:spcPts val="0"/>
                </a:spcAft>
              </a:pPr>
              <a:r>
                <a:rPr sz="1300" b="0" i="0">
                  <a:solidFill>
                    <a:srgbClr val="FFFFFF"/>
                  </a:solidFill>
                  <a:latin typeface="Segoe UI Semibold"/>
                </a:rPr>
                <a:t>Machine learning &amp; DRL</a:t>
              </a:r>
            </a:p>
          </p:txBody>
        </p:sp>
        <p:sp>
          <p:nvSpPr>
            <p:cNvPr id="39" name="TextBox 38"/>
            <p:cNvSpPr txBox="1"/>
            <p:nvPr/>
          </p:nvSpPr>
          <p:spPr>
            <a:xfrm>
              <a:off x="10744200" y="4251960"/>
              <a:ext cx="777240" cy="493776"/>
            </a:xfrm>
            <a:prstGeom prst="rect">
              <a:avLst/>
            </a:prstGeom>
            <a:noFill/>
          </p:spPr>
          <p:txBody>
            <a:bodyPr wrap="square" lIns="0" tIns="0" rIns="0" bIns="0" anchor="ctr">
              <a:noAutofit/>
            </a:bodyPr>
            <a:lstStyle/>
            <a:p>
              <a:pPr algn="r">
                <a:lnSpc>
                  <a:spcPct val="112000"/>
                </a:lnSpc>
                <a:spcAft>
                  <a:spcPts val="0"/>
                </a:spcAft>
              </a:pPr>
              <a:r>
                <a:rPr sz="1100" b="0" i="0">
                  <a:solidFill>
                    <a:srgbClr val="8C9AB5"/>
                  </a:solidFill>
                  <a:latin typeface="Segoe UI"/>
                </a:rPr>
                <a:t>22</a:t>
              </a:r>
            </a:p>
          </p:txBody>
        </p:sp>
      </p:grpSp>
      <p:grpSp>
        <p:nvGrpSpPr>
          <p:cNvPr id="40" name="Group 39"/>
          <p:cNvGrpSpPr/>
          <p:nvPr/>
        </p:nvGrpSpPr>
        <p:grpSpPr>
          <a:xfrm>
            <a:off x="7680960" y="4855464"/>
            <a:ext cx="3959352" cy="493776"/>
            <a:chOff x="7680960" y="4855464"/>
            <a:chExt cx="3959352" cy="493776"/>
          </a:xfrm>
        </p:grpSpPr>
        <p:sp>
          <p:nvSpPr>
            <p:cNvPr id="41" name="Rounded Rectangle 40"/>
            <p:cNvSpPr/>
            <p:nvPr/>
          </p:nvSpPr>
          <p:spPr>
            <a:xfrm>
              <a:off x="7680960" y="4855464"/>
              <a:ext cx="3959352" cy="493776"/>
            </a:xfrm>
            <a:prstGeom prst="roundRect">
              <a:avLst>
                <a:gd name="adj" fmla="val 50000"/>
              </a:avLst>
            </a:prstGeom>
            <a:solidFill>
              <a:srgbClr val="13213D">
                <a:alpha val="85000"/>
              </a:srgbClr>
            </a:solidFill>
            <a:ln w="9525">
              <a:solidFill>
                <a:srgbClr val="2A3F69"/>
              </a:solidFill>
            </a:ln>
          </p:spPr>
          <p:txBody>
            <a:bodyPr wrap="square" rtlCol="0" anchor="ctr"/>
            <a:lstStyle/>
            <a:p>
              <a:pPr algn="ctr"/>
              <a:endParaRPr/>
            </a:p>
          </p:txBody>
        </p:sp>
        <p:sp>
          <p:nvSpPr>
            <p:cNvPr id="42" name="Oval 41"/>
            <p:cNvSpPr/>
            <p:nvPr/>
          </p:nvSpPr>
          <p:spPr>
            <a:xfrm>
              <a:off x="7818120" y="5010912"/>
              <a:ext cx="182880" cy="182880"/>
            </a:xfrm>
            <a:prstGeom prst="ellipse">
              <a:avLst/>
            </a:prstGeom>
            <a:solidFill>
              <a:srgbClr val="D95926"/>
            </a:solidFill>
            <a:ln>
              <a:noFill/>
            </a:ln>
          </p:spPr>
          <p:txBody>
            <a:bodyPr wrap="square" rtlCol="0" anchor="ctr"/>
            <a:lstStyle/>
            <a:p>
              <a:pPr algn="ctr"/>
              <a:endParaRPr/>
            </a:p>
          </p:txBody>
        </p:sp>
        <p:sp>
          <p:nvSpPr>
            <p:cNvPr id="43" name="TextBox 42"/>
            <p:cNvSpPr txBox="1"/>
            <p:nvPr/>
          </p:nvSpPr>
          <p:spPr>
            <a:xfrm>
              <a:off x="8138160" y="4855464"/>
              <a:ext cx="2743200" cy="493776"/>
            </a:xfrm>
            <a:prstGeom prst="rect">
              <a:avLst/>
            </a:prstGeom>
            <a:noFill/>
          </p:spPr>
          <p:txBody>
            <a:bodyPr wrap="square" lIns="0" tIns="0" rIns="0" bIns="0" anchor="ctr">
              <a:noAutofit/>
            </a:bodyPr>
            <a:lstStyle/>
            <a:p>
              <a:pPr algn="l">
                <a:lnSpc>
                  <a:spcPct val="112000"/>
                </a:lnSpc>
                <a:spcAft>
                  <a:spcPts val="0"/>
                </a:spcAft>
              </a:pPr>
              <a:r>
                <a:rPr sz="1300" b="0" i="0">
                  <a:solidFill>
                    <a:srgbClr val="FFFFFF"/>
                  </a:solidFill>
                  <a:latin typeface="Segoe UI Semibold"/>
                </a:rPr>
                <a:t>Market &amp; game theory</a:t>
              </a:r>
            </a:p>
          </p:txBody>
        </p:sp>
        <p:sp>
          <p:nvSpPr>
            <p:cNvPr id="44" name="TextBox 43"/>
            <p:cNvSpPr txBox="1"/>
            <p:nvPr/>
          </p:nvSpPr>
          <p:spPr>
            <a:xfrm>
              <a:off x="10744200" y="4855464"/>
              <a:ext cx="777240" cy="493776"/>
            </a:xfrm>
            <a:prstGeom prst="rect">
              <a:avLst/>
            </a:prstGeom>
            <a:noFill/>
          </p:spPr>
          <p:txBody>
            <a:bodyPr wrap="square" lIns="0" tIns="0" rIns="0" bIns="0" anchor="ctr">
              <a:noAutofit/>
            </a:bodyPr>
            <a:lstStyle/>
            <a:p>
              <a:pPr algn="r">
                <a:lnSpc>
                  <a:spcPct val="112000"/>
                </a:lnSpc>
                <a:spcAft>
                  <a:spcPts val="0"/>
                </a:spcAft>
              </a:pPr>
              <a:r>
                <a:rPr sz="1100" b="0" i="0">
                  <a:solidFill>
                    <a:srgbClr val="8C9AB5"/>
                  </a:solidFill>
                  <a:latin typeface="Segoe UI"/>
                </a:rPr>
                <a:t>23</a:t>
              </a:r>
            </a:p>
          </p:txBody>
        </p:sp>
      </p:grpSp>
      <p:grpSp>
        <p:nvGrpSpPr>
          <p:cNvPr id="45" name="Group 44"/>
          <p:cNvGrpSpPr/>
          <p:nvPr/>
        </p:nvGrpSpPr>
        <p:grpSpPr>
          <a:xfrm>
            <a:off x="7680960" y="5458968"/>
            <a:ext cx="3959352" cy="493776"/>
            <a:chOff x="7680960" y="5458968"/>
            <a:chExt cx="3959352" cy="493776"/>
          </a:xfrm>
        </p:grpSpPr>
        <p:sp>
          <p:nvSpPr>
            <p:cNvPr id="46" name="Rounded Rectangle 45"/>
            <p:cNvSpPr/>
            <p:nvPr/>
          </p:nvSpPr>
          <p:spPr>
            <a:xfrm>
              <a:off x="7680960" y="5458968"/>
              <a:ext cx="3959352" cy="493776"/>
            </a:xfrm>
            <a:prstGeom prst="roundRect">
              <a:avLst>
                <a:gd name="adj" fmla="val 50000"/>
              </a:avLst>
            </a:prstGeom>
            <a:solidFill>
              <a:srgbClr val="13213D">
                <a:alpha val="85000"/>
              </a:srgbClr>
            </a:solidFill>
            <a:ln w="9525">
              <a:solidFill>
                <a:srgbClr val="2A3F69"/>
              </a:solidFill>
            </a:ln>
          </p:spPr>
          <p:txBody>
            <a:bodyPr wrap="square" rtlCol="0" anchor="ctr"/>
            <a:lstStyle/>
            <a:p>
              <a:pPr algn="ctr"/>
              <a:endParaRPr/>
            </a:p>
          </p:txBody>
        </p:sp>
        <p:sp>
          <p:nvSpPr>
            <p:cNvPr id="47" name="Oval 46"/>
            <p:cNvSpPr/>
            <p:nvPr/>
          </p:nvSpPr>
          <p:spPr>
            <a:xfrm>
              <a:off x="7818120" y="5614416"/>
              <a:ext cx="182880" cy="182880"/>
            </a:xfrm>
            <a:prstGeom prst="ellipse">
              <a:avLst/>
            </a:prstGeom>
            <a:solidFill>
              <a:srgbClr val="D95926"/>
            </a:solidFill>
            <a:ln>
              <a:noFill/>
            </a:ln>
          </p:spPr>
          <p:txBody>
            <a:bodyPr wrap="square" rtlCol="0" anchor="ctr"/>
            <a:lstStyle/>
            <a:p>
              <a:pPr algn="ctr"/>
              <a:endParaRPr/>
            </a:p>
          </p:txBody>
        </p:sp>
        <p:sp>
          <p:nvSpPr>
            <p:cNvPr id="48" name="TextBox 47"/>
            <p:cNvSpPr txBox="1"/>
            <p:nvPr/>
          </p:nvSpPr>
          <p:spPr>
            <a:xfrm>
              <a:off x="8138160" y="5458968"/>
              <a:ext cx="2743200" cy="493776"/>
            </a:xfrm>
            <a:prstGeom prst="rect">
              <a:avLst/>
            </a:prstGeom>
            <a:noFill/>
          </p:spPr>
          <p:txBody>
            <a:bodyPr wrap="square" lIns="0" tIns="0" rIns="0" bIns="0" anchor="ctr">
              <a:noAutofit/>
            </a:bodyPr>
            <a:lstStyle/>
            <a:p>
              <a:pPr algn="l">
                <a:lnSpc>
                  <a:spcPct val="112000"/>
                </a:lnSpc>
                <a:spcAft>
                  <a:spcPts val="0"/>
                </a:spcAft>
              </a:pPr>
              <a:r>
                <a:rPr sz="1300" b="0" i="0">
                  <a:solidFill>
                    <a:srgbClr val="FFFFFF"/>
                  </a:solidFill>
                  <a:latin typeface="Segoe UI Semibold"/>
                </a:rPr>
                <a:t>Comparison &amp; practice</a:t>
              </a:r>
            </a:p>
          </p:txBody>
        </p:sp>
        <p:sp>
          <p:nvSpPr>
            <p:cNvPr id="49" name="TextBox 48"/>
            <p:cNvSpPr txBox="1"/>
            <p:nvPr/>
          </p:nvSpPr>
          <p:spPr>
            <a:xfrm>
              <a:off x="10744200" y="5458968"/>
              <a:ext cx="777240" cy="493776"/>
            </a:xfrm>
            <a:prstGeom prst="rect">
              <a:avLst/>
            </a:prstGeom>
            <a:noFill/>
          </p:spPr>
          <p:txBody>
            <a:bodyPr wrap="square" lIns="0" tIns="0" rIns="0" bIns="0" anchor="ctr">
              <a:noAutofit/>
            </a:bodyPr>
            <a:lstStyle/>
            <a:p>
              <a:pPr algn="r">
                <a:lnSpc>
                  <a:spcPct val="112000"/>
                </a:lnSpc>
                <a:spcAft>
                  <a:spcPts val="0"/>
                </a:spcAft>
              </a:pPr>
              <a:r>
                <a:rPr sz="1100" b="0" i="0">
                  <a:solidFill>
                    <a:srgbClr val="8C9AB5"/>
                  </a:solidFill>
                  <a:latin typeface="Segoe UI"/>
                </a:rPr>
                <a:t>24–26</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900"/>
                                        <p:tgtEl>
                                          <p:spTgt spid="5"/>
                                        </p:tgtEl>
                                      </p:cBhvr>
                                    </p:animEffect>
                                  </p:childTnLst>
                                </p:cTn>
                              </p:par>
                              <p:par>
                                <p:cTn id="8" presetID="10" presetClass="entr" presetSubtype="0" fill="hold" grpId="0" nodeType="withEffect">
                                  <p:stCondLst>
                                    <p:cond delay="41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00"/>
                                        <p:tgtEl>
                                          <p:spTgt spid="6"/>
                                        </p:tgtEl>
                                      </p:cBhvr>
                                    </p:animEffect>
                                  </p:childTnLst>
                                </p:cTn>
                              </p:par>
                              <p:par>
                                <p:cTn id="11" presetID="42" presetClass="entr" presetSubtype="0" fill="hold" grpId="0" nodeType="withEffect">
                                  <p:stCondLst>
                                    <p:cond delay="57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800"/>
                                        <p:tgtEl>
                                          <p:spTgt spid="7"/>
                                        </p:tgtEl>
                                      </p:cBhvr>
                                    </p:animEffect>
                                    <p:anim calcmode="lin" valueType="num">
                                      <p:cBhvr>
                                        <p:cTn id="14" dur="800" fill="hold"/>
                                        <p:tgtEl>
                                          <p:spTgt spid="7"/>
                                        </p:tgtEl>
                                        <p:attrNameLst>
                                          <p:attrName>ppt_x</p:attrName>
                                        </p:attrNameLst>
                                      </p:cBhvr>
                                      <p:tavLst>
                                        <p:tav tm="0">
                                          <p:val>
                                            <p:strVal val="#ppt_x"/>
                                          </p:val>
                                        </p:tav>
                                        <p:tav tm="100000">
                                          <p:val>
                                            <p:strVal val="#ppt_x"/>
                                          </p:val>
                                        </p:tav>
                                      </p:tavLst>
                                    </p:anim>
                                    <p:anim calcmode="lin" valueType="num">
                                      <p:cBhvr>
                                        <p:cTn id="15" dur="800" fill="hold"/>
                                        <p:tgtEl>
                                          <p:spTgt spid="7"/>
                                        </p:tgtEl>
                                        <p:attrNameLst>
                                          <p:attrName>ppt_y</p:attrName>
                                        </p:attrNameLst>
                                      </p:cBhvr>
                                      <p:tavLst>
                                        <p:tav tm="0">
                                          <p:val>
                                            <p:strVal val="#ppt_y+.08"/>
                                          </p:val>
                                        </p:tav>
                                        <p:tav tm="100000">
                                          <p:val>
                                            <p:strVal val="#ppt_y"/>
                                          </p:val>
                                        </p:tav>
                                      </p:tavLst>
                                    </p:anim>
                                  </p:childTnLst>
                                </p:cTn>
                              </p:par>
                              <p:par>
                                <p:cTn id="16" presetID="22" presetClass="entr" presetSubtype="8" fill="hold" grpId="0" nodeType="withEffect">
                                  <p:stCondLst>
                                    <p:cond delay="73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600"/>
                                        <p:tgtEl>
                                          <p:spTgt spid="8"/>
                                        </p:tgtEl>
                                      </p:cBhvr>
                                    </p:animEffect>
                                  </p:childTnLst>
                                </p:cTn>
                              </p:par>
                              <p:par>
                                <p:cTn id="19" presetID="42" presetClass="entr" presetSubtype="0" fill="hold" grpId="0" nodeType="withEffect">
                                  <p:stCondLst>
                                    <p:cond delay="89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600"/>
                                        <p:tgtEl>
                                          <p:spTgt spid="9"/>
                                        </p:tgtEl>
                                      </p:cBhvr>
                                    </p:animEffect>
                                    <p:anim calcmode="lin" valueType="num">
                                      <p:cBhvr>
                                        <p:cTn id="22" dur="600" fill="hold"/>
                                        <p:tgtEl>
                                          <p:spTgt spid="9"/>
                                        </p:tgtEl>
                                        <p:attrNameLst>
                                          <p:attrName>ppt_x</p:attrName>
                                        </p:attrNameLst>
                                      </p:cBhvr>
                                      <p:tavLst>
                                        <p:tav tm="0">
                                          <p:val>
                                            <p:strVal val="#ppt_x"/>
                                          </p:val>
                                        </p:tav>
                                        <p:tav tm="100000">
                                          <p:val>
                                            <p:strVal val="#ppt_x"/>
                                          </p:val>
                                        </p:tav>
                                      </p:tavLst>
                                    </p:anim>
                                    <p:anim calcmode="lin" valueType="num">
                                      <p:cBhvr>
                                        <p:cTn id="23" dur="600" fill="hold"/>
                                        <p:tgtEl>
                                          <p:spTgt spid="9"/>
                                        </p:tgtEl>
                                        <p:attrNameLst>
                                          <p:attrName>ppt_y</p:attrName>
                                        </p:attrNameLst>
                                      </p:cBhvr>
                                      <p:tavLst>
                                        <p:tav tm="0">
                                          <p:val>
                                            <p:strVal val="#ppt_y+.08"/>
                                          </p:val>
                                        </p:tav>
                                        <p:tav tm="100000">
                                          <p:val>
                                            <p:strVal val="#ppt_y"/>
                                          </p:val>
                                        </p:tav>
                                      </p:tavLst>
                                    </p:anim>
                                  </p:childTnLst>
                                </p:cTn>
                              </p:par>
                              <p:par>
                                <p:cTn id="24" presetID="42" presetClass="entr" presetSubtype="0" fill="hold" nodeType="withEffect">
                                  <p:stCondLst>
                                    <p:cond delay="89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600"/>
                                        <p:tgtEl>
                                          <p:spTgt spid="10"/>
                                        </p:tgtEl>
                                      </p:cBhvr>
                                    </p:animEffect>
                                    <p:anim calcmode="lin" valueType="num">
                                      <p:cBhvr>
                                        <p:cTn id="27" dur="600" fill="hold"/>
                                        <p:tgtEl>
                                          <p:spTgt spid="10"/>
                                        </p:tgtEl>
                                        <p:attrNameLst>
                                          <p:attrName>ppt_x</p:attrName>
                                        </p:attrNameLst>
                                      </p:cBhvr>
                                      <p:tavLst>
                                        <p:tav tm="0">
                                          <p:val>
                                            <p:strVal val="#ppt_x"/>
                                          </p:val>
                                        </p:tav>
                                        <p:tav tm="100000">
                                          <p:val>
                                            <p:strVal val="#ppt_x"/>
                                          </p:val>
                                        </p:tav>
                                      </p:tavLst>
                                    </p:anim>
                                    <p:anim calcmode="lin" valueType="num">
                                      <p:cBhvr>
                                        <p:cTn id="28" dur="600" fill="hold"/>
                                        <p:tgtEl>
                                          <p:spTgt spid="10"/>
                                        </p:tgtEl>
                                        <p:attrNameLst>
                                          <p:attrName>ppt_y</p:attrName>
                                        </p:attrNameLst>
                                      </p:cBhvr>
                                      <p:tavLst>
                                        <p:tav tm="0">
                                          <p:val>
                                            <p:strVal val="#ppt_y+.08"/>
                                          </p:val>
                                        </p:tav>
                                        <p:tav tm="100000">
                                          <p:val>
                                            <p:strVal val="#ppt_y"/>
                                          </p:val>
                                        </p:tav>
                                      </p:tavLst>
                                    </p:anim>
                                  </p:childTnLst>
                                </p:cTn>
                              </p:par>
                              <p:par>
                                <p:cTn id="29" presetID="42" presetClass="entr" presetSubtype="0" fill="hold" nodeType="withEffect">
                                  <p:stCondLst>
                                    <p:cond delay="105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600"/>
                                        <p:tgtEl>
                                          <p:spTgt spid="15"/>
                                        </p:tgtEl>
                                      </p:cBhvr>
                                    </p:animEffect>
                                    <p:anim calcmode="lin" valueType="num">
                                      <p:cBhvr>
                                        <p:cTn id="32" dur="600" fill="hold"/>
                                        <p:tgtEl>
                                          <p:spTgt spid="15"/>
                                        </p:tgtEl>
                                        <p:attrNameLst>
                                          <p:attrName>ppt_x</p:attrName>
                                        </p:attrNameLst>
                                      </p:cBhvr>
                                      <p:tavLst>
                                        <p:tav tm="0">
                                          <p:val>
                                            <p:strVal val="#ppt_x"/>
                                          </p:val>
                                        </p:tav>
                                        <p:tav tm="100000">
                                          <p:val>
                                            <p:strVal val="#ppt_x"/>
                                          </p:val>
                                        </p:tav>
                                      </p:tavLst>
                                    </p:anim>
                                    <p:anim calcmode="lin" valueType="num">
                                      <p:cBhvr>
                                        <p:cTn id="33" dur="600" fill="hold"/>
                                        <p:tgtEl>
                                          <p:spTgt spid="15"/>
                                        </p:tgtEl>
                                        <p:attrNameLst>
                                          <p:attrName>ppt_y</p:attrName>
                                        </p:attrNameLst>
                                      </p:cBhvr>
                                      <p:tavLst>
                                        <p:tav tm="0">
                                          <p:val>
                                            <p:strVal val="#ppt_y+.08"/>
                                          </p:val>
                                        </p:tav>
                                        <p:tav tm="100000">
                                          <p:val>
                                            <p:strVal val="#ppt_y"/>
                                          </p:val>
                                        </p:tav>
                                      </p:tavLst>
                                    </p:anim>
                                  </p:childTnLst>
                                </p:cTn>
                              </p:par>
                              <p:par>
                                <p:cTn id="34" presetID="42" presetClass="entr" presetSubtype="0" fill="hold" nodeType="withEffect">
                                  <p:stCondLst>
                                    <p:cond delay="121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600"/>
                                        <p:tgtEl>
                                          <p:spTgt spid="20"/>
                                        </p:tgtEl>
                                      </p:cBhvr>
                                    </p:animEffect>
                                    <p:anim calcmode="lin" valueType="num">
                                      <p:cBhvr>
                                        <p:cTn id="37" dur="600" fill="hold"/>
                                        <p:tgtEl>
                                          <p:spTgt spid="20"/>
                                        </p:tgtEl>
                                        <p:attrNameLst>
                                          <p:attrName>ppt_x</p:attrName>
                                        </p:attrNameLst>
                                      </p:cBhvr>
                                      <p:tavLst>
                                        <p:tav tm="0">
                                          <p:val>
                                            <p:strVal val="#ppt_x"/>
                                          </p:val>
                                        </p:tav>
                                        <p:tav tm="100000">
                                          <p:val>
                                            <p:strVal val="#ppt_x"/>
                                          </p:val>
                                        </p:tav>
                                      </p:tavLst>
                                    </p:anim>
                                    <p:anim calcmode="lin" valueType="num">
                                      <p:cBhvr>
                                        <p:cTn id="38" dur="600" fill="hold"/>
                                        <p:tgtEl>
                                          <p:spTgt spid="20"/>
                                        </p:tgtEl>
                                        <p:attrNameLst>
                                          <p:attrName>ppt_y</p:attrName>
                                        </p:attrNameLst>
                                      </p:cBhvr>
                                      <p:tavLst>
                                        <p:tav tm="0">
                                          <p:val>
                                            <p:strVal val="#ppt_y+.08"/>
                                          </p:val>
                                        </p:tav>
                                        <p:tav tm="100000">
                                          <p:val>
                                            <p:strVal val="#ppt_y"/>
                                          </p:val>
                                        </p:tav>
                                      </p:tavLst>
                                    </p:anim>
                                  </p:childTnLst>
                                </p:cTn>
                              </p:par>
                              <p:par>
                                <p:cTn id="39" presetID="42" presetClass="entr" presetSubtype="0" fill="hold" nodeType="withEffect">
                                  <p:stCondLst>
                                    <p:cond delay="137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600"/>
                                        <p:tgtEl>
                                          <p:spTgt spid="25"/>
                                        </p:tgtEl>
                                      </p:cBhvr>
                                    </p:animEffect>
                                    <p:anim calcmode="lin" valueType="num">
                                      <p:cBhvr>
                                        <p:cTn id="42" dur="600" fill="hold"/>
                                        <p:tgtEl>
                                          <p:spTgt spid="25"/>
                                        </p:tgtEl>
                                        <p:attrNameLst>
                                          <p:attrName>ppt_x</p:attrName>
                                        </p:attrNameLst>
                                      </p:cBhvr>
                                      <p:tavLst>
                                        <p:tav tm="0">
                                          <p:val>
                                            <p:strVal val="#ppt_x"/>
                                          </p:val>
                                        </p:tav>
                                        <p:tav tm="100000">
                                          <p:val>
                                            <p:strVal val="#ppt_x"/>
                                          </p:val>
                                        </p:tav>
                                      </p:tavLst>
                                    </p:anim>
                                    <p:anim calcmode="lin" valueType="num">
                                      <p:cBhvr>
                                        <p:cTn id="43" dur="600" fill="hold"/>
                                        <p:tgtEl>
                                          <p:spTgt spid="25"/>
                                        </p:tgtEl>
                                        <p:attrNameLst>
                                          <p:attrName>ppt_y</p:attrName>
                                        </p:attrNameLst>
                                      </p:cBhvr>
                                      <p:tavLst>
                                        <p:tav tm="0">
                                          <p:val>
                                            <p:strVal val="#ppt_y+.08"/>
                                          </p:val>
                                        </p:tav>
                                        <p:tav tm="100000">
                                          <p:val>
                                            <p:strVal val="#ppt_y"/>
                                          </p:val>
                                        </p:tav>
                                      </p:tavLst>
                                    </p:anim>
                                  </p:childTnLst>
                                </p:cTn>
                              </p:par>
                              <p:par>
                                <p:cTn id="44" presetID="42" presetClass="entr" presetSubtype="0" fill="hold" nodeType="withEffect">
                                  <p:stCondLst>
                                    <p:cond delay="153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600"/>
                                        <p:tgtEl>
                                          <p:spTgt spid="30"/>
                                        </p:tgtEl>
                                      </p:cBhvr>
                                    </p:animEffect>
                                    <p:anim calcmode="lin" valueType="num">
                                      <p:cBhvr>
                                        <p:cTn id="47" dur="600" fill="hold"/>
                                        <p:tgtEl>
                                          <p:spTgt spid="30"/>
                                        </p:tgtEl>
                                        <p:attrNameLst>
                                          <p:attrName>ppt_x</p:attrName>
                                        </p:attrNameLst>
                                      </p:cBhvr>
                                      <p:tavLst>
                                        <p:tav tm="0">
                                          <p:val>
                                            <p:strVal val="#ppt_x"/>
                                          </p:val>
                                        </p:tav>
                                        <p:tav tm="100000">
                                          <p:val>
                                            <p:strVal val="#ppt_x"/>
                                          </p:val>
                                        </p:tav>
                                      </p:tavLst>
                                    </p:anim>
                                    <p:anim calcmode="lin" valueType="num">
                                      <p:cBhvr>
                                        <p:cTn id="48" dur="600" fill="hold"/>
                                        <p:tgtEl>
                                          <p:spTgt spid="30"/>
                                        </p:tgtEl>
                                        <p:attrNameLst>
                                          <p:attrName>ppt_y</p:attrName>
                                        </p:attrNameLst>
                                      </p:cBhvr>
                                      <p:tavLst>
                                        <p:tav tm="0">
                                          <p:val>
                                            <p:strVal val="#ppt_y+.08"/>
                                          </p:val>
                                        </p:tav>
                                        <p:tav tm="100000">
                                          <p:val>
                                            <p:strVal val="#ppt_y"/>
                                          </p:val>
                                        </p:tav>
                                      </p:tavLst>
                                    </p:anim>
                                  </p:childTnLst>
                                </p:cTn>
                              </p:par>
                              <p:par>
                                <p:cTn id="49" presetID="42" presetClass="entr" presetSubtype="0" fill="hold" nodeType="withEffect">
                                  <p:stCondLst>
                                    <p:cond delay="169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600"/>
                                        <p:tgtEl>
                                          <p:spTgt spid="35"/>
                                        </p:tgtEl>
                                      </p:cBhvr>
                                    </p:animEffect>
                                    <p:anim calcmode="lin" valueType="num">
                                      <p:cBhvr>
                                        <p:cTn id="52" dur="600" fill="hold"/>
                                        <p:tgtEl>
                                          <p:spTgt spid="35"/>
                                        </p:tgtEl>
                                        <p:attrNameLst>
                                          <p:attrName>ppt_x</p:attrName>
                                        </p:attrNameLst>
                                      </p:cBhvr>
                                      <p:tavLst>
                                        <p:tav tm="0">
                                          <p:val>
                                            <p:strVal val="#ppt_x"/>
                                          </p:val>
                                        </p:tav>
                                        <p:tav tm="100000">
                                          <p:val>
                                            <p:strVal val="#ppt_x"/>
                                          </p:val>
                                        </p:tav>
                                      </p:tavLst>
                                    </p:anim>
                                    <p:anim calcmode="lin" valueType="num">
                                      <p:cBhvr>
                                        <p:cTn id="53" dur="600" fill="hold"/>
                                        <p:tgtEl>
                                          <p:spTgt spid="35"/>
                                        </p:tgtEl>
                                        <p:attrNameLst>
                                          <p:attrName>ppt_y</p:attrName>
                                        </p:attrNameLst>
                                      </p:cBhvr>
                                      <p:tavLst>
                                        <p:tav tm="0">
                                          <p:val>
                                            <p:strVal val="#ppt_y+.08"/>
                                          </p:val>
                                        </p:tav>
                                        <p:tav tm="100000">
                                          <p:val>
                                            <p:strVal val="#ppt_y"/>
                                          </p:val>
                                        </p:tav>
                                      </p:tavLst>
                                    </p:anim>
                                  </p:childTnLst>
                                </p:cTn>
                              </p:par>
                              <p:par>
                                <p:cTn id="54" presetID="42" presetClass="entr" presetSubtype="0" fill="hold" nodeType="withEffect">
                                  <p:stCondLst>
                                    <p:cond delay="185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600"/>
                                        <p:tgtEl>
                                          <p:spTgt spid="40"/>
                                        </p:tgtEl>
                                      </p:cBhvr>
                                    </p:animEffect>
                                    <p:anim calcmode="lin" valueType="num">
                                      <p:cBhvr>
                                        <p:cTn id="57" dur="600" fill="hold"/>
                                        <p:tgtEl>
                                          <p:spTgt spid="40"/>
                                        </p:tgtEl>
                                        <p:attrNameLst>
                                          <p:attrName>ppt_x</p:attrName>
                                        </p:attrNameLst>
                                      </p:cBhvr>
                                      <p:tavLst>
                                        <p:tav tm="0">
                                          <p:val>
                                            <p:strVal val="#ppt_x"/>
                                          </p:val>
                                        </p:tav>
                                        <p:tav tm="100000">
                                          <p:val>
                                            <p:strVal val="#ppt_x"/>
                                          </p:val>
                                        </p:tav>
                                      </p:tavLst>
                                    </p:anim>
                                    <p:anim calcmode="lin" valueType="num">
                                      <p:cBhvr>
                                        <p:cTn id="58" dur="600" fill="hold"/>
                                        <p:tgtEl>
                                          <p:spTgt spid="40"/>
                                        </p:tgtEl>
                                        <p:attrNameLst>
                                          <p:attrName>ppt_y</p:attrName>
                                        </p:attrNameLst>
                                      </p:cBhvr>
                                      <p:tavLst>
                                        <p:tav tm="0">
                                          <p:val>
                                            <p:strVal val="#ppt_y+.08"/>
                                          </p:val>
                                        </p:tav>
                                        <p:tav tm="100000">
                                          <p:val>
                                            <p:strVal val="#ppt_y"/>
                                          </p:val>
                                        </p:tav>
                                      </p:tavLst>
                                    </p:anim>
                                  </p:childTnLst>
                                </p:cTn>
                              </p:par>
                              <p:par>
                                <p:cTn id="59" presetID="42" presetClass="entr" presetSubtype="0" fill="hold" nodeType="withEffect">
                                  <p:stCondLst>
                                    <p:cond delay="2010"/>
                                  </p:stCondLst>
                                  <p:childTnLst>
                                    <p:set>
                                      <p:cBhvr>
                                        <p:cTn id="60" dur="1" fill="hold">
                                          <p:stCondLst>
                                            <p:cond delay="0"/>
                                          </p:stCondLst>
                                        </p:cTn>
                                        <p:tgtEl>
                                          <p:spTgt spid="45"/>
                                        </p:tgtEl>
                                        <p:attrNameLst>
                                          <p:attrName>style.visibility</p:attrName>
                                        </p:attrNameLst>
                                      </p:cBhvr>
                                      <p:to>
                                        <p:strVal val="visible"/>
                                      </p:to>
                                    </p:set>
                                    <p:animEffect transition="in" filter="fade">
                                      <p:cBhvr>
                                        <p:cTn id="61" dur="600"/>
                                        <p:tgtEl>
                                          <p:spTgt spid="45"/>
                                        </p:tgtEl>
                                      </p:cBhvr>
                                    </p:animEffect>
                                    <p:anim calcmode="lin" valueType="num">
                                      <p:cBhvr>
                                        <p:cTn id="62" dur="600" fill="hold"/>
                                        <p:tgtEl>
                                          <p:spTgt spid="45"/>
                                        </p:tgtEl>
                                        <p:attrNameLst>
                                          <p:attrName>ppt_x</p:attrName>
                                        </p:attrNameLst>
                                      </p:cBhvr>
                                      <p:tavLst>
                                        <p:tav tm="0">
                                          <p:val>
                                            <p:strVal val="#ppt_x"/>
                                          </p:val>
                                        </p:tav>
                                        <p:tav tm="100000">
                                          <p:val>
                                            <p:strVal val="#ppt_x"/>
                                          </p:val>
                                        </p:tav>
                                      </p:tavLst>
                                    </p:anim>
                                    <p:anim calcmode="lin" valueType="num">
                                      <p:cBhvr>
                                        <p:cTn id="63" dur="600" fill="hold"/>
                                        <p:tgtEl>
                                          <p:spTgt spid="4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789233" y="-2306483"/>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558218" y="4520816"/>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451352" y="4945817"/>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RESOURCE ALLOCATION</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The Allocation Problem, Formally</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Resource Allocation</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lang="en-GB" sz="1000">
                <a:solidFill>
                  <a:srgbClr val="C9D2E3"/>
                </a:solidFill>
                <a:latin typeface="Segoe UI Semibold"/>
              </a:rPr>
              <a:t>18</a:t>
            </a:r>
            <a:r>
              <a:rPr sz="1000" b="0" i="0" dirty="0">
                <a:solidFill>
                  <a:srgbClr val="8C9AB5"/>
                </a:solidFill>
                <a:latin typeface="Segoe UI"/>
              </a:rPr>
              <a:t> / 30</a:t>
            </a:r>
          </a:p>
        </p:txBody>
      </p:sp>
      <p:sp>
        <p:nvSpPr>
          <p:cNvPr id="36" name="TextBox 35"/>
          <p:cNvSpPr txBox="1"/>
          <p:nvPr/>
        </p:nvSpPr>
        <p:spPr>
          <a:xfrm>
            <a:off x="548640" y="1572768"/>
            <a:ext cx="2194560" cy="274320"/>
          </a:xfrm>
          <a:prstGeom prst="rect">
            <a:avLst/>
          </a:prstGeom>
          <a:noFill/>
        </p:spPr>
        <p:txBody>
          <a:bodyPr wrap="square" lIns="0" tIns="0" rIns="0" bIns="0" anchor="t">
            <a:noAutofit/>
          </a:bodyPr>
          <a:lstStyle/>
          <a:p>
            <a:pPr algn="l">
              <a:lnSpc>
                <a:spcPct val="112000"/>
              </a:lnSpc>
              <a:spcAft>
                <a:spcPts val="0"/>
              </a:spcAft>
            </a:pPr>
            <a:r>
              <a:rPr sz="1050" b="0" i="0" spc="250">
                <a:solidFill>
                  <a:srgbClr val="8C9AB5"/>
                </a:solidFill>
                <a:latin typeface="Segoe UI Semibold"/>
              </a:rPr>
              <a:t>WORKLOADS  i</a:t>
            </a:r>
          </a:p>
        </p:txBody>
      </p:sp>
      <p:sp>
        <p:nvSpPr>
          <p:cNvPr id="37" name="TextBox 36"/>
          <p:cNvSpPr txBox="1"/>
          <p:nvPr/>
        </p:nvSpPr>
        <p:spPr>
          <a:xfrm>
            <a:off x="4160520" y="1572768"/>
            <a:ext cx="2011680" cy="274320"/>
          </a:xfrm>
          <a:prstGeom prst="rect">
            <a:avLst/>
          </a:prstGeom>
          <a:noFill/>
        </p:spPr>
        <p:txBody>
          <a:bodyPr wrap="square" lIns="0" tIns="0" rIns="0" bIns="0" anchor="t">
            <a:noAutofit/>
          </a:bodyPr>
          <a:lstStyle/>
          <a:p>
            <a:pPr algn="l">
              <a:lnSpc>
                <a:spcPct val="112000"/>
              </a:lnSpc>
              <a:spcAft>
                <a:spcPts val="0"/>
              </a:spcAft>
            </a:pPr>
            <a:r>
              <a:rPr sz="1050" b="0" i="0" spc="250">
                <a:solidFill>
                  <a:srgbClr val="8C9AB5"/>
                </a:solidFill>
                <a:latin typeface="Segoe UI Semibold"/>
              </a:rPr>
              <a:t>PROVIDERS  j</a:t>
            </a:r>
          </a:p>
        </p:txBody>
      </p:sp>
      <p:sp>
        <p:nvSpPr>
          <p:cNvPr id="38" name="Rounded Rectangle 37"/>
          <p:cNvSpPr/>
          <p:nvPr/>
        </p:nvSpPr>
        <p:spPr>
          <a:xfrm>
            <a:off x="548640" y="1965960"/>
            <a:ext cx="2194560" cy="713232"/>
          </a:xfrm>
          <a:prstGeom prst="roundRect">
            <a:avLst>
              <a:gd name="adj" fmla="val 20000"/>
            </a:avLst>
          </a:prstGeom>
          <a:solidFill>
            <a:srgbClr val="182A4C"/>
          </a:solidFill>
          <a:ln w="15875">
            <a:solidFill>
              <a:srgbClr val="7DB3F5"/>
            </a:solidFill>
          </a:ln>
        </p:spPr>
        <p:txBody>
          <a:bodyPr wrap="square" lIns="36576" tIns="36576" rIns="36576" bIns="36576" rtlCol="0" anchor="ctr">
            <a:noAutofit/>
          </a:bodyPr>
          <a:lstStyle/>
          <a:p>
            <a:pPr algn="ctr">
              <a:lnSpc>
                <a:spcPct val="100000"/>
              </a:lnSpc>
              <a:spcAft>
                <a:spcPts val="0"/>
              </a:spcAft>
            </a:pPr>
            <a:r>
              <a:rPr sz="1300" b="0" i="0">
                <a:solidFill>
                  <a:srgbClr val="FFFFFF"/>
                </a:solidFill>
                <a:latin typeface="Segoe UI Semibold"/>
              </a:rPr>
              <a:t>Web frontend</a:t>
            </a:r>
          </a:p>
          <a:p>
            <a:pPr algn="ctr">
              <a:lnSpc>
                <a:spcPct val="100000"/>
              </a:lnSpc>
              <a:spcAft>
                <a:spcPts val="0"/>
              </a:spcAft>
            </a:pPr>
            <a:r>
              <a:rPr sz="1050" b="0" i="0">
                <a:solidFill>
                  <a:srgbClr val="8C9AB5"/>
                </a:solidFill>
                <a:latin typeface="Segoe UI"/>
              </a:rPr>
              <a:t>4 vCPU · EU users</a:t>
            </a:r>
          </a:p>
        </p:txBody>
      </p:sp>
      <p:sp>
        <p:nvSpPr>
          <p:cNvPr id="39" name="Rounded Rectangle 38"/>
          <p:cNvSpPr/>
          <p:nvPr/>
        </p:nvSpPr>
        <p:spPr>
          <a:xfrm>
            <a:off x="548640" y="2971800"/>
            <a:ext cx="2194560" cy="713232"/>
          </a:xfrm>
          <a:prstGeom prst="roundRect">
            <a:avLst>
              <a:gd name="adj" fmla="val 20000"/>
            </a:avLst>
          </a:prstGeom>
          <a:solidFill>
            <a:srgbClr val="182A4C"/>
          </a:solidFill>
          <a:ln w="15875">
            <a:solidFill>
              <a:srgbClr val="7DB3F5"/>
            </a:solidFill>
          </a:ln>
        </p:spPr>
        <p:txBody>
          <a:bodyPr wrap="square" lIns="36576" tIns="36576" rIns="36576" bIns="36576" rtlCol="0" anchor="ctr">
            <a:noAutofit/>
          </a:bodyPr>
          <a:lstStyle/>
          <a:p>
            <a:pPr algn="ctr">
              <a:lnSpc>
                <a:spcPct val="100000"/>
              </a:lnSpc>
              <a:spcAft>
                <a:spcPts val="0"/>
              </a:spcAft>
            </a:pPr>
            <a:r>
              <a:rPr sz="1300" b="0" i="0">
                <a:solidFill>
                  <a:srgbClr val="FFFFFF"/>
                </a:solidFill>
                <a:latin typeface="Segoe UI Semibold"/>
              </a:rPr>
              <a:t>ML training</a:t>
            </a:r>
          </a:p>
          <a:p>
            <a:pPr algn="ctr">
              <a:lnSpc>
                <a:spcPct val="100000"/>
              </a:lnSpc>
              <a:spcAft>
                <a:spcPts val="0"/>
              </a:spcAft>
            </a:pPr>
            <a:r>
              <a:rPr sz="1050" b="0" i="0">
                <a:solidFill>
                  <a:srgbClr val="8C9AB5"/>
                </a:solidFill>
                <a:latin typeface="Segoe UI"/>
              </a:rPr>
              <a:t>8× GPU · batch</a:t>
            </a:r>
          </a:p>
        </p:txBody>
      </p:sp>
      <p:sp>
        <p:nvSpPr>
          <p:cNvPr id="40" name="Rounded Rectangle 39"/>
          <p:cNvSpPr/>
          <p:nvPr/>
        </p:nvSpPr>
        <p:spPr>
          <a:xfrm>
            <a:off x="548640" y="3977639"/>
            <a:ext cx="2194560" cy="713232"/>
          </a:xfrm>
          <a:prstGeom prst="roundRect">
            <a:avLst>
              <a:gd name="adj" fmla="val 20000"/>
            </a:avLst>
          </a:prstGeom>
          <a:solidFill>
            <a:srgbClr val="182A4C"/>
          </a:solidFill>
          <a:ln w="15875">
            <a:solidFill>
              <a:srgbClr val="7DB3F5"/>
            </a:solidFill>
          </a:ln>
        </p:spPr>
        <p:txBody>
          <a:bodyPr wrap="square" lIns="36576" tIns="36576" rIns="36576" bIns="36576" rtlCol="0" anchor="ctr">
            <a:noAutofit/>
          </a:bodyPr>
          <a:lstStyle/>
          <a:p>
            <a:pPr algn="ctr">
              <a:lnSpc>
                <a:spcPct val="100000"/>
              </a:lnSpc>
              <a:spcAft>
                <a:spcPts val="0"/>
              </a:spcAft>
            </a:pPr>
            <a:r>
              <a:rPr sz="1300" b="0" i="0">
                <a:solidFill>
                  <a:srgbClr val="FFFFFF"/>
                </a:solidFill>
                <a:latin typeface="Segoe UI Semibold"/>
              </a:rPr>
              <a:t>Analytics DB</a:t>
            </a:r>
          </a:p>
          <a:p>
            <a:pPr algn="ctr">
              <a:lnSpc>
                <a:spcPct val="100000"/>
              </a:lnSpc>
              <a:spcAft>
                <a:spcPts val="0"/>
              </a:spcAft>
            </a:pPr>
            <a:r>
              <a:rPr sz="1050" b="0" i="0">
                <a:solidFill>
                  <a:srgbClr val="8C9AB5"/>
                </a:solidFill>
                <a:latin typeface="Segoe UI"/>
              </a:rPr>
              <a:t>2 TB · GDPR</a:t>
            </a:r>
          </a:p>
        </p:txBody>
      </p:sp>
      <p:sp>
        <p:nvSpPr>
          <p:cNvPr id="41" name="Rounded Rectangle 40"/>
          <p:cNvSpPr/>
          <p:nvPr/>
        </p:nvSpPr>
        <p:spPr>
          <a:xfrm>
            <a:off x="548640" y="4983480"/>
            <a:ext cx="2194560" cy="713232"/>
          </a:xfrm>
          <a:prstGeom prst="roundRect">
            <a:avLst>
              <a:gd name="adj" fmla="val 20000"/>
            </a:avLst>
          </a:prstGeom>
          <a:solidFill>
            <a:srgbClr val="182A4C"/>
          </a:solidFill>
          <a:ln w="15875">
            <a:solidFill>
              <a:srgbClr val="7DB3F5"/>
            </a:solidFill>
          </a:ln>
        </p:spPr>
        <p:txBody>
          <a:bodyPr wrap="square" lIns="36576" tIns="36576" rIns="36576" bIns="36576" rtlCol="0" anchor="ctr">
            <a:noAutofit/>
          </a:bodyPr>
          <a:lstStyle/>
          <a:p>
            <a:pPr algn="ctr">
              <a:lnSpc>
                <a:spcPct val="100000"/>
              </a:lnSpc>
              <a:spcAft>
                <a:spcPts val="0"/>
              </a:spcAft>
            </a:pPr>
            <a:r>
              <a:rPr sz="1300" b="0" i="0">
                <a:solidFill>
                  <a:srgbClr val="FFFFFF"/>
                </a:solidFill>
                <a:latin typeface="Segoe UI Semibold"/>
              </a:rPr>
              <a:t>API services</a:t>
            </a:r>
          </a:p>
          <a:p>
            <a:pPr algn="ctr">
              <a:lnSpc>
                <a:spcPct val="100000"/>
              </a:lnSpc>
              <a:spcAft>
                <a:spcPts val="0"/>
              </a:spcAft>
            </a:pPr>
            <a:r>
              <a:rPr sz="1050" b="0" i="0">
                <a:solidFill>
                  <a:srgbClr val="8C9AB5"/>
                </a:solidFill>
                <a:latin typeface="Segoe UI"/>
              </a:rPr>
              <a:t>16 vCPU · &lt;50 ms</a:t>
            </a:r>
          </a:p>
        </p:txBody>
      </p:sp>
      <p:sp>
        <p:nvSpPr>
          <p:cNvPr id="42" name="Rounded Rectangle 41"/>
          <p:cNvSpPr/>
          <p:nvPr/>
        </p:nvSpPr>
        <p:spPr>
          <a:xfrm>
            <a:off x="4160520" y="2057400"/>
            <a:ext cx="1965960" cy="914400"/>
          </a:xfrm>
          <a:prstGeom prst="roundRect">
            <a:avLst>
              <a:gd name="adj" fmla="val 20000"/>
            </a:avLst>
          </a:prstGeom>
          <a:solidFill>
            <a:srgbClr val="1F3E6E"/>
          </a:solidFill>
          <a:ln w="15875">
            <a:solidFill>
              <a:srgbClr val="3987E5"/>
            </a:solidFill>
          </a:ln>
        </p:spPr>
        <p:txBody>
          <a:bodyPr wrap="square" lIns="36576" tIns="36576" rIns="36576" bIns="36576" rtlCol="0" anchor="ctr">
            <a:noAutofit/>
          </a:bodyPr>
          <a:lstStyle/>
          <a:p>
            <a:pPr algn="ctr">
              <a:lnSpc>
                <a:spcPct val="100000"/>
              </a:lnSpc>
              <a:spcAft>
                <a:spcPts val="0"/>
              </a:spcAft>
            </a:pPr>
            <a:r>
              <a:rPr sz="1400" b="0" i="0">
                <a:solidFill>
                  <a:srgbClr val="FFFFFF"/>
                </a:solidFill>
                <a:latin typeface="Segoe UI Semibold"/>
              </a:rPr>
              <a:t>AWS</a:t>
            </a:r>
          </a:p>
          <a:p>
            <a:pPr algn="ctr">
              <a:lnSpc>
                <a:spcPct val="100000"/>
              </a:lnSpc>
              <a:spcAft>
                <a:spcPts val="0"/>
              </a:spcAft>
            </a:pPr>
            <a:r>
              <a:rPr sz="1150" b="0" i="0">
                <a:solidFill>
                  <a:srgbClr val="8C9AB5"/>
                </a:solidFill>
                <a:latin typeface="Segoe UI"/>
              </a:rPr>
              <a:t>eu-central-1 · Cⱼ, cⱼ</a:t>
            </a:r>
          </a:p>
        </p:txBody>
      </p:sp>
      <p:sp>
        <p:nvSpPr>
          <p:cNvPr id="43" name="Rounded Rectangle 42"/>
          <p:cNvSpPr/>
          <p:nvPr/>
        </p:nvSpPr>
        <p:spPr>
          <a:xfrm>
            <a:off x="4160520" y="3383279"/>
            <a:ext cx="1965960" cy="914400"/>
          </a:xfrm>
          <a:prstGeom prst="roundRect">
            <a:avLst>
              <a:gd name="adj" fmla="val 20000"/>
            </a:avLst>
          </a:prstGeom>
          <a:solidFill>
            <a:srgbClr val="323E6F"/>
          </a:solidFill>
          <a:ln w="15875">
            <a:solidFill>
              <a:srgbClr val="9085E9"/>
            </a:solidFill>
          </a:ln>
        </p:spPr>
        <p:txBody>
          <a:bodyPr wrap="square" lIns="36576" tIns="36576" rIns="36576" bIns="36576" rtlCol="0" anchor="ctr">
            <a:noAutofit/>
          </a:bodyPr>
          <a:lstStyle/>
          <a:p>
            <a:pPr algn="ctr">
              <a:lnSpc>
                <a:spcPct val="100000"/>
              </a:lnSpc>
              <a:spcAft>
                <a:spcPts val="0"/>
              </a:spcAft>
            </a:pPr>
            <a:r>
              <a:rPr sz="1400" b="0" i="0">
                <a:solidFill>
                  <a:srgbClr val="FFFFFF"/>
                </a:solidFill>
                <a:latin typeface="Segoe UI Semibold"/>
              </a:rPr>
              <a:t>Azure</a:t>
            </a:r>
          </a:p>
          <a:p>
            <a:pPr algn="ctr">
              <a:lnSpc>
                <a:spcPct val="100000"/>
              </a:lnSpc>
              <a:spcAft>
                <a:spcPts val="0"/>
              </a:spcAft>
            </a:pPr>
            <a:r>
              <a:rPr sz="1150" b="0" i="0">
                <a:solidFill>
                  <a:srgbClr val="8C9AB5"/>
                </a:solidFill>
                <a:latin typeface="Segoe UI"/>
              </a:rPr>
              <a:t>westeurope · Cⱼ, cⱼ</a:t>
            </a:r>
          </a:p>
        </p:txBody>
      </p:sp>
      <p:sp>
        <p:nvSpPr>
          <p:cNvPr id="44" name="Rounded Rectangle 43"/>
          <p:cNvSpPr/>
          <p:nvPr/>
        </p:nvSpPr>
        <p:spPr>
          <a:xfrm>
            <a:off x="4160520" y="4709160"/>
            <a:ext cx="1965960" cy="914400"/>
          </a:xfrm>
          <a:prstGeom prst="roundRect">
            <a:avLst>
              <a:gd name="adj" fmla="val 20000"/>
            </a:avLst>
          </a:prstGeom>
          <a:solidFill>
            <a:srgbClr val="184454"/>
          </a:solidFill>
          <a:ln w="15875">
            <a:solidFill>
              <a:srgbClr val="199E70"/>
            </a:solidFill>
          </a:ln>
        </p:spPr>
        <p:txBody>
          <a:bodyPr wrap="square" lIns="36576" tIns="36576" rIns="36576" bIns="36576" rtlCol="0" anchor="ctr">
            <a:noAutofit/>
          </a:bodyPr>
          <a:lstStyle/>
          <a:p>
            <a:pPr algn="ctr">
              <a:lnSpc>
                <a:spcPct val="100000"/>
              </a:lnSpc>
              <a:spcAft>
                <a:spcPts val="0"/>
              </a:spcAft>
            </a:pPr>
            <a:r>
              <a:rPr sz="1400" b="0" i="0">
                <a:solidFill>
                  <a:srgbClr val="FFFFFF"/>
                </a:solidFill>
                <a:latin typeface="Segoe UI Semibold"/>
              </a:rPr>
              <a:t>Google Cloud</a:t>
            </a:r>
          </a:p>
          <a:p>
            <a:pPr algn="ctr">
              <a:lnSpc>
                <a:spcPct val="100000"/>
              </a:lnSpc>
              <a:spcAft>
                <a:spcPts val="0"/>
              </a:spcAft>
            </a:pPr>
            <a:r>
              <a:rPr sz="1150" b="0" i="0">
                <a:solidFill>
                  <a:srgbClr val="8C9AB5"/>
                </a:solidFill>
                <a:latin typeface="Segoe UI"/>
              </a:rPr>
              <a:t>us-central1 · Cⱼ, cⱼ</a:t>
            </a:r>
          </a:p>
        </p:txBody>
      </p:sp>
      <p:cxnSp>
        <p:nvCxnSpPr>
          <p:cNvPr id="45" name="Connector 44"/>
          <p:cNvCxnSpPr/>
          <p:nvPr/>
        </p:nvCxnSpPr>
        <p:spPr>
          <a:xfrm>
            <a:off x="2743200" y="2322576"/>
            <a:ext cx="1417320" cy="192024"/>
          </a:xfrm>
          <a:prstGeom prst="line">
            <a:avLst/>
          </a:prstGeom>
          <a:ln w="25400">
            <a:solidFill>
              <a:srgbClr val="3987E5">
                <a:alpha val="95000"/>
              </a:srgbClr>
            </a:solidFill>
            <a:tailEnd type="triangle" w="med" len="med"/>
          </a:ln>
        </p:spPr>
      </p:cxnSp>
      <p:cxnSp>
        <p:nvCxnSpPr>
          <p:cNvPr id="46" name="Connector 45"/>
          <p:cNvCxnSpPr/>
          <p:nvPr/>
        </p:nvCxnSpPr>
        <p:spPr>
          <a:xfrm>
            <a:off x="2743200" y="2322576"/>
            <a:ext cx="1417320" cy="1517904"/>
          </a:xfrm>
          <a:prstGeom prst="line">
            <a:avLst/>
          </a:prstGeom>
          <a:ln w="9525">
            <a:solidFill>
              <a:srgbClr val="8C9AB5">
                <a:alpha val="30000"/>
              </a:srgbClr>
            </a:solidFill>
            <a:prstDash val="dash"/>
          </a:ln>
        </p:spPr>
      </p:cxnSp>
      <p:cxnSp>
        <p:nvCxnSpPr>
          <p:cNvPr id="47" name="Connector 46"/>
          <p:cNvCxnSpPr/>
          <p:nvPr/>
        </p:nvCxnSpPr>
        <p:spPr>
          <a:xfrm>
            <a:off x="2743200" y="2322576"/>
            <a:ext cx="1417320" cy="2843784"/>
          </a:xfrm>
          <a:prstGeom prst="line">
            <a:avLst/>
          </a:prstGeom>
          <a:ln w="9525">
            <a:solidFill>
              <a:srgbClr val="8C9AB5">
                <a:alpha val="30000"/>
              </a:srgbClr>
            </a:solidFill>
            <a:prstDash val="dash"/>
          </a:ln>
        </p:spPr>
      </p:cxnSp>
      <p:cxnSp>
        <p:nvCxnSpPr>
          <p:cNvPr id="48" name="Connector 47"/>
          <p:cNvCxnSpPr/>
          <p:nvPr/>
        </p:nvCxnSpPr>
        <p:spPr>
          <a:xfrm flipV="1">
            <a:off x="2743200" y="2514600"/>
            <a:ext cx="1417320" cy="813816"/>
          </a:xfrm>
          <a:prstGeom prst="line">
            <a:avLst/>
          </a:prstGeom>
          <a:ln w="9525">
            <a:solidFill>
              <a:srgbClr val="8C9AB5">
                <a:alpha val="30000"/>
              </a:srgbClr>
            </a:solidFill>
            <a:prstDash val="dash"/>
          </a:ln>
        </p:spPr>
      </p:cxnSp>
      <p:cxnSp>
        <p:nvCxnSpPr>
          <p:cNvPr id="49" name="Connector 48"/>
          <p:cNvCxnSpPr/>
          <p:nvPr/>
        </p:nvCxnSpPr>
        <p:spPr>
          <a:xfrm>
            <a:off x="2743200" y="3328416"/>
            <a:ext cx="1417320" cy="512064"/>
          </a:xfrm>
          <a:prstGeom prst="line">
            <a:avLst/>
          </a:prstGeom>
          <a:ln w="9525">
            <a:solidFill>
              <a:srgbClr val="8C9AB5">
                <a:alpha val="30000"/>
              </a:srgbClr>
            </a:solidFill>
            <a:prstDash val="dash"/>
          </a:ln>
        </p:spPr>
      </p:cxnSp>
      <p:cxnSp>
        <p:nvCxnSpPr>
          <p:cNvPr id="50" name="Connector 49"/>
          <p:cNvCxnSpPr/>
          <p:nvPr/>
        </p:nvCxnSpPr>
        <p:spPr>
          <a:xfrm>
            <a:off x="2743200" y="3328416"/>
            <a:ext cx="1417320" cy="1837944"/>
          </a:xfrm>
          <a:prstGeom prst="line">
            <a:avLst/>
          </a:prstGeom>
          <a:ln w="25400">
            <a:solidFill>
              <a:srgbClr val="199E70">
                <a:alpha val="95000"/>
              </a:srgbClr>
            </a:solidFill>
            <a:tailEnd type="triangle" w="med" len="med"/>
          </a:ln>
        </p:spPr>
      </p:cxnSp>
      <p:cxnSp>
        <p:nvCxnSpPr>
          <p:cNvPr id="51" name="Connector 50"/>
          <p:cNvCxnSpPr/>
          <p:nvPr/>
        </p:nvCxnSpPr>
        <p:spPr>
          <a:xfrm flipV="1">
            <a:off x="2743200" y="2514600"/>
            <a:ext cx="1417320" cy="1819655"/>
          </a:xfrm>
          <a:prstGeom prst="line">
            <a:avLst/>
          </a:prstGeom>
          <a:ln w="9525">
            <a:solidFill>
              <a:srgbClr val="8C9AB5">
                <a:alpha val="30000"/>
              </a:srgbClr>
            </a:solidFill>
            <a:prstDash val="dash"/>
          </a:ln>
        </p:spPr>
      </p:cxnSp>
      <p:cxnSp>
        <p:nvCxnSpPr>
          <p:cNvPr id="52" name="Connector 51"/>
          <p:cNvCxnSpPr/>
          <p:nvPr/>
        </p:nvCxnSpPr>
        <p:spPr>
          <a:xfrm flipV="1">
            <a:off x="2743200" y="3840480"/>
            <a:ext cx="1417320" cy="493775"/>
          </a:xfrm>
          <a:prstGeom prst="line">
            <a:avLst/>
          </a:prstGeom>
          <a:ln w="25400">
            <a:solidFill>
              <a:srgbClr val="9085E9">
                <a:alpha val="95000"/>
              </a:srgbClr>
            </a:solidFill>
            <a:tailEnd type="triangle" w="med" len="med"/>
          </a:ln>
        </p:spPr>
      </p:cxnSp>
      <p:cxnSp>
        <p:nvCxnSpPr>
          <p:cNvPr id="53" name="Connector 52"/>
          <p:cNvCxnSpPr/>
          <p:nvPr/>
        </p:nvCxnSpPr>
        <p:spPr>
          <a:xfrm>
            <a:off x="2743200" y="4334255"/>
            <a:ext cx="1417320" cy="832105"/>
          </a:xfrm>
          <a:prstGeom prst="line">
            <a:avLst/>
          </a:prstGeom>
          <a:ln w="9525">
            <a:solidFill>
              <a:srgbClr val="8C9AB5">
                <a:alpha val="30000"/>
              </a:srgbClr>
            </a:solidFill>
            <a:prstDash val="dash"/>
          </a:ln>
        </p:spPr>
      </p:cxnSp>
      <p:cxnSp>
        <p:nvCxnSpPr>
          <p:cNvPr id="54" name="Connector 53"/>
          <p:cNvCxnSpPr/>
          <p:nvPr/>
        </p:nvCxnSpPr>
        <p:spPr>
          <a:xfrm flipV="1">
            <a:off x="2743200" y="2514600"/>
            <a:ext cx="1417320" cy="2825496"/>
          </a:xfrm>
          <a:prstGeom prst="line">
            <a:avLst/>
          </a:prstGeom>
          <a:ln w="25400">
            <a:solidFill>
              <a:srgbClr val="3987E5">
                <a:alpha val="95000"/>
              </a:srgbClr>
            </a:solidFill>
            <a:tailEnd type="triangle" w="med" len="med"/>
          </a:ln>
        </p:spPr>
      </p:cxnSp>
      <p:cxnSp>
        <p:nvCxnSpPr>
          <p:cNvPr id="55" name="Connector 54"/>
          <p:cNvCxnSpPr/>
          <p:nvPr/>
        </p:nvCxnSpPr>
        <p:spPr>
          <a:xfrm flipV="1">
            <a:off x="2743200" y="3840480"/>
            <a:ext cx="1417320" cy="1499616"/>
          </a:xfrm>
          <a:prstGeom prst="line">
            <a:avLst/>
          </a:prstGeom>
          <a:ln w="9525">
            <a:solidFill>
              <a:srgbClr val="8C9AB5">
                <a:alpha val="30000"/>
              </a:srgbClr>
            </a:solidFill>
            <a:prstDash val="dash"/>
          </a:ln>
        </p:spPr>
      </p:cxnSp>
      <p:cxnSp>
        <p:nvCxnSpPr>
          <p:cNvPr id="56" name="Connector 55"/>
          <p:cNvCxnSpPr/>
          <p:nvPr/>
        </p:nvCxnSpPr>
        <p:spPr>
          <a:xfrm flipV="1">
            <a:off x="2743200" y="5166360"/>
            <a:ext cx="1417320" cy="173736"/>
          </a:xfrm>
          <a:prstGeom prst="line">
            <a:avLst/>
          </a:prstGeom>
          <a:ln w="9525">
            <a:solidFill>
              <a:srgbClr val="8C9AB5">
                <a:alpha val="30000"/>
              </a:srgbClr>
            </a:solidFill>
            <a:prstDash val="dash"/>
          </a:ln>
        </p:spPr>
      </p:cxnSp>
      <p:sp>
        <p:nvSpPr>
          <p:cNvPr id="57" name="TextBox 56"/>
          <p:cNvSpPr txBox="1"/>
          <p:nvPr/>
        </p:nvSpPr>
        <p:spPr>
          <a:xfrm>
            <a:off x="548640" y="5943600"/>
            <a:ext cx="5669280" cy="274320"/>
          </a:xfrm>
          <a:prstGeom prst="rect">
            <a:avLst/>
          </a:prstGeom>
          <a:noFill/>
        </p:spPr>
        <p:txBody>
          <a:bodyPr wrap="square" lIns="0" tIns="0" rIns="0" bIns="0" anchor="t">
            <a:noAutofit/>
          </a:bodyPr>
          <a:lstStyle/>
          <a:p>
            <a:pPr algn="l">
              <a:lnSpc>
                <a:spcPct val="112000"/>
              </a:lnSpc>
              <a:spcAft>
                <a:spcPts val="0"/>
              </a:spcAft>
            </a:pPr>
            <a:r>
              <a:rPr sz="1050" b="0" i="0">
                <a:solidFill>
                  <a:srgbClr val="8C9AB5"/>
                </a:solidFill>
                <a:latin typeface="Segoe UI"/>
              </a:rPr>
              <a:t>Solid arrows = one feasible assignment  xᵢⱼ = 1</a:t>
            </a:r>
          </a:p>
        </p:txBody>
      </p:sp>
      <p:grpSp>
        <p:nvGrpSpPr>
          <p:cNvPr id="58" name="Group 57"/>
          <p:cNvGrpSpPr/>
          <p:nvPr/>
        </p:nvGrpSpPr>
        <p:grpSpPr>
          <a:xfrm>
            <a:off x="6537960" y="1600200"/>
            <a:ext cx="5102352" cy="4434840"/>
            <a:chOff x="6537960" y="1600200"/>
            <a:chExt cx="5102352" cy="4434840"/>
          </a:xfrm>
        </p:grpSpPr>
        <p:sp>
          <p:nvSpPr>
            <p:cNvPr id="59" name="Rounded Rectangle 58"/>
            <p:cNvSpPr/>
            <p:nvPr/>
          </p:nvSpPr>
          <p:spPr>
            <a:xfrm>
              <a:off x="6537960" y="1600200"/>
              <a:ext cx="5102352" cy="4434840"/>
            </a:xfrm>
            <a:prstGeom prst="roundRect">
              <a:avLst>
                <a:gd name="adj" fmla="val 5000"/>
              </a:avLst>
            </a:prstGeom>
            <a:gradFill rotWithShape="1">
              <a:gsLst>
                <a:gs pos="0">
                  <a:srgbClr val="182A4C"/>
                </a:gs>
                <a:gs pos="100000">
                  <a:srgbClr val="13213D"/>
                </a:gs>
              </a:gsLst>
              <a:lin ang="5400000" scaled="0"/>
            </a:gradFill>
            <a:ln w="9525">
              <a:solidFill>
                <a:srgbClr val="2A3F69"/>
              </a:solidFill>
            </a:ln>
            <a:effectLst>
              <a:outerShdw blurRad="228600" dist="50800" dir="5400000" algn="t" rotWithShape="0">
                <a:srgbClr val="000000">
                  <a:alpha val="35000"/>
                </a:srgbClr>
              </a:outerShdw>
            </a:effectLst>
          </p:spPr>
          <p:txBody>
            <a:bodyPr wrap="square" rtlCol="0" anchor="ctr"/>
            <a:lstStyle/>
            <a:p>
              <a:pPr algn="ctr"/>
              <a:endParaRPr/>
            </a:p>
          </p:txBody>
        </p:sp>
        <p:sp>
          <p:nvSpPr>
            <p:cNvPr id="60" name="TextBox 59"/>
            <p:cNvSpPr txBox="1"/>
            <p:nvPr/>
          </p:nvSpPr>
          <p:spPr>
            <a:xfrm>
              <a:off x="6812280" y="1737360"/>
              <a:ext cx="4572000" cy="320040"/>
            </a:xfrm>
            <a:prstGeom prst="rect">
              <a:avLst/>
            </a:prstGeom>
            <a:noFill/>
          </p:spPr>
          <p:txBody>
            <a:bodyPr wrap="square" lIns="0" tIns="0" rIns="0" bIns="0" anchor="t">
              <a:noAutofit/>
            </a:bodyPr>
            <a:lstStyle/>
            <a:p>
              <a:pPr algn="l">
                <a:lnSpc>
                  <a:spcPct val="112000"/>
                </a:lnSpc>
                <a:spcAft>
                  <a:spcPts val="0"/>
                </a:spcAft>
              </a:pPr>
              <a:r>
                <a:rPr sz="1050" b="0" i="0" spc="250">
                  <a:solidFill>
                    <a:srgbClr val="F4925F"/>
                  </a:solidFill>
                  <a:latin typeface="Segoe UI Semibold"/>
                </a:rPr>
                <a:t>0-1 INTEGER PROGRAM</a:t>
              </a:r>
            </a:p>
          </p:txBody>
        </p:sp>
        <p:sp>
          <p:nvSpPr>
            <p:cNvPr id="61" name="TextBox 60"/>
            <p:cNvSpPr txBox="1"/>
            <p:nvPr/>
          </p:nvSpPr>
          <p:spPr>
            <a:xfrm>
              <a:off x="6812280" y="2057400"/>
              <a:ext cx="4663440" cy="502920"/>
            </a:xfrm>
            <a:prstGeom prst="rect">
              <a:avLst/>
            </a:prstGeom>
            <a:noFill/>
          </p:spPr>
          <p:txBody>
            <a:bodyPr wrap="square" lIns="0" tIns="0" rIns="0" bIns="0" anchor="t">
              <a:noAutofit/>
            </a:bodyPr>
            <a:lstStyle/>
            <a:p>
              <a:pPr algn="l">
                <a:lnSpc>
                  <a:spcPct val="112000"/>
                </a:lnSpc>
                <a:spcAft>
                  <a:spcPts val="0"/>
                </a:spcAft>
              </a:pPr>
              <a:r>
                <a:rPr sz="2100" b="0" i="0">
                  <a:solidFill>
                    <a:srgbClr val="FFFFFF"/>
                  </a:solidFill>
                  <a:latin typeface="Cambria Math"/>
                </a:rPr>
                <a:t>min  Σᵢ Σⱼ (cᵢⱼ + λ·ℓᵢⱼ) · xᵢⱼ</a:t>
              </a:r>
            </a:p>
          </p:txBody>
        </p:sp>
        <p:sp>
          <p:nvSpPr>
            <p:cNvPr id="62" name="TextBox 61"/>
            <p:cNvSpPr txBox="1"/>
            <p:nvPr/>
          </p:nvSpPr>
          <p:spPr>
            <a:xfrm>
              <a:off x="6812280" y="2606040"/>
              <a:ext cx="4572000" cy="274320"/>
            </a:xfrm>
            <a:prstGeom prst="rect">
              <a:avLst/>
            </a:prstGeom>
            <a:noFill/>
          </p:spPr>
          <p:txBody>
            <a:bodyPr wrap="square" lIns="0" tIns="0" rIns="0" bIns="0" anchor="t">
              <a:noAutofit/>
            </a:bodyPr>
            <a:lstStyle/>
            <a:p>
              <a:pPr algn="l">
                <a:lnSpc>
                  <a:spcPct val="112000"/>
                </a:lnSpc>
                <a:spcAft>
                  <a:spcPts val="0"/>
                </a:spcAft>
              </a:pPr>
              <a:r>
                <a:rPr sz="1200" b="0" i="0">
                  <a:solidFill>
                    <a:srgbClr val="8C9AB5"/>
                  </a:solidFill>
                  <a:latin typeface="Segoe UI Light"/>
                </a:rPr>
                <a:t>subject to</a:t>
              </a:r>
            </a:p>
          </p:txBody>
        </p:sp>
        <p:sp>
          <p:nvSpPr>
            <p:cNvPr id="63" name="TextBox 62"/>
            <p:cNvSpPr txBox="1"/>
            <p:nvPr/>
          </p:nvSpPr>
          <p:spPr>
            <a:xfrm>
              <a:off x="6995160" y="2907792"/>
              <a:ext cx="2651760" cy="365760"/>
            </a:xfrm>
            <a:prstGeom prst="rect">
              <a:avLst/>
            </a:prstGeom>
            <a:noFill/>
          </p:spPr>
          <p:txBody>
            <a:bodyPr wrap="square" lIns="0" tIns="0" rIns="0" bIns="0" anchor="ctr">
              <a:noAutofit/>
            </a:bodyPr>
            <a:lstStyle/>
            <a:p>
              <a:pPr algn="l">
                <a:lnSpc>
                  <a:spcPct val="112000"/>
                </a:lnSpc>
                <a:spcAft>
                  <a:spcPts val="0"/>
                </a:spcAft>
              </a:pPr>
              <a:r>
                <a:rPr sz="1450" b="0" i="0">
                  <a:solidFill>
                    <a:srgbClr val="C9D2E3"/>
                  </a:solidFill>
                  <a:latin typeface="Cambria Math"/>
                </a:rPr>
                <a:t>Σⱼ xᵢⱼ = 1   ∀i</a:t>
              </a:r>
            </a:p>
          </p:txBody>
        </p:sp>
        <p:sp>
          <p:nvSpPr>
            <p:cNvPr id="64" name="TextBox 63"/>
            <p:cNvSpPr txBox="1"/>
            <p:nvPr/>
          </p:nvSpPr>
          <p:spPr>
            <a:xfrm>
              <a:off x="9646920" y="2907792"/>
              <a:ext cx="1920240" cy="365760"/>
            </a:xfrm>
            <a:prstGeom prst="rect">
              <a:avLst/>
            </a:prstGeom>
            <a:noFill/>
          </p:spPr>
          <p:txBody>
            <a:bodyPr wrap="square" lIns="0" tIns="0" rIns="0" bIns="0" anchor="ctr">
              <a:noAutofit/>
            </a:bodyPr>
            <a:lstStyle/>
            <a:p>
              <a:pPr algn="l">
                <a:lnSpc>
                  <a:spcPct val="112000"/>
                </a:lnSpc>
                <a:spcAft>
                  <a:spcPts val="0"/>
                </a:spcAft>
              </a:pPr>
              <a:r>
                <a:rPr sz="1100" b="0" i="0">
                  <a:solidFill>
                    <a:srgbClr val="8C9AB5"/>
                  </a:solidFill>
                  <a:latin typeface="Segoe UI"/>
                </a:rPr>
                <a:t>each workload placed once</a:t>
              </a:r>
            </a:p>
          </p:txBody>
        </p:sp>
        <p:sp>
          <p:nvSpPr>
            <p:cNvPr id="65" name="TextBox 64"/>
            <p:cNvSpPr txBox="1"/>
            <p:nvPr/>
          </p:nvSpPr>
          <p:spPr>
            <a:xfrm>
              <a:off x="6995160" y="3291840"/>
              <a:ext cx="2651760" cy="365760"/>
            </a:xfrm>
            <a:prstGeom prst="rect">
              <a:avLst/>
            </a:prstGeom>
            <a:noFill/>
          </p:spPr>
          <p:txBody>
            <a:bodyPr wrap="square" lIns="0" tIns="0" rIns="0" bIns="0" anchor="ctr">
              <a:noAutofit/>
            </a:bodyPr>
            <a:lstStyle/>
            <a:p>
              <a:pPr algn="l">
                <a:lnSpc>
                  <a:spcPct val="112000"/>
                </a:lnSpc>
                <a:spcAft>
                  <a:spcPts val="0"/>
                </a:spcAft>
              </a:pPr>
              <a:r>
                <a:rPr sz="1450" b="0" i="0">
                  <a:solidFill>
                    <a:srgbClr val="C9D2E3"/>
                  </a:solidFill>
                  <a:latin typeface="Cambria Math"/>
                </a:rPr>
                <a:t>Σᵢ rᵢ · xᵢⱼ ≤ Cⱼ   ∀j</a:t>
              </a:r>
            </a:p>
          </p:txBody>
        </p:sp>
        <p:sp>
          <p:nvSpPr>
            <p:cNvPr id="66" name="TextBox 65"/>
            <p:cNvSpPr txBox="1"/>
            <p:nvPr/>
          </p:nvSpPr>
          <p:spPr>
            <a:xfrm>
              <a:off x="9646920" y="3291840"/>
              <a:ext cx="1920240" cy="365760"/>
            </a:xfrm>
            <a:prstGeom prst="rect">
              <a:avLst/>
            </a:prstGeom>
            <a:noFill/>
          </p:spPr>
          <p:txBody>
            <a:bodyPr wrap="square" lIns="0" tIns="0" rIns="0" bIns="0" anchor="ctr">
              <a:noAutofit/>
            </a:bodyPr>
            <a:lstStyle/>
            <a:p>
              <a:pPr algn="l">
                <a:lnSpc>
                  <a:spcPct val="112000"/>
                </a:lnSpc>
                <a:spcAft>
                  <a:spcPts val="0"/>
                </a:spcAft>
              </a:pPr>
              <a:r>
                <a:rPr sz="1100" b="0" i="0">
                  <a:solidFill>
                    <a:srgbClr val="8C9AB5"/>
                  </a:solidFill>
                  <a:latin typeface="Segoe UI"/>
                </a:rPr>
                <a:t>provider capacity</a:t>
              </a:r>
            </a:p>
          </p:txBody>
        </p:sp>
        <p:sp>
          <p:nvSpPr>
            <p:cNvPr id="67" name="TextBox 66"/>
            <p:cNvSpPr txBox="1"/>
            <p:nvPr/>
          </p:nvSpPr>
          <p:spPr>
            <a:xfrm>
              <a:off x="6995160" y="3675888"/>
              <a:ext cx="2651760" cy="365760"/>
            </a:xfrm>
            <a:prstGeom prst="rect">
              <a:avLst/>
            </a:prstGeom>
            <a:noFill/>
          </p:spPr>
          <p:txBody>
            <a:bodyPr wrap="square" lIns="0" tIns="0" rIns="0" bIns="0" anchor="ctr">
              <a:noAutofit/>
            </a:bodyPr>
            <a:lstStyle/>
            <a:p>
              <a:pPr algn="l">
                <a:lnSpc>
                  <a:spcPct val="112000"/>
                </a:lnSpc>
                <a:spcAft>
                  <a:spcPts val="0"/>
                </a:spcAft>
              </a:pPr>
              <a:r>
                <a:rPr sz="1450" b="0" i="0">
                  <a:solidFill>
                    <a:srgbClr val="C9D2E3"/>
                  </a:solidFill>
                  <a:latin typeface="Cambria Math"/>
                </a:rPr>
                <a:t>ℓᵢⱼ · xᵢⱼ ≤ Lᵢ   ∀i,j</a:t>
              </a:r>
            </a:p>
          </p:txBody>
        </p:sp>
        <p:sp>
          <p:nvSpPr>
            <p:cNvPr id="68" name="TextBox 67"/>
            <p:cNvSpPr txBox="1"/>
            <p:nvPr/>
          </p:nvSpPr>
          <p:spPr>
            <a:xfrm>
              <a:off x="9646920" y="3675888"/>
              <a:ext cx="1920240" cy="365760"/>
            </a:xfrm>
            <a:prstGeom prst="rect">
              <a:avLst/>
            </a:prstGeom>
            <a:noFill/>
          </p:spPr>
          <p:txBody>
            <a:bodyPr wrap="square" lIns="0" tIns="0" rIns="0" bIns="0" anchor="ctr">
              <a:noAutofit/>
            </a:bodyPr>
            <a:lstStyle/>
            <a:p>
              <a:pPr algn="l">
                <a:lnSpc>
                  <a:spcPct val="112000"/>
                </a:lnSpc>
                <a:spcAft>
                  <a:spcPts val="0"/>
                </a:spcAft>
              </a:pPr>
              <a:r>
                <a:rPr sz="1100" b="0" i="0">
                  <a:solidFill>
                    <a:srgbClr val="8C9AB5"/>
                  </a:solidFill>
                  <a:latin typeface="Segoe UI"/>
                </a:rPr>
                <a:t>latency SLA</a:t>
              </a:r>
            </a:p>
          </p:txBody>
        </p:sp>
        <p:sp>
          <p:nvSpPr>
            <p:cNvPr id="69" name="TextBox 68"/>
            <p:cNvSpPr txBox="1"/>
            <p:nvPr/>
          </p:nvSpPr>
          <p:spPr>
            <a:xfrm>
              <a:off x="6995160" y="4059936"/>
              <a:ext cx="2651760" cy="365760"/>
            </a:xfrm>
            <a:prstGeom prst="rect">
              <a:avLst/>
            </a:prstGeom>
            <a:noFill/>
          </p:spPr>
          <p:txBody>
            <a:bodyPr wrap="square" lIns="0" tIns="0" rIns="0" bIns="0" anchor="ctr">
              <a:noAutofit/>
            </a:bodyPr>
            <a:lstStyle/>
            <a:p>
              <a:pPr algn="l">
                <a:lnSpc>
                  <a:spcPct val="112000"/>
                </a:lnSpc>
                <a:spcAft>
                  <a:spcPts val="0"/>
                </a:spcAft>
              </a:pPr>
              <a:r>
                <a:rPr sz="1450" b="0" i="0">
                  <a:solidFill>
                    <a:srgbClr val="C9D2E3"/>
                  </a:solidFill>
                  <a:latin typeface="Cambria Math"/>
                </a:rPr>
                <a:t>xᵢⱼ = 0  if  j ∉ Rᵢ</a:t>
              </a:r>
            </a:p>
          </p:txBody>
        </p:sp>
        <p:sp>
          <p:nvSpPr>
            <p:cNvPr id="70" name="TextBox 69"/>
            <p:cNvSpPr txBox="1"/>
            <p:nvPr/>
          </p:nvSpPr>
          <p:spPr>
            <a:xfrm>
              <a:off x="9646920" y="4059936"/>
              <a:ext cx="1920240" cy="365760"/>
            </a:xfrm>
            <a:prstGeom prst="rect">
              <a:avLst/>
            </a:prstGeom>
            <a:noFill/>
          </p:spPr>
          <p:txBody>
            <a:bodyPr wrap="square" lIns="0" tIns="0" rIns="0" bIns="0" anchor="ctr">
              <a:noAutofit/>
            </a:bodyPr>
            <a:lstStyle/>
            <a:p>
              <a:pPr algn="l">
                <a:lnSpc>
                  <a:spcPct val="112000"/>
                </a:lnSpc>
                <a:spcAft>
                  <a:spcPts val="0"/>
                </a:spcAft>
              </a:pPr>
              <a:r>
                <a:rPr sz="1100" b="0" i="0">
                  <a:solidFill>
                    <a:srgbClr val="8C9AB5"/>
                  </a:solidFill>
                  <a:latin typeface="Segoe UI"/>
                </a:rPr>
                <a:t>data residency</a:t>
              </a:r>
            </a:p>
          </p:txBody>
        </p:sp>
        <p:sp>
          <p:nvSpPr>
            <p:cNvPr id="71" name="TextBox 70"/>
            <p:cNvSpPr txBox="1"/>
            <p:nvPr/>
          </p:nvSpPr>
          <p:spPr>
            <a:xfrm>
              <a:off x="6995160" y="4443984"/>
              <a:ext cx="2651760" cy="365760"/>
            </a:xfrm>
            <a:prstGeom prst="rect">
              <a:avLst/>
            </a:prstGeom>
            <a:noFill/>
          </p:spPr>
          <p:txBody>
            <a:bodyPr wrap="square" lIns="0" tIns="0" rIns="0" bIns="0" anchor="ctr">
              <a:noAutofit/>
            </a:bodyPr>
            <a:lstStyle/>
            <a:p>
              <a:pPr algn="l">
                <a:lnSpc>
                  <a:spcPct val="112000"/>
                </a:lnSpc>
                <a:spcAft>
                  <a:spcPts val="0"/>
                </a:spcAft>
              </a:pPr>
              <a:r>
                <a:rPr sz="1450" b="0" i="0">
                  <a:solidFill>
                    <a:srgbClr val="C9D2E3"/>
                  </a:solidFill>
                  <a:latin typeface="Cambria Math"/>
                </a:rPr>
                <a:t>xᵢⱼ ∈ {0, 1}</a:t>
              </a:r>
            </a:p>
          </p:txBody>
        </p:sp>
        <p:sp>
          <p:nvSpPr>
            <p:cNvPr id="72" name="TextBox 71"/>
            <p:cNvSpPr txBox="1"/>
            <p:nvPr/>
          </p:nvSpPr>
          <p:spPr>
            <a:xfrm>
              <a:off x="9646920" y="4443984"/>
              <a:ext cx="1920240" cy="365760"/>
            </a:xfrm>
            <a:prstGeom prst="rect">
              <a:avLst/>
            </a:prstGeom>
            <a:noFill/>
          </p:spPr>
          <p:txBody>
            <a:bodyPr wrap="square" lIns="0" tIns="0" rIns="0" bIns="0" anchor="ctr">
              <a:noAutofit/>
            </a:bodyPr>
            <a:lstStyle/>
            <a:p>
              <a:pPr algn="l">
                <a:lnSpc>
                  <a:spcPct val="112000"/>
                </a:lnSpc>
                <a:spcAft>
                  <a:spcPts val="0"/>
                </a:spcAft>
              </a:pPr>
              <a:r>
                <a:rPr sz="1100" b="0" i="0">
                  <a:solidFill>
                    <a:srgbClr val="8C9AB5"/>
                  </a:solidFill>
                  <a:latin typeface="Segoe UI"/>
                </a:rPr>
                <a:t>binary decision</a:t>
              </a:r>
            </a:p>
          </p:txBody>
        </p:sp>
        <p:sp>
          <p:nvSpPr>
            <p:cNvPr id="73" name="Rounded Rectangle 72"/>
            <p:cNvSpPr/>
            <p:nvPr/>
          </p:nvSpPr>
          <p:spPr>
            <a:xfrm>
              <a:off x="6812280" y="4956048"/>
              <a:ext cx="4572000" cy="868680"/>
            </a:xfrm>
            <a:prstGeom prst="roundRect">
              <a:avLst>
                <a:gd name="adj" fmla="val 15000"/>
              </a:avLst>
            </a:prstGeom>
            <a:solidFill>
              <a:srgbClr val="D95926">
                <a:alpha val="14000"/>
              </a:srgbClr>
            </a:solidFill>
            <a:ln w="9525">
              <a:solidFill>
                <a:srgbClr val="D95926">
                  <a:alpha val="60000"/>
                </a:srgbClr>
              </a:solidFill>
            </a:ln>
          </p:spPr>
          <p:txBody>
            <a:bodyPr wrap="square" lIns="128016" tIns="128016" rIns="128016" bIns="128016" rtlCol="0" anchor="ctr">
              <a:noAutofit/>
            </a:bodyPr>
            <a:lstStyle/>
            <a:p>
              <a:pPr algn="l">
                <a:lnSpc>
                  <a:spcPct val="110000"/>
                </a:lnSpc>
                <a:spcAft>
                  <a:spcPts val="0"/>
                </a:spcAft>
              </a:pPr>
              <a:r>
                <a:rPr sz="1150" b="0" i="0">
                  <a:solidFill>
                    <a:srgbClr val="F4925F"/>
                  </a:solidFill>
                  <a:latin typeface="Segoe UI Semibold"/>
                </a:rPr>
                <a:t>NP-hard</a:t>
              </a:r>
              <a:r>
                <a:rPr sz="1150" b="0" i="0">
                  <a:solidFill>
                    <a:srgbClr val="C9D2E3"/>
                  </a:solidFill>
                  <a:latin typeface="Segoe UI"/>
                </a:rPr>
                <a:t> — generalizes bin packing and the generalized assignment problem → exact solvers only for small instances.</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5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600"/>
                                        <p:tgtEl>
                                          <p:spTgt spid="38"/>
                                        </p:tgtEl>
                                      </p:cBhvr>
                                    </p:animEffect>
                                    <p:anim calcmode="lin" valueType="num">
                                      <p:cBhvr>
                                        <p:cTn id="8" dur="600" fill="hold"/>
                                        <p:tgtEl>
                                          <p:spTgt spid="38"/>
                                        </p:tgtEl>
                                        <p:attrNameLst>
                                          <p:attrName>ppt_x</p:attrName>
                                        </p:attrNameLst>
                                      </p:cBhvr>
                                      <p:tavLst>
                                        <p:tav tm="0">
                                          <p:val>
                                            <p:strVal val="#ppt_x"/>
                                          </p:val>
                                        </p:tav>
                                        <p:tav tm="100000">
                                          <p:val>
                                            <p:strVal val="#ppt_x"/>
                                          </p:val>
                                        </p:tav>
                                      </p:tavLst>
                                    </p:anim>
                                    <p:anim calcmode="lin" valueType="num">
                                      <p:cBhvr>
                                        <p:cTn id="9" dur="600" fill="hold"/>
                                        <p:tgtEl>
                                          <p:spTgt spid="38"/>
                                        </p:tgtEl>
                                        <p:attrNameLst>
                                          <p:attrName>ppt_y</p:attrName>
                                        </p:attrNameLst>
                                      </p:cBhvr>
                                      <p:tavLst>
                                        <p:tav tm="0">
                                          <p:val>
                                            <p:strVal val="#ppt_y+.08"/>
                                          </p:val>
                                        </p:tav>
                                        <p:tav tm="100000">
                                          <p:val>
                                            <p:strVal val="#ppt_y"/>
                                          </p:val>
                                        </p:tav>
                                      </p:tavLst>
                                    </p:anim>
                                  </p:childTnLst>
                                </p:cTn>
                              </p:par>
                              <p:par>
                                <p:cTn id="10" presetID="42" presetClass="entr" presetSubtype="0" fill="hold" grpId="0" nodeType="withEffect">
                                  <p:stCondLst>
                                    <p:cond delay="41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600"/>
                                        <p:tgtEl>
                                          <p:spTgt spid="39"/>
                                        </p:tgtEl>
                                      </p:cBhvr>
                                    </p:animEffect>
                                    <p:anim calcmode="lin" valueType="num">
                                      <p:cBhvr>
                                        <p:cTn id="13" dur="600" fill="hold"/>
                                        <p:tgtEl>
                                          <p:spTgt spid="39"/>
                                        </p:tgtEl>
                                        <p:attrNameLst>
                                          <p:attrName>ppt_x</p:attrName>
                                        </p:attrNameLst>
                                      </p:cBhvr>
                                      <p:tavLst>
                                        <p:tav tm="0">
                                          <p:val>
                                            <p:strVal val="#ppt_x"/>
                                          </p:val>
                                        </p:tav>
                                        <p:tav tm="100000">
                                          <p:val>
                                            <p:strVal val="#ppt_x"/>
                                          </p:val>
                                        </p:tav>
                                      </p:tavLst>
                                    </p:anim>
                                    <p:anim calcmode="lin" valueType="num">
                                      <p:cBhvr>
                                        <p:cTn id="14" dur="600" fill="hold"/>
                                        <p:tgtEl>
                                          <p:spTgt spid="39"/>
                                        </p:tgtEl>
                                        <p:attrNameLst>
                                          <p:attrName>ppt_y</p:attrName>
                                        </p:attrNameLst>
                                      </p:cBhvr>
                                      <p:tavLst>
                                        <p:tav tm="0">
                                          <p:val>
                                            <p:strVal val="#ppt_y+.08"/>
                                          </p:val>
                                        </p:tav>
                                        <p:tav tm="100000">
                                          <p:val>
                                            <p:strVal val="#ppt_y"/>
                                          </p:val>
                                        </p:tav>
                                      </p:tavLst>
                                    </p:anim>
                                  </p:childTnLst>
                                </p:cTn>
                              </p:par>
                              <p:par>
                                <p:cTn id="15" presetID="42" presetClass="entr" presetSubtype="0" fill="hold" grpId="0" nodeType="withEffect">
                                  <p:stCondLst>
                                    <p:cond delay="57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600"/>
                                        <p:tgtEl>
                                          <p:spTgt spid="40"/>
                                        </p:tgtEl>
                                      </p:cBhvr>
                                    </p:animEffect>
                                    <p:anim calcmode="lin" valueType="num">
                                      <p:cBhvr>
                                        <p:cTn id="18" dur="600" fill="hold"/>
                                        <p:tgtEl>
                                          <p:spTgt spid="40"/>
                                        </p:tgtEl>
                                        <p:attrNameLst>
                                          <p:attrName>ppt_x</p:attrName>
                                        </p:attrNameLst>
                                      </p:cBhvr>
                                      <p:tavLst>
                                        <p:tav tm="0">
                                          <p:val>
                                            <p:strVal val="#ppt_x"/>
                                          </p:val>
                                        </p:tav>
                                        <p:tav tm="100000">
                                          <p:val>
                                            <p:strVal val="#ppt_x"/>
                                          </p:val>
                                        </p:tav>
                                      </p:tavLst>
                                    </p:anim>
                                    <p:anim calcmode="lin" valueType="num">
                                      <p:cBhvr>
                                        <p:cTn id="19" dur="600" fill="hold"/>
                                        <p:tgtEl>
                                          <p:spTgt spid="40"/>
                                        </p:tgtEl>
                                        <p:attrNameLst>
                                          <p:attrName>ppt_y</p:attrName>
                                        </p:attrNameLst>
                                      </p:cBhvr>
                                      <p:tavLst>
                                        <p:tav tm="0">
                                          <p:val>
                                            <p:strVal val="#ppt_y+.08"/>
                                          </p:val>
                                        </p:tav>
                                        <p:tav tm="100000">
                                          <p:val>
                                            <p:strVal val="#ppt_y"/>
                                          </p:val>
                                        </p:tav>
                                      </p:tavLst>
                                    </p:anim>
                                  </p:childTnLst>
                                </p:cTn>
                              </p:par>
                              <p:par>
                                <p:cTn id="20" presetID="42" presetClass="entr" presetSubtype="0" fill="hold" grpId="0" nodeType="withEffect">
                                  <p:stCondLst>
                                    <p:cond delay="73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600"/>
                                        <p:tgtEl>
                                          <p:spTgt spid="41"/>
                                        </p:tgtEl>
                                      </p:cBhvr>
                                    </p:animEffect>
                                    <p:anim calcmode="lin" valueType="num">
                                      <p:cBhvr>
                                        <p:cTn id="23" dur="600" fill="hold"/>
                                        <p:tgtEl>
                                          <p:spTgt spid="41"/>
                                        </p:tgtEl>
                                        <p:attrNameLst>
                                          <p:attrName>ppt_x</p:attrName>
                                        </p:attrNameLst>
                                      </p:cBhvr>
                                      <p:tavLst>
                                        <p:tav tm="0">
                                          <p:val>
                                            <p:strVal val="#ppt_x"/>
                                          </p:val>
                                        </p:tav>
                                        <p:tav tm="100000">
                                          <p:val>
                                            <p:strVal val="#ppt_x"/>
                                          </p:val>
                                        </p:tav>
                                      </p:tavLst>
                                    </p:anim>
                                    <p:anim calcmode="lin" valueType="num">
                                      <p:cBhvr>
                                        <p:cTn id="24" dur="600" fill="hold"/>
                                        <p:tgtEl>
                                          <p:spTgt spid="41"/>
                                        </p:tgtEl>
                                        <p:attrNameLst>
                                          <p:attrName>ppt_y</p:attrName>
                                        </p:attrNameLst>
                                      </p:cBhvr>
                                      <p:tavLst>
                                        <p:tav tm="0">
                                          <p:val>
                                            <p:strVal val="#ppt_y+.08"/>
                                          </p:val>
                                        </p:tav>
                                        <p:tav tm="100000">
                                          <p:val>
                                            <p:strVal val="#ppt_y"/>
                                          </p:val>
                                        </p:tav>
                                      </p:tavLst>
                                    </p:anim>
                                  </p:childTnLst>
                                </p:cTn>
                              </p:par>
                              <p:par>
                                <p:cTn id="25" presetID="42" presetClass="entr" presetSubtype="0" fill="hold" grpId="0" nodeType="withEffect">
                                  <p:stCondLst>
                                    <p:cond delay="41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600"/>
                                        <p:tgtEl>
                                          <p:spTgt spid="42"/>
                                        </p:tgtEl>
                                      </p:cBhvr>
                                    </p:animEffect>
                                    <p:anim calcmode="lin" valueType="num">
                                      <p:cBhvr>
                                        <p:cTn id="28" dur="600" fill="hold"/>
                                        <p:tgtEl>
                                          <p:spTgt spid="42"/>
                                        </p:tgtEl>
                                        <p:attrNameLst>
                                          <p:attrName>ppt_x</p:attrName>
                                        </p:attrNameLst>
                                      </p:cBhvr>
                                      <p:tavLst>
                                        <p:tav tm="0">
                                          <p:val>
                                            <p:strVal val="#ppt_x"/>
                                          </p:val>
                                        </p:tav>
                                        <p:tav tm="100000">
                                          <p:val>
                                            <p:strVal val="#ppt_x"/>
                                          </p:val>
                                        </p:tav>
                                      </p:tavLst>
                                    </p:anim>
                                    <p:anim calcmode="lin" valueType="num">
                                      <p:cBhvr>
                                        <p:cTn id="29" dur="600" fill="hold"/>
                                        <p:tgtEl>
                                          <p:spTgt spid="42"/>
                                        </p:tgtEl>
                                        <p:attrNameLst>
                                          <p:attrName>ppt_y</p:attrName>
                                        </p:attrNameLst>
                                      </p:cBhvr>
                                      <p:tavLst>
                                        <p:tav tm="0">
                                          <p:val>
                                            <p:strVal val="#ppt_y+.08"/>
                                          </p:val>
                                        </p:tav>
                                        <p:tav tm="100000">
                                          <p:val>
                                            <p:strVal val="#ppt_y"/>
                                          </p:val>
                                        </p:tav>
                                      </p:tavLst>
                                    </p:anim>
                                  </p:childTnLst>
                                </p:cTn>
                              </p:par>
                              <p:par>
                                <p:cTn id="30" presetID="42" presetClass="entr" presetSubtype="0" fill="hold" grpId="0" nodeType="withEffect">
                                  <p:stCondLst>
                                    <p:cond delay="57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600"/>
                                        <p:tgtEl>
                                          <p:spTgt spid="43"/>
                                        </p:tgtEl>
                                      </p:cBhvr>
                                    </p:animEffect>
                                    <p:anim calcmode="lin" valueType="num">
                                      <p:cBhvr>
                                        <p:cTn id="33" dur="600" fill="hold"/>
                                        <p:tgtEl>
                                          <p:spTgt spid="43"/>
                                        </p:tgtEl>
                                        <p:attrNameLst>
                                          <p:attrName>ppt_x</p:attrName>
                                        </p:attrNameLst>
                                      </p:cBhvr>
                                      <p:tavLst>
                                        <p:tav tm="0">
                                          <p:val>
                                            <p:strVal val="#ppt_x"/>
                                          </p:val>
                                        </p:tav>
                                        <p:tav tm="100000">
                                          <p:val>
                                            <p:strVal val="#ppt_x"/>
                                          </p:val>
                                        </p:tav>
                                      </p:tavLst>
                                    </p:anim>
                                    <p:anim calcmode="lin" valueType="num">
                                      <p:cBhvr>
                                        <p:cTn id="34" dur="600" fill="hold"/>
                                        <p:tgtEl>
                                          <p:spTgt spid="43"/>
                                        </p:tgtEl>
                                        <p:attrNameLst>
                                          <p:attrName>ppt_y</p:attrName>
                                        </p:attrNameLst>
                                      </p:cBhvr>
                                      <p:tavLst>
                                        <p:tav tm="0">
                                          <p:val>
                                            <p:strVal val="#ppt_y+.08"/>
                                          </p:val>
                                        </p:tav>
                                        <p:tav tm="100000">
                                          <p:val>
                                            <p:strVal val="#ppt_y"/>
                                          </p:val>
                                        </p:tav>
                                      </p:tavLst>
                                    </p:anim>
                                  </p:childTnLst>
                                </p:cTn>
                              </p:par>
                              <p:par>
                                <p:cTn id="35" presetID="42" presetClass="entr" presetSubtype="0" fill="hold" grpId="0" nodeType="withEffect">
                                  <p:stCondLst>
                                    <p:cond delay="730"/>
                                  </p:stCondLst>
                                  <p:childTnLst>
                                    <p:set>
                                      <p:cBhvr>
                                        <p:cTn id="36" dur="1" fill="hold">
                                          <p:stCondLst>
                                            <p:cond delay="0"/>
                                          </p:stCondLst>
                                        </p:cTn>
                                        <p:tgtEl>
                                          <p:spTgt spid="44"/>
                                        </p:tgtEl>
                                        <p:attrNameLst>
                                          <p:attrName>style.visibility</p:attrName>
                                        </p:attrNameLst>
                                      </p:cBhvr>
                                      <p:to>
                                        <p:strVal val="visible"/>
                                      </p:to>
                                    </p:set>
                                    <p:animEffect transition="in" filter="fade">
                                      <p:cBhvr>
                                        <p:cTn id="37" dur="600"/>
                                        <p:tgtEl>
                                          <p:spTgt spid="44"/>
                                        </p:tgtEl>
                                      </p:cBhvr>
                                    </p:animEffect>
                                    <p:anim calcmode="lin" valueType="num">
                                      <p:cBhvr>
                                        <p:cTn id="38" dur="600" fill="hold"/>
                                        <p:tgtEl>
                                          <p:spTgt spid="44"/>
                                        </p:tgtEl>
                                        <p:attrNameLst>
                                          <p:attrName>ppt_x</p:attrName>
                                        </p:attrNameLst>
                                      </p:cBhvr>
                                      <p:tavLst>
                                        <p:tav tm="0">
                                          <p:val>
                                            <p:strVal val="#ppt_x"/>
                                          </p:val>
                                        </p:tav>
                                        <p:tav tm="100000">
                                          <p:val>
                                            <p:strVal val="#ppt_x"/>
                                          </p:val>
                                        </p:tav>
                                      </p:tavLst>
                                    </p:anim>
                                    <p:anim calcmode="lin" valueType="num">
                                      <p:cBhvr>
                                        <p:cTn id="39" dur="600" fill="hold"/>
                                        <p:tgtEl>
                                          <p:spTgt spid="44"/>
                                        </p:tgtEl>
                                        <p:attrNameLst>
                                          <p:attrName>ppt_y</p:attrName>
                                        </p:attrNameLst>
                                      </p:cBhvr>
                                      <p:tavLst>
                                        <p:tav tm="0">
                                          <p:val>
                                            <p:strVal val="#ppt_y+.08"/>
                                          </p:val>
                                        </p:tav>
                                        <p:tav tm="100000">
                                          <p:val>
                                            <p:strVal val="#ppt_y"/>
                                          </p:val>
                                        </p:tav>
                                      </p:tavLst>
                                    </p:anim>
                                  </p:childTnLst>
                                </p:cTn>
                              </p:par>
                              <p:par>
                                <p:cTn id="40" presetID="10" presetClass="entr" presetSubtype="0" fill="hold" nodeType="withEffect">
                                  <p:stCondLst>
                                    <p:cond delay="105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600"/>
                                        <p:tgtEl>
                                          <p:spTgt spid="45"/>
                                        </p:tgtEl>
                                      </p:cBhvr>
                                    </p:animEffect>
                                  </p:childTnLst>
                                </p:cTn>
                              </p:par>
                              <p:par>
                                <p:cTn id="43" presetID="10" presetClass="entr" presetSubtype="0" fill="hold" nodeType="withEffect">
                                  <p:stCondLst>
                                    <p:cond delay="890"/>
                                  </p:stCondLst>
                                  <p:childTnLst>
                                    <p:set>
                                      <p:cBhvr>
                                        <p:cTn id="44" dur="1" fill="hold">
                                          <p:stCondLst>
                                            <p:cond delay="0"/>
                                          </p:stCondLst>
                                        </p:cTn>
                                        <p:tgtEl>
                                          <p:spTgt spid="46"/>
                                        </p:tgtEl>
                                        <p:attrNameLst>
                                          <p:attrName>style.visibility</p:attrName>
                                        </p:attrNameLst>
                                      </p:cBhvr>
                                      <p:to>
                                        <p:strVal val="visible"/>
                                      </p:to>
                                    </p:set>
                                    <p:animEffect transition="in" filter="fade">
                                      <p:cBhvr>
                                        <p:cTn id="45" dur="600"/>
                                        <p:tgtEl>
                                          <p:spTgt spid="46"/>
                                        </p:tgtEl>
                                      </p:cBhvr>
                                    </p:animEffect>
                                  </p:childTnLst>
                                </p:cTn>
                              </p:par>
                              <p:par>
                                <p:cTn id="46" presetID="10" presetClass="entr" presetSubtype="0" fill="hold" nodeType="withEffect">
                                  <p:stCondLst>
                                    <p:cond delay="890"/>
                                  </p:stCondLst>
                                  <p:childTnLst>
                                    <p:set>
                                      <p:cBhvr>
                                        <p:cTn id="47" dur="1" fill="hold">
                                          <p:stCondLst>
                                            <p:cond delay="0"/>
                                          </p:stCondLst>
                                        </p:cTn>
                                        <p:tgtEl>
                                          <p:spTgt spid="47"/>
                                        </p:tgtEl>
                                        <p:attrNameLst>
                                          <p:attrName>style.visibility</p:attrName>
                                        </p:attrNameLst>
                                      </p:cBhvr>
                                      <p:to>
                                        <p:strVal val="visible"/>
                                      </p:to>
                                    </p:set>
                                    <p:animEffect transition="in" filter="fade">
                                      <p:cBhvr>
                                        <p:cTn id="48" dur="600"/>
                                        <p:tgtEl>
                                          <p:spTgt spid="47"/>
                                        </p:tgtEl>
                                      </p:cBhvr>
                                    </p:animEffect>
                                  </p:childTnLst>
                                </p:cTn>
                              </p:par>
                              <p:par>
                                <p:cTn id="49" presetID="10" presetClass="entr" presetSubtype="0" fill="hold" nodeType="withEffect">
                                  <p:stCondLst>
                                    <p:cond delay="890"/>
                                  </p:stCondLst>
                                  <p:childTnLst>
                                    <p:set>
                                      <p:cBhvr>
                                        <p:cTn id="50" dur="1" fill="hold">
                                          <p:stCondLst>
                                            <p:cond delay="0"/>
                                          </p:stCondLst>
                                        </p:cTn>
                                        <p:tgtEl>
                                          <p:spTgt spid="48"/>
                                        </p:tgtEl>
                                        <p:attrNameLst>
                                          <p:attrName>style.visibility</p:attrName>
                                        </p:attrNameLst>
                                      </p:cBhvr>
                                      <p:to>
                                        <p:strVal val="visible"/>
                                      </p:to>
                                    </p:set>
                                    <p:animEffect transition="in" filter="fade">
                                      <p:cBhvr>
                                        <p:cTn id="51" dur="600"/>
                                        <p:tgtEl>
                                          <p:spTgt spid="48"/>
                                        </p:tgtEl>
                                      </p:cBhvr>
                                    </p:animEffect>
                                  </p:childTnLst>
                                </p:cTn>
                              </p:par>
                              <p:par>
                                <p:cTn id="52" presetID="10" presetClass="entr" presetSubtype="0" fill="hold" nodeType="withEffect">
                                  <p:stCondLst>
                                    <p:cond delay="890"/>
                                  </p:stCondLst>
                                  <p:childTnLst>
                                    <p:set>
                                      <p:cBhvr>
                                        <p:cTn id="53" dur="1" fill="hold">
                                          <p:stCondLst>
                                            <p:cond delay="0"/>
                                          </p:stCondLst>
                                        </p:cTn>
                                        <p:tgtEl>
                                          <p:spTgt spid="49"/>
                                        </p:tgtEl>
                                        <p:attrNameLst>
                                          <p:attrName>style.visibility</p:attrName>
                                        </p:attrNameLst>
                                      </p:cBhvr>
                                      <p:to>
                                        <p:strVal val="visible"/>
                                      </p:to>
                                    </p:set>
                                    <p:animEffect transition="in" filter="fade">
                                      <p:cBhvr>
                                        <p:cTn id="54" dur="600"/>
                                        <p:tgtEl>
                                          <p:spTgt spid="49"/>
                                        </p:tgtEl>
                                      </p:cBhvr>
                                    </p:animEffect>
                                  </p:childTnLst>
                                </p:cTn>
                              </p:par>
                              <p:par>
                                <p:cTn id="55" presetID="10" presetClass="entr" presetSubtype="0" fill="hold" nodeType="withEffect">
                                  <p:stCondLst>
                                    <p:cond delay="1210"/>
                                  </p:stCondLst>
                                  <p:childTnLst>
                                    <p:set>
                                      <p:cBhvr>
                                        <p:cTn id="56" dur="1" fill="hold">
                                          <p:stCondLst>
                                            <p:cond delay="0"/>
                                          </p:stCondLst>
                                        </p:cTn>
                                        <p:tgtEl>
                                          <p:spTgt spid="50"/>
                                        </p:tgtEl>
                                        <p:attrNameLst>
                                          <p:attrName>style.visibility</p:attrName>
                                        </p:attrNameLst>
                                      </p:cBhvr>
                                      <p:to>
                                        <p:strVal val="visible"/>
                                      </p:to>
                                    </p:set>
                                    <p:animEffect transition="in" filter="fade">
                                      <p:cBhvr>
                                        <p:cTn id="57" dur="600"/>
                                        <p:tgtEl>
                                          <p:spTgt spid="50"/>
                                        </p:tgtEl>
                                      </p:cBhvr>
                                    </p:animEffect>
                                  </p:childTnLst>
                                </p:cTn>
                              </p:par>
                              <p:par>
                                <p:cTn id="58" presetID="10" presetClass="entr" presetSubtype="0" fill="hold" nodeType="withEffect">
                                  <p:stCondLst>
                                    <p:cond delay="890"/>
                                  </p:stCondLst>
                                  <p:childTnLst>
                                    <p:set>
                                      <p:cBhvr>
                                        <p:cTn id="59" dur="1" fill="hold">
                                          <p:stCondLst>
                                            <p:cond delay="0"/>
                                          </p:stCondLst>
                                        </p:cTn>
                                        <p:tgtEl>
                                          <p:spTgt spid="51"/>
                                        </p:tgtEl>
                                        <p:attrNameLst>
                                          <p:attrName>style.visibility</p:attrName>
                                        </p:attrNameLst>
                                      </p:cBhvr>
                                      <p:to>
                                        <p:strVal val="visible"/>
                                      </p:to>
                                    </p:set>
                                    <p:animEffect transition="in" filter="fade">
                                      <p:cBhvr>
                                        <p:cTn id="60" dur="600"/>
                                        <p:tgtEl>
                                          <p:spTgt spid="51"/>
                                        </p:tgtEl>
                                      </p:cBhvr>
                                    </p:animEffect>
                                  </p:childTnLst>
                                </p:cTn>
                              </p:par>
                              <p:par>
                                <p:cTn id="61" presetID="10" presetClass="entr" presetSubtype="0" fill="hold" nodeType="withEffect">
                                  <p:stCondLst>
                                    <p:cond delay="1370"/>
                                  </p:stCondLst>
                                  <p:childTnLst>
                                    <p:set>
                                      <p:cBhvr>
                                        <p:cTn id="62" dur="1" fill="hold">
                                          <p:stCondLst>
                                            <p:cond delay="0"/>
                                          </p:stCondLst>
                                        </p:cTn>
                                        <p:tgtEl>
                                          <p:spTgt spid="52"/>
                                        </p:tgtEl>
                                        <p:attrNameLst>
                                          <p:attrName>style.visibility</p:attrName>
                                        </p:attrNameLst>
                                      </p:cBhvr>
                                      <p:to>
                                        <p:strVal val="visible"/>
                                      </p:to>
                                    </p:set>
                                    <p:animEffect transition="in" filter="fade">
                                      <p:cBhvr>
                                        <p:cTn id="63" dur="600"/>
                                        <p:tgtEl>
                                          <p:spTgt spid="52"/>
                                        </p:tgtEl>
                                      </p:cBhvr>
                                    </p:animEffect>
                                  </p:childTnLst>
                                </p:cTn>
                              </p:par>
                              <p:par>
                                <p:cTn id="64" presetID="10" presetClass="entr" presetSubtype="0" fill="hold" nodeType="withEffect">
                                  <p:stCondLst>
                                    <p:cond delay="890"/>
                                  </p:stCondLst>
                                  <p:childTnLst>
                                    <p:set>
                                      <p:cBhvr>
                                        <p:cTn id="65" dur="1" fill="hold">
                                          <p:stCondLst>
                                            <p:cond delay="0"/>
                                          </p:stCondLst>
                                        </p:cTn>
                                        <p:tgtEl>
                                          <p:spTgt spid="53"/>
                                        </p:tgtEl>
                                        <p:attrNameLst>
                                          <p:attrName>style.visibility</p:attrName>
                                        </p:attrNameLst>
                                      </p:cBhvr>
                                      <p:to>
                                        <p:strVal val="visible"/>
                                      </p:to>
                                    </p:set>
                                    <p:animEffect transition="in" filter="fade">
                                      <p:cBhvr>
                                        <p:cTn id="66" dur="600"/>
                                        <p:tgtEl>
                                          <p:spTgt spid="53"/>
                                        </p:tgtEl>
                                      </p:cBhvr>
                                    </p:animEffect>
                                  </p:childTnLst>
                                </p:cTn>
                              </p:par>
                              <p:par>
                                <p:cTn id="67" presetID="10" presetClass="entr" presetSubtype="0" fill="hold" nodeType="withEffect">
                                  <p:stCondLst>
                                    <p:cond delay="1530"/>
                                  </p:stCondLst>
                                  <p:childTnLst>
                                    <p:set>
                                      <p:cBhvr>
                                        <p:cTn id="68" dur="1" fill="hold">
                                          <p:stCondLst>
                                            <p:cond delay="0"/>
                                          </p:stCondLst>
                                        </p:cTn>
                                        <p:tgtEl>
                                          <p:spTgt spid="54"/>
                                        </p:tgtEl>
                                        <p:attrNameLst>
                                          <p:attrName>style.visibility</p:attrName>
                                        </p:attrNameLst>
                                      </p:cBhvr>
                                      <p:to>
                                        <p:strVal val="visible"/>
                                      </p:to>
                                    </p:set>
                                    <p:animEffect transition="in" filter="fade">
                                      <p:cBhvr>
                                        <p:cTn id="69" dur="600"/>
                                        <p:tgtEl>
                                          <p:spTgt spid="54"/>
                                        </p:tgtEl>
                                      </p:cBhvr>
                                    </p:animEffect>
                                  </p:childTnLst>
                                </p:cTn>
                              </p:par>
                              <p:par>
                                <p:cTn id="70" presetID="10" presetClass="entr" presetSubtype="0" fill="hold" nodeType="withEffect">
                                  <p:stCondLst>
                                    <p:cond delay="890"/>
                                  </p:stCondLst>
                                  <p:childTnLst>
                                    <p:set>
                                      <p:cBhvr>
                                        <p:cTn id="71" dur="1" fill="hold">
                                          <p:stCondLst>
                                            <p:cond delay="0"/>
                                          </p:stCondLst>
                                        </p:cTn>
                                        <p:tgtEl>
                                          <p:spTgt spid="55"/>
                                        </p:tgtEl>
                                        <p:attrNameLst>
                                          <p:attrName>style.visibility</p:attrName>
                                        </p:attrNameLst>
                                      </p:cBhvr>
                                      <p:to>
                                        <p:strVal val="visible"/>
                                      </p:to>
                                    </p:set>
                                    <p:animEffect transition="in" filter="fade">
                                      <p:cBhvr>
                                        <p:cTn id="72" dur="600"/>
                                        <p:tgtEl>
                                          <p:spTgt spid="55"/>
                                        </p:tgtEl>
                                      </p:cBhvr>
                                    </p:animEffect>
                                  </p:childTnLst>
                                </p:cTn>
                              </p:par>
                              <p:par>
                                <p:cTn id="73" presetID="10" presetClass="entr" presetSubtype="0" fill="hold" nodeType="withEffect">
                                  <p:stCondLst>
                                    <p:cond delay="890"/>
                                  </p:stCondLst>
                                  <p:childTnLst>
                                    <p:set>
                                      <p:cBhvr>
                                        <p:cTn id="74" dur="1" fill="hold">
                                          <p:stCondLst>
                                            <p:cond delay="0"/>
                                          </p:stCondLst>
                                        </p:cTn>
                                        <p:tgtEl>
                                          <p:spTgt spid="56"/>
                                        </p:tgtEl>
                                        <p:attrNameLst>
                                          <p:attrName>style.visibility</p:attrName>
                                        </p:attrNameLst>
                                      </p:cBhvr>
                                      <p:to>
                                        <p:strVal val="visible"/>
                                      </p:to>
                                    </p:set>
                                    <p:animEffect transition="in" filter="fade">
                                      <p:cBhvr>
                                        <p:cTn id="75" dur="600"/>
                                        <p:tgtEl>
                                          <p:spTgt spid="56"/>
                                        </p:tgtEl>
                                      </p:cBhvr>
                                    </p:animEffect>
                                  </p:childTnLst>
                                </p:cTn>
                              </p:par>
                              <p:par>
                                <p:cTn id="76" presetID="10" presetClass="entr" presetSubtype="0" fill="hold" grpId="0" nodeType="withEffect">
                                  <p:stCondLst>
                                    <p:cond delay="1690"/>
                                  </p:stCondLst>
                                  <p:childTnLst>
                                    <p:set>
                                      <p:cBhvr>
                                        <p:cTn id="77" dur="1" fill="hold">
                                          <p:stCondLst>
                                            <p:cond delay="0"/>
                                          </p:stCondLst>
                                        </p:cTn>
                                        <p:tgtEl>
                                          <p:spTgt spid="57"/>
                                        </p:tgtEl>
                                        <p:attrNameLst>
                                          <p:attrName>style.visibility</p:attrName>
                                        </p:attrNameLst>
                                      </p:cBhvr>
                                      <p:to>
                                        <p:strVal val="visible"/>
                                      </p:to>
                                    </p:set>
                                    <p:animEffect transition="in" filter="fade">
                                      <p:cBhvr>
                                        <p:cTn id="78" dur="600"/>
                                        <p:tgtEl>
                                          <p:spTgt spid="57"/>
                                        </p:tgtEl>
                                      </p:cBhvr>
                                    </p:animEffect>
                                  </p:childTnLst>
                                </p:cTn>
                              </p:par>
                              <p:par>
                                <p:cTn id="79" presetID="42" presetClass="entr" presetSubtype="0" fill="hold" nodeType="withEffect">
                                  <p:stCondLst>
                                    <p:cond delay="570"/>
                                  </p:stCondLst>
                                  <p:childTnLst>
                                    <p:set>
                                      <p:cBhvr>
                                        <p:cTn id="80" dur="1" fill="hold">
                                          <p:stCondLst>
                                            <p:cond delay="0"/>
                                          </p:stCondLst>
                                        </p:cTn>
                                        <p:tgtEl>
                                          <p:spTgt spid="58"/>
                                        </p:tgtEl>
                                        <p:attrNameLst>
                                          <p:attrName>style.visibility</p:attrName>
                                        </p:attrNameLst>
                                      </p:cBhvr>
                                      <p:to>
                                        <p:strVal val="visible"/>
                                      </p:to>
                                    </p:set>
                                    <p:animEffect transition="in" filter="fade">
                                      <p:cBhvr>
                                        <p:cTn id="81" dur="800"/>
                                        <p:tgtEl>
                                          <p:spTgt spid="58"/>
                                        </p:tgtEl>
                                      </p:cBhvr>
                                    </p:animEffect>
                                    <p:anim calcmode="lin" valueType="num">
                                      <p:cBhvr>
                                        <p:cTn id="82" dur="800" fill="hold"/>
                                        <p:tgtEl>
                                          <p:spTgt spid="58"/>
                                        </p:tgtEl>
                                        <p:attrNameLst>
                                          <p:attrName>ppt_x</p:attrName>
                                        </p:attrNameLst>
                                      </p:cBhvr>
                                      <p:tavLst>
                                        <p:tav tm="0">
                                          <p:val>
                                            <p:strVal val="#ppt_x"/>
                                          </p:val>
                                        </p:tav>
                                        <p:tav tm="100000">
                                          <p:val>
                                            <p:strVal val="#ppt_x"/>
                                          </p:val>
                                        </p:tav>
                                      </p:tavLst>
                                    </p:anim>
                                    <p:anim calcmode="lin" valueType="num">
                                      <p:cBhvr>
                                        <p:cTn id="83" dur="800" fill="hold"/>
                                        <p:tgtEl>
                                          <p:spTgt spid="5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P spid="42" grpId="0" animBg="1"/>
      <p:bldP spid="43" grpId="0" animBg="1"/>
      <p:bldP spid="44" grpId="0" animBg="1"/>
      <p:bldP spid="5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872713" y="-2171130"/>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586108" y="4487413"/>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596399" y="5087806"/>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RESOURCE ALLOCATION</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Objectives &amp; Trade-offs</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Resource Allocation</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lang="en-GB" sz="1000">
                <a:solidFill>
                  <a:srgbClr val="C9D2E3"/>
                </a:solidFill>
                <a:latin typeface="Segoe UI Semibold"/>
              </a:rPr>
              <a:t>19</a:t>
            </a:r>
            <a:r>
              <a:rPr sz="1000" b="0" i="0" dirty="0">
                <a:solidFill>
                  <a:srgbClr val="8C9AB5"/>
                </a:solidFill>
                <a:latin typeface="Segoe UI"/>
              </a:rPr>
              <a:t> / 30</a:t>
            </a:r>
          </a:p>
        </p:txBody>
      </p:sp>
      <p:cxnSp>
        <p:nvCxnSpPr>
          <p:cNvPr id="36" name="Connector 35"/>
          <p:cNvCxnSpPr/>
          <p:nvPr/>
        </p:nvCxnSpPr>
        <p:spPr>
          <a:xfrm flipV="1">
            <a:off x="3291840" y="1920239"/>
            <a:ext cx="0" cy="1828800"/>
          </a:xfrm>
          <a:prstGeom prst="line">
            <a:avLst/>
          </a:prstGeom>
          <a:ln w="15875">
            <a:solidFill>
              <a:srgbClr val="3987E5">
                <a:alpha val="55000"/>
              </a:srgbClr>
            </a:solidFill>
          </a:ln>
        </p:spPr>
      </p:cxnSp>
      <p:cxnSp>
        <p:nvCxnSpPr>
          <p:cNvPr id="37" name="Connector 36"/>
          <p:cNvCxnSpPr/>
          <p:nvPr/>
        </p:nvCxnSpPr>
        <p:spPr>
          <a:xfrm flipV="1">
            <a:off x="3291840" y="2834639"/>
            <a:ext cx="1781760" cy="914400"/>
          </a:xfrm>
          <a:prstGeom prst="line">
            <a:avLst/>
          </a:prstGeom>
          <a:ln w="15875">
            <a:solidFill>
              <a:srgbClr val="199E70">
                <a:alpha val="55000"/>
              </a:srgbClr>
            </a:solidFill>
          </a:ln>
        </p:spPr>
      </p:cxnSp>
      <p:cxnSp>
        <p:nvCxnSpPr>
          <p:cNvPr id="38" name="Connector 37"/>
          <p:cNvCxnSpPr/>
          <p:nvPr/>
        </p:nvCxnSpPr>
        <p:spPr>
          <a:xfrm>
            <a:off x="3291840" y="3749039"/>
            <a:ext cx="1781760" cy="914401"/>
          </a:xfrm>
          <a:prstGeom prst="line">
            <a:avLst/>
          </a:prstGeom>
          <a:ln w="15875">
            <a:solidFill>
              <a:srgbClr val="9085E9">
                <a:alpha val="55000"/>
              </a:srgbClr>
            </a:solidFill>
          </a:ln>
        </p:spPr>
      </p:cxnSp>
      <p:cxnSp>
        <p:nvCxnSpPr>
          <p:cNvPr id="39" name="Connector 38"/>
          <p:cNvCxnSpPr/>
          <p:nvPr/>
        </p:nvCxnSpPr>
        <p:spPr>
          <a:xfrm>
            <a:off x="3291840" y="3749039"/>
            <a:ext cx="0" cy="1828801"/>
          </a:xfrm>
          <a:prstGeom prst="line">
            <a:avLst/>
          </a:prstGeom>
          <a:ln w="15875">
            <a:solidFill>
              <a:srgbClr val="199E70">
                <a:alpha val="55000"/>
              </a:srgbClr>
            </a:solidFill>
          </a:ln>
        </p:spPr>
      </p:cxnSp>
      <p:cxnSp>
        <p:nvCxnSpPr>
          <p:cNvPr id="40" name="Connector 39"/>
          <p:cNvCxnSpPr/>
          <p:nvPr/>
        </p:nvCxnSpPr>
        <p:spPr>
          <a:xfrm flipH="1">
            <a:off x="1510079" y="3749039"/>
            <a:ext cx="1781761" cy="914401"/>
          </a:xfrm>
          <a:prstGeom prst="line">
            <a:avLst/>
          </a:prstGeom>
          <a:ln w="15875">
            <a:solidFill>
              <a:srgbClr val="D95926">
                <a:alpha val="55000"/>
              </a:srgbClr>
            </a:solidFill>
          </a:ln>
        </p:spPr>
      </p:cxnSp>
      <p:cxnSp>
        <p:nvCxnSpPr>
          <p:cNvPr id="41" name="Connector 40"/>
          <p:cNvCxnSpPr/>
          <p:nvPr/>
        </p:nvCxnSpPr>
        <p:spPr>
          <a:xfrm flipH="1" flipV="1">
            <a:off x="1510079" y="2834639"/>
            <a:ext cx="1781761" cy="914400"/>
          </a:xfrm>
          <a:prstGeom prst="line">
            <a:avLst/>
          </a:prstGeom>
          <a:ln w="15875">
            <a:solidFill>
              <a:srgbClr val="3987E5">
                <a:alpha val="55000"/>
              </a:srgbClr>
            </a:solidFill>
          </a:ln>
        </p:spPr>
      </p:cxnSp>
      <p:sp>
        <p:nvSpPr>
          <p:cNvPr id="42" name="Oval 41"/>
          <p:cNvSpPr/>
          <p:nvPr/>
        </p:nvSpPr>
        <p:spPr>
          <a:xfrm>
            <a:off x="2468880" y="2926079"/>
            <a:ext cx="1645920" cy="1645920"/>
          </a:xfrm>
          <a:prstGeom prst="ellipse">
            <a:avLst/>
          </a:prstGeom>
          <a:gradFill rotWithShape="1">
            <a:gsLst>
              <a:gs pos="0">
                <a:srgbClr val="F4925F"/>
              </a:gs>
              <a:gs pos="100000">
                <a:srgbClr val="D95926"/>
              </a:gs>
            </a:gsLst>
            <a:lin ang="2700000" scaled="0"/>
          </a:gradFill>
          <a:ln>
            <a:noFill/>
          </a:ln>
          <a:effectLst>
            <a:outerShdw blurRad="330200" dir="5400000" algn="t" rotWithShape="0">
              <a:srgbClr val="000000">
                <a:alpha val="50000"/>
              </a:srgbClr>
            </a:outerShdw>
          </a:effectLst>
        </p:spPr>
        <p:txBody>
          <a:bodyPr wrap="square" lIns="45720" tIns="45720" rIns="45720" bIns="45720" rtlCol="0" anchor="ctr">
            <a:noAutofit/>
          </a:bodyPr>
          <a:lstStyle/>
          <a:p>
            <a:pPr algn="ctr">
              <a:lnSpc>
                <a:spcPct val="95000"/>
              </a:lnSpc>
              <a:spcAft>
                <a:spcPts val="0"/>
              </a:spcAft>
            </a:pPr>
            <a:r>
              <a:rPr sz="1500" b="0" i="0">
                <a:solidFill>
                  <a:srgbClr val="FFFFFF"/>
                </a:solidFill>
                <a:latin typeface="Segoe UI Semibold"/>
              </a:rPr>
              <a:t>Allocation</a:t>
            </a:r>
          </a:p>
          <a:p>
            <a:pPr algn="ctr">
              <a:lnSpc>
                <a:spcPct val="95000"/>
              </a:lnSpc>
              <a:spcAft>
                <a:spcPts val="0"/>
              </a:spcAft>
            </a:pPr>
            <a:r>
              <a:rPr sz="1500" b="0" i="0">
                <a:solidFill>
                  <a:srgbClr val="FFFFFF"/>
                </a:solidFill>
                <a:latin typeface="Segoe UI Semibold"/>
              </a:rPr>
              <a:t>decision</a:t>
            </a:r>
          </a:p>
        </p:txBody>
      </p:sp>
      <p:sp>
        <p:nvSpPr>
          <p:cNvPr id="43" name="Rounded Rectangle 42"/>
          <p:cNvSpPr/>
          <p:nvPr/>
        </p:nvSpPr>
        <p:spPr>
          <a:xfrm>
            <a:off x="2423160" y="1591055"/>
            <a:ext cx="1737360" cy="658368"/>
          </a:xfrm>
          <a:prstGeom prst="roundRect">
            <a:avLst>
              <a:gd name="adj" fmla="val 50000"/>
            </a:avLst>
          </a:prstGeom>
          <a:solidFill>
            <a:srgbClr val="204172"/>
          </a:solidFill>
          <a:ln w="15875">
            <a:solidFill>
              <a:srgbClr val="3987E5"/>
            </a:solidFill>
          </a:ln>
        </p:spPr>
        <p:txBody>
          <a:bodyPr wrap="square" lIns="36576" tIns="36576" rIns="36576" bIns="36576" rtlCol="0" anchor="ctr">
            <a:noAutofit/>
          </a:bodyPr>
          <a:lstStyle/>
          <a:p>
            <a:pPr algn="ctr">
              <a:lnSpc>
                <a:spcPct val="100000"/>
              </a:lnSpc>
              <a:spcAft>
                <a:spcPts val="0"/>
              </a:spcAft>
            </a:pPr>
            <a:r>
              <a:rPr sz="1150" b="0" i="0">
                <a:solidFill>
                  <a:srgbClr val="FFFFFF"/>
                </a:solidFill>
                <a:latin typeface="Segoe UI Semibold"/>
              </a:rPr>
              <a:t>Cost</a:t>
            </a:r>
          </a:p>
        </p:txBody>
      </p:sp>
      <p:sp>
        <p:nvSpPr>
          <p:cNvPr id="44" name="Rounded Rectangle 43"/>
          <p:cNvSpPr/>
          <p:nvPr/>
        </p:nvSpPr>
        <p:spPr>
          <a:xfrm>
            <a:off x="4204920" y="2505456"/>
            <a:ext cx="1737360" cy="658368"/>
          </a:xfrm>
          <a:prstGeom prst="roundRect">
            <a:avLst>
              <a:gd name="adj" fmla="val 50000"/>
            </a:avLst>
          </a:prstGeom>
          <a:solidFill>
            <a:srgbClr val="184755"/>
          </a:solidFill>
          <a:ln w="15875">
            <a:solidFill>
              <a:srgbClr val="199E70"/>
            </a:solidFill>
          </a:ln>
        </p:spPr>
        <p:txBody>
          <a:bodyPr wrap="square" lIns="36576" tIns="36576" rIns="36576" bIns="36576" rtlCol="0" anchor="ctr">
            <a:noAutofit/>
          </a:bodyPr>
          <a:lstStyle/>
          <a:p>
            <a:pPr algn="ctr">
              <a:lnSpc>
                <a:spcPct val="100000"/>
              </a:lnSpc>
              <a:spcAft>
                <a:spcPts val="0"/>
              </a:spcAft>
            </a:pPr>
            <a:r>
              <a:rPr sz="1150" b="0" i="0">
                <a:solidFill>
                  <a:srgbClr val="FFFFFF"/>
                </a:solidFill>
                <a:latin typeface="Segoe UI Semibold"/>
              </a:rPr>
              <a:t>Performance &amp; latency</a:t>
            </a:r>
          </a:p>
        </p:txBody>
      </p:sp>
      <p:sp>
        <p:nvSpPr>
          <p:cNvPr id="45" name="Rounded Rectangle 44"/>
          <p:cNvSpPr/>
          <p:nvPr/>
        </p:nvSpPr>
        <p:spPr>
          <a:xfrm>
            <a:off x="4204920" y="4334255"/>
            <a:ext cx="1737360" cy="658368"/>
          </a:xfrm>
          <a:prstGeom prst="roundRect">
            <a:avLst>
              <a:gd name="adj" fmla="val 50000"/>
            </a:avLst>
          </a:prstGeom>
          <a:solidFill>
            <a:srgbClr val="364173"/>
          </a:solidFill>
          <a:ln w="15875">
            <a:solidFill>
              <a:srgbClr val="9085E9"/>
            </a:solidFill>
          </a:ln>
        </p:spPr>
        <p:txBody>
          <a:bodyPr wrap="square" lIns="36576" tIns="36576" rIns="36576" bIns="36576" rtlCol="0" anchor="ctr">
            <a:noAutofit/>
          </a:bodyPr>
          <a:lstStyle/>
          <a:p>
            <a:pPr algn="ctr">
              <a:lnSpc>
                <a:spcPct val="100000"/>
              </a:lnSpc>
              <a:spcAft>
                <a:spcPts val="0"/>
              </a:spcAft>
            </a:pPr>
            <a:r>
              <a:rPr sz="1150" b="0" i="0">
                <a:solidFill>
                  <a:srgbClr val="FFFFFF"/>
                </a:solidFill>
                <a:latin typeface="Segoe UI Semibold"/>
              </a:rPr>
              <a:t>Availability</a:t>
            </a:r>
          </a:p>
        </p:txBody>
      </p:sp>
      <p:sp>
        <p:nvSpPr>
          <p:cNvPr id="46" name="Rounded Rectangle 45"/>
          <p:cNvSpPr/>
          <p:nvPr/>
        </p:nvSpPr>
        <p:spPr>
          <a:xfrm>
            <a:off x="2423160" y="5248655"/>
            <a:ext cx="1737360" cy="658368"/>
          </a:xfrm>
          <a:prstGeom prst="roundRect">
            <a:avLst>
              <a:gd name="adj" fmla="val 50000"/>
            </a:avLst>
          </a:prstGeom>
          <a:solidFill>
            <a:srgbClr val="184755"/>
          </a:solidFill>
          <a:ln w="15875">
            <a:solidFill>
              <a:srgbClr val="199E70"/>
            </a:solidFill>
          </a:ln>
        </p:spPr>
        <p:txBody>
          <a:bodyPr wrap="square" lIns="36576" tIns="36576" rIns="36576" bIns="36576" rtlCol="0" anchor="ctr">
            <a:noAutofit/>
          </a:bodyPr>
          <a:lstStyle/>
          <a:p>
            <a:pPr algn="ctr">
              <a:lnSpc>
                <a:spcPct val="100000"/>
              </a:lnSpc>
              <a:spcAft>
                <a:spcPts val="0"/>
              </a:spcAft>
            </a:pPr>
            <a:r>
              <a:rPr sz="1150" b="0" i="0">
                <a:solidFill>
                  <a:srgbClr val="FFFFFF"/>
                </a:solidFill>
                <a:latin typeface="Segoe UI Semibold"/>
              </a:rPr>
              <a:t>Energy &amp; carbon</a:t>
            </a:r>
          </a:p>
        </p:txBody>
      </p:sp>
      <p:sp>
        <p:nvSpPr>
          <p:cNvPr id="47" name="Rounded Rectangle 46"/>
          <p:cNvSpPr/>
          <p:nvPr/>
        </p:nvSpPr>
        <p:spPr>
          <a:xfrm>
            <a:off x="641399" y="4334255"/>
            <a:ext cx="1737360" cy="658368"/>
          </a:xfrm>
          <a:prstGeom prst="roundRect">
            <a:avLst>
              <a:gd name="adj" fmla="val 50000"/>
            </a:avLst>
          </a:prstGeom>
          <a:solidFill>
            <a:srgbClr val="483642"/>
          </a:solidFill>
          <a:ln w="15875">
            <a:solidFill>
              <a:srgbClr val="D95926"/>
            </a:solidFill>
          </a:ln>
        </p:spPr>
        <p:txBody>
          <a:bodyPr wrap="square" lIns="36576" tIns="36576" rIns="36576" bIns="36576" rtlCol="0" anchor="ctr">
            <a:noAutofit/>
          </a:bodyPr>
          <a:lstStyle/>
          <a:p>
            <a:pPr algn="ctr">
              <a:lnSpc>
                <a:spcPct val="100000"/>
              </a:lnSpc>
              <a:spcAft>
                <a:spcPts val="0"/>
              </a:spcAft>
            </a:pPr>
            <a:r>
              <a:rPr sz="1150" b="0" i="0">
                <a:solidFill>
                  <a:srgbClr val="FFFFFF"/>
                </a:solidFill>
                <a:latin typeface="Segoe UI Semibold"/>
              </a:rPr>
              <a:t>Compliance &amp; sovereignty</a:t>
            </a:r>
          </a:p>
        </p:txBody>
      </p:sp>
      <p:sp>
        <p:nvSpPr>
          <p:cNvPr id="48" name="Rounded Rectangle 47"/>
          <p:cNvSpPr/>
          <p:nvPr/>
        </p:nvSpPr>
        <p:spPr>
          <a:xfrm>
            <a:off x="641399" y="2505456"/>
            <a:ext cx="1737360" cy="658368"/>
          </a:xfrm>
          <a:prstGeom prst="roundRect">
            <a:avLst>
              <a:gd name="adj" fmla="val 50000"/>
            </a:avLst>
          </a:prstGeom>
          <a:solidFill>
            <a:srgbClr val="204172"/>
          </a:solidFill>
          <a:ln w="15875">
            <a:solidFill>
              <a:srgbClr val="3987E5"/>
            </a:solidFill>
          </a:ln>
        </p:spPr>
        <p:txBody>
          <a:bodyPr wrap="square" lIns="36576" tIns="36576" rIns="36576" bIns="36576" rtlCol="0" anchor="ctr">
            <a:noAutofit/>
          </a:bodyPr>
          <a:lstStyle/>
          <a:p>
            <a:pPr algn="ctr">
              <a:lnSpc>
                <a:spcPct val="100000"/>
              </a:lnSpc>
              <a:spcAft>
                <a:spcPts val="0"/>
              </a:spcAft>
            </a:pPr>
            <a:r>
              <a:rPr sz="1150" b="0" i="0">
                <a:solidFill>
                  <a:srgbClr val="FFFFFF"/>
                </a:solidFill>
                <a:latin typeface="Segoe UI Semibold"/>
              </a:rPr>
              <a:t>Utilization</a:t>
            </a:r>
          </a:p>
        </p:txBody>
      </p:sp>
      <p:sp>
        <p:nvSpPr>
          <p:cNvPr id="49" name="TextBox 48"/>
          <p:cNvSpPr txBox="1"/>
          <p:nvPr/>
        </p:nvSpPr>
        <p:spPr>
          <a:xfrm>
            <a:off x="6766560" y="1600200"/>
            <a:ext cx="4846320" cy="320040"/>
          </a:xfrm>
          <a:prstGeom prst="rect">
            <a:avLst/>
          </a:prstGeom>
          <a:noFill/>
        </p:spPr>
        <p:txBody>
          <a:bodyPr wrap="square" lIns="0" tIns="0" rIns="0" bIns="0" anchor="t">
            <a:noAutofit/>
          </a:bodyPr>
          <a:lstStyle/>
          <a:p>
            <a:pPr algn="l">
              <a:lnSpc>
                <a:spcPct val="112000"/>
              </a:lnSpc>
              <a:spcAft>
                <a:spcPts val="0"/>
              </a:spcAft>
            </a:pPr>
            <a:r>
              <a:rPr sz="1050" b="0" i="0" spc="300">
                <a:solidFill>
                  <a:srgbClr val="8C9AB5"/>
                </a:solidFill>
                <a:latin typeface="Segoe UI Semibold"/>
              </a:rPr>
              <a:t>TYPICAL CONFLICTS</a:t>
            </a:r>
          </a:p>
        </p:txBody>
      </p:sp>
      <p:grpSp>
        <p:nvGrpSpPr>
          <p:cNvPr id="50" name="Group 49"/>
          <p:cNvGrpSpPr/>
          <p:nvPr/>
        </p:nvGrpSpPr>
        <p:grpSpPr>
          <a:xfrm>
            <a:off x="6766560" y="1965960"/>
            <a:ext cx="4873752" cy="914400"/>
            <a:chOff x="6766560" y="1965960"/>
            <a:chExt cx="4873752" cy="914400"/>
          </a:xfrm>
        </p:grpSpPr>
        <p:sp>
          <p:nvSpPr>
            <p:cNvPr id="51" name="Rounded Rectangle 50"/>
            <p:cNvSpPr/>
            <p:nvPr/>
          </p:nvSpPr>
          <p:spPr>
            <a:xfrm>
              <a:off x="6766560" y="1965960"/>
              <a:ext cx="4873752" cy="914400"/>
            </a:xfrm>
            <a:prstGeom prst="roundRect">
              <a:avLst>
                <a:gd name="adj" fmla="val 12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52" name="Rectangle 51"/>
            <p:cNvSpPr/>
            <p:nvPr/>
          </p:nvSpPr>
          <p:spPr>
            <a:xfrm>
              <a:off x="6766560" y="2221991"/>
              <a:ext cx="45720" cy="384048"/>
            </a:xfrm>
            <a:prstGeom prst="rect">
              <a:avLst/>
            </a:prstGeom>
            <a:solidFill>
              <a:srgbClr val="3987E5"/>
            </a:solidFill>
            <a:ln>
              <a:noFill/>
            </a:ln>
          </p:spPr>
          <p:txBody>
            <a:bodyPr wrap="square" rtlCol="0" anchor="ctr"/>
            <a:lstStyle/>
            <a:p>
              <a:pPr algn="ctr"/>
              <a:endParaRPr/>
            </a:p>
          </p:txBody>
        </p:sp>
        <p:sp>
          <p:nvSpPr>
            <p:cNvPr id="53" name="TextBox 52"/>
            <p:cNvSpPr txBox="1"/>
            <p:nvPr/>
          </p:nvSpPr>
          <p:spPr>
            <a:xfrm>
              <a:off x="7022592" y="2167128"/>
              <a:ext cx="4434840" cy="411480"/>
            </a:xfrm>
            <a:prstGeom prst="rect">
              <a:avLst/>
            </a:prstGeom>
            <a:noFill/>
          </p:spPr>
          <p:txBody>
            <a:bodyPr wrap="square" lIns="0" tIns="0" rIns="0" bIns="0" anchor="t">
              <a:noAutofit/>
            </a:bodyPr>
            <a:lstStyle/>
            <a:p>
              <a:pPr algn="l">
                <a:lnSpc>
                  <a:spcPct val="112000"/>
                </a:lnSpc>
                <a:spcAft>
                  <a:spcPts val="0"/>
                </a:spcAft>
              </a:pPr>
              <a:r>
                <a:rPr sz="1400" b="0" i="0">
                  <a:solidFill>
                    <a:srgbClr val="FFFFFF"/>
                  </a:solidFill>
                  <a:latin typeface="Segoe UI Semibold"/>
                </a:rPr>
                <a:t>Cost  ↔  Performance</a:t>
              </a:r>
            </a:p>
          </p:txBody>
        </p:sp>
        <p:sp>
          <p:nvSpPr>
            <p:cNvPr id="54" name="TextBox 53"/>
            <p:cNvSpPr txBox="1"/>
            <p:nvPr/>
          </p:nvSpPr>
          <p:spPr>
            <a:xfrm>
              <a:off x="7040880" y="2468880"/>
              <a:ext cx="4370832" cy="274319"/>
            </a:xfrm>
            <a:prstGeom prst="rect">
              <a:avLst/>
            </a:prstGeom>
            <a:noFill/>
          </p:spPr>
          <p:txBody>
            <a:bodyPr wrap="square" lIns="0" tIns="0" rIns="0" bIns="0" anchor="t">
              <a:noAutofit/>
            </a:bodyPr>
            <a:lstStyle/>
            <a:p>
              <a:pPr algn="l">
                <a:lnSpc>
                  <a:spcPct val="115000"/>
                </a:lnSpc>
                <a:spcAft>
                  <a:spcPts val="400"/>
                </a:spcAft>
              </a:pPr>
              <a:r>
                <a:rPr sz="1150" b="0" i="0">
                  <a:solidFill>
                    <a:srgbClr val="C9D2E3"/>
                  </a:solidFill>
                  <a:latin typeface="Segoe UI"/>
                </a:rPr>
                <a:t>Cheaper instances or regions usually mean higher latency.</a:t>
              </a:r>
            </a:p>
          </p:txBody>
        </p:sp>
      </p:grpSp>
      <p:grpSp>
        <p:nvGrpSpPr>
          <p:cNvPr id="55" name="Group 54"/>
          <p:cNvGrpSpPr/>
          <p:nvPr/>
        </p:nvGrpSpPr>
        <p:grpSpPr>
          <a:xfrm>
            <a:off x="6766560" y="2990088"/>
            <a:ext cx="4873752" cy="914400"/>
            <a:chOff x="6766560" y="2990088"/>
            <a:chExt cx="4873752" cy="914400"/>
          </a:xfrm>
        </p:grpSpPr>
        <p:sp>
          <p:nvSpPr>
            <p:cNvPr id="56" name="Rounded Rectangle 55"/>
            <p:cNvSpPr/>
            <p:nvPr/>
          </p:nvSpPr>
          <p:spPr>
            <a:xfrm>
              <a:off x="6766560" y="2990088"/>
              <a:ext cx="4873752" cy="914400"/>
            </a:xfrm>
            <a:prstGeom prst="roundRect">
              <a:avLst>
                <a:gd name="adj" fmla="val 12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57" name="Rectangle 56"/>
            <p:cNvSpPr/>
            <p:nvPr/>
          </p:nvSpPr>
          <p:spPr>
            <a:xfrm>
              <a:off x="6766560" y="3246120"/>
              <a:ext cx="45720" cy="384048"/>
            </a:xfrm>
            <a:prstGeom prst="rect">
              <a:avLst/>
            </a:prstGeom>
            <a:solidFill>
              <a:srgbClr val="9085E9"/>
            </a:solidFill>
            <a:ln>
              <a:noFill/>
            </a:ln>
          </p:spPr>
          <p:txBody>
            <a:bodyPr wrap="square" rtlCol="0" anchor="ctr"/>
            <a:lstStyle/>
            <a:p>
              <a:pPr algn="ctr"/>
              <a:endParaRPr/>
            </a:p>
          </p:txBody>
        </p:sp>
        <p:sp>
          <p:nvSpPr>
            <p:cNvPr id="58" name="TextBox 57"/>
            <p:cNvSpPr txBox="1"/>
            <p:nvPr/>
          </p:nvSpPr>
          <p:spPr>
            <a:xfrm>
              <a:off x="7022592" y="3191256"/>
              <a:ext cx="4434840" cy="411480"/>
            </a:xfrm>
            <a:prstGeom prst="rect">
              <a:avLst/>
            </a:prstGeom>
            <a:noFill/>
          </p:spPr>
          <p:txBody>
            <a:bodyPr wrap="square" lIns="0" tIns="0" rIns="0" bIns="0" anchor="t">
              <a:noAutofit/>
            </a:bodyPr>
            <a:lstStyle/>
            <a:p>
              <a:pPr algn="l">
                <a:lnSpc>
                  <a:spcPct val="112000"/>
                </a:lnSpc>
                <a:spcAft>
                  <a:spcPts val="0"/>
                </a:spcAft>
              </a:pPr>
              <a:r>
                <a:rPr sz="1400" b="0" i="0">
                  <a:solidFill>
                    <a:srgbClr val="FFFFFF"/>
                  </a:solidFill>
                  <a:latin typeface="Segoe UI Semibold"/>
                </a:rPr>
                <a:t>Availability  ↔  Cost</a:t>
              </a:r>
            </a:p>
          </p:txBody>
        </p:sp>
        <p:sp>
          <p:nvSpPr>
            <p:cNvPr id="59" name="TextBox 58"/>
            <p:cNvSpPr txBox="1"/>
            <p:nvPr/>
          </p:nvSpPr>
          <p:spPr>
            <a:xfrm>
              <a:off x="7040880" y="3493008"/>
              <a:ext cx="4370832" cy="274319"/>
            </a:xfrm>
            <a:prstGeom prst="rect">
              <a:avLst/>
            </a:prstGeom>
            <a:noFill/>
          </p:spPr>
          <p:txBody>
            <a:bodyPr wrap="square" lIns="0" tIns="0" rIns="0" bIns="0" anchor="t">
              <a:noAutofit/>
            </a:bodyPr>
            <a:lstStyle/>
            <a:p>
              <a:pPr algn="l">
                <a:lnSpc>
                  <a:spcPct val="115000"/>
                </a:lnSpc>
                <a:spcAft>
                  <a:spcPts val="400"/>
                </a:spcAft>
              </a:pPr>
              <a:r>
                <a:rPr sz="1150" b="0" i="0">
                  <a:solidFill>
                    <a:srgbClr val="C9D2E3"/>
                  </a:solidFill>
                  <a:latin typeface="Segoe UI"/>
                </a:rPr>
                <a:t>Multi-region redundancy multiplies baseline spend.</a:t>
              </a:r>
            </a:p>
          </p:txBody>
        </p:sp>
      </p:grpSp>
      <p:grpSp>
        <p:nvGrpSpPr>
          <p:cNvPr id="60" name="Group 59"/>
          <p:cNvGrpSpPr/>
          <p:nvPr/>
        </p:nvGrpSpPr>
        <p:grpSpPr>
          <a:xfrm>
            <a:off x="6766560" y="4014216"/>
            <a:ext cx="4873752" cy="914400"/>
            <a:chOff x="6766560" y="4014216"/>
            <a:chExt cx="4873752" cy="914400"/>
          </a:xfrm>
        </p:grpSpPr>
        <p:sp>
          <p:nvSpPr>
            <p:cNvPr id="61" name="Rounded Rectangle 60"/>
            <p:cNvSpPr/>
            <p:nvPr/>
          </p:nvSpPr>
          <p:spPr>
            <a:xfrm>
              <a:off x="6766560" y="4014216"/>
              <a:ext cx="4873752" cy="914400"/>
            </a:xfrm>
            <a:prstGeom prst="roundRect">
              <a:avLst>
                <a:gd name="adj" fmla="val 12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62" name="Rectangle 61"/>
            <p:cNvSpPr/>
            <p:nvPr/>
          </p:nvSpPr>
          <p:spPr>
            <a:xfrm>
              <a:off x="6766560" y="4270248"/>
              <a:ext cx="45720" cy="384048"/>
            </a:xfrm>
            <a:prstGeom prst="rect">
              <a:avLst/>
            </a:prstGeom>
            <a:solidFill>
              <a:srgbClr val="D95926"/>
            </a:solidFill>
            <a:ln>
              <a:noFill/>
            </a:ln>
          </p:spPr>
          <p:txBody>
            <a:bodyPr wrap="square" rtlCol="0" anchor="ctr"/>
            <a:lstStyle/>
            <a:p>
              <a:pPr algn="ctr"/>
              <a:endParaRPr/>
            </a:p>
          </p:txBody>
        </p:sp>
        <p:sp>
          <p:nvSpPr>
            <p:cNvPr id="63" name="TextBox 62"/>
            <p:cNvSpPr txBox="1"/>
            <p:nvPr/>
          </p:nvSpPr>
          <p:spPr>
            <a:xfrm>
              <a:off x="7022592" y="4215384"/>
              <a:ext cx="4434840" cy="411480"/>
            </a:xfrm>
            <a:prstGeom prst="rect">
              <a:avLst/>
            </a:prstGeom>
            <a:noFill/>
          </p:spPr>
          <p:txBody>
            <a:bodyPr wrap="square" lIns="0" tIns="0" rIns="0" bIns="0" anchor="t">
              <a:noAutofit/>
            </a:bodyPr>
            <a:lstStyle/>
            <a:p>
              <a:pPr algn="l">
                <a:lnSpc>
                  <a:spcPct val="112000"/>
                </a:lnSpc>
                <a:spcAft>
                  <a:spcPts val="0"/>
                </a:spcAft>
              </a:pPr>
              <a:r>
                <a:rPr sz="1400" b="0" i="0">
                  <a:solidFill>
                    <a:srgbClr val="FFFFFF"/>
                  </a:solidFill>
                  <a:latin typeface="Segoe UI Semibold"/>
                </a:rPr>
                <a:t>Latency  ↔  Residency</a:t>
              </a:r>
            </a:p>
          </p:txBody>
        </p:sp>
        <p:sp>
          <p:nvSpPr>
            <p:cNvPr id="64" name="TextBox 63"/>
            <p:cNvSpPr txBox="1"/>
            <p:nvPr/>
          </p:nvSpPr>
          <p:spPr>
            <a:xfrm>
              <a:off x="7040880" y="4517136"/>
              <a:ext cx="4370832" cy="274320"/>
            </a:xfrm>
            <a:prstGeom prst="rect">
              <a:avLst/>
            </a:prstGeom>
            <a:noFill/>
          </p:spPr>
          <p:txBody>
            <a:bodyPr wrap="square" lIns="0" tIns="0" rIns="0" bIns="0" anchor="t">
              <a:noAutofit/>
            </a:bodyPr>
            <a:lstStyle/>
            <a:p>
              <a:pPr algn="l">
                <a:lnSpc>
                  <a:spcPct val="115000"/>
                </a:lnSpc>
                <a:spcAft>
                  <a:spcPts val="400"/>
                </a:spcAft>
              </a:pPr>
              <a:r>
                <a:rPr sz="1150" b="0" i="0">
                  <a:solidFill>
                    <a:srgbClr val="C9D2E3"/>
                  </a:solidFill>
                  <a:latin typeface="Segoe UI"/>
                </a:rPr>
                <a:t>The closest region may sit in a non-compliant jurisdiction.</a:t>
              </a:r>
            </a:p>
          </p:txBody>
        </p:sp>
      </p:grpSp>
      <p:grpSp>
        <p:nvGrpSpPr>
          <p:cNvPr id="65" name="Group 64"/>
          <p:cNvGrpSpPr/>
          <p:nvPr/>
        </p:nvGrpSpPr>
        <p:grpSpPr>
          <a:xfrm>
            <a:off x="6766560" y="5038344"/>
            <a:ext cx="4873752" cy="914400"/>
            <a:chOff x="6766560" y="5038344"/>
            <a:chExt cx="4873752" cy="914400"/>
          </a:xfrm>
        </p:grpSpPr>
        <p:sp>
          <p:nvSpPr>
            <p:cNvPr id="66" name="Rounded Rectangle 65"/>
            <p:cNvSpPr/>
            <p:nvPr/>
          </p:nvSpPr>
          <p:spPr>
            <a:xfrm>
              <a:off x="6766560" y="5038344"/>
              <a:ext cx="4873752" cy="914400"/>
            </a:xfrm>
            <a:prstGeom prst="roundRect">
              <a:avLst>
                <a:gd name="adj" fmla="val 12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67" name="Rectangle 66"/>
            <p:cNvSpPr/>
            <p:nvPr/>
          </p:nvSpPr>
          <p:spPr>
            <a:xfrm>
              <a:off x="6766560" y="5294376"/>
              <a:ext cx="45720" cy="384048"/>
            </a:xfrm>
            <a:prstGeom prst="rect">
              <a:avLst/>
            </a:prstGeom>
            <a:solidFill>
              <a:srgbClr val="199E70"/>
            </a:solidFill>
            <a:ln>
              <a:noFill/>
            </a:ln>
          </p:spPr>
          <p:txBody>
            <a:bodyPr wrap="square" rtlCol="0" anchor="ctr"/>
            <a:lstStyle/>
            <a:p>
              <a:pPr algn="ctr"/>
              <a:endParaRPr/>
            </a:p>
          </p:txBody>
        </p:sp>
        <p:sp>
          <p:nvSpPr>
            <p:cNvPr id="68" name="TextBox 67"/>
            <p:cNvSpPr txBox="1"/>
            <p:nvPr/>
          </p:nvSpPr>
          <p:spPr>
            <a:xfrm>
              <a:off x="7022592" y="5239512"/>
              <a:ext cx="4434840" cy="411480"/>
            </a:xfrm>
            <a:prstGeom prst="rect">
              <a:avLst/>
            </a:prstGeom>
            <a:noFill/>
          </p:spPr>
          <p:txBody>
            <a:bodyPr wrap="square" lIns="0" tIns="0" rIns="0" bIns="0" anchor="t">
              <a:noAutofit/>
            </a:bodyPr>
            <a:lstStyle/>
            <a:p>
              <a:pPr algn="l">
                <a:lnSpc>
                  <a:spcPct val="112000"/>
                </a:lnSpc>
                <a:spcAft>
                  <a:spcPts val="0"/>
                </a:spcAft>
              </a:pPr>
              <a:r>
                <a:rPr sz="1400" b="0" i="0">
                  <a:solidFill>
                    <a:srgbClr val="FFFFFF"/>
                  </a:solidFill>
                  <a:latin typeface="Segoe UI Semibold"/>
                </a:rPr>
                <a:t>Utilization  ↔  Headroom</a:t>
              </a:r>
            </a:p>
          </p:txBody>
        </p:sp>
        <p:sp>
          <p:nvSpPr>
            <p:cNvPr id="69" name="TextBox 68"/>
            <p:cNvSpPr txBox="1"/>
            <p:nvPr/>
          </p:nvSpPr>
          <p:spPr>
            <a:xfrm>
              <a:off x="7040880" y="5541264"/>
              <a:ext cx="4370832" cy="274320"/>
            </a:xfrm>
            <a:prstGeom prst="rect">
              <a:avLst/>
            </a:prstGeom>
            <a:noFill/>
          </p:spPr>
          <p:txBody>
            <a:bodyPr wrap="square" lIns="0" tIns="0" rIns="0" bIns="0" anchor="t">
              <a:noAutofit/>
            </a:bodyPr>
            <a:lstStyle/>
            <a:p>
              <a:pPr algn="l">
                <a:lnSpc>
                  <a:spcPct val="115000"/>
                </a:lnSpc>
                <a:spcAft>
                  <a:spcPts val="400"/>
                </a:spcAft>
              </a:pPr>
              <a:r>
                <a:rPr sz="1150" b="0" i="0">
                  <a:solidFill>
                    <a:srgbClr val="C9D2E3"/>
                  </a:solidFill>
                  <a:latin typeface="Segoe UI"/>
                </a:rPr>
                <a:t>Packing nodes tightly saves money but risks SLA violations.</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41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600"/>
                                        <p:tgtEl>
                                          <p:spTgt spid="36"/>
                                        </p:tgtEl>
                                      </p:cBhvr>
                                    </p:animEffect>
                                  </p:childTnLst>
                                </p:cTn>
                              </p:par>
                              <p:par>
                                <p:cTn id="8" presetID="10" presetClass="entr" presetSubtype="0" fill="hold" nodeType="withEffect">
                                  <p:stCondLst>
                                    <p:cond delay="57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600"/>
                                        <p:tgtEl>
                                          <p:spTgt spid="37"/>
                                        </p:tgtEl>
                                      </p:cBhvr>
                                    </p:animEffect>
                                  </p:childTnLst>
                                </p:cTn>
                              </p:par>
                              <p:par>
                                <p:cTn id="11" presetID="10" presetClass="entr" presetSubtype="0" fill="hold" nodeType="withEffect">
                                  <p:stCondLst>
                                    <p:cond delay="73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600"/>
                                        <p:tgtEl>
                                          <p:spTgt spid="38"/>
                                        </p:tgtEl>
                                      </p:cBhvr>
                                    </p:animEffect>
                                  </p:childTnLst>
                                </p:cTn>
                              </p:par>
                              <p:par>
                                <p:cTn id="14" presetID="10" presetClass="entr" presetSubtype="0" fill="hold" nodeType="withEffect">
                                  <p:stCondLst>
                                    <p:cond delay="89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600"/>
                                        <p:tgtEl>
                                          <p:spTgt spid="39"/>
                                        </p:tgtEl>
                                      </p:cBhvr>
                                    </p:animEffect>
                                  </p:childTnLst>
                                </p:cTn>
                              </p:par>
                              <p:par>
                                <p:cTn id="17" presetID="10" presetClass="entr" presetSubtype="0" fill="hold" nodeType="withEffect">
                                  <p:stCondLst>
                                    <p:cond delay="105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600"/>
                                        <p:tgtEl>
                                          <p:spTgt spid="40"/>
                                        </p:tgtEl>
                                      </p:cBhvr>
                                    </p:animEffect>
                                  </p:childTnLst>
                                </p:cTn>
                              </p:par>
                              <p:par>
                                <p:cTn id="20" presetID="10" presetClass="entr" presetSubtype="0" fill="hold" nodeType="withEffect">
                                  <p:stCondLst>
                                    <p:cond delay="121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600"/>
                                        <p:tgtEl>
                                          <p:spTgt spid="41"/>
                                        </p:tgtEl>
                                      </p:cBhvr>
                                    </p:animEffect>
                                  </p:childTnLst>
                                </p:cTn>
                              </p:par>
                              <p:par>
                                <p:cTn id="23" presetID="53" presetClass="entr" presetSubtype="16" fill="hold" grpId="0" nodeType="withEffect">
                                  <p:stCondLst>
                                    <p:cond delay="250"/>
                                  </p:stCondLst>
                                  <p:childTnLst>
                                    <p:set>
                                      <p:cBhvr>
                                        <p:cTn id="24" dur="1" fill="hold">
                                          <p:stCondLst>
                                            <p:cond delay="0"/>
                                          </p:stCondLst>
                                        </p:cTn>
                                        <p:tgtEl>
                                          <p:spTgt spid="42"/>
                                        </p:tgtEl>
                                        <p:attrNameLst>
                                          <p:attrName>style.visibility</p:attrName>
                                        </p:attrNameLst>
                                      </p:cBhvr>
                                      <p:to>
                                        <p:strVal val="visible"/>
                                      </p:to>
                                    </p:set>
                                    <p:anim calcmode="lin" valueType="num">
                                      <p:cBhvr>
                                        <p:cTn id="25" dur="700" fill="hold"/>
                                        <p:tgtEl>
                                          <p:spTgt spid="42"/>
                                        </p:tgtEl>
                                        <p:attrNameLst>
                                          <p:attrName>ppt_w</p:attrName>
                                        </p:attrNameLst>
                                      </p:cBhvr>
                                      <p:tavLst>
                                        <p:tav tm="0">
                                          <p:val>
                                            <p:fltVal val="0"/>
                                          </p:val>
                                        </p:tav>
                                        <p:tav tm="100000">
                                          <p:val>
                                            <p:strVal val="#ppt_w"/>
                                          </p:val>
                                        </p:tav>
                                      </p:tavLst>
                                    </p:anim>
                                    <p:anim calcmode="lin" valueType="num">
                                      <p:cBhvr>
                                        <p:cTn id="26" dur="700" fill="hold"/>
                                        <p:tgtEl>
                                          <p:spTgt spid="42"/>
                                        </p:tgtEl>
                                        <p:attrNameLst>
                                          <p:attrName>ppt_h</p:attrName>
                                        </p:attrNameLst>
                                      </p:cBhvr>
                                      <p:tavLst>
                                        <p:tav tm="0">
                                          <p:val>
                                            <p:fltVal val="0"/>
                                          </p:val>
                                        </p:tav>
                                        <p:tav tm="100000">
                                          <p:val>
                                            <p:strVal val="#ppt_h"/>
                                          </p:val>
                                        </p:tav>
                                      </p:tavLst>
                                    </p:anim>
                                    <p:animEffect transition="in" filter="fade">
                                      <p:cBhvr>
                                        <p:cTn id="27" dur="700"/>
                                        <p:tgtEl>
                                          <p:spTgt spid="42"/>
                                        </p:tgtEl>
                                      </p:cBhvr>
                                    </p:animEffect>
                                  </p:childTnLst>
                                </p:cTn>
                              </p:par>
                              <p:par>
                                <p:cTn id="28" presetID="53" presetClass="entr" presetSubtype="16" fill="hold" grpId="0" nodeType="withEffect">
                                  <p:stCondLst>
                                    <p:cond delay="410"/>
                                  </p:stCondLst>
                                  <p:childTnLst>
                                    <p:set>
                                      <p:cBhvr>
                                        <p:cTn id="29" dur="1" fill="hold">
                                          <p:stCondLst>
                                            <p:cond delay="0"/>
                                          </p:stCondLst>
                                        </p:cTn>
                                        <p:tgtEl>
                                          <p:spTgt spid="43"/>
                                        </p:tgtEl>
                                        <p:attrNameLst>
                                          <p:attrName>style.visibility</p:attrName>
                                        </p:attrNameLst>
                                      </p:cBhvr>
                                      <p:to>
                                        <p:strVal val="visible"/>
                                      </p:to>
                                    </p:set>
                                    <p:anim calcmode="lin" valueType="num">
                                      <p:cBhvr>
                                        <p:cTn id="30" dur="600" fill="hold"/>
                                        <p:tgtEl>
                                          <p:spTgt spid="43"/>
                                        </p:tgtEl>
                                        <p:attrNameLst>
                                          <p:attrName>ppt_w</p:attrName>
                                        </p:attrNameLst>
                                      </p:cBhvr>
                                      <p:tavLst>
                                        <p:tav tm="0">
                                          <p:val>
                                            <p:fltVal val="0"/>
                                          </p:val>
                                        </p:tav>
                                        <p:tav tm="100000">
                                          <p:val>
                                            <p:strVal val="#ppt_w"/>
                                          </p:val>
                                        </p:tav>
                                      </p:tavLst>
                                    </p:anim>
                                    <p:anim calcmode="lin" valueType="num">
                                      <p:cBhvr>
                                        <p:cTn id="31" dur="600" fill="hold"/>
                                        <p:tgtEl>
                                          <p:spTgt spid="43"/>
                                        </p:tgtEl>
                                        <p:attrNameLst>
                                          <p:attrName>ppt_h</p:attrName>
                                        </p:attrNameLst>
                                      </p:cBhvr>
                                      <p:tavLst>
                                        <p:tav tm="0">
                                          <p:val>
                                            <p:fltVal val="0"/>
                                          </p:val>
                                        </p:tav>
                                        <p:tav tm="100000">
                                          <p:val>
                                            <p:strVal val="#ppt_h"/>
                                          </p:val>
                                        </p:tav>
                                      </p:tavLst>
                                    </p:anim>
                                    <p:animEffect transition="in" filter="fade">
                                      <p:cBhvr>
                                        <p:cTn id="32" dur="600"/>
                                        <p:tgtEl>
                                          <p:spTgt spid="43"/>
                                        </p:tgtEl>
                                      </p:cBhvr>
                                    </p:animEffect>
                                  </p:childTnLst>
                                </p:cTn>
                              </p:par>
                              <p:par>
                                <p:cTn id="33" presetID="53" presetClass="entr" presetSubtype="16" fill="hold" grpId="0" nodeType="withEffect">
                                  <p:stCondLst>
                                    <p:cond delay="570"/>
                                  </p:stCondLst>
                                  <p:childTnLst>
                                    <p:set>
                                      <p:cBhvr>
                                        <p:cTn id="34" dur="1" fill="hold">
                                          <p:stCondLst>
                                            <p:cond delay="0"/>
                                          </p:stCondLst>
                                        </p:cTn>
                                        <p:tgtEl>
                                          <p:spTgt spid="44"/>
                                        </p:tgtEl>
                                        <p:attrNameLst>
                                          <p:attrName>style.visibility</p:attrName>
                                        </p:attrNameLst>
                                      </p:cBhvr>
                                      <p:to>
                                        <p:strVal val="visible"/>
                                      </p:to>
                                    </p:set>
                                    <p:anim calcmode="lin" valueType="num">
                                      <p:cBhvr>
                                        <p:cTn id="35" dur="600" fill="hold"/>
                                        <p:tgtEl>
                                          <p:spTgt spid="44"/>
                                        </p:tgtEl>
                                        <p:attrNameLst>
                                          <p:attrName>ppt_w</p:attrName>
                                        </p:attrNameLst>
                                      </p:cBhvr>
                                      <p:tavLst>
                                        <p:tav tm="0">
                                          <p:val>
                                            <p:fltVal val="0"/>
                                          </p:val>
                                        </p:tav>
                                        <p:tav tm="100000">
                                          <p:val>
                                            <p:strVal val="#ppt_w"/>
                                          </p:val>
                                        </p:tav>
                                      </p:tavLst>
                                    </p:anim>
                                    <p:anim calcmode="lin" valueType="num">
                                      <p:cBhvr>
                                        <p:cTn id="36" dur="600" fill="hold"/>
                                        <p:tgtEl>
                                          <p:spTgt spid="44"/>
                                        </p:tgtEl>
                                        <p:attrNameLst>
                                          <p:attrName>ppt_h</p:attrName>
                                        </p:attrNameLst>
                                      </p:cBhvr>
                                      <p:tavLst>
                                        <p:tav tm="0">
                                          <p:val>
                                            <p:fltVal val="0"/>
                                          </p:val>
                                        </p:tav>
                                        <p:tav tm="100000">
                                          <p:val>
                                            <p:strVal val="#ppt_h"/>
                                          </p:val>
                                        </p:tav>
                                      </p:tavLst>
                                    </p:anim>
                                    <p:animEffect transition="in" filter="fade">
                                      <p:cBhvr>
                                        <p:cTn id="37" dur="600"/>
                                        <p:tgtEl>
                                          <p:spTgt spid="44"/>
                                        </p:tgtEl>
                                      </p:cBhvr>
                                    </p:animEffect>
                                  </p:childTnLst>
                                </p:cTn>
                              </p:par>
                              <p:par>
                                <p:cTn id="38" presetID="53" presetClass="entr" presetSubtype="16" fill="hold" grpId="0" nodeType="withEffect">
                                  <p:stCondLst>
                                    <p:cond delay="730"/>
                                  </p:stCondLst>
                                  <p:childTnLst>
                                    <p:set>
                                      <p:cBhvr>
                                        <p:cTn id="39" dur="1" fill="hold">
                                          <p:stCondLst>
                                            <p:cond delay="0"/>
                                          </p:stCondLst>
                                        </p:cTn>
                                        <p:tgtEl>
                                          <p:spTgt spid="45"/>
                                        </p:tgtEl>
                                        <p:attrNameLst>
                                          <p:attrName>style.visibility</p:attrName>
                                        </p:attrNameLst>
                                      </p:cBhvr>
                                      <p:to>
                                        <p:strVal val="visible"/>
                                      </p:to>
                                    </p:set>
                                    <p:anim calcmode="lin" valueType="num">
                                      <p:cBhvr>
                                        <p:cTn id="40" dur="600" fill="hold"/>
                                        <p:tgtEl>
                                          <p:spTgt spid="45"/>
                                        </p:tgtEl>
                                        <p:attrNameLst>
                                          <p:attrName>ppt_w</p:attrName>
                                        </p:attrNameLst>
                                      </p:cBhvr>
                                      <p:tavLst>
                                        <p:tav tm="0">
                                          <p:val>
                                            <p:fltVal val="0"/>
                                          </p:val>
                                        </p:tav>
                                        <p:tav tm="100000">
                                          <p:val>
                                            <p:strVal val="#ppt_w"/>
                                          </p:val>
                                        </p:tav>
                                      </p:tavLst>
                                    </p:anim>
                                    <p:anim calcmode="lin" valueType="num">
                                      <p:cBhvr>
                                        <p:cTn id="41" dur="600" fill="hold"/>
                                        <p:tgtEl>
                                          <p:spTgt spid="45"/>
                                        </p:tgtEl>
                                        <p:attrNameLst>
                                          <p:attrName>ppt_h</p:attrName>
                                        </p:attrNameLst>
                                      </p:cBhvr>
                                      <p:tavLst>
                                        <p:tav tm="0">
                                          <p:val>
                                            <p:fltVal val="0"/>
                                          </p:val>
                                        </p:tav>
                                        <p:tav tm="100000">
                                          <p:val>
                                            <p:strVal val="#ppt_h"/>
                                          </p:val>
                                        </p:tav>
                                      </p:tavLst>
                                    </p:anim>
                                    <p:animEffect transition="in" filter="fade">
                                      <p:cBhvr>
                                        <p:cTn id="42" dur="600"/>
                                        <p:tgtEl>
                                          <p:spTgt spid="45"/>
                                        </p:tgtEl>
                                      </p:cBhvr>
                                    </p:animEffect>
                                  </p:childTnLst>
                                </p:cTn>
                              </p:par>
                              <p:par>
                                <p:cTn id="43" presetID="53" presetClass="entr" presetSubtype="16" fill="hold" grpId="0" nodeType="withEffect">
                                  <p:stCondLst>
                                    <p:cond delay="890"/>
                                  </p:stCondLst>
                                  <p:childTnLst>
                                    <p:set>
                                      <p:cBhvr>
                                        <p:cTn id="44" dur="1" fill="hold">
                                          <p:stCondLst>
                                            <p:cond delay="0"/>
                                          </p:stCondLst>
                                        </p:cTn>
                                        <p:tgtEl>
                                          <p:spTgt spid="46"/>
                                        </p:tgtEl>
                                        <p:attrNameLst>
                                          <p:attrName>style.visibility</p:attrName>
                                        </p:attrNameLst>
                                      </p:cBhvr>
                                      <p:to>
                                        <p:strVal val="visible"/>
                                      </p:to>
                                    </p:set>
                                    <p:anim calcmode="lin" valueType="num">
                                      <p:cBhvr>
                                        <p:cTn id="45" dur="600" fill="hold"/>
                                        <p:tgtEl>
                                          <p:spTgt spid="46"/>
                                        </p:tgtEl>
                                        <p:attrNameLst>
                                          <p:attrName>ppt_w</p:attrName>
                                        </p:attrNameLst>
                                      </p:cBhvr>
                                      <p:tavLst>
                                        <p:tav tm="0">
                                          <p:val>
                                            <p:fltVal val="0"/>
                                          </p:val>
                                        </p:tav>
                                        <p:tav tm="100000">
                                          <p:val>
                                            <p:strVal val="#ppt_w"/>
                                          </p:val>
                                        </p:tav>
                                      </p:tavLst>
                                    </p:anim>
                                    <p:anim calcmode="lin" valueType="num">
                                      <p:cBhvr>
                                        <p:cTn id="46" dur="600" fill="hold"/>
                                        <p:tgtEl>
                                          <p:spTgt spid="46"/>
                                        </p:tgtEl>
                                        <p:attrNameLst>
                                          <p:attrName>ppt_h</p:attrName>
                                        </p:attrNameLst>
                                      </p:cBhvr>
                                      <p:tavLst>
                                        <p:tav tm="0">
                                          <p:val>
                                            <p:fltVal val="0"/>
                                          </p:val>
                                        </p:tav>
                                        <p:tav tm="100000">
                                          <p:val>
                                            <p:strVal val="#ppt_h"/>
                                          </p:val>
                                        </p:tav>
                                      </p:tavLst>
                                    </p:anim>
                                    <p:animEffect transition="in" filter="fade">
                                      <p:cBhvr>
                                        <p:cTn id="47" dur="600"/>
                                        <p:tgtEl>
                                          <p:spTgt spid="46"/>
                                        </p:tgtEl>
                                      </p:cBhvr>
                                    </p:animEffect>
                                  </p:childTnLst>
                                </p:cTn>
                              </p:par>
                              <p:par>
                                <p:cTn id="48" presetID="53" presetClass="entr" presetSubtype="16" fill="hold" grpId="0" nodeType="withEffect">
                                  <p:stCondLst>
                                    <p:cond delay="1050"/>
                                  </p:stCondLst>
                                  <p:childTnLst>
                                    <p:set>
                                      <p:cBhvr>
                                        <p:cTn id="49" dur="1" fill="hold">
                                          <p:stCondLst>
                                            <p:cond delay="0"/>
                                          </p:stCondLst>
                                        </p:cTn>
                                        <p:tgtEl>
                                          <p:spTgt spid="47"/>
                                        </p:tgtEl>
                                        <p:attrNameLst>
                                          <p:attrName>style.visibility</p:attrName>
                                        </p:attrNameLst>
                                      </p:cBhvr>
                                      <p:to>
                                        <p:strVal val="visible"/>
                                      </p:to>
                                    </p:set>
                                    <p:anim calcmode="lin" valueType="num">
                                      <p:cBhvr>
                                        <p:cTn id="50" dur="600" fill="hold"/>
                                        <p:tgtEl>
                                          <p:spTgt spid="47"/>
                                        </p:tgtEl>
                                        <p:attrNameLst>
                                          <p:attrName>ppt_w</p:attrName>
                                        </p:attrNameLst>
                                      </p:cBhvr>
                                      <p:tavLst>
                                        <p:tav tm="0">
                                          <p:val>
                                            <p:fltVal val="0"/>
                                          </p:val>
                                        </p:tav>
                                        <p:tav tm="100000">
                                          <p:val>
                                            <p:strVal val="#ppt_w"/>
                                          </p:val>
                                        </p:tav>
                                      </p:tavLst>
                                    </p:anim>
                                    <p:anim calcmode="lin" valueType="num">
                                      <p:cBhvr>
                                        <p:cTn id="51" dur="600" fill="hold"/>
                                        <p:tgtEl>
                                          <p:spTgt spid="47"/>
                                        </p:tgtEl>
                                        <p:attrNameLst>
                                          <p:attrName>ppt_h</p:attrName>
                                        </p:attrNameLst>
                                      </p:cBhvr>
                                      <p:tavLst>
                                        <p:tav tm="0">
                                          <p:val>
                                            <p:fltVal val="0"/>
                                          </p:val>
                                        </p:tav>
                                        <p:tav tm="100000">
                                          <p:val>
                                            <p:strVal val="#ppt_h"/>
                                          </p:val>
                                        </p:tav>
                                      </p:tavLst>
                                    </p:anim>
                                    <p:animEffect transition="in" filter="fade">
                                      <p:cBhvr>
                                        <p:cTn id="52" dur="600"/>
                                        <p:tgtEl>
                                          <p:spTgt spid="47"/>
                                        </p:tgtEl>
                                      </p:cBhvr>
                                    </p:animEffect>
                                  </p:childTnLst>
                                </p:cTn>
                              </p:par>
                              <p:par>
                                <p:cTn id="53" presetID="53" presetClass="entr" presetSubtype="16" fill="hold" grpId="0" nodeType="withEffect">
                                  <p:stCondLst>
                                    <p:cond delay="1210"/>
                                  </p:stCondLst>
                                  <p:childTnLst>
                                    <p:set>
                                      <p:cBhvr>
                                        <p:cTn id="54" dur="1" fill="hold">
                                          <p:stCondLst>
                                            <p:cond delay="0"/>
                                          </p:stCondLst>
                                        </p:cTn>
                                        <p:tgtEl>
                                          <p:spTgt spid="48"/>
                                        </p:tgtEl>
                                        <p:attrNameLst>
                                          <p:attrName>style.visibility</p:attrName>
                                        </p:attrNameLst>
                                      </p:cBhvr>
                                      <p:to>
                                        <p:strVal val="visible"/>
                                      </p:to>
                                    </p:set>
                                    <p:anim calcmode="lin" valueType="num">
                                      <p:cBhvr>
                                        <p:cTn id="55" dur="600" fill="hold"/>
                                        <p:tgtEl>
                                          <p:spTgt spid="48"/>
                                        </p:tgtEl>
                                        <p:attrNameLst>
                                          <p:attrName>ppt_w</p:attrName>
                                        </p:attrNameLst>
                                      </p:cBhvr>
                                      <p:tavLst>
                                        <p:tav tm="0">
                                          <p:val>
                                            <p:fltVal val="0"/>
                                          </p:val>
                                        </p:tav>
                                        <p:tav tm="100000">
                                          <p:val>
                                            <p:strVal val="#ppt_w"/>
                                          </p:val>
                                        </p:tav>
                                      </p:tavLst>
                                    </p:anim>
                                    <p:anim calcmode="lin" valueType="num">
                                      <p:cBhvr>
                                        <p:cTn id="56" dur="600" fill="hold"/>
                                        <p:tgtEl>
                                          <p:spTgt spid="48"/>
                                        </p:tgtEl>
                                        <p:attrNameLst>
                                          <p:attrName>ppt_h</p:attrName>
                                        </p:attrNameLst>
                                      </p:cBhvr>
                                      <p:tavLst>
                                        <p:tav tm="0">
                                          <p:val>
                                            <p:fltVal val="0"/>
                                          </p:val>
                                        </p:tav>
                                        <p:tav tm="100000">
                                          <p:val>
                                            <p:strVal val="#ppt_h"/>
                                          </p:val>
                                        </p:tav>
                                      </p:tavLst>
                                    </p:anim>
                                    <p:animEffect transition="in" filter="fade">
                                      <p:cBhvr>
                                        <p:cTn id="57" dur="600"/>
                                        <p:tgtEl>
                                          <p:spTgt spid="48"/>
                                        </p:tgtEl>
                                      </p:cBhvr>
                                    </p:animEffect>
                                  </p:childTnLst>
                                </p:cTn>
                              </p:par>
                              <p:par>
                                <p:cTn id="58" presetID="42" presetClass="entr" presetSubtype="0" fill="hold" nodeType="withEffect">
                                  <p:stCondLst>
                                    <p:cond delay="1370"/>
                                  </p:stCondLst>
                                  <p:childTnLst>
                                    <p:set>
                                      <p:cBhvr>
                                        <p:cTn id="59" dur="1" fill="hold">
                                          <p:stCondLst>
                                            <p:cond delay="0"/>
                                          </p:stCondLst>
                                        </p:cTn>
                                        <p:tgtEl>
                                          <p:spTgt spid="50"/>
                                        </p:tgtEl>
                                        <p:attrNameLst>
                                          <p:attrName>style.visibility</p:attrName>
                                        </p:attrNameLst>
                                      </p:cBhvr>
                                      <p:to>
                                        <p:strVal val="visible"/>
                                      </p:to>
                                    </p:set>
                                    <p:animEffect transition="in" filter="fade">
                                      <p:cBhvr>
                                        <p:cTn id="60" dur="600"/>
                                        <p:tgtEl>
                                          <p:spTgt spid="50"/>
                                        </p:tgtEl>
                                      </p:cBhvr>
                                    </p:animEffect>
                                    <p:anim calcmode="lin" valueType="num">
                                      <p:cBhvr>
                                        <p:cTn id="61" dur="600" fill="hold"/>
                                        <p:tgtEl>
                                          <p:spTgt spid="50"/>
                                        </p:tgtEl>
                                        <p:attrNameLst>
                                          <p:attrName>ppt_x</p:attrName>
                                        </p:attrNameLst>
                                      </p:cBhvr>
                                      <p:tavLst>
                                        <p:tav tm="0">
                                          <p:val>
                                            <p:strVal val="#ppt_x"/>
                                          </p:val>
                                        </p:tav>
                                        <p:tav tm="100000">
                                          <p:val>
                                            <p:strVal val="#ppt_x"/>
                                          </p:val>
                                        </p:tav>
                                      </p:tavLst>
                                    </p:anim>
                                    <p:anim calcmode="lin" valueType="num">
                                      <p:cBhvr>
                                        <p:cTn id="62" dur="600" fill="hold"/>
                                        <p:tgtEl>
                                          <p:spTgt spid="50"/>
                                        </p:tgtEl>
                                        <p:attrNameLst>
                                          <p:attrName>ppt_y</p:attrName>
                                        </p:attrNameLst>
                                      </p:cBhvr>
                                      <p:tavLst>
                                        <p:tav tm="0">
                                          <p:val>
                                            <p:strVal val="#ppt_y+.08"/>
                                          </p:val>
                                        </p:tav>
                                        <p:tav tm="100000">
                                          <p:val>
                                            <p:strVal val="#ppt_y"/>
                                          </p:val>
                                        </p:tav>
                                      </p:tavLst>
                                    </p:anim>
                                  </p:childTnLst>
                                </p:cTn>
                              </p:par>
                              <p:par>
                                <p:cTn id="63" presetID="42" presetClass="entr" presetSubtype="0" fill="hold" nodeType="withEffect">
                                  <p:stCondLst>
                                    <p:cond delay="1530"/>
                                  </p:stCondLst>
                                  <p:childTnLst>
                                    <p:set>
                                      <p:cBhvr>
                                        <p:cTn id="64" dur="1" fill="hold">
                                          <p:stCondLst>
                                            <p:cond delay="0"/>
                                          </p:stCondLst>
                                        </p:cTn>
                                        <p:tgtEl>
                                          <p:spTgt spid="55"/>
                                        </p:tgtEl>
                                        <p:attrNameLst>
                                          <p:attrName>style.visibility</p:attrName>
                                        </p:attrNameLst>
                                      </p:cBhvr>
                                      <p:to>
                                        <p:strVal val="visible"/>
                                      </p:to>
                                    </p:set>
                                    <p:animEffect transition="in" filter="fade">
                                      <p:cBhvr>
                                        <p:cTn id="65" dur="600"/>
                                        <p:tgtEl>
                                          <p:spTgt spid="55"/>
                                        </p:tgtEl>
                                      </p:cBhvr>
                                    </p:animEffect>
                                    <p:anim calcmode="lin" valueType="num">
                                      <p:cBhvr>
                                        <p:cTn id="66" dur="600" fill="hold"/>
                                        <p:tgtEl>
                                          <p:spTgt spid="55"/>
                                        </p:tgtEl>
                                        <p:attrNameLst>
                                          <p:attrName>ppt_x</p:attrName>
                                        </p:attrNameLst>
                                      </p:cBhvr>
                                      <p:tavLst>
                                        <p:tav tm="0">
                                          <p:val>
                                            <p:strVal val="#ppt_x"/>
                                          </p:val>
                                        </p:tav>
                                        <p:tav tm="100000">
                                          <p:val>
                                            <p:strVal val="#ppt_x"/>
                                          </p:val>
                                        </p:tav>
                                      </p:tavLst>
                                    </p:anim>
                                    <p:anim calcmode="lin" valueType="num">
                                      <p:cBhvr>
                                        <p:cTn id="67" dur="600" fill="hold"/>
                                        <p:tgtEl>
                                          <p:spTgt spid="55"/>
                                        </p:tgtEl>
                                        <p:attrNameLst>
                                          <p:attrName>ppt_y</p:attrName>
                                        </p:attrNameLst>
                                      </p:cBhvr>
                                      <p:tavLst>
                                        <p:tav tm="0">
                                          <p:val>
                                            <p:strVal val="#ppt_y+.08"/>
                                          </p:val>
                                        </p:tav>
                                        <p:tav tm="100000">
                                          <p:val>
                                            <p:strVal val="#ppt_y"/>
                                          </p:val>
                                        </p:tav>
                                      </p:tavLst>
                                    </p:anim>
                                  </p:childTnLst>
                                </p:cTn>
                              </p:par>
                              <p:par>
                                <p:cTn id="68" presetID="42" presetClass="entr" presetSubtype="0" fill="hold" nodeType="withEffect">
                                  <p:stCondLst>
                                    <p:cond delay="1690"/>
                                  </p:stCondLst>
                                  <p:childTnLst>
                                    <p:set>
                                      <p:cBhvr>
                                        <p:cTn id="69" dur="1" fill="hold">
                                          <p:stCondLst>
                                            <p:cond delay="0"/>
                                          </p:stCondLst>
                                        </p:cTn>
                                        <p:tgtEl>
                                          <p:spTgt spid="60"/>
                                        </p:tgtEl>
                                        <p:attrNameLst>
                                          <p:attrName>style.visibility</p:attrName>
                                        </p:attrNameLst>
                                      </p:cBhvr>
                                      <p:to>
                                        <p:strVal val="visible"/>
                                      </p:to>
                                    </p:set>
                                    <p:animEffect transition="in" filter="fade">
                                      <p:cBhvr>
                                        <p:cTn id="70" dur="600"/>
                                        <p:tgtEl>
                                          <p:spTgt spid="60"/>
                                        </p:tgtEl>
                                      </p:cBhvr>
                                    </p:animEffect>
                                    <p:anim calcmode="lin" valueType="num">
                                      <p:cBhvr>
                                        <p:cTn id="71" dur="600" fill="hold"/>
                                        <p:tgtEl>
                                          <p:spTgt spid="60"/>
                                        </p:tgtEl>
                                        <p:attrNameLst>
                                          <p:attrName>ppt_x</p:attrName>
                                        </p:attrNameLst>
                                      </p:cBhvr>
                                      <p:tavLst>
                                        <p:tav tm="0">
                                          <p:val>
                                            <p:strVal val="#ppt_x"/>
                                          </p:val>
                                        </p:tav>
                                        <p:tav tm="100000">
                                          <p:val>
                                            <p:strVal val="#ppt_x"/>
                                          </p:val>
                                        </p:tav>
                                      </p:tavLst>
                                    </p:anim>
                                    <p:anim calcmode="lin" valueType="num">
                                      <p:cBhvr>
                                        <p:cTn id="72" dur="600" fill="hold"/>
                                        <p:tgtEl>
                                          <p:spTgt spid="60"/>
                                        </p:tgtEl>
                                        <p:attrNameLst>
                                          <p:attrName>ppt_y</p:attrName>
                                        </p:attrNameLst>
                                      </p:cBhvr>
                                      <p:tavLst>
                                        <p:tav tm="0">
                                          <p:val>
                                            <p:strVal val="#ppt_y+.08"/>
                                          </p:val>
                                        </p:tav>
                                        <p:tav tm="100000">
                                          <p:val>
                                            <p:strVal val="#ppt_y"/>
                                          </p:val>
                                        </p:tav>
                                      </p:tavLst>
                                    </p:anim>
                                  </p:childTnLst>
                                </p:cTn>
                              </p:par>
                              <p:par>
                                <p:cTn id="73" presetID="42" presetClass="entr" presetSubtype="0" fill="hold" nodeType="withEffect">
                                  <p:stCondLst>
                                    <p:cond delay="1850"/>
                                  </p:stCondLst>
                                  <p:childTnLst>
                                    <p:set>
                                      <p:cBhvr>
                                        <p:cTn id="74" dur="1" fill="hold">
                                          <p:stCondLst>
                                            <p:cond delay="0"/>
                                          </p:stCondLst>
                                        </p:cTn>
                                        <p:tgtEl>
                                          <p:spTgt spid="65"/>
                                        </p:tgtEl>
                                        <p:attrNameLst>
                                          <p:attrName>style.visibility</p:attrName>
                                        </p:attrNameLst>
                                      </p:cBhvr>
                                      <p:to>
                                        <p:strVal val="visible"/>
                                      </p:to>
                                    </p:set>
                                    <p:animEffect transition="in" filter="fade">
                                      <p:cBhvr>
                                        <p:cTn id="75" dur="600"/>
                                        <p:tgtEl>
                                          <p:spTgt spid="65"/>
                                        </p:tgtEl>
                                      </p:cBhvr>
                                    </p:animEffect>
                                    <p:anim calcmode="lin" valueType="num">
                                      <p:cBhvr>
                                        <p:cTn id="76" dur="600" fill="hold"/>
                                        <p:tgtEl>
                                          <p:spTgt spid="65"/>
                                        </p:tgtEl>
                                        <p:attrNameLst>
                                          <p:attrName>ppt_x</p:attrName>
                                        </p:attrNameLst>
                                      </p:cBhvr>
                                      <p:tavLst>
                                        <p:tav tm="0">
                                          <p:val>
                                            <p:strVal val="#ppt_x"/>
                                          </p:val>
                                        </p:tav>
                                        <p:tav tm="100000">
                                          <p:val>
                                            <p:strVal val="#ppt_x"/>
                                          </p:val>
                                        </p:tav>
                                      </p:tavLst>
                                    </p:anim>
                                    <p:anim calcmode="lin" valueType="num">
                                      <p:cBhvr>
                                        <p:cTn id="77" dur="600" fill="hold"/>
                                        <p:tgtEl>
                                          <p:spTgt spid="6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animBg="1"/>
      <p:bldP spid="45" grpId="0" animBg="1"/>
      <p:bldP spid="46" grpId="0" animBg="1"/>
      <p:bldP spid="47" grpId="0" animBg="1"/>
      <p:bldP spid="4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861321" y="-2356889"/>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438561" y="4399586"/>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170588" y="4491439"/>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RESOURCE ALLOCATION</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Taxonomy of Allocation Approaches</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Resource Allocation</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lang="en-GB" sz="1000">
                <a:solidFill>
                  <a:srgbClr val="8C9AB5"/>
                </a:solidFill>
                <a:latin typeface="Segoe UI"/>
              </a:rPr>
              <a:t>20</a:t>
            </a:r>
            <a:r>
              <a:rPr sz="1000" b="0" i="0">
                <a:solidFill>
                  <a:srgbClr val="8C9AB5"/>
                </a:solidFill>
                <a:latin typeface="Segoe UI"/>
              </a:rPr>
              <a:t>/ 30</a:t>
            </a:r>
          </a:p>
        </p:txBody>
      </p:sp>
      <p:sp>
        <p:nvSpPr>
          <p:cNvPr id="36" name="Rounded Rectangle 35"/>
          <p:cNvSpPr/>
          <p:nvPr/>
        </p:nvSpPr>
        <p:spPr>
          <a:xfrm>
            <a:off x="4270248" y="1600200"/>
            <a:ext cx="3657600" cy="658368"/>
          </a:xfrm>
          <a:prstGeom prst="roundRect">
            <a:avLst>
              <a:gd name="adj" fmla="val 50000"/>
            </a:avLst>
          </a:prstGeom>
          <a:solidFill>
            <a:srgbClr val="523841"/>
          </a:solidFill>
          <a:ln w="15875">
            <a:solidFill>
              <a:srgbClr val="D95926"/>
            </a:solidFill>
          </a:ln>
        </p:spPr>
        <p:txBody>
          <a:bodyPr wrap="square" lIns="36576" tIns="36576" rIns="36576" bIns="36576" rtlCol="0" anchor="ctr">
            <a:noAutofit/>
          </a:bodyPr>
          <a:lstStyle/>
          <a:p>
            <a:pPr algn="ctr">
              <a:lnSpc>
                <a:spcPct val="100000"/>
              </a:lnSpc>
              <a:spcAft>
                <a:spcPts val="0"/>
              </a:spcAft>
            </a:pPr>
            <a:r>
              <a:rPr sz="1500" b="0" i="0">
                <a:solidFill>
                  <a:srgbClr val="FFFFFF"/>
                </a:solidFill>
                <a:latin typeface="Segoe UI Semibold"/>
              </a:rPr>
              <a:t>Resource allocation approaches</a:t>
            </a:r>
          </a:p>
        </p:txBody>
      </p:sp>
      <p:cxnSp>
        <p:nvCxnSpPr>
          <p:cNvPr id="37" name="Connector 36"/>
          <p:cNvCxnSpPr/>
          <p:nvPr/>
        </p:nvCxnSpPr>
        <p:spPr>
          <a:xfrm>
            <a:off x="1577340" y="2578608"/>
            <a:ext cx="9034272" cy="0"/>
          </a:xfrm>
          <a:prstGeom prst="line">
            <a:avLst/>
          </a:prstGeom>
          <a:ln w="15875">
            <a:solidFill>
              <a:srgbClr val="2A3F69"/>
            </a:solidFill>
          </a:ln>
        </p:spPr>
      </p:cxnSp>
      <p:cxnSp>
        <p:nvCxnSpPr>
          <p:cNvPr id="38" name="Connector 37"/>
          <p:cNvCxnSpPr/>
          <p:nvPr/>
        </p:nvCxnSpPr>
        <p:spPr>
          <a:xfrm>
            <a:off x="6099048" y="2258568"/>
            <a:ext cx="0" cy="320040"/>
          </a:xfrm>
          <a:prstGeom prst="line">
            <a:avLst/>
          </a:prstGeom>
          <a:ln w="15875">
            <a:solidFill>
              <a:srgbClr val="2A3F69"/>
            </a:solidFill>
          </a:ln>
        </p:spPr>
      </p:cxnSp>
      <p:grpSp>
        <p:nvGrpSpPr>
          <p:cNvPr id="39" name="Group 38"/>
          <p:cNvGrpSpPr/>
          <p:nvPr/>
        </p:nvGrpSpPr>
        <p:grpSpPr>
          <a:xfrm>
            <a:off x="548640" y="2578608"/>
            <a:ext cx="2057400" cy="1627631"/>
            <a:chOff x="548640" y="2578608"/>
            <a:chExt cx="2057400" cy="1627631"/>
          </a:xfrm>
        </p:grpSpPr>
        <p:cxnSp>
          <p:nvCxnSpPr>
            <p:cNvPr id="40" name="Connector 39"/>
            <p:cNvCxnSpPr/>
            <p:nvPr/>
          </p:nvCxnSpPr>
          <p:spPr>
            <a:xfrm>
              <a:off x="1577340" y="2578608"/>
              <a:ext cx="0" cy="256032"/>
            </a:xfrm>
            <a:prstGeom prst="line">
              <a:avLst/>
            </a:prstGeom>
            <a:ln w="15875">
              <a:solidFill>
                <a:srgbClr val="2A3F69"/>
              </a:solidFill>
            </a:ln>
          </p:spPr>
        </p:cxnSp>
        <p:sp>
          <p:nvSpPr>
            <p:cNvPr id="41" name="Rounded Rectangle 40"/>
            <p:cNvSpPr/>
            <p:nvPr/>
          </p:nvSpPr>
          <p:spPr>
            <a:xfrm>
              <a:off x="548640" y="2834640"/>
              <a:ext cx="2057400" cy="603504"/>
            </a:xfrm>
            <a:prstGeom prst="roundRect">
              <a:avLst>
                <a:gd name="adj" fmla="val 30000"/>
              </a:avLst>
            </a:prstGeom>
            <a:solidFill>
              <a:srgbClr val="1F3E6E"/>
            </a:solidFill>
            <a:ln w="15875">
              <a:solidFill>
                <a:srgbClr val="3987E5"/>
              </a:solidFill>
            </a:ln>
          </p:spPr>
          <p:txBody>
            <a:bodyPr wrap="square" lIns="36576" tIns="36576" rIns="36576" bIns="36576" rtlCol="0" anchor="ctr">
              <a:noAutofit/>
            </a:bodyPr>
            <a:lstStyle/>
            <a:p>
              <a:pPr algn="ctr">
                <a:lnSpc>
                  <a:spcPct val="100000"/>
                </a:lnSpc>
                <a:spcAft>
                  <a:spcPts val="0"/>
                </a:spcAft>
              </a:pPr>
              <a:r>
                <a:rPr sz="1400" b="0" i="0">
                  <a:solidFill>
                    <a:srgbClr val="FFFFFF"/>
                  </a:solidFill>
                  <a:latin typeface="Segoe UI Semibold"/>
                </a:rPr>
                <a:t>Timing</a:t>
              </a:r>
            </a:p>
          </p:txBody>
        </p:sp>
        <p:cxnSp>
          <p:nvCxnSpPr>
            <p:cNvPr id="42" name="Connector 41"/>
            <p:cNvCxnSpPr/>
            <p:nvPr/>
          </p:nvCxnSpPr>
          <p:spPr>
            <a:xfrm>
              <a:off x="1051560" y="3438144"/>
              <a:ext cx="1051560" cy="0"/>
            </a:xfrm>
            <a:prstGeom prst="line">
              <a:avLst/>
            </a:prstGeom>
            <a:ln w="12700">
              <a:solidFill>
                <a:srgbClr val="2A3F69"/>
              </a:solidFill>
            </a:ln>
          </p:spPr>
        </p:cxnSp>
        <p:cxnSp>
          <p:nvCxnSpPr>
            <p:cNvPr id="43" name="Connector 42"/>
            <p:cNvCxnSpPr/>
            <p:nvPr/>
          </p:nvCxnSpPr>
          <p:spPr>
            <a:xfrm>
              <a:off x="1042416" y="3438144"/>
              <a:ext cx="0" cy="237743"/>
            </a:xfrm>
            <a:prstGeom prst="line">
              <a:avLst/>
            </a:prstGeom>
            <a:ln w="12700">
              <a:solidFill>
                <a:srgbClr val="2A3F69"/>
              </a:solidFill>
            </a:ln>
          </p:spPr>
        </p:cxnSp>
        <p:sp>
          <p:nvSpPr>
            <p:cNvPr id="44" name="Rounded Rectangle 43"/>
            <p:cNvSpPr/>
            <p:nvPr/>
          </p:nvSpPr>
          <p:spPr>
            <a:xfrm>
              <a:off x="548640" y="3675887"/>
              <a:ext cx="987552" cy="530352"/>
            </a:xfrm>
            <a:prstGeom prst="roundRect">
              <a:avLst>
                <a:gd name="adj" fmla="val 30000"/>
              </a:avLst>
            </a:prstGeom>
            <a:solidFill>
              <a:srgbClr val="182A4C"/>
            </a:solidFill>
            <a:ln w="15875">
              <a:solidFill>
                <a:srgbClr val="8C9AB5"/>
              </a:solidFill>
            </a:ln>
          </p:spPr>
          <p:txBody>
            <a:bodyPr wrap="square" lIns="36576" tIns="36576" rIns="36576" bIns="36576" rtlCol="0" anchor="ctr">
              <a:noAutofit/>
            </a:bodyPr>
            <a:lstStyle/>
            <a:p>
              <a:pPr algn="ctr">
                <a:lnSpc>
                  <a:spcPct val="100000"/>
                </a:lnSpc>
                <a:spcAft>
                  <a:spcPts val="0"/>
                </a:spcAft>
              </a:pPr>
              <a:r>
                <a:rPr sz="1050" b="0" i="0">
                  <a:solidFill>
                    <a:srgbClr val="FFFFFF"/>
                  </a:solidFill>
                  <a:latin typeface="Segoe UI Semibold"/>
                </a:rPr>
                <a:t>Static</a:t>
              </a:r>
            </a:p>
          </p:txBody>
        </p:sp>
        <p:cxnSp>
          <p:nvCxnSpPr>
            <p:cNvPr id="45" name="Connector 44"/>
            <p:cNvCxnSpPr/>
            <p:nvPr/>
          </p:nvCxnSpPr>
          <p:spPr>
            <a:xfrm>
              <a:off x="2112264" y="3438144"/>
              <a:ext cx="0" cy="237743"/>
            </a:xfrm>
            <a:prstGeom prst="line">
              <a:avLst/>
            </a:prstGeom>
            <a:ln w="12700">
              <a:solidFill>
                <a:srgbClr val="2A3F69"/>
              </a:solidFill>
            </a:ln>
          </p:spPr>
        </p:cxnSp>
        <p:sp>
          <p:nvSpPr>
            <p:cNvPr id="46" name="Rounded Rectangle 45"/>
            <p:cNvSpPr/>
            <p:nvPr/>
          </p:nvSpPr>
          <p:spPr>
            <a:xfrm>
              <a:off x="1618488" y="3675887"/>
              <a:ext cx="987552" cy="530352"/>
            </a:xfrm>
            <a:prstGeom prst="roundRect">
              <a:avLst>
                <a:gd name="adj" fmla="val 30000"/>
              </a:avLst>
            </a:prstGeom>
            <a:solidFill>
              <a:srgbClr val="182A4C"/>
            </a:solidFill>
            <a:ln w="15875">
              <a:solidFill>
                <a:srgbClr val="8C9AB5"/>
              </a:solidFill>
            </a:ln>
          </p:spPr>
          <p:txBody>
            <a:bodyPr wrap="square" lIns="36576" tIns="36576" rIns="36576" bIns="36576" rtlCol="0" anchor="ctr">
              <a:noAutofit/>
            </a:bodyPr>
            <a:lstStyle/>
            <a:p>
              <a:pPr algn="ctr">
                <a:lnSpc>
                  <a:spcPct val="100000"/>
                </a:lnSpc>
                <a:spcAft>
                  <a:spcPts val="0"/>
                </a:spcAft>
              </a:pPr>
              <a:r>
                <a:rPr sz="1050" b="0" i="0">
                  <a:solidFill>
                    <a:srgbClr val="FFFFFF"/>
                  </a:solidFill>
                  <a:latin typeface="Segoe UI Semibold"/>
                </a:rPr>
                <a:t>Dynamic</a:t>
              </a:r>
            </a:p>
          </p:txBody>
        </p:sp>
      </p:grpSp>
      <p:grpSp>
        <p:nvGrpSpPr>
          <p:cNvPr id="47" name="Group 46"/>
          <p:cNvGrpSpPr/>
          <p:nvPr/>
        </p:nvGrpSpPr>
        <p:grpSpPr>
          <a:xfrm>
            <a:off x="2807208" y="2578608"/>
            <a:ext cx="2057400" cy="1627631"/>
            <a:chOff x="2807208" y="2578608"/>
            <a:chExt cx="2057400" cy="1627631"/>
          </a:xfrm>
        </p:grpSpPr>
        <p:cxnSp>
          <p:nvCxnSpPr>
            <p:cNvPr id="48" name="Connector 47"/>
            <p:cNvCxnSpPr/>
            <p:nvPr/>
          </p:nvCxnSpPr>
          <p:spPr>
            <a:xfrm>
              <a:off x="3835908" y="2578608"/>
              <a:ext cx="0" cy="256032"/>
            </a:xfrm>
            <a:prstGeom prst="line">
              <a:avLst/>
            </a:prstGeom>
            <a:ln w="15875">
              <a:solidFill>
                <a:srgbClr val="2A3F69"/>
              </a:solidFill>
            </a:ln>
          </p:spPr>
        </p:cxnSp>
        <p:sp>
          <p:nvSpPr>
            <p:cNvPr id="49" name="Rounded Rectangle 48"/>
            <p:cNvSpPr/>
            <p:nvPr/>
          </p:nvSpPr>
          <p:spPr>
            <a:xfrm>
              <a:off x="2807208" y="2834640"/>
              <a:ext cx="2057400" cy="603504"/>
            </a:xfrm>
            <a:prstGeom prst="roundRect">
              <a:avLst>
                <a:gd name="adj" fmla="val 30000"/>
              </a:avLst>
            </a:prstGeom>
            <a:solidFill>
              <a:srgbClr val="323E6F"/>
            </a:solidFill>
            <a:ln w="15875">
              <a:solidFill>
                <a:srgbClr val="9085E9"/>
              </a:solidFill>
            </a:ln>
          </p:spPr>
          <p:txBody>
            <a:bodyPr wrap="square" lIns="36576" tIns="36576" rIns="36576" bIns="36576" rtlCol="0" anchor="ctr">
              <a:noAutofit/>
            </a:bodyPr>
            <a:lstStyle/>
            <a:p>
              <a:pPr algn="ctr">
                <a:lnSpc>
                  <a:spcPct val="100000"/>
                </a:lnSpc>
                <a:spcAft>
                  <a:spcPts val="0"/>
                </a:spcAft>
              </a:pPr>
              <a:r>
                <a:rPr sz="1400" b="0" i="0">
                  <a:solidFill>
                    <a:srgbClr val="FFFFFF"/>
                  </a:solidFill>
                  <a:latin typeface="Segoe UI Semibold"/>
                </a:rPr>
                <a:t>Control</a:t>
              </a:r>
            </a:p>
          </p:txBody>
        </p:sp>
        <p:cxnSp>
          <p:nvCxnSpPr>
            <p:cNvPr id="50" name="Connector 49"/>
            <p:cNvCxnSpPr/>
            <p:nvPr/>
          </p:nvCxnSpPr>
          <p:spPr>
            <a:xfrm>
              <a:off x="3310128" y="3438144"/>
              <a:ext cx="1051560" cy="0"/>
            </a:xfrm>
            <a:prstGeom prst="line">
              <a:avLst/>
            </a:prstGeom>
            <a:ln w="12700">
              <a:solidFill>
                <a:srgbClr val="2A3F69"/>
              </a:solidFill>
            </a:ln>
          </p:spPr>
        </p:cxnSp>
        <p:cxnSp>
          <p:nvCxnSpPr>
            <p:cNvPr id="51" name="Connector 50"/>
            <p:cNvCxnSpPr/>
            <p:nvPr/>
          </p:nvCxnSpPr>
          <p:spPr>
            <a:xfrm>
              <a:off x="3300984" y="3438144"/>
              <a:ext cx="0" cy="237743"/>
            </a:xfrm>
            <a:prstGeom prst="line">
              <a:avLst/>
            </a:prstGeom>
            <a:ln w="12700">
              <a:solidFill>
                <a:srgbClr val="2A3F69"/>
              </a:solidFill>
            </a:ln>
          </p:spPr>
        </p:cxnSp>
        <p:sp>
          <p:nvSpPr>
            <p:cNvPr id="52" name="Rounded Rectangle 51"/>
            <p:cNvSpPr/>
            <p:nvPr/>
          </p:nvSpPr>
          <p:spPr>
            <a:xfrm>
              <a:off x="2807208" y="3675887"/>
              <a:ext cx="987552" cy="530352"/>
            </a:xfrm>
            <a:prstGeom prst="roundRect">
              <a:avLst>
                <a:gd name="adj" fmla="val 30000"/>
              </a:avLst>
            </a:prstGeom>
            <a:solidFill>
              <a:srgbClr val="182A4C"/>
            </a:solidFill>
            <a:ln w="15875">
              <a:solidFill>
                <a:srgbClr val="8C9AB5"/>
              </a:solidFill>
            </a:ln>
          </p:spPr>
          <p:txBody>
            <a:bodyPr wrap="square" lIns="36576" tIns="36576" rIns="36576" bIns="36576" rtlCol="0" anchor="ctr">
              <a:noAutofit/>
            </a:bodyPr>
            <a:lstStyle/>
            <a:p>
              <a:pPr algn="ctr">
                <a:lnSpc>
                  <a:spcPct val="100000"/>
                </a:lnSpc>
                <a:spcAft>
                  <a:spcPts val="0"/>
                </a:spcAft>
              </a:pPr>
              <a:r>
                <a:rPr sz="1050" b="0" i="0">
                  <a:solidFill>
                    <a:srgbClr val="FFFFFF"/>
                  </a:solidFill>
                  <a:latin typeface="Segoe UI Semibold"/>
                </a:rPr>
                <a:t>Centralized</a:t>
              </a:r>
            </a:p>
          </p:txBody>
        </p:sp>
        <p:cxnSp>
          <p:nvCxnSpPr>
            <p:cNvPr id="53" name="Connector 52"/>
            <p:cNvCxnSpPr/>
            <p:nvPr/>
          </p:nvCxnSpPr>
          <p:spPr>
            <a:xfrm>
              <a:off x="4370832" y="3438144"/>
              <a:ext cx="0" cy="237743"/>
            </a:xfrm>
            <a:prstGeom prst="line">
              <a:avLst/>
            </a:prstGeom>
            <a:ln w="12700">
              <a:solidFill>
                <a:srgbClr val="2A3F69"/>
              </a:solidFill>
            </a:ln>
          </p:spPr>
        </p:cxnSp>
        <p:sp>
          <p:nvSpPr>
            <p:cNvPr id="54" name="Rounded Rectangle 53"/>
            <p:cNvSpPr/>
            <p:nvPr/>
          </p:nvSpPr>
          <p:spPr>
            <a:xfrm>
              <a:off x="3877056" y="3675887"/>
              <a:ext cx="987552" cy="530352"/>
            </a:xfrm>
            <a:prstGeom prst="roundRect">
              <a:avLst>
                <a:gd name="adj" fmla="val 30000"/>
              </a:avLst>
            </a:prstGeom>
            <a:solidFill>
              <a:srgbClr val="182A4C"/>
            </a:solidFill>
            <a:ln w="15875">
              <a:solidFill>
                <a:srgbClr val="8C9AB5"/>
              </a:solidFill>
            </a:ln>
          </p:spPr>
          <p:txBody>
            <a:bodyPr wrap="square" lIns="36576" tIns="36576" rIns="36576" bIns="36576" rtlCol="0" anchor="ctr">
              <a:noAutofit/>
            </a:bodyPr>
            <a:lstStyle/>
            <a:p>
              <a:pPr algn="ctr">
                <a:lnSpc>
                  <a:spcPct val="100000"/>
                </a:lnSpc>
                <a:spcAft>
                  <a:spcPts val="0"/>
                </a:spcAft>
              </a:pPr>
              <a:r>
                <a:rPr sz="1050" b="0" i="0">
                  <a:solidFill>
                    <a:srgbClr val="FFFFFF"/>
                  </a:solidFill>
                  <a:latin typeface="Segoe UI Semibold"/>
                </a:rPr>
                <a:t>Decentral.</a:t>
              </a:r>
            </a:p>
          </p:txBody>
        </p:sp>
      </p:grpSp>
      <p:grpSp>
        <p:nvGrpSpPr>
          <p:cNvPr id="55" name="Group 54"/>
          <p:cNvGrpSpPr/>
          <p:nvPr/>
        </p:nvGrpSpPr>
        <p:grpSpPr>
          <a:xfrm>
            <a:off x="5065776" y="2578608"/>
            <a:ext cx="2057400" cy="1627631"/>
            <a:chOff x="5065776" y="2578608"/>
            <a:chExt cx="2057400" cy="1627631"/>
          </a:xfrm>
        </p:grpSpPr>
        <p:cxnSp>
          <p:nvCxnSpPr>
            <p:cNvPr id="56" name="Connector 55"/>
            <p:cNvCxnSpPr/>
            <p:nvPr/>
          </p:nvCxnSpPr>
          <p:spPr>
            <a:xfrm>
              <a:off x="6094476" y="2578608"/>
              <a:ext cx="0" cy="256032"/>
            </a:xfrm>
            <a:prstGeom prst="line">
              <a:avLst/>
            </a:prstGeom>
            <a:ln w="15875">
              <a:solidFill>
                <a:srgbClr val="2A3F69"/>
              </a:solidFill>
            </a:ln>
          </p:spPr>
        </p:cxnSp>
        <p:sp>
          <p:nvSpPr>
            <p:cNvPr id="57" name="Rounded Rectangle 56"/>
            <p:cNvSpPr/>
            <p:nvPr/>
          </p:nvSpPr>
          <p:spPr>
            <a:xfrm>
              <a:off x="5065776" y="2834640"/>
              <a:ext cx="2057400" cy="603504"/>
            </a:xfrm>
            <a:prstGeom prst="roundRect">
              <a:avLst>
                <a:gd name="adj" fmla="val 30000"/>
              </a:avLst>
            </a:prstGeom>
            <a:solidFill>
              <a:srgbClr val="184454"/>
            </a:solidFill>
            <a:ln w="15875">
              <a:solidFill>
                <a:srgbClr val="199E70"/>
              </a:solidFill>
            </a:ln>
          </p:spPr>
          <p:txBody>
            <a:bodyPr wrap="square" lIns="36576" tIns="36576" rIns="36576" bIns="36576" rtlCol="0" anchor="ctr">
              <a:noAutofit/>
            </a:bodyPr>
            <a:lstStyle/>
            <a:p>
              <a:pPr algn="ctr">
                <a:lnSpc>
                  <a:spcPct val="100000"/>
                </a:lnSpc>
                <a:spcAft>
                  <a:spcPts val="0"/>
                </a:spcAft>
              </a:pPr>
              <a:r>
                <a:rPr sz="1400" b="0" i="0">
                  <a:solidFill>
                    <a:srgbClr val="FFFFFF"/>
                  </a:solidFill>
                  <a:latin typeface="Segoe UI Semibold"/>
                </a:rPr>
                <a:t>Trigger</a:t>
              </a:r>
            </a:p>
          </p:txBody>
        </p:sp>
        <p:cxnSp>
          <p:nvCxnSpPr>
            <p:cNvPr id="58" name="Connector 57"/>
            <p:cNvCxnSpPr/>
            <p:nvPr/>
          </p:nvCxnSpPr>
          <p:spPr>
            <a:xfrm>
              <a:off x="5568696" y="3438144"/>
              <a:ext cx="1051560" cy="0"/>
            </a:xfrm>
            <a:prstGeom prst="line">
              <a:avLst/>
            </a:prstGeom>
            <a:ln w="12700">
              <a:solidFill>
                <a:srgbClr val="2A3F69"/>
              </a:solidFill>
            </a:ln>
          </p:spPr>
        </p:cxnSp>
        <p:cxnSp>
          <p:nvCxnSpPr>
            <p:cNvPr id="59" name="Connector 58"/>
            <p:cNvCxnSpPr/>
            <p:nvPr/>
          </p:nvCxnSpPr>
          <p:spPr>
            <a:xfrm>
              <a:off x="5559552" y="3438144"/>
              <a:ext cx="0" cy="237743"/>
            </a:xfrm>
            <a:prstGeom prst="line">
              <a:avLst/>
            </a:prstGeom>
            <a:ln w="12700">
              <a:solidFill>
                <a:srgbClr val="2A3F69"/>
              </a:solidFill>
            </a:ln>
          </p:spPr>
        </p:cxnSp>
        <p:sp>
          <p:nvSpPr>
            <p:cNvPr id="60" name="Rounded Rectangle 59"/>
            <p:cNvSpPr/>
            <p:nvPr/>
          </p:nvSpPr>
          <p:spPr>
            <a:xfrm>
              <a:off x="5065776" y="3675887"/>
              <a:ext cx="987552" cy="530352"/>
            </a:xfrm>
            <a:prstGeom prst="roundRect">
              <a:avLst>
                <a:gd name="adj" fmla="val 30000"/>
              </a:avLst>
            </a:prstGeom>
            <a:solidFill>
              <a:srgbClr val="182A4C"/>
            </a:solidFill>
            <a:ln w="15875">
              <a:solidFill>
                <a:srgbClr val="8C9AB5"/>
              </a:solidFill>
            </a:ln>
          </p:spPr>
          <p:txBody>
            <a:bodyPr wrap="square" lIns="36576" tIns="36576" rIns="36576" bIns="36576" rtlCol="0" anchor="ctr">
              <a:noAutofit/>
            </a:bodyPr>
            <a:lstStyle/>
            <a:p>
              <a:pPr algn="ctr">
                <a:lnSpc>
                  <a:spcPct val="100000"/>
                </a:lnSpc>
                <a:spcAft>
                  <a:spcPts val="0"/>
                </a:spcAft>
              </a:pPr>
              <a:r>
                <a:rPr sz="1050" b="0" i="0">
                  <a:solidFill>
                    <a:srgbClr val="FFFFFF"/>
                  </a:solidFill>
                  <a:latin typeface="Segoe UI Semibold"/>
                </a:rPr>
                <a:t>Reactive</a:t>
              </a:r>
            </a:p>
          </p:txBody>
        </p:sp>
        <p:cxnSp>
          <p:nvCxnSpPr>
            <p:cNvPr id="61" name="Connector 60"/>
            <p:cNvCxnSpPr/>
            <p:nvPr/>
          </p:nvCxnSpPr>
          <p:spPr>
            <a:xfrm>
              <a:off x="6629400" y="3438144"/>
              <a:ext cx="0" cy="237743"/>
            </a:xfrm>
            <a:prstGeom prst="line">
              <a:avLst/>
            </a:prstGeom>
            <a:ln w="12700">
              <a:solidFill>
                <a:srgbClr val="2A3F69"/>
              </a:solidFill>
            </a:ln>
          </p:spPr>
        </p:cxnSp>
        <p:sp>
          <p:nvSpPr>
            <p:cNvPr id="62" name="Rounded Rectangle 61"/>
            <p:cNvSpPr/>
            <p:nvPr/>
          </p:nvSpPr>
          <p:spPr>
            <a:xfrm>
              <a:off x="6135624" y="3675887"/>
              <a:ext cx="987552" cy="530352"/>
            </a:xfrm>
            <a:prstGeom prst="roundRect">
              <a:avLst>
                <a:gd name="adj" fmla="val 30000"/>
              </a:avLst>
            </a:prstGeom>
            <a:solidFill>
              <a:srgbClr val="182A4C"/>
            </a:solidFill>
            <a:ln w="15875">
              <a:solidFill>
                <a:srgbClr val="8C9AB5"/>
              </a:solidFill>
            </a:ln>
          </p:spPr>
          <p:txBody>
            <a:bodyPr wrap="square" lIns="36576" tIns="36576" rIns="36576" bIns="36576" rtlCol="0" anchor="ctr">
              <a:noAutofit/>
            </a:bodyPr>
            <a:lstStyle/>
            <a:p>
              <a:pPr algn="ctr">
                <a:lnSpc>
                  <a:spcPct val="100000"/>
                </a:lnSpc>
                <a:spcAft>
                  <a:spcPts val="0"/>
                </a:spcAft>
              </a:pPr>
              <a:r>
                <a:rPr sz="1050" b="0" i="0">
                  <a:solidFill>
                    <a:srgbClr val="FFFFFF"/>
                  </a:solidFill>
                  <a:latin typeface="Segoe UI Semibold"/>
                </a:rPr>
                <a:t>Proactive</a:t>
              </a:r>
            </a:p>
          </p:txBody>
        </p:sp>
      </p:grpSp>
      <p:grpSp>
        <p:nvGrpSpPr>
          <p:cNvPr id="63" name="Group 62"/>
          <p:cNvGrpSpPr/>
          <p:nvPr/>
        </p:nvGrpSpPr>
        <p:grpSpPr>
          <a:xfrm>
            <a:off x="7324344" y="2578608"/>
            <a:ext cx="2057400" cy="1627631"/>
            <a:chOff x="7324344" y="2578608"/>
            <a:chExt cx="2057400" cy="1627631"/>
          </a:xfrm>
        </p:grpSpPr>
        <p:cxnSp>
          <p:nvCxnSpPr>
            <p:cNvPr id="64" name="Connector 63"/>
            <p:cNvCxnSpPr/>
            <p:nvPr/>
          </p:nvCxnSpPr>
          <p:spPr>
            <a:xfrm>
              <a:off x="8353044" y="2578608"/>
              <a:ext cx="0" cy="256032"/>
            </a:xfrm>
            <a:prstGeom prst="line">
              <a:avLst/>
            </a:prstGeom>
            <a:ln w="15875">
              <a:solidFill>
                <a:srgbClr val="2A3F69"/>
              </a:solidFill>
            </a:ln>
          </p:spPr>
        </p:cxnSp>
        <p:sp>
          <p:nvSpPr>
            <p:cNvPr id="65" name="Rounded Rectangle 64"/>
            <p:cNvSpPr/>
            <p:nvPr/>
          </p:nvSpPr>
          <p:spPr>
            <a:xfrm>
              <a:off x="7324344" y="2834640"/>
              <a:ext cx="2057400" cy="603504"/>
            </a:xfrm>
            <a:prstGeom prst="roundRect">
              <a:avLst>
                <a:gd name="adj" fmla="val 30000"/>
              </a:avLst>
            </a:prstGeom>
            <a:solidFill>
              <a:srgbClr val="423444"/>
            </a:solidFill>
            <a:ln w="15875">
              <a:solidFill>
                <a:srgbClr val="D95926"/>
              </a:solidFill>
            </a:ln>
          </p:spPr>
          <p:txBody>
            <a:bodyPr wrap="square" lIns="36576" tIns="36576" rIns="36576" bIns="36576" rtlCol="0" anchor="ctr">
              <a:noAutofit/>
            </a:bodyPr>
            <a:lstStyle/>
            <a:p>
              <a:pPr algn="ctr">
                <a:lnSpc>
                  <a:spcPct val="100000"/>
                </a:lnSpc>
                <a:spcAft>
                  <a:spcPts val="0"/>
                </a:spcAft>
              </a:pPr>
              <a:r>
                <a:rPr sz="1400" b="0" i="0">
                  <a:solidFill>
                    <a:srgbClr val="FFFFFF"/>
                  </a:solidFill>
                  <a:latin typeface="Segoe UI Semibold"/>
                </a:rPr>
                <a:t>Objective</a:t>
              </a:r>
            </a:p>
          </p:txBody>
        </p:sp>
        <p:cxnSp>
          <p:nvCxnSpPr>
            <p:cNvPr id="66" name="Connector 65"/>
            <p:cNvCxnSpPr/>
            <p:nvPr/>
          </p:nvCxnSpPr>
          <p:spPr>
            <a:xfrm>
              <a:off x="7827264" y="3438144"/>
              <a:ext cx="1051560" cy="0"/>
            </a:xfrm>
            <a:prstGeom prst="line">
              <a:avLst/>
            </a:prstGeom>
            <a:ln w="12700">
              <a:solidFill>
                <a:srgbClr val="2A3F69"/>
              </a:solidFill>
            </a:ln>
          </p:spPr>
        </p:cxnSp>
        <p:cxnSp>
          <p:nvCxnSpPr>
            <p:cNvPr id="67" name="Connector 66"/>
            <p:cNvCxnSpPr/>
            <p:nvPr/>
          </p:nvCxnSpPr>
          <p:spPr>
            <a:xfrm>
              <a:off x="7818120" y="3438144"/>
              <a:ext cx="0" cy="237743"/>
            </a:xfrm>
            <a:prstGeom prst="line">
              <a:avLst/>
            </a:prstGeom>
            <a:ln w="12700">
              <a:solidFill>
                <a:srgbClr val="2A3F69"/>
              </a:solidFill>
            </a:ln>
          </p:spPr>
        </p:cxnSp>
        <p:sp>
          <p:nvSpPr>
            <p:cNvPr id="68" name="Rounded Rectangle 67"/>
            <p:cNvSpPr/>
            <p:nvPr/>
          </p:nvSpPr>
          <p:spPr>
            <a:xfrm>
              <a:off x="7324344" y="3675887"/>
              <a:ext cx="987552" cy="530352"/>
            </a:xfrm>
            <a:prstGeom prst="roundRect">
              <a:avLst>
                <a:gd name="adj" fmla="val 30000"/>
              </a:avLst>
            </a:prstGeom>
            <a:solidFill>
              <a:srgbClr val="182A4C"/>
            </a:solidFill>
            <a:ln w="15875">
              <a:solidFill>
                <a:srgbClr val="8C9AB5"/>
              </a:solidFill>
            </a:ln>
          </p:spPr>
          <p:txBody>
            <a:bodyPr wrap="square" lIns="36576" tIns="36576" rIns="36576" bIns="36576" rtlCol="0" anchor="ctr">
              <a:noAutofit/>
            </a:bodyPr>
            <a:lstStyle/>
            <a:p>
              <a:pPr algn="ctr">
                <a:lnSpc>
                  <a:spcPct val="100000"/>
                </a:lnSpc>
                <a:spcAft>
                  <a:spcPts val="0"/>
                </a:spcAft>
              </a:pPr>
              <a:r>
                <a:rPr sz="1050" b="0" i="0">
                  <a:solidFill>
                    <a:srgbClr val="FFFFFF"/>
                  </a:solidFill>
                  <a:latin typeface="Segoe UI Semibold"/>
                </a:rPr>
                <a:t>Single</a:t>
              </a:r>
            </a:p>
          </p:txBody>
        </p:sp>
        <p:cxnSp>
          <p:nvCxnSpPr>
            <p:cNvPr id="69" name="Connector 68"/>
            <p:cNvCxnSpPr/>
            <p:nvPr/>
          </p:nvCxnSpPr>
          <p:spPr>
            <a:xfrm>
              <a:off x="8887967" y="3438144"/>
              <a:ext cx="0" cy="237743"/>
            </a:xfrm>
            <a:prstGeom prst="line">
              <a:avLst/>
            </a:prstGeom>
            <a:ln w="12700">
              <a:solidFill>
                <a:srgbClr val="2A3F69"/>
              </a:solidFill>
            </a:ln>
          </p:spPr>
        </p:cxnSp>
        <p:sp>
          <p:nvSpPr>
            <p:cNvPr id="70" name="Rounded Rectangle 69"/>
            <p:cNvSpPr/>
            <p:nvPr/>
          </p:nvSpPr>
          <p:spPr>
            <a:xfrm>
              <a:off x="8394192" y="3675887"/>
              <a:ext cx="987552" cy="530352"/>
            </a:xfrm>
            <a:prstGeom prst="roundRect">
              <a:avLst>
                <a:gd name="adj" fmla="val 30000"/>
              </a:avLst>
            </a:prstGeom>
            <a:solidFill>
              <a:srgbClr val="182A4C"/>
            </a:solidFill>
            <a:ln w="15875">
              <a:solidFill>
                <a:srgbClr val="8C9AB5"/>
              </a:solidFill>
            </a:ln>
          </p:spPr>
          <p:txBody>
            <a:bodyPr wrap="square" lIns="36576" tIns="36576" rIns="36576" bIns="36576" rtlCol="0" anchor="ctr">
              <a:noAutofit/>
            </a:bodyPr>
            <a:lstStyle/>
            <a:p>
              <a:pPr algn="ctr">
                <a:lnSpc>
                  <a:spcPct val="100000"/>
                </a:lnSpc>
                <a:spcAft>
                  <a:spcPts val="0"/>
                </a:spcAft>
              </a:pPr>
              <a:r>
                <a:rPr sz="1050" b="0" i="0">
                  <a:solidFill>
                    <a:srgbClr val="FFFFFF"/>
                  </a:solidFill>
                  <a:latin typeface="Segoe UI Semibold"/>
                </a:rPr>
                <a:t>Multi</a:t>
              </a:r>
            </a:p>
          </p:txBody>
        </p:sp>
      </p:grpSp>
      <p:grpSp>
        <p:nvGrpSpPr>
          <p:cNvPr id="71" name="Group 70"/>
          <p:cNvGrpSpPr/>
          <p:nvPr/>
        </p:nvGrpSpPr>
        <p:grpSpPr>
          <a:xfrm>
            <a:off x="9582912" y="2578608"/>
            <a:ext cx="2057400" cy="1627631"/>
            <a:chOff x="9582912" y="2578608"/>
            <a:chExt cx="2057400" cy="1627631"/>
          </a:xfrm>
        </p:grpSpPr>
        <p:cxnSp>
          <p:nvCxnSpPr>
            <p:cNvPr id="72" name="Connector 71"/>
            <p:cNvCxnSpPr/>
            <p:nvPr/>
          </p:nvCxnSpPr>
          <p:spPr>
            <a:xfrm>
              <a:off x="10611612" y="2578608"/>
              <a:ext cx="0" cy="256032"/>
            </a:xfrm>
            <a:prstGeom prst="line">
              <a:avLst/>
            </a:prstGeom>
            <a:ln w="15875">
              <a:solidFill>
                <a:srgbClr val="2A3F69"/>
              </a:solidFill>
            </a:ln>
          </p:spPr>
        </p:cxnSp>
        <p:sp>
          <p:nvSpPr>
            <p:cNvPr id="73" name="Rounded Rectangle 72"/>
            <p:cNvSpPr/>
            <p:nvPr/>
          </p:nvSpPr>
          <p:spPr>
            <a:xfrm>
              <a:off x="9582912" y="2834640"/>
              <a:ext cx="2057400" cy="603504"/>
            </a:xfrm>
            <a:prstGeom prst="roundRect">
              <a:avLst>
                <a:gd name="adj" fmla="val 30000"/>
              </a:avLst>
            </a:prstGeom>
            <a:solidFill>
              <a:srgbClr val="1F3E6E"/>
            </a:solidFill>
            <a:ln w="15875">
              <a:solidFill>
                <a:srgbClr val="3987E5"/>
              </a:solidFill>
            </a:ln>
          </p:spPr>
          <p:txBody>
            <a:bodyPr wrap="square" lIns="36576" tIns="36576" rIns="36576" bIns="36576" rtlCol="0" anchor="ctr">
              <a:noAutofit/>
            </a:bodyPr>
            <a:lstStyle/>
            <a:p>
              <a:pPr algn="ctr">
                <a:lnSpc>
                  <a:spcPct val="100000"/>
                </a:lnSpc>
                <a:spcAft>
                  <a:spcPts val="0"/>
                </a:spcAft>
              </a:pPr>
              <a:r>
                <a:rPr sz="1400" b="0" i="0">
                  <a:solidFill>
                    <a:srgbClr val="FFFFFF"/>
                  </a:solidFill>
                  <a:latin typeface="Segoe UI Semibold"/>
                </a:rPr>
                <a:t>Technique</a:t>
              </a:r>
            </a:p>
          </p:txBody>
        </p:sp>
        <p:cxnSp>
          <p:nvCxnSpPr>
            <p:cNvPr id="74" name="Connector 73"/>
            <p:cNvCxnSpPr/>
            <p:nvPr/>
          </p:nvCxnSpPr>
          <p:spPr>
            <a:xfrm>
              <a:off x="10085832" y="3438144"/>
              <a:ext cx="1051560" cy="0"/>
            </a:xfrm>
            <a:prstGeom prst="line">
              <a:avLst/>
            </a:prstGeom>
            <a:ln w="12700">
              <a:solidFill>
                <a:srgbClr val="2A3F69"/>
              </a:solidFill>
            </a:ln>
          </p:spPr>
        </p:cxnSp>
        <p:cxnSp>
          <p:nvCxnSpPr>
            <p:cNvPr id="75" name="Connector 74"/>
            <p:cNvCxnSpPr/>
            <p:nvPr/>
          </p:nvCxnSpPr>
          <p:spPr>
            <a:xfrm>
              <a:off x="10076688" y="3438144"/>
              <a:ext cx="0" cy="237743"/>
            </a:xfrm>
            <a:prstGeom prst="line">
              <a:avLst/>
            </a:prstGeom>
            <a:ln w="12700">
              <a:solidFill>
                <a:srgbClr val="2A3F69"/>
              </a:solidFill>
            </a:ln>
          </p:spPr>
        </p:cxnSp>
        <p:sp>
          <p:nvSpPr>
            <p:cNvPr id="76" name="Rounded Rectangle 75"/>
            <p:cNvSpPr/>
            <p:nvPr/>
          </p:nvSpPr>
          <p:spPr>
            <a:xfrm>
              <a:off x="9582912" y="3675887"/>
              <a:ext cx="987552" cy="530352"/>
            </a:xfrm>
            <a:prstGeom prst="roundRect">
              <a:avLst>
                <a:gd name="adj" fmla="val 30000"/>
              </a:avLst>
            </a:prstGeom>
            <a:solidFill>
              <a:srgbClr val="182A4C"/>
            </a:solidFill>
            <a:ln w="15875">
              <a:solidFill>
                <a:srgbClr val="8C9AB5"/>
              </a:solidFill>
            </a:ln>
          </p:spPr>
          <p:txBody>
            <a:bodyPr wrap="square" lIns="36576" tIns="36576" rIns="36576" bIns="36576" rtlCol="0" anchor="ctr">
              <a:noAutofit/>
            </a:bodyPr>
            <a:lstStyle/>
            <a:p>
              <a:pPr algn="ctr">
                <a:lnSpc>
                  <a:spcPct val="100000"/>
                </a:lnSpc>
                <a:spcAft>
                  <a:spcPts val="0"/>
                </a:spcAft>
              </a:pPr>
              <a:r>
                <a:rPr sz="1050" b="0" i="0">
                  <a:solidFill>
                    <a:srgbClr val="FFFFFF"/>
                  </a:solidFill>
                  <a:latin typeface="Segoe UI Semibold"/>
                </a:rPr>
                <a:t>Exact · Heur.</a:t>
              </a:r>
            </a:p>
          </p:txBody>
        </p:sp>
        <p:cxnSp>
          <p:nvCxnSpPr>
            <p:cNvPr id="77" name="Connector 76"/>
            <p:cNvCxnSpPr/>
            <p:nvPr/>
          </p:nvCxnSpPr>
          <p:spPr>
            <a:xfrm>
              <a:off x="11146536" y="3438144"/>
              <a:ext cx="0" cy="237743"/>
            </a:xfrm>
            <a:prstGeom prst="line">
              <a:avLst/>
            </a:prstGeom>
            <a:ln w="12700">
              <a:solidFill>
                <a:srgbClr val="2A3F69"/>
              </a:solidFill>
            </a:ln>
          </p:spPr>
        </p:cxnSp>
        <p:sp>
          <p:nvSpPr>
            <p:cNvPr id="78" name="Rounded Rectangle 77"/>
            <p:cNvSpPr/>
            <p:nvPr/>
          </p:nvSpPr>
          <p:spPr>
            <a:xfrm>
              <a:off x="10652760" y="3675887"/>
              <a:ext cx="987552" cy="530352"/>
            </a:xfrm>
            <a:prstGeom prst="roundRect">
              <a:avLst>
                <a:gd name="adj" fmla="val 30000"/>
              </a:avLst>
            </a:prstGeom>
            <a:solidFill>
              <a:srgbClr val="182A4C"/>
            </a:solidFill>
            <a:ln w="15875">
              <a:solidFill>
                <a:srgbClr val="8C9AB5"/>
              </a:solidFill>
            </a:ln>
          </p:spPr>
          <p:txBody>
            <a:bodyPr wrap="square" lIns="36576" tIns="36576" rIns="36576" bIns="36576" rtlCol="0" anchor="ctr">
              <a:noAutofit/>
            </a:bodyPr>
            <a:lstStyle/>
            <a:p>
              <a:pPr algn="ctr">
                <a:lnSpc>
                  <a:spcPct val="100000"/>
                </a:lnSpc>
                <a:spcAft>
                  <a:spcPts val="0"/>
                </a:spcAft>
              </a:pPr>
              <a:r>
                <a:rPr sz="1050" b="0" i="0">
                  <a:solidFill>
                    <a:srgbClr val="FFFFFF"/>
                  </a:solidFill>
                  <a:latin typeface="Segoe UI Semibold"/>
                </a:rPr>
                <a:t>ML · Market</a:t>
              </a:r>
            </a:p>
          </p:txBody>
        </p:sp>
      </p:grpSp>
      <p:grpSp>
        <p:nvGrpSpPr>
          <p:cNvPr id="79" name="Group 78"/>
          <p:cNvGrpSpPr/>
          <p:nvPr/>
        </p:nvGrpSpPr>
        <p:grpSpPr>
          <a:xfrm>
            <a:off x="548640" y="4572000"/>
            <a:ext cx="11091672" cy="1325880"/>
            <a:chOff x="548640" y="4572000"/>
            <a:chExt cx="11091672" cy="1325880"/>
          </a:xfrm>
        </p:grpSpPr>
        <p:sp>
          <p:nvSpPr>
            <p:cNvPr id="80" name="Rounded Rectangle 79"/>
            <p:cNvSpPr/>
            <p:nvPr/>
          </p:nvSpPr>
          <p:spPr>
            <a:xfrm>
              <a:off x="548640" y="4572000"/>
              <a:ext cx="11091672" cy="1325880"/>
            </a:xfrm>
            <a:prstGeom prst="roundRect">
              <a:avLst>
                <a:gd name="adj" fmla="val 12000"/>
              </a:avLst>
            </a:prstGeom>
            <a:gradFill rotWithShape="1">
              <a:gsLst>
                <a:gs pos="0">
                  <a:srgbClr val="199E70">
                    <a:alpha val="15000"/>
                  </a:srgbClr>
                </a:gs>
                <a:gs pos="100000">
                  <a:srgbClr val="3987E5">
                    <a:alpha val="5000"/>
                  </a:srgbClr>
                </a:gs>
              </a:gsLst>
              <a:lin ang="0" scaled="0"/>
            </a:gradFill>
            <a:ln w="12700">
              <a:solidFill>
                <a:srgbClr val="199E70">
                  <a:alpha val="55000"/>
                </a:srgbClr>
              </a:solidFill>
            </a:ln>
          </p:spPr>
          <p:txBody>
            <a:bodyPr wrap="square" rtlCol="0" anchor="ctr"/>
            <a:lstStyle/>
            <a:p>
              <a:pPr algn="ctr"/>
              <a:endParaRPr/>
            </a:p>
          </p:txBody>
        </p:sp>
        <p:sp>
          <p:nvSpPr>
            <p:cNvPr id="81" name="TextBox 80"/>
            <p:cNvSpPr txBox="1"/>
            <p:nvPr/>
          </p:nvSpPr>
          <p:spPr>
            <a:xfrm>
              <a:off x="822960" y="4681728"/>
              <a:ext cx="2377440" cy="320040"/>
            </a:xfrm>
            <a:prstGeom prst="rect">
              <a:avLst/>
            </a:prstGeom>
            <a:noFill/>
          </p:spPr>
          <p:txBody>
            <a:bodyPr wrap="square" lIns="0" tIns="0" rIns="0" bIns="0" anchor="t">
              <a:noAutofit/>
            </a:bodyPr>
            <a:lstStyle/>
            <a:p>
              <a:pPr algn="l">
                <a:lnSpc>
                  <a:spcPct val="112000"/>
                </a:lnSpc>
                <a:spcAft>
                  <a:spcPts val="0"/>
                </a:spcAft>
              </a:pPr>
              <a:r>
                <a:rPr sz="1100" b="0" i="0" spc="300">
                  <a:solidFill>
                    <a:srgbClr val="4FD1A1"/>
                  </a:solidFill>
                  <a:latin typeface="Segoe UI Semibold"/>
                </a:rPr>
                <a:t>IN PRACTICE</a:t>
              </a:r>
            </a:p>
          </p:txBody>
        </p:sp>
        <p:sp>
          <p:nvSpPr>
            <p:cNvPr id="82" name="TextBox 81"/>
            <p:cNvSpPr txBox="1"/>
            <p:nvPr/>
          </p:nvSpPr>
          <p:spPr>
            <a:xfrm>
              <a:off x="822960" y="4983480"/>
              <a:ext cx="10515600" cy="822960"/>
            </a:xfrm>
            <a:prstGeom prst="rect">
              <a:avLst/>
            </a:prstGeom>
            <a:noFill/>
          </p:spPr>
          <p:txBody>
            <a:bodyPr wrap="square" lIns="0" tIns="0" rIns="0" bIns="0" anchor="t">
              <a:noAutofit/>
            </a:bodyPr>
            <a:lstStyle/>
            <a:p>
              <a:pPr algn="l">
                <a:lnSpc>
                  <a:spcPct val="120000"/>
                </a:lnSpc>
                <a:spcAft>
                  <a:spcPts val="0"/>
                </a:spcAft>
              </a:pPr>
              <a:r>
                <a:rPr sz="1450" b="0" i="0">
                  <a:solidFill>
                    <a:srgbClr val="C9D2E3"/>
                  </a:solidFill>
                  <a:latin typeface="Segoe UI"/>
                </a:rPr>
                <a:t>Production systems are typically </a:t>
              </a:r>
              <a:r>
                <a:rPr sz="1450" b="0" i="0">
                  <a:solidFill>
                    <a:srgbClr val="FFFFFF"/>
                  </a:solidFill>
                  <a:latin typeface="Segoe UI Semibold"/>
                </a:rPr>
                <a:t>dynamic + centralized + hybrid reactive/proactive + multi-objective heuristics</a:t>
              </a:r>
              <a:r>
                <a:rPr sz="1450" b="0" i="0">
                  <a:solidFill>
                    <a:srgbClr val="C9D2E3"/>
                  </a:solidFill>
                  <a:latin typeface="Segoe UI"/>
                </a:rPr>
                <a:t>, with learning-based components added for forecasting and tuning.</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250"/>
                                  </p:stCondLst>
                                  <p:childTnLst>
                                    <p:set>
                                      <p:cBhvr>
                                        <p:cTn id="6" dur="1" fill="hold">
                                          <p:stCondLst>
                                            <p:cond delay="0"/>
                                          </p:stCondLst>
                                        </p:cTn>
                                        <p:tgtEl>
                                          <p:spTgt spid="36"/>
                                        </p:tgtEl>
                                        <p:attrNameLst>
                                          <p:attrName>style.visibility</p:attrName>
                                        </p:attrNameLst>
                                      </p:cBhvr>
                                      <p:to>
                                        <p:strVal val="visible"/>
                                      </p:to>
                                    </p:set>
                                    <p:anim calcmode="lin" valueType="num">
                                      <p:cBhvr>
                                        <p:cTn id="7" dur="600" fill="hold"/>
                                        <p:tgtEl>
                                          <p:spTgt spid="36"/>
                                        </p:tgtEl>
                                        <p:attrNameLst>
                                          <p:attrName>ppt_w</p:attrName>
                                        </p:attrNameLst>
                                      </p:cBhvr>
                                      <p:tavLst>
                                        <p:tav tm="0">
                                          <p:val>
                                            <p:fltVal val="0"/>
                                          </p:val>
                                        </p:tav>
                                        <p:tav tm="100000">
                                          <p:val>
                                            <p:strVal val="#ppt_w"/>
                                          </p:val>
                                        </p:tav>
                                      </p:tavLst>
                                    </p:anim>
                                    <p:anim calcmode="lin" valueType="num">
                                      <p:cBhvr>
                                        <p:cTn id="8" dur="600" fill="hold"/>
                                        <p:tgtEl>
                                          <p:spTgt spid="36"/>
                                        </p:tgtEl>
                                        <p:attrNameLst>
                                          <p:attrName>ppt_h</p:attrName>
                                        </p:attrNameLst>
                                      </p:cBhvr>
                                      <p:tavLst>
                                        <p:tav tm="0">
                                          <p:val>
                                            <p:fltVal val="0"/>
                                          </p:val>
                                        </p:tav>
                                        <p:tav tm="100000">
                                          <p:val>
                                            <p:strVal val="#ppt_h"/>
                                          </p:val>
                                        </p:tav>
                                      </p:tavLst>
                                    </p:anim>
                                    <p:animEffect transition="in" filter="fade">
                                      <p:cBhvr>
                                        <p:cTn id="9" dur="600"/>
                                        <p:tgtEl>
                                          <p:spTgt spid="36"/>
                                        </p:tgtEl>
                                      </p:cBhvr>
                                    </p:animEffect>
                                  </p:childTnLst>
                                </p:cTn>
                              </p:par>
                              <p:par>
                                <p:cTn id="10" presetID="22" presetClass="entr" presetSubtype="8" fill="hold" nodeType="withEffect">
                                  <p:stCondLst>
                                    <p:cond delay="410"/>
                                  </p:stCondLst>
                                  <p:childTnLst>
                                    <p:set>
                                      <p:cBhvr>
                                        <p:cTn id="11" dur="1" fill="hold">
                                          <p:stCondLst>
                                            <p:cond delay="0"/>
                                          </p:stCondLst>
                                        </p:cTn>
                                        <p:tgtEl>
                                          <p:spTgt spid="37"/>
                                        </p:tgtEl>
                                        <p:attrNameLst>
                                          <p:attrName>style.visibility</p:attrName>
                                        </p:attrNameLst>
                                      </p:cBhvr>
                                      <p:to>
                                        <p:strVal val="visible"/>
                                      </p:to>
                                    </p:set>
                                    <p:animEffect transition="in" filter="wipe(left)">
                                      <p:cBhvr>
                                        <p:cTn id="12" dur="600"/>
                                        <p:tgtEl>
                                          <p:spTgt spid="37"/>
                                        </p:tgtEl>
                                      </p:cBhvr>
                                    </p:animEffect>
                                  </p:childTnLst>
                                </p:cTn>
                              </p:par>
                              <p:par>
                                <p:cTn id="13" presetID="10" presetClass="entr" presetSubtype="0" fill="hold" nodeType="withEffect">
                                  <p:stCondLst>
                                    <p:cond delay="410"/>
                                  </p:stCondLst>
                                  <p:childTnLst>
                                    <p:set>
                                      <p:cBhvr>
                                        <p:cTn id="14" dur="1" fill="hold">
                                          <p:stCondLst>
                                            <p:cond delay="0"/>
                                          </p:stCondLst>
                                        </p:cTn>
                                        <p:tgtEl>
                                          <p:spTgt spid="38"/>
                                        </p:tgtEl>
                                        <p:attrNameLst>
                                          <p:attrName>style.visibility</p:attrName>
                                        </p:attrNameLst>
                                      </p:cBhvr>
                                      <p:to>
                                        <p:strVal val="visible"/>
                                      </p:to>
                                    </p:set>
                                    <p:animEffect transition="in" filter="fade">
                                      <p:cBhvr>
                                        <p:cTn id="15" dur="600"/>
                                        <p:tgtEl>
                                          <p:spTgt spid="38"/>
                                        </p:tgtEl>
                                      </p:cBhvr>
                                    </p:animEffect>
                                  </p:childTnLst>
                                </p:cTn>
                              </p:par>
                              <p:par>
                                <p:cTn id="16" presetID="42" presetClass="entr" presetSubtype="0" fill="hold" nodeType="withEffect">
                                  <p:stCondLst>
                                    <p:cond delay="570"/>
                                  </p:stCondLst>
                                  <p:childTnLst>
                                    <p:set>
                                      <p:cBhvr>
                                        <p:cTn id="17" dur="1" fill="hold">
                                          <p:stCondLst>
                                            <p:cond delay="0"/>
                                          </p:stCondLst>
                                        </p:cTn>
                                        <p:tgtEl>
                                          <p:spTgt spid="39"/>
                                        </p:tgtEl>
                                        <p:attrNameLst>
                                          <p:attrName>style.visibility</p:attrName>
                                        </p:attrNameLst>
                                      </p:cBhvr>
                                      <p:to>
                                        <p:strVal val="visible"/>
                                      </p:to>
                                    </p:set>
                                    <p:animEffect transition="in" filter="fade">
                                      <p:cBhvr>
                                        <p:cTn id="18" dur="600"/>
                                        <p:tgtEl>
                                          <p:spTgt spid="39"/>
                                        </p:tgtEl>
                                      </p:cBhvr>
                                    </p:animEffect>
                                    <p:anim calcmode="lin" valueType="num">
                                      <p:cBhvr>
                                        <p:cTn id="19" dur="600" fill="hold"/>
                                        <p:tgtEl>
                                          <p:spTgt spid="39"/>
                                        </p:tgtEl>
                                        <p:attrNameLst>
                                          <p:attrName>ppt_x</p:attrName>
                                        </p:attrNameLst>
                                      </p:cBhvr>
                                      <p:tavLst>
                                        <p:tav tm="0">
                                          <p:val>
                                            <p:strVal val="#ppt_x"/>
                                          </p:val>
                                        </p:tav>
                                        <p:tav tm="100000">
                                          <p:val>
                                            <p:strVal val="#ppt_x"/>
                                          </p:val>
                                        </p:tav>
                                      </p:tavLst>
                                    </p:anim>
                                    <p:anim calcmode="lin" valueType="num">
                                      <p:cBhvr>
                                        <p:cTn id="20" dur="600" fill="hold"/>
                                        <p:tgtEl>
                                          <p:spTgt spid="39"/>
                                        </p:tgtEl>
                                        <p:attrNameLst>
                                          <p:attrName>ppt_y</p:attrName>
                                        </p:attrNameLst>
                                      </p:cBhvr>
                                      <p:tavLst>
                                        <p:tav tm="0">
                                          <p:val>
                                            <p:strVal val="#ppt_y+.08"/>
                                          </p:val>
                                        </p:tav>
                                        <p:tav tm="100000">
                                          <p:val>
                                            <p:strVal val="#ppt_y"/>
                                          </p:val>
                                        </p:tav>
                                      </p:tavLst>
                                    </p:anim>
                                  </p:childTnLst>
                                </p:cTn>
                              </p:par>
                              <p:par>
                                <p:cTn id="21" presetID="42" presetClass="entr" presetSubtype="0" fill="hold" nodeType="withEffect">
                                  <p:stCondLst>
                                    <p:cond delay="730"/>
                                  </p:stCondLst>
                                  <p:childTnLst>
                                    <p:set>
                                      <p:cBhvr>
                                        <p:cTn id="22" dur="1" fill="hold">
                                          <p:stCondLst>
                                            <p:cond delay="0"/>
                                          </p:stCondLst>
                                        </p:cTn>
                                        <p:tgtEl>
                                          <p:spTgt spid="47"/>
                                        </p:tgtEl>
                                        <p:attrNameLst>
                                          <p:attrName>style.visibility</p:attrName>
                                        </p:attrNameLst>
                                      </p:cBhvr>
                                      <p:to>
                                        <p:strVal val="visible"/>
                                      </p:to>
                                    </p:set>
                                    <p:animEffect transition="in" filter="fade">
                                      <p:cBhvr>
                                        <p:cTn id="23" dur="600"/>
                                        <p:tgtEl>
                                          <p:spTgt spid="47"/>
                                        </p:tgtEl>
                                      </p:cBhvr>
                                    </p:animEffect>
                                    <p:anim calcmode="lin" valueType="num">
                                      <p:cBhvr>
                                        <p:cTn id="24" dur="600" fill="hold"/>
                                        <p:tgtEl>
                                          <p:spTgt spid="47"/>
                                        </p:tgtEl>
                                        <p:attrNameLst>
                                          <p:attrName>ppt_x</p:attrName>
                                        </p:attrNameLst>
                                      </p:cBhvr>
                                      <p:tavLst>
                                        <p:tav tm="0">
                                          <p:val>
                                            <p:strVal val="#ppt_x"/>
                                          </p:val>
                                        </p:tav>
                                        <p:tav tm="100000">
                                          <p:val>
                                            <p:strVal val="#ppt_x"/>
                                          </p:val>
                                        </p:tav>
                                      </p:tavLst>
                                    </p:anim>
                                    <p:anim calcmode="lin" valueType="num">
                                      <p:cBhvr>
                                        <p:cTn id="25" dur="600" fill="hold"/>
                                        <p:tgtEl>
                                          <p:spTgt spid="47"/>
                                        </p:tgtEl>
                                        <p:attrNameLst>
                                          <p:attrName>ppt_y</p:attrName>
                                        </p:attrNameLst>
                                      </p:cBhvr>
                                      <p:tavLst>
                                        <p:tav tm="0">
                                          <p:val>
                                            <p:strVal val="#ppt_y+.08"/>
                                          </p:val>
                                        </p:tav>
                                        <p:tav tm="100000">
                                          <p:val>
                                            <p:strVal val="#ppt_y"/>
                                          </p:val>
                                        </p:tav>
                                      </p:tavLst>
                                    </p:anim>
                                  </p:childTnLst>
                                </p:cTn>
                              </p:par>
                              <p:par>
                                <p:cTn id="26" presetID="42" presetClass="entr" presetSubtype="0" fill="hold" nodeType="withEffect">
                                  <p:stCondLst>
                                    <p:cond delay="890"/>
                                  </p:stCondLst>
                                  <p:childTnLst>
                                    <p:set>
                                      <p:cBhvr>
                                        <p:cTn id="27" dur="1" fill="hold">
                                          <p:stCondLst>
                                            <p:cond delay="0"/>
                                          </p:stCondLst>
                                        </p:cTn>
                                        <p:tgtEl>
                                          <p:spTgt spid="55"/>
                                        </p:tgtEl>
                                        <p:attrNameLst>
                                          <p:attrName>style.visibility</p:attrName>
                                        </p:attrNameLst>
                                      </p:cBhvr>
                                      <p:to>
                                        <p:strVal val="visible"/>
                                      </p:to>
                                    </p:set>
                                    <p:animEffect transition="in" filter="fade">
                                      <p:cBhvr>
                                        <p:cTn id="28" dur="600"/>
                                        <p:tgtEl>
                                          <p:spTgt spid="55"/>
                                        </p:tgtEl>
                                      </p:cBhvr>
                                    </p:animEffect>
                                    <p:anim calcmode="lin" valueType="num">
                                      <p:cBhvr>
                                        <p:cTn id="29" dur="600" fill="hold"/>
                                        <p:tgtEl>
                                          <p:spTgt spid="55"/>
                                        </p:tgtEl>
                                        <p:attrNameLst>
                                          <p:attrName>ppt_x</p:attrName>
                                        </p:attrNameLst>
                                      </p:cBhvr>
                                      <p:tavLst>
                                        <p:tav tm="0">
                                          <p:val>
                                            <p:strVal val="#ppt_x"/>
                                          </p:val>
                                        </p:tav>
                                        <p:tav tm="100000">
                                          <p:val>
                                            <p:strVal val="#ppt_x"/>
                                          </p:val>
                                        </p:tav>
                                      </p:tavLst>
                                    </p:anim>
                                    <p:anim calcmode="lin" valueType="num">
                                      <p:cBhvr>
                                        <p:cTn id="30" dur="600" fill="hold"/>
                                        <p:tgtEl>
                                          <p:spTgt spid="55"/>
                                        </p:tgtEl>
                                        <p:attrNameLst>
                                          <p:attrName>ppt_y</p:attrName>
                                        </p:attrNameLst>
                                      </p:cBhvr>
                                      <p:tavLst>
                                        <p:tav tm="0">
                                          <p:val>
                                            <p:strVal val="#ppt_y+.08"/>
                                          </p:val>
                                        </p:tav>
                                        <p:tav tm="100000">
                                          <p:val>
                                            <p:strVal val="#ppt_y"/>
                                          </p:val>
                                        </p:tav>
                                      </p:tavLst>
                                    </p:anim>
                                  </p:childTnLst>
                                </p:cTn>
                              </p:par>
                              <p:par>
                                <p:cTn id="31" presetID="42" presetClass="entr" presetSubtype="0" fill="hold" nodeType="withEffect">
                                  <p:stCondLst>
                                    <p:cond delay="1050"/>
                                  </p:stCondLst>
                                  <p:childTnLst>
                                    <p:set>
                                      <p:cBhvr>
                                        <p:cTn id="32" dur="1" fill="hold">
                                          <p:stCondLst>
                                            <p:cond delay="0"/>
                                          </p:stCondLst>
                                        </p:cTn>
                                        <p:tgtEl>
                                          <p:spTgt spid="63"/>
                                        </p:tgtEl>
                                        <p:attrNameLst>
                                          <p:attrName>style.visibility</p:attrName>
                                        </p:attrNameLst>
                                      </p:cBhvr>
                                      <p:to>
                                        <p:strVal val="visible"/>
                                      </p:to>
                                    </p:set>
                                    <p:animEffect transition="in" filter="fade">
                                      <p:cBhvr>
                                        <p:cTn id="33" dur="600"/>
                                        <p:tgtEl>
                                          <p:spTgt spid="63"/>
                                        </p:tgtEl>
                                      </p:cBhvr>
                                    </p:animEffect>
                                    <p:anim calcmode="lin" valueType="num">
                                      <p:cBhvr>
                                        <p:cTn id="34" dur="600" fill="hold"/>
                                        <p:tgtEl>
                                          <p:spTgt spid="63"/>
                                        </p:tgtEl>
                                        <p:attrNameLst>
                                          <p:attrName>ppt_x</p:attrName>
                                        </p:attrNameLst>
                                      </p:cBhvr>
                                      <p:tavLst>
                                        <p:tav tm="0">
                                          <p:val>
                                            <p:strVal val="#ppt_x"/>
                                          </p:val>
                                        </p:tav>
                                        <p:tav tm="100000">
                                          <p:val>
                                            <p:strVal val="#ppt_x"/>
                                          </p:val>
                                        </p:tav>
                                      </p:tavLst>
                                    </p:anim>
                                    <p:anim calcmode="lin" valueType="num">
                                      <p:cBhvr>
                                        <p:cTn id="35" dur="600" fill="hold"/>
                                        <p:tgtEl>
                                          <p:spTgt spid="63"/>
                                        </p:tgtEl>
                                        <p:attrNameLst>
                                          <p:attrName>ppt_y</p:attrName>
                                        </p:attrNameLst>
                                      </p:cBhvr>
                                      <p:tavLst>
                                        <p:tav tm="0">
                                          <p:val>
                                            <p:strVal val="#ppt_y+.08"/>
                                          </p:val>
                                        </p:tav>
                                        <p:tav tm="100000">
                                          <p:val>
                                            <p:strVal val="#ppt_y"/>
                                          </p:val>
                                        </p:tav>
                                      </p:tavLst>
                                    </p:anim>
                                  </p:childTnLst>
                                </p:cTn>
                              </p:par>
                              <p:par>
                                <p:cTn id="36" presetID="42" presetClass="entr" presetSubtype="0" fill="hold" nodeType="withEffect">
                                  <p:stCondLst>
                                    <p:cond delay="1210"/>
                                  </p:stCondLst>
                                  <p:childTnLst>
                                    <p:set>
                                      <p:cBhvr>
                                        <p:cTn id="37" dur="1" fill="hold">
                                          <p:stCondLst>
                                            <p:cond delay="0"/>
                                          </p:stCondLst>
                                        </p:cTn>
                                        <p:tgtEl>
                                          <p:spTgt spid="71"/>
                                        </p:tgtEl>
                                        <p:attrNameLst>
                                          <p:attrName>style.visibility</p:attrName>
                                        </p:attrNameLst>
                                      </p:cBhvr>
                                      <p:to>
                                        <p:strVal val="visible"/>
                                      </p:to>
                                    </p:set>
                                    <p:animEffect transition="in" filter="fade">
                                      <p:cBhvr>
                                        <p:cTn id="38" dur="600"/>
                                        <p:tgtEl>
                                          <p:spTgt spid="71"/>
                                        </p:tgtEl>
                                      </p:cBhvr>
                                    </p:animEffect>
                                    <p:anim calcmode="lin" valueType="num">
                                      <p:cBhvr>
                                        <p:cTn id="39" dur="600" fill="hold"/>
                                        <p:tgtEl>
                                          <p:spTgt spid="71"/>
                                        </p:tgtEl>
                                        <p:attrNameLst>
                                          <p:attrName>ppt_x</p:attrName>
                                        </p:attrNameLst>
                                      </p:cBhvr>
                                      <p:tavLst>
                                        <p:tav tm="0">
                                          <p:val>
                                            <p:strVal val="#ppt_x"/>
                                          </p:val>
                                        </p:tav>
                                        <p:tav tm="100000">
                                          <p:val>
                                            <p:strVal val="#ppt_x"/>
                                          </p:val>
                                        </p:tav>
                                      </p:tavLst>
                                    </p:anim>
                                    <p:anim calcmode="lin" valueType="num">
                                      <p:cBhvr>
                                        <p:cTn id="40" dur="600" fill="hold"/>
                                        <p:tgtEl>
                                          <p:spTgt spid="71"/>
                                        </p:tgtEl>
                                        <p:attrNameLst>
                                          <p:attrName>ppt_y</p:attrName>
                                        </p:attrNameLst>
                                      </p:cBhvr>
                                      <p:tavLst>
                                        <p:tav tm="0">
                                          <p:val>
                                            <p:strVal val="#ppt_y+.08"/>
                                          </p:val>
                                        </p:tav>
                                        <p:tav tm="100000">
                                          <p:val>
                                            <p:strVal val="#ppt_y"/>
                                          </p:val>
                                        </p:tav>
                                      </p:tavLst>
                                    </p:anim>
                                  </p:childTnLst>
                                </p:cTn>
                              </p:par>
                              <p:par>
                                <p:cTn id="41" presetID="42" presetClass="entr" presetSubtype="0" fill="hold" nodeType="withEffect">
                                  <p:stCondLst>
                                    <p:cond delay="1530"/>
                                  </p:stCondLst>
                                  <p:childTnLst>
                                    <p:set>
                                      <p:cBhvr>
                                        <p:cTn id="42" dur="1" fill="hold">
                                          <p:stCondLst>
                                            <p:cond delay="0"/>
                                          </p:stCondLst>
                                        </p:cTn>
                                        <p:tgtEl>
                                          <p:spTgt spid="79"/>
                                        </p:tgtEl>
                                        <p:attrNameLst>
                                          <p:attrName>style.visibility</p:attrName>
                                        </p:attrNameLst>
                                      </p:cBhvr>
                                      <p:to>
                                        <p:strVal val="visible"/>
                                      </p:to>
                                    </p:set>
                                    <p:animEffect transition="in" filter="fade">
                                      <p:cBhvr>
                                        <p:cTn id="43" dur="600"/>
                                        <p:tgtEl>
                                          <p:spTgt spid="79"/>
                                        </p:tgtEl>
                                      </p:cBhvr>
                                    </p:animEffect>
                                    <p:anim calcmode="lin" valueType="num">
                                      <p:cBhvr>
                                        <p:cTn id="44" dur="600" fill="hold"/>
                                        <p:tgtEl>
                                          <p:spTgt spid="79"/>
                                        </p:tgtEl>
                                        <p:attrNameLst>
                                          <p:attrName>ppt_x</p:attrName>
                                        </p:attrNameLst>
                                      </p:cBhvr>
                                      <p:tavLst>
                                        <p:tav tm="0">
                                          <p:val>
                                            <p:strVal val="#ppt_x"/>
                                          </p:val>
                                        </p:tav>
                                        <p:tav tm="100000">
                                          <p:val>
                                            <p:strVal val="#ppt_x"/>
                                          </p:val>
                                        </p:tav>
                                      </p:tavLst>
                                    </p:anim>
                                    <p:anim calcmode="lin" valueType="num">
                                      <p:cBhvr>
                                        <p:cTn id="45" dur="600" fill="hold"/>
                                        <p:tgtEl>
                                          <p:spTgt spid="7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9224142" y="-2120383"/>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792745" y="4005860"/>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007668" y="4925391"/>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RESOURCE ALLOCATION</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Exact Methods vs. Heuristics</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Resource Allocation</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lang="en-GB" sz="1000">
                <a:solidFill>
                  <a:srgbClr val="C9D2E3"/>
                </a:solidFill>
                <a:latin typeface="Segoe UI Semibold"/>
              </a:rPr>
              <a:t>21</a:t>
            </a:r>
            <a:r>
              <a:rPr sz="1000" b="0" i="0" dirty="0">
                <a:solidFill>
                  <a:srgbClr val="8C9AB5"/>
                </a:solidFill>
                <a:latin typeface="Segoe UI"/>
              </a:rPr>
              <a:t> / 30</a:t>
            </a:r>
          </a:p>
        </p:txBody>
      </p:sp>
      <p:grpSp>
        <p:nvGrpSpPr>
          <p:cNvPr id="36" name="Group 35"/>
          <p:cNvGrpSpPr/>
          <p:nvPr/>
        </p:nvGrpSpPr>
        <p:grpSpPr>
          <a:xfrm>
            <a:off x="548640" y="1645920"/>
            <a:ext cx="5449824" cy="3246120"/>
            <a:chOff x="548640" y="1645920"/>
            <a:chExt cx="5449824" cy="3246120"/>
          </a:xfrm>
        </p:grpSpPr>
        <p:sp>
          <p:nvSpPr>
            <p:cNvPr id="37" name="Rounded Rectangle 36"/>
            <p:cNvSpPr/>
            <p:nvPr/>
          </p:nvSpPr>
          <p:spPr>
            <a:xfrm>
              <a:off x="548640" y="1645920"/>
              <a:ext cx="5449824" cy="3246120"/>
            </a:xfrm>
            <a:prstGeom prst="roundRect">
              <a:avLst>
                <a:gd name="adj" fmla="val 6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38" name="Rectangle 37"/>
            <p:cNvSpPr/>
            <p:nvPr/>
          </p:nvSpPr>
          <p:spPr>
            <a:xfrm>
              <a:off x="548640" y="1645920"/>
              <a:ext cx="5449824" cy="45720"/>
            </a:xfrm>
            <a:prstGeom prst="rect">
              <a:avLst/>
            </a:prstGeom>
            <a:solidFill>
              <a:srgbClr val="3987E5"/>
            </a:solidFill>
            <a:ln>
              <a:noFill/>
            </a:ln>
          </p:spPr>
          <p:txBody>
            <a:bodyPr wrap="square" rtlCol="0" anchor="ctr"/>
            <a:lstStyle/>
            <a:p>
              <a:pPr algn="ctr"/>
              <a:endParaRPr/>
            </a:p>
          </p:txBody>
        </p:sp>
        <p:sp>
          <p:nvSpPr>
            <p:cNvPr id="39" name="TextBox 38"/>
            <p:cNvSpPr txBox="1"/>
            <p:nvPr/>
          </p:nvSpPr>
          <p:spPr>
            <a:xfrm>
              <a:off x="822959" y="1810512"/>
              <a:ext cx="3840480" cy="411480"/>
            </a:xfrm>
            <a:prstGeom prst="rect">
              <a:avLst/>
            </a:prstGeom>
            <a:noFill/>
          </p:spPr>
          <p:txBody>
            <a:bodyPr wrap="square" lIns="0" tIns="0" rIns="0" bIns="0" anchor="t">
              <a:noAutofit/>
            </a:bodyPr>
            <a:lstStyle/>
            <a:p>
              <a:pPr algn="l">
                <a:lnSpc>
                  <a:spcPct val="112000"/>
                </a:lnSpc>
                <a:spcAft>
                  <a:spcPts val="0"/>
                </a:spcAft>
              </a:pPr>
              <a:r>
                <a:rPr sz="1900" b="0" i="0">
                  <a:solidFill>
                    <a:srgbClr val="FFFFFF"/>
                  </a:solidFill>
                  <a:latin typeface="Segoe UI Semibold"/>
                </a:rPr>
                <a:t>Exact optimization</a:t>
              </a:r>
            </a:p>
          </p:txBody>
        </p:sp>
        <p:sp>
          <p:nvSpPr>
            <p:cNvPr id="40" name="Rounded Rectangle 39"/>
            <p:cNvSpPr/>
            <p:nvPr/>
          </p:nvSpPr>
          <p:spPr>
            <a:xfrm>
              <a:off x="4663440" y="1865376"/>
              <a:ext cx="1097280" cy="292608"/>
            </a:xfrm>
            <a:prstGeom prst="roundRect">
              <a:avLst>
                <a:gd name="adj" fmla="val 50000"/>
              </a:avLst>
            </a:prstGeom>
            <a:solidFill>
              <a:srgbClr val="3987E5">
                <a:alpha val="18000"/>
              </a:srgbClr>
            </a:solidFill>
            <a:ln w="9525">
              <a:solidFill>
                <a:srgbClr val="3987E5"/>
              </a:solidFill>
            </a:ln>
          </p:spPr>
          <p:txBody>
            <a:bodyPr wrap="square" lIns="18288" tIns="18288" rIns="18288" bIns="18288" rtlCol="0" anchor="ctr">
              <a:noAutofit/>
            </a:bodyPr>
            <a:lstStyle/>
            <a:p>
              <a:pPr algn="ctr">
                <a:lnSpc>
                  <a:spcPct val="112000"/>
                </a:lnSpc>
                <a:spcAft>
                  <a:spcPts val="0"/>
                </a:spcAft>
              </a:pPr>
              <a:r>
                <a:rPr sz="950" b="0" i="0">
                  <a:solidFill>
                    <a:srgbClr val="FFFFFF"/>
                  </a:solidFill>
                  <a:latin typeface="Segoe UI Semibold"/>
                </a:rPr>
                <a:t>OPTIMAL</a:t>
              </a:r>
            </a:p>
          </p:txBody>
        </p:sp>
        <p:sp>
          <p:nvSpPr>
            <p:cNvPr id="41" name="TextBox 40"/>
            <p:cNvSpPr txBox="1"/>
            <p:nvPr/>
          </p:nvSpPr>
          <p:spPr>
            <a:xfrm>
              <a:off x="822959" y="2377440"/>
              <a:ext cx="4937760" cy="1463040"/>
            </a:xfrm>
            <a:prstGeom prst="rect">
              <a:avLst/>
            </a:prstGeom>
            <a:noFill/>
          </p:spPr>
          <p:txBody>
            <a:bodyPr wrap="square" lIns="0" tIns="0" rIns="0" bIns="0" anchor="t">
              <a:noAutofit/>
            </a:bodyPr>
            <a:lstStyle/>
            <a:p>
              <a:pPr marL="237744" indent="-237744" algn="l">
                <a:lnSpc>
                  <a:spcPct val="112000"/>
                </a:lnSpc>
                <a:spcAft>
                  <a:spcPts val="700"/>
                </a:spcAft>
                <a:buClr>
                  <a:srgbClr val="7DB3F5"/>
                </a:buClr>
                <a:buSzPct val="100000"/>
                <a:buFont typeface="Arial"/>
                <a:buChar char="•"/>
              </a:pPr>
              <a:r>
                <a:rPr sz="1300" b="0" i="0">
                  <a:solidFill>
                    <a:srgbClr val="FFFFFF"/>
                  </a:solidFill>
                  <a:latin typeface="Segoe UI Semibold"/>
                </a:rPr>
                <a:t>ILP / MILP</a:t>
              </a:r>
              <a:r>
                <a:rPr sz="1300" b="0" i="0">
                  <a:solidFill>
                    <a:srgbClr val="C9D2E3"/>
                  </a:solidFill>
                  <a:latin typeface="Segoe UI"/>
                </a:rPr>
                <a:t> solvers (Gurobi, CPLEX, OR-Tools)</a:t>
              </a:r>
            </a:p>
            <a:p>
              <a:pPr marL="237744" indent="-237744" algn="l">
                <a:lnSpc>
                  <a:spcPct val="112000"/>
                </a:lnSpc>
                <a:spcAft>
                  <a:spcPts val="700"/>
                </a:spcAft>
                <a:buClr>
                  <a:srgbClr val="7DB3F5"/>
                </a:buClr>
                <a:buSzPct val="100000"/>
                <a:buFont typeface="Arial"/>
                <a:buChar char="•"/>
              </a:pPr>
              <a:r>
                <a:rPr sz="1300" b="0" i="0">
                  <a:solidFill>
                    <a:srgbClr val="FFFFFF"/>
                  </a:solidFill>
                  <a:latin typeface="Segoe UI Semibold"/>
                </a:rPr>
                <a:t>Constraint programming</a:t>
              </a:r>
              <a:r>
                <a:rPr sz="1300" b="0" i="0">
                  <a:solidFill>
                    <a:srgbClr val="C9D2E3"/>
                  </a:solidFill>
                  <a:latin typeface="Segoe UI"/>
                </a:rPr>
                <a:t> for rich rules</a:t>
              </a:r>
            </a:p>
            <a:p>
              <a:pPr marL="237744" indent="-237744" algn="l">
                <a:lnSpc>
                  <a:spcPct val="112000"/>
                </a:lnSpc>
                <a:spcAft>
                  <a:spcPts val="700"/>
                </a:spcAft>
                <a:buClr>
                  <a:srgbClr val="7DB3F5"/>
                </a:buClr>
                <a:buSzPct val="100000"/>
                <a:buFont typeface="Arial"/>
                <a:buChar char="•"/>
              </a:pPr>
              <a:r>
                <a:rPr sz="1300" b="0" i="0">
                  <a:solidFill>
                    <a:srgbClr val="FFFFFF"/>
                  </a:solidFill>
                  <a:latin typeface="Segoe UI Semibold"/>
                </a:rPr>
                <a:t>Branch &amp; bound</a:t>
              </a:r>
              <a:r>
                <a:rPr sz="1300" b="0" i="0">
                  <a:solidFill>
                    <a:srgbClr val="C9D2E3"/>
                  </a:solidFill>
                  <a:latin typeface="Segoe UI"/>
                </a:rPr>
                <a:t>, column generation</a:t>
              </a:r>
            </a:p>
          </p:txBody>
        </p:sp>
        <p:cxnSp>
          <p:nvCxnSpPr>
            <p:cNvPr id="42" name="Connector 41"/>
            <p:cNvCxnSpPr/>
            <p:nvPr/>
          </p:nvCxnSpPr>
          <p:spPr>
            <a:xfrm>
              <a:off x="822959" y="3840480"/>
              <a:ext cx="4901185" cy="0"/>
            </a:xfrm>
            <a:prstGeom prst="line">
              <a:avLst/>
            </a:prstGeom>
            <a:ln w="9525">
              <a:solidFill>
                <a:srgbClr val="2A3F69"/>
              </a:solidFill>
            </a:ln>
          </p:spPr>
        </p:cxnSp>
        <p:sp>
          <p:nvSpPr>
            <p:cNvPr id="43" name="TextBox 42"/>
            <p:cNvSpPr txBox="1"/>
            <p:nvPr/>
          </p:nvSpPr>
          <p:spPr>
            <a:xfrm>
              <a:off x="822959" y="3931920"/>
              <a:ext cx="4937760" cy="868680"/>
            </a:xfrm>
            <a:prstGeom prst="rect">
              <a:avLst/>
            </a:prstGeom>
            <a:noFill/>
          </p:spPr>
          <p:txBody>
            <a:bodyPr wrap="square" lIns="0" tIns="0" rIns="0" bIns="0" anchor="t">
              <a:noAutofit/>
            </a:bodyPr>
            <a:lstStyle/>
            <a:p>
              <a:pPr algn="l">
                <a:lnSpc>
                  <a:spcPct val="112000"/>
                </a:lnSpc>
                <a:spcAft>
                  <a:spcPts val="500"/>
                </a:spcAft>
              </a:pPr>
              <a:r>
                <a:rPr sz="1250" b="0" i="0">
                  <a:solidFill>
                    <a:srgbClr val="4FD1A1"/>
                  </a:solidFill>
                  <a:latin typeface="Segoe UI"/>
                </a:rPr>
                <a:t>+  Provably optimal; benchmark for others</a:t>
              </a:r>
            </a:p>
            <a:p>
              <a:pPr algn="l">
                <a:lnSpc>
                  <a:spcPct val="112000"/>
                </a:lnSpc>
                <a:spcAft>
                  <a:spcPts val="500"/>
                </a:spcAft>
              </a:pPr>
              <a:r>
                <a:rPr sz="1250" b="0" i="0">
                  <a:solidFill>
                    <a:srgbClr val="F4925F"/>
                  </a:solidFill>
                  <a:latin typeface="Segoe UI"/>
                </a:rPr>
                <a:t>–  Exponential worst-case; minutes–hours at scale</a:t>
              </a:r>
            </a:p>
          </p:txBody>
        </p:sp>
      </p:grpSp>
      <p:grpSp>
        <p:nvGrpSpPr>
          <p:cNvPr id="44" name="Group 43"/>
          <p:cNvGrpSpPr/>
          <p:nvPr/>
        </p:nvGrpSpPr>
        <p:grpSpPr>
          <a:xfrm>
            <a:off x="6190488" y="1645920"/>
            <a:ext cx="5449824" cy="3246120"/>
            <a:chOff x="6190488" y="1645920"/>
            <a:chExt cx="5449824" cy="3246120"/>
          </a:xfrm>
        </p:grpSpPr>
        <p:sp>
          <p:nvSpPr>
            <p:cNvPr id="45" name="Rounded Rectangle 44"/>
            <p:cNvSpPr/>
            <p:nvPr/>
          </p:nvSpPr>
          <p:spPr>
            <a:xfrm>
              <a:off x="6190488" y="1645920"/>
              <a:ext cx="5449824" cy="3246120"/>
            </a:xfrm>
            <a:prstGeom prst="roundRect">
              <a:avLst>
                <a:gd name="adj" fmla="val 6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46" name="Rectangle 45"/>
            <p:cNvSpPr/>
            <p:nvPr/>
          </p:nvSpPr>
          <p:spPr>
            <a:xfrm>
              <a:off x="6190488" y="1645920"/>
              <a:ext cx="5449824" cy="45720"/>
            </a:xfrm>
            <a:prstGeom prst="rect">
              <a:avLst/>
            </a:prstGeom>
            <a:solidFill>
              <a:srgbClr val="199E70"/>
            </a:solidFill>
            <a:ln>
              <a:noFill/>
            </a:ln>
          </p:spPr>
          <p:txBody>
            <a:bodyPr wrap="square" rtlCol="0" anchor="ctr"/>
            <a:lstStyle/>
            <a:p>
              <a:pPr algn="ctr"/>
              <a:endParaRPr/>
            </a:p>
          </p:txBody>
        </p:sp>
        <p:sp>
          <p:nvSpPr>
            <p:cNvPr id="47" name="TextBox 46"/>
            <p:cNvSpPr txBox="1"/>
            <p:nvPr/>
          </p:nvSpPr>
          <p:spPr>
            <a:xfrm>
              <a:off x="6464807" y="1810512"/>
              <a:ext cx="3840480" cy="411480"/>
            </a:xfrm>
            <a:prstGeom prst="rect">
              <a:avLst/>
            </a:prstGeom>
            <a:noFill/>
          </p:spPr>
          <p:txBody>
            <a:bodyPr wrap="square" lIns="0" tIns="0" rIns="0" bIns="0" anchor="t">
              <a:noAutofit/>
            </a:bodyPr>
            <a:lstStyle/>
            <a:p>
              <a:pPr algn="l">
                <a:lnSpc>
                  <a:spcPct val="112000"/>
                </a:lnSpc>
                <a:spcAft>
                  <a:spcPts val="0"/>
                </a:spcAft>
              </a:pPr>
              <a:r>
                <a:rPr sz="1900" b="0" i="0">
                  <a:solidFill>
                    <a:srgbClr val="FFFFFF"/>
                  </a:solidFill>
                  <a:latin typeface="Segoe UI Semibold"/>
                </a:rPr>
                <a:t>Heuristics</a:t>
              </a:r>
            </a:p>
          </p:txBody>
        </p:sp>
        <p:sp>
          <p:nvSpPr>
            <p:cNvPr id="48" name="Rounded Rectangle 47"/>
            <p:cNvSpPr/>
            <p:nvPr/>
          </p:nvSpPr>
          <p:spPr>
            <a:xfrm>
              <a:off x="10305288" y="1865376"/>
              <a:ext cx="1097280" cy="292608"/>
            </a:xfrm>
            <a:prstGeom prst="roundRect">
              <a:avLst>
                <a:gd name="adj" fmla="val 50000"/>
              </a:avLst>
            </a:prstGeom>
            <a:solidFill>
              <a:srgbClr val="199E70">
                <a:alpha val="18000"/>
              </a:srgbClr>
            </a:solidFill>
            <a:ln w="9525">
              <a:solidFill>
                <a:srgbClr val="199E70"/>
              </a:solidFill>
            </a:ln>
          </p:spPr>
          <p:txBody>
            <a:bodyPr wrap="square" lIns="18288" tIns="18288" rIns="18288" bIns="18288" rtlCol="0" anchor="ctr">
              <a:noAutofit/>
            </a:bodyPr>
            <a:lstStyle/>
            <a:p>
              <a:pPr algn="ctr">
                <a:lnSpc>
                  <a:spcPct val="112000"/>
                </a:lnSpc>
                <a:spcAft>
                  <a:spcPts val="0"/>
                </a:spcAft>
              </a:pPr>
              <a:r>
                <a:rPr sz="950" b="0" i="0">
                  <a:solidFill>
                    <a:srgbClr val="FFFFFF"/>
                  </a:solidFill>
                  <a:latin typeface="Segoe UI Semibold"/>
                </a:rPr>
                <a:t>FAST</a:t>
              </a:r>
            </a:p>
          </p:txBody>
        </p:sp>
        <p:sp>
          <p:nvSpPr>
            <p:cNvPr id="49" name="TextBox 48"/>
            <p:cNvSpPr txBox="1"/>
            <p:nvPr/>
          </p:nvSpPr>
          <p:spPr>
            <a:xfrm>
              <a:off x="6464807" y="2377440"/>
              <a:ext cx="4937760" cy="1463040"/>
            </a:xfrm>
            <a:prstGeom prst="rect">
              <a:avLst/>
            </a:prstGeom>
            <a:noFill/>
          </p:spPr>
          <p:txBody>
            <a:bodyPr wrap="square" lIns="0" tIns="0" rIns="0" bIns="0" anchor="t">
              <a:noAutofit/>
            </a:bodyPr>
            <a:lstStyle/>
            <a:p>
              <a:pPr marL="237744" indent="-237744" algn="l">
                <a:lnSpc>
                  <a:spcPct val="112000"/>
                </a:lnSpc>
                <a:spcAft>
                  <a:spcPts val="700"/>
                </a:spcAft>
                <a:buClr>
                  <a:srgbClr val="4FD1A1"/>
                </a:buClr>
                <a:buSzPct val="100000"/>
                <a:buFont typeface="Arial"/>
                <a:buChar char="•"/>
              </a:pPr>
              <a:r>
                <a:rPr sz="1300" b="0" i="0">
                  <a:solidFill>
                    <a:srgbClr val="FFFFFF"/>
                  </a:solidFill>
                  <a:latin typeface="Segoe UI Semibold"/>
                </a:rPr>
                <a:t>First-Fit / Best-Fit Decreasing</a:t>
              </a:r>
              <a:r>
                <a:rPr sz="1300" b="0" i="0">
                  <a:solidFill>
                    <a:srgbClr val="C9D2E3"/>
                  </a:solidFill>
                  <a:latin typeface="Segoe UI"/>
                </a:rPr>
                <a:t> bin packing</a:t>
              </a:r>
            </a:p>
            <a:p>
              <a:pPr marL="237744" indent="-237744" algn="l">
                <a:lnSpc>
                  <a:spcPct val="112000"/>
                </a:lnSpc>
                <a:spcAft>
                  <a:spcPts val="700"/>
                </a:spcAft>
                <a:buClr>
                  <a:srgbClr val="4FD1A1"/>
                </a:buClr>
                <a:buSzPct val="100000"/>
                <a:buFont typeface="Arial"/>
                <a:buChar char="•"/>
              </a:pPr>
              <a:r>
                <a:rPr sz="1300" b="0" i="0">
                  <a:solidFill>
                    <a:srgbClr val="FFFFFF"/>
                  </a:solidFill>
                  <a:latin typeface="Segoe UI Semibold"/>
                </a:rPr>
                <a:t>Greedy cost-aware</a:t>
              </a:r>
              <a:r>
                <a:rPr sz="1300" b="0" i="0">
                  <a:solidFill>
                    <a:srgbClr val="C9D2E3"/>
                  </a:solidFill>
                  <a:latin typeface="Segoe UI"/>
                </a:rPr>
                <a:t> placement &amp; scoring</a:t>
              </a:r>
            </a:p>
            <a:p>
              <a:pPr marL="237744" indent="-237744" algn="l">
                <a:lnSpc>
                  <a:spcPct val="112000"/>
                </a:lnSpc>
                <a:spcAft>
                  <a:spcPts val="700"/>
                </a:spcAft>
                <a:buClr>
                  <a:srgbClr val="4FD1A1"/>
                </a:buClr>
                <a:buSzPct val="100000"/>
                <a:buFont typeface="Arial"/>
                <a:buChar char="•"/>
              </a:pPr>
              <a:r>
                <a:rPr sz="1300" b="0" i="0">
                  <a:solidFill>
                    <a:srgbClr val="FFFFFF"/>
                  </a:solidFill>
                  <a:latin typeface="Segoe UI Semibold"/>
                </a:rPr>
                <a:t>Min-Min / Max-Min</a:t>
              </a:r>
              <a:r>
                <a:rPr sz="1300" b="0" i="0">
                  <a:solidFill>
                    <a:srgbClr val="C9D2E3"/>
                  </a:solidFill>
                  <a:latin typeface="Segoe UI"/>
                </a:rPr>
                <a:t> for task scheduling</a:t>
              </a:r>
            </a:p>
          </p:txBody>
        </p:sp>
        <p:cxnSp>
          <p:nvCxnSpPr>
            <p:cNvPr id="50" name="Connector 49"/>
            <p:cNvCxnSpPr/>
            <p:nvPr/>
          </p:nvCxnSpPr>
          <p:spPr>
            <a:xfrm>
              <a:off x="6464807" y="3840480"/>
              <a:ext cx="4901185" cy="0"/>
            </a:xfrm>
            <a:prstGeom prst="line">
              <a:avLst/>
            </a:prstGeom>
            <a:ln w="9525">
              <a:solidFill>
                <a:srgbClr val="2A3F69"/>
              </a:solidFill>
            </a:ln>
          </p:spPr>
        </p:cxnSp>
        <p:sp>
          <p:nvSpPr>
            <p:cNvPr id="51" name="TextBox 50"/>
            <p:cNvSpPr txBox="1"/>
            <p:nvPr/>
          </p:nvSpPr>
          <p:spPr>
            <a:xfrm>
              <a:off x="6464807" y="3931920"/>
              <a:ext cx="4937760" cy="868680"/>
            </a:xfrm>
            <a:prstGeom prst="rect">
              <a:avLst/>
            </a:prstGeom>
            <a:noFill/>
          </p:spPr>
          <p:txBody>
            <a:bodyPr wrap="square" lIns="0" tIns="0" rIns="0" bIns="0" anchor="t">
              <a:noAutofit/>
            </a:bodyPr>
            <a:lstStyle/>
            <a:p>
              <a:pPr algn="l">
                <a:lnSpc>
                  <a:spcPct val="112000"/>
                </a:lnSpc>
                <a:spcAft>
                  <a:spcPts val="500"/>
                </a:spcAft>
              </a:pPr>
              <a:r>
                <a:rPr sz="1250" b="0" i="0">
                  <a:solidFill>
                    <a:srgbClr val="4FD1A1"/>
                  </a:solidFill>
                  <a:latin typeface="Segoe UI"/>
                </a:rPr>
                <a:t>+  Millisecond decisions; simple; explainable</a:t>
              </a:r>
            </a:p>
            <a:p>
              <a:pPr algn="l">
                <a:lnSpc>
                  <a:spcPct val="112000"/>
                </a:lnSpc>
                <a:spcAft>
                  <a:spcPts val="500"/>
                </a:spcAft>
              </a:pPr>
              <a:r>
                <a:rPr sz="1250" b="0" i="0">
                  <a:solidFill>
                    <a:srgbClr val="F4925F"/>
                  </a:solidFill>
                  <a:latin typeface="Segoe UI"/>
                </a:rPr>
                <a:t>–  No optimality guarantee; myopic</a:t>
              </a:r>
            </a:p>
          </p:txBody>
        </p:sp>
      </p:grpSp>
      <p:grpSp>
        <p:nvGrpSpPr>
          <p:cNvPr id="52" name="Group 51"/>
          <p:cNvGrpSpPr/>
          <p:nvPr/>
        </p:nvGrpSpPr>
        <p:grpSpPr>
          <a:xfrm>
            <a:off x="188823" y="5074920"/>
            <a:ext cx="11478555" cy="1024128"/>
            <a:chOff x="188823" y="5074920"/>
            <a:chExt cx="11478555" cy="1024128"/>
          </a:xfrm>
        </p:grpSpPr>
        <p:sp>
          <p:nvSpPr>
            <p:cNvPr id="53" name="TextBox 52"/>
            <p:cNvSpPr txBox="1"/>
            <p:nvPr/>
          </p:nvSpPr>
          <p:spPr>
            <a:xfrm>
              <a:off x="548640" y="5074920"/>
              <a:ext cx="4572000" cy="274320"/>
            </a:xfrm>
            <a:prstGeom prst="rect">
              <a:avLst/>
            </a:prstGeom>
            <a:noFill/>
          </p:spPr>
          <p:txBody>
            <a:bodyPr wrap="square" lIns="0" tIns="0" rIns="0" bIns="0" anchor="t">
              <a:noAutofit/>
            </a:bodyPr>
            <a:lstStyle/>
            <a:p>
              <a:pPr algn="l">
                <a:lnSpc>
                  <a:spcPct val="112000"/>
                </a:lnSpc>
                <a:spcAft>
                  <a:spcPts val="0"/>
                </a:spcAft>
              </a:pPr>
              <a:r>
                <a:rPr sz="1050" b="0" i="0" spc="250">
                  <a:solidFill>
                    <a:srgbClr val="8C9AB5"/>
                  </a:solidFill>
                  <a:latin typeface="Segoe UI Semibold"/>
                </a:rPr>
                <a:t>THE OPTIMALITY – SCALABILITY SPECTRUM</a:t>
              </a:r>
            </a:p>
          </p:txBody>
        </p:sp>
        <p:sp>
          <p:nvSpPr>
            <p:cNvPr id="54" name="Rounded Rectangle 53"/>
            <p:cNvSpPr/>
            <p:nvPr/>
          </p:nvSpPr>
          <p:spPr>
            <a:xfrm>
              <a:off x="548640" y="5440680"/>
              <a:ext cx="11091672" cy="146304"/>
            </a:xfrm>
            <a:prstGeom prst="roundRect">
              <a:avLst>
                <a:gd name="adj" fmla="val 50000"/>
              </a:avLst>
            </a:prstGeom>
            <a:gradFill rotWithShape="1">
              <a:gsLst>
                <a:gs pos="0">
                  <a:srgbClr val="3987E5"/>
                </a:gs>
                <a:gs pos="50000">
                  <a:srgbClr val="9085E9"/>
                </a:gs>
                <a:gs pos="100000">
                  <a:srgbClr val="199E70"/>
                </a:gs>
              </a:gsLst>
              <a:lin ang="0" scaled="0"/>
            </a:gradFill>
            <a:ln>
              <a:noFill/>
            </a:ln>
          </p:spPr>
          <p:txBody>
            <a:bodyPr wrap="square" rtlCol="0" anchor="ctr"/>
            <a:lstStyle/>
            <a:p>
              <a:pPr algn="ctr"/>
              <a:endParaRPr/>
            </a:p>
          </p:txBody>
        </p:sp>
        <p:sp>
          <p:nvSpPr>
            <p:cNvPr id="55" name="Oval 54"/>
            <p:cNvSpPr/>
            <p:nvPr/>
          </p:nvSpPr>
          <p:spPr>
            <a:xfrm>
              <a:off x="1002639" y="5413248"/>
              <a:ext cx="201168" cy="201168"/>
            </a:xfrm>
            <a:prstGeom prst="ellipse">
              <a:avLst/>
            </a:prstGeom>
            <a:solidFill>
              <a:srgbClr val="FFFFFF"/>
            </a:solidFill>
            <a:ln w="25400">
              <a:solidFill>
                <a:srgbClr val="08101F"/>
              </a:solidFill>
            </a:ln>
          </p:spPr>
          <p:txBody>
            <a:bodyPr wrap="square" rtlCol="0" anchor="ctr"/>
            <a:lstStyle/>
            <a:p>
              <a:pPr algn="ctr"/>
              <a:endParaRPr/>
            </a:p>
          </p:txBody>
        </p:sp>
        <p:sp>
          <p:nvSpPr>
            <p:cNvPr id="56" name="TextBox 55"/>
            <p:cNvSpPr txBox="1"/>
            <p:nvPr/>
          </p:nvSpPr>
          <p:spPr>
            <a:xfrm>
              <a:off x="188823" y="5650992"/>
              <a:ext cx="1828800" cy="274320"/>
            </a:xfrm>
            <a:prstGeom prst="rect">
              <a:avLst/>
            </a:prstGeom>
            <a:noFill/>
          </p:spPr>
          <p:txBody>
            <a:bodyPr wrap="square" lIns="0" tIns="0" rIns="0" bIns="0" anchor="t">
              <a:noAutofit/>
            </a:bodyPr>
            <a:lstStyle/>
            <a:p>
              <a:pPr algn="ctr">
                <a:lnSpc>
                  <a:spcPct val="112000"/>
                </a:lnSpc>
                <a:spcAft>
                  <a:spcPts val="0"/>
                </a:spcAft>
              </a:pPr>
              <a:r>
                <a:rPr sz="1100" b="0" i="0">
                  <a:solidFill>
                    <a:srgbClr val="C9D2E3"/>
                  </a:solidFill>
                  <a:latin typeface="Segoe UI"/>
                </a:rPr>
                <a:t>ILP</a:t>
              </a:r>
            </a:p>
          </p:txBody>
        </p:sp>
        <p:sp>
          <p:nvSpPr>
            <p:cNvPr id="57" name="Oval 56"/>
            <p:cNvSpPr/>
            <p:nvPr/>
          </p:nvSpPr>
          <p:spPr>
            <a:xfrm>
              <a:off x="2888223" y="5413248"/>
              <a:ext cx="201168" cy="201168"/>
            </a:xfrm>
            <a:prstGeom prst="ellipse">
              <a:avLst/>
            </a:prstGeom>
            <a:solidFill>
              <a:srgbClr val="FFFFFF"/>
            </a:solidFill>
            <a:ln w="25400">
              <a:solidFill>
                <a:srgbClr val="08101F"/>
              </a:solidFill>
            </a:ln>
          </p:spPr>
          <p:txBody>
            <a:bodyPr wrap="square" rtlCol="0" anchor="ctr"/>
            <a:lstStyle/>
            <a:p>
              <a:pPr algn="ctr"/>
              <a:endParaRPr/>
            </a:p>
          </p:txBody>
        </p:sp>
        <p:sp>
          <p:nvSpPr>
            <p:cNvPr id="58" name="TextBox 57"/>
            <p:cNvSpPr txBox="1"/>
            <p:nvPr/>
          </p:nvSpPr>
          <p:spPr>
            <a:xfrm>
              <a:off x="2074407" y="5650992"/>
              <a:ext cx="1828800" cy="274320"/>
            </a:xfrm>
            <a:prstGeom prst="rect">
              <a:avLst/>
            </a:prstGeom>
            <a:noFill/>
          </p:spPr>
          <p:txBody>
            <a:bodyPr wrap="square" lIns="0" tIns="0" rIns="0" bIns="0" anchor="t">
              <a:noAutofit/>
            </a:bodyPr>
            <a:lstStyle/>
            <a:p>
              <a:pPr algn="ctr">
                <a:lnSpc>
                  <a:spcPct val="112000"/>
                </a:lnSpc>
                <a:spcAft>
                  <a:spcPts val="0"/>
                </a:spcAft>
              </a:pPr>
              <a:r>
                <a:rPr sz="1100" b="0" i="0">
                  <a:solidFill>
                    <a:srgbClr val="C9D2E3"/>
                  </a:solidFill>
                  <a:latin typeface="Segoe UI"/>
                </a:rPr>
                <a:t>Branch &amp; bound</a:t>
              </a:r>
            </a:p>
          </p:txBody>
        </p:sp>
        <p:sp>
          <p:nvSpPr>
            <p:cNvPr id="59" name="Oval 58"/>
            <p:cNvSpPr/>
            <p:nvPr/>
          </p:nvSpPr>
          <p:spPr>
            <a:xfrm>
              <a:off x="5993892" y="5413248"/>
              <a:ext cx="201168" cy="201168"/>
            </a:xfrm>
            <a:prstGeom prst="ellipse">
              <a:avLst/>
            </a:prstGeom>
            <a:solidFill>
              <a:srgbClr val="FFFFFF"/>
            </a:solidFill>
            <a:ln w="25400">
              <a:solidFill>
                <a:srgbClr val="08101F"/>
              </a:solidFill>
            </a:ln>
          </p:spPr>
          <p:txBody>
            <a:bodyPr wrap="square" rtlCol="0" anchor="ctr"/>
            <a:lstStyle/>
            <a:p>
              <a:pPr algn="ctr"/>
              <a:endParaRPr/>
            </a:p>
          </p:txBody>
        </p:sp>
        <p:sp>
          <p:nvSpPr>
            <p:cNvPr id="60" name="TextBox 59"/>
            <p:cNvSpPr txBox="1"/>
            <p:nvPr/>
          </p:nvSpPr>
          <p:spPr>
            <a:xfrm>
              <a:off x="5180076" y="5650992"/>
              <a:ext cx="1828800" cy="274320"/>
            </a:xfrm>
            <a:prstGeom prst="rect">
              <a:avLst/>
            </a:prstGeom>
            <a:noFill/>
          </p:spPr>
          <p:txBody>
            <a:bodyPr wrap="square" lIns="0" tIns="0" rIns="0" bIns="0" anchor="t">
              <a:noAutofit/>
            </a:bodyPr>
            <a:lstStyle/>
            <a:p>
              <a:pPr algn="ctr">
                <a:lnSpc>
                  <a:spcPct val="112000"/>
                </a:lnSpc>
                <a:spcAft>
                  <a:spcPts val="0"/>
                </a:spcAft>
              </a:pPr>
              <a:r>
                <a:rPr sz="1100" b="0" i="0">
                  <a:solidFill>
                    <a:srgbClr val="C9D2E3"/>
                  </a:solidFill>
                  <a:latin typeface="Segoe UI"/>
                </a:rPr>
                <a:t>Metaheuristics</a:t>
              </a:r>
            </a:p>
          </p:txBody>
        </p:sp>
        <p:sp>
          <p:nvSpPr>
            <p:cNvPr id="61" name="Oval 60"/>
            <p:cNvSpPr/>
            <p:nvPr/>
          </p:nvSpPr>
          <p:spPr>
            <a:xfrm>
              <a:off x="8212226" y="5413248"/>
              <a:ext cx="201168" cy="201168"/>
            </a:xfrm>
            <a:prstGeom prst="ellipse">
              <a:avLst/>
            </a:prstGeom>
            <a:solidFill>
              <a:srgbClr val="FFFFFF"/>
            </a:solidFill>
            <a:ln w="25400">
              <a:solidFill>
                <a:srgbClr val="08101F"/>
              </a:solidFill>
            </a:ln>
          </p:spPr>
          <p:txBody>
            <a:bodyPr wrap="square" rtlCol="0" anchor="ctr"/>
            <a:lstStyle/>
            <a:p>
              <a:pPr algn="ctr"/>
              <a:endParaRPr/>
            </a:p>
          </p:txBody>
        </p:sp>
        <p:sp>
          <p:nvSpPr>
            <p:cNvPr id="62" name="TextBox 61"/>
            <p:cNvSpPr txBox="1"/>
            <p:nvPr/>
          </p:nvSpPr>
          <p:spPr>
            <a:xfrm>
              <a:off x="7398410" y="5650992"/>
              <a:ext cx="1828800" cy="274320"/>
            </a:xfrm>
            <a:prstGeom prst="rect">
              <a:avLst/>
            </a:prstGeom>
            <a:noFill/>
          </p:spPr>
          <p:txBody>
            <a:bodyPr wrap="square" lIns="0" tIns="0" rIns="0" bIns="0" anchor="t">
              <a:noAutofit/>
            </a:bodyPr>
            <a:lstStyle/>
            <a:p>
              <a:pPr algn="ctr">
                <a:lnSpc>
                  <a:spcPct val="112000"/>
                </a:lnSpc>
                <a:spcAft>
                  <a:spcPts val="0"/>
                </a:spcAft>
              </a:pPr>
              <a:r>
                <a:rPr sz="1100" b="0" i="0">
                  <a:solidFill>
                    <a:srgbClr val="C9D2E3"/>
                  </a:solidFill>
                  <a:latin typeface="Segoe UI"/>
                </a:rPr>
                <a:t>ML / DRL</a:t>
              </a:r>
            </a:p>
          </p:txBody>
        </p:sp>
        <p:sp>
          <p:nvSpPr>
            <p:cNvPr id="63" name="Oval 62"/>
            <p:cNvSpPr/>
            <p:nvPr/>
          </p:nvSpPr>
          <p:spPr>
            <a:xfrm>
              <a:off x="10652394" y="5413248"/>
              <a:ext cx="201168" cy="201168"/>
            </a:xfrm>
            <a:prstGeom prst="ellipse">
              <a:avLst/>
            </a:prstGeom>
            <a:solidFill>
              <a:srgbClr val="FFFFFF"/>
            </a:solidFill>
            <a:ln w="25400">
              <a:solidFill>
                <a:srgbClr val="08101F"/>
              </a:solidFill>
            </a:ln>
          </p:spPr>
          <p:txBody>
            <a:bodyPr wrap="square" rtlCol="0" anchor="ctr"/>
            <a:lstStyle/>
            <a:p>
              <a:pPr algn="ctr"/>
              <a:endParaRPr/>
            </a:p>
          </p:txBody>
        </p:sp>
        <p:sp>
          <p:nvSpPr>
            <p:cNvPr id="64" name="TextBox 63"/>
            <p:cNvSpPr txBox="1"/>
            <p:nvPr/>
          </p:nvSpPr>
          <p:spPr>
            <a:xfrm>
              <a:off x="9838578" y="5650992"/>
              <a:ext cx="1828800" cy="274320"/>
            </a:xfrm>
            <a:prstGeom prst="rect">
              <a:avLst/>
            </a:prstGeom>
            <a:noFill/>
          </p:spPr>
          <p:txBody>
            <a:bodyPr wrap="square" lIns="0" tIns="0" rIns="0" bIns="0" anchor="t">
              <a:noAutofit/>
            </a:bodyPr>
            <a:lstStyle/>
            <a:p>
              <a:pPr algn="ctr">
                <a:lnSpc>
                  <a:spcPct val="112000"/>
                </a:lnSpc>
                <a:spcAft>
                  <a:spcPts val="0"/>
                </a:spcAft>
              </a:pPr>
              <a:r>
                <a:rPr sz="1100" b="0" i="0">
                  <a:solidFill>
                    <a:srgbClr val="C9D2E3"/>
                  </a:solidFill>
                  <a:latin typeface="Segoe UI"/>
                </a:rPr>
                <a:t>Greedy / FFD</a:t>
              </a:r>
            </a:p>
          </p:txBody>
        </p:sp>
        <p:sp>
          <p:nvSpPr>
            <p:cNvPr id="65" name="TextBox 64"/>
            <p:cNvSpPr txBox="1"/>
            <p:nvPr/>
          </p:nvSpPr>
          <p:spPr>
            <a:xfrm>
              <a:off x="548640" y="5870448"/>
              <a:ext cx="2743200" cy="228600"/>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 optimal, slow</a:t>
              </a:r>
            </a:p>
          </p:txBody>
        </p:sp>
        <p:sp>
          <p:nvSpPr>
            <p:cNvPr id="66" name="TextBox 65"/>
            <p:cNvSpPr txBox="1"/>
            <p:nvPr/>
          </p:nvSpPr>
          <p:spPr>
            <a:xfrm>
              <a:off x="8897112" y="5870448"/>
              <a:ext cx="2743200" cy="228600"/>
            </a:xfrm>
            <a:prstGeom prst="rect">
              <a:avLst/>
            </a:prstGeom>
            <a:noFill/>
          </p:spPr>
          <p:txBody>
            <a:bodyPr wrap="square" lIns="0" tIns="0" rIns="0" bIns="0" anchor="t">
              <a:noAutofit/>
            </a:bodyPr>
            <a:lstStyle/>
            <a:p>
              <a:pPr algn="r">
                <a:lnSpc>
                  <a:spcPct val="112000"/>
                </a:lnSpc>
                <a:spcAft>
                  <a:spcPts val="0"/>
                </a:spcAft>
              </a:pPr>
              <a:r>
                <a:rPr sz="1000" b="0" i="0">
                  <a:solidFill>
                    <a:srgbClr val="8C9AB5"/>
                  </a:solidFill>
                  <a:latin typeface="Segoe UI"/>
                </a:rPr>
                <a:t>fast, approximate ▶</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600"/>
                                        <p:tgtEl>
                                          <p:spTgt spid="36"/>
                                        </p:tgtEl>
                                      </p:cBhvr>
                                    </p:animEffect>
                                    <p:anim calcmode="lin" valueType="num">
                                      <p:cBhvr>
                                        <p:cTn id="8" dur="600" fill="hold"/>
                                        <p:tgtEl>
                                          <p:spTgt spid="36"/>
                                        </p:tgtEl>
                                        <p:attrNameLst>
                                          <p:attrName>ppt_x</p:attrName>
                                        </p:attrNameLst>
                                      </p:cBhvr>
                                      <p:tavLst>
                                        <p:tav tm="0">
                                          <p:val>
                                            <p:strVal val="#ppt_x"/>
                                          </p:val>
                                        </p:tav>
                                        <p:tav tm="100000">
                                          <p:val>
                                            <p:strVal val="#ppt_x"/>
                                          </p:val>
                                        </p:tav>
                                      </p:tavLst>
                                    </p:anim>
                                    <p:anim calcmode="lin" valueType="num">
                                      <p:cBhvr>
                                        <p:cTn id="9" dur="600" fill="hold"/>
                                        <p:tgtEl>
                                          <p:spTgt spid="36"/>
                                        </p:tgtEl>
                                        <p:attrNameLst>
                                          <p:attrName>ppt_y</p:attrName>
                                        </p:attrNameLst>
                                      </p:cBhvr>
                                      <p:tavLst>
                                        <p:tav tm="0">
                                          <p:val>
                                            <p:strVal val="#ppt_y+.08"/>
                                          </p:val>
                                        </p:tav>
                                        <p:tav tm="100000">
                                          <p:val>
                                            <p:strVal val="#ppt_y"/>
                                          </p:val>
                                        </p:tav>
                                      </p:tavLst>
                                    </p:anim>
                                  </p:childTnLst>
                                </p:cTn>
                              </p:par>
                              <p:par>
                                <p:cTn id="10" presetID="42" presetClass="entr" presetSubtype="0" fill="hold" nodeType="withEffect">
                                  <p:stCondLst>
                                    <p:cond delay="41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600"/>
                                        <p:tgtEl>
                                          <p:spTgt spid="44"/>
                                        </p:tgtEl>
                                      </p:cBhvr>
                                    </p:animEffect>
                                    <p:anim calcmode="lin" valueType="num">
                                      <p:cBhvr>
                                        <p:cTn id="13" dur="600" fill="hold"/>
                                        <p:tgtEl>
                                          <p:spTgt spid="44"/>
                                        </p:tgtEl>
                                        <p:attrNameLst>
                                          <p:attrName>ppt_x</p:attrName>
                                        </p:attrNameLst>
                                      </p:cBhvr>
                                      <p:tavLst>
                                        <p:tav tm="0">
                                          <p:val>
                                            <p:strVal val="#ppt_x"/>
                                          </p:val>
                                        </p:tav>
                                        <p:tav tm="100000">
                                          <p:val>
                                            <p:strVal val="#ppt_x"/>
                                          </p:val>
                                        </p:tav>
                                      </p:tavLst>
                                    </p:anim>
                                    <p:anim calcmode="lin" valueType="num">
                                      <p:cBhvr>
                                        <p:cTn id="14" dur="600" fill="hold"/>
                                        <p:tgtEl>
                                          <p:spTgt spid="44"/>
                                        </p:tgtEl>
                                        <p:attrNameLst>
                                          <p:attrName>ppt_y</p:attrName>
                                        </p:attrNameLst>
                                      </p:cBhvr>
                                      <p:tavLst>
                                        <p:tav tm="0">
                                          <p:val>
                                            <p:strVal val="#ppt_y+.08"/>
                                          </p:val>
                                        </p:tav>
                                        <p:tav tm="100000">
                                          <p:val>
                                            <p:strVal val="#ppt_y"/>
                                          </p:val>
                                        </p:tav>
                                      </p:tavLst>
                                    </p:anim>
                                  </p:childTnLst>
                                </p:cTn>
                              </p:par>
                              <p:par>
                                <p:cTn id="15" presetID="22" presetClass="entr" presetSubtype="8" fill="hold" nodeType="withEffect">
                                  <p:stCondLst>
                                    <p:cond delay="570"/>
                                  </p:stCondLst>
                                  <p:childTnLst>
                                    <p:set>
                                      <p:cBhvr>
                                        <p:cTn id="16" dur="1" fill="hold">
                                          <p:stCondLst>
                                            <p:cond delay="0"/>
                                          </p:stCondLst>
                                        </p:cTn>
                                        <p:tgtEl>
                                          <p:spTgt spid="52"/>
                                        </p:tgtEl>
                                        <p:attrNameLst>
                                          <p:attrName>style.visibility</p:attrName>
                                        </p:attrNameLst>
                                      </p:cBhvr>
                                      <p:to>
                                        <p:strVal val="visible"/>
                                      </p:to>
                                    </p:set>
                                    <p:animEffect transition="in" filter="wipe(left)">
                                      <p:cBhvr>
                                        <p:cTn id="17" dur="9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9133547" y="-2088336"/>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662853" y="4062758"/>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221436" y="4508287"/>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RESOURCE ALLOCATION</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Metaheuristics &amp; Multi-Objective Optimization</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Resource Allocation</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lang="en-GB" sz="1000">
                <a:solidFill>
                  <a:srgbClr val="C9D2E3"/>
                </a:solidFill>
                <a:latin typeface="Segoe UI Semibold"/>
              </a:rPr>
              <a:t>22</a:t>
            </a:r>
            <a:r>
              <a:rPr sz="1000" b="0" i="0" dirty="0">
                <a:solidFill>
                  <a:srgbClr val="8C9AB5"/>
                </a:solidFill>
                <a:latin typeface="Segoe UI"/>
              </a:rPr>
              <a:t> / 30</a:t>
            </a:r>
          </a:p>
        </p:txBody>
      </p:sp>
      <p:grpSp>
        <p:nvGrpSpPr>
          <p:cNvPr id="36" name="Group 35"/>
          <p:cNvGrpSpPr/>
          <p:nvPr/>
        </p:nvGrpSpPr>
        <p:grpSpPr>
          <a:xfrm>
            <a:off x="548640" y="1627632"/>
            <a:ext cx="5120640" cy="777240"/>
            <a:chOff x="548640" y="1627632"/>
            <a:chExt cx="5120640" cy="777240"/>
          </a:xfrm>
        </p:grpSpPr>
        <p:sp>
          <p:nvSpPr>
            <p:cNvPr id="37" name="Rounded Rectangle 36"/>
            <p:cNvSpPr/>
            <p:nvPr/>
          </p:nvSpPr>
          <p:spPr>
            <a:xfrm>
              <a:off x="548640" y="1627632"/>
              <a:ext cx="5120640" cy="777240"/>
            </a:xfrm>
            <a:prstGeom prst="roundRect">
              <a:avLst>
                <a:gd name="adj" fmla="val 15000"/>
              </a:avLst>
            </a:prstGeom>
            <a:gradFill rotWithShape="1">
              <a:gsLst>
                <a:gs pos="0">
                  <a:srgbClr val="182A4C"/>
                </a:gs>
                <a:gs pos="100000">
                  <a:srgbClr val="13213D"/>
                </a:gs>
              </a:gsLst>
              <a:lin ang="0" scaled="0"/>
            </a:gradFill>
            <a:ln w="9525">
              <a:solidFill>
                <a:srgbClr val="2A3F69"/>
              </a:solidFill>
            </a:ln>
          </p:spPr>
          <p:txBody>
            <a:bodyPr wrap="square" rtlCol="0" anchor="ctr"/>
            <a:lstStyle/>
            <a:p>
              <a:pPr algn="ctr"/>
              <a:endParaRPr/>
            </a:p>
          </p:txBody>
        </p:sp>
        <p:sp>
          <p:nvSpPr>
            <p:cNvPr id="38" name="Rounded Rectangle 37"/>
            <p:cNvSpPr/>
            <p:nvPr/>
          </p:nvSpPr>
          <p:spPr>
            <a:xfrm>
              <a:off x="685800" y="1764792"/>
              <a:ext cx="1051560" cy="502920"/>
            </a:xfrm>
            <a:prstGeom prst="roundRect">
              <a:avLst>
                <a:gd name="adj" fmla="val 30000"/>
              </a:avLst>
            </a:prstGeom>
            <a:solidFill>
              <a:srgbClr val="3987E5">
                <a:alpha val="25000"/>
              </a:srgbClr>
            </a:solidFill>
            <a:ln w="12700">
              <a:solidFill>
                <a:srgbClr val="3987E5"/>
              </a:solidFill>
            </a:ln>
          </p:spPr>
          <p:txBody>
            <a:bodyPr wrap="square" lIns="0" tIns="0" rIns="0" bIns="0" rtlCol="0" anchor="ctr">
              <a:noAutofit/>
            </a:bodyPr>
            <a:lstStyle/>
            <a:p>
              <a:pPr algn="ctr">
                <a:lnSpc>
                  <a:spcPct val="112000"/>
                </a:lnSpc>
                <a:spcAft>
                  <a:spcPts val="0"/>
                </a:spcAft>
              </a:pPr>
              <a:r>
                <a:rPr sz="1250" b="0" i="0">
                  <a:solidFill>
                    <a:srgbClr val="FFFFFF"/>
                  </a:solidFill>
                  <a:latin typeface="Segoe UI Semibold"/>
                </a:rPr>
                <a:t>GA</a:t>
              </a:r>
            </a:p>
          </p:txBody>
        </p:sp>
        <p:sp>
          <p:nvSpPr>
            <p:cNvPr id="39" name="TextBox 38"/>
            <p:cNvSpPr txBox="1"/>
            <p:nvPr/>
          </p:nvSpPr>
          <p:spPr>
            <a:xfrm>
              <a:off x="1920240" y="1691640"/>
              <a:ext cx="3657600" cy="320040"/>
            </a:xfrm>
            <a:prstGeom prst="rect">
              <a:avLst/>
            </a:prstGeom>
            <a:noFill/>
          </p:spPr>
          <p:txBody>
            <a:bodyPr wrap="square" lIns="0" tIns="0" rIns="0" bIns="0" anchor="t">
              <a:noAutofit/>
            </a:bodyPr>
            <a:lstStyle/>
            <a:p>
              <a:pPr algn="l">
                <a:lnSpc>
                  <a:spcPct val="112000"/>
                </a:lnSpc>
                <a:spcAft>
                  <a:spcPts val="0"/>
                </a:spcAft>
              </a:pPr>
              <a:r>
                <a:rPr sz="1350" b="0" i="0">
                  <a:solidFill>
                    <a:srgbClr val="FFFFFF"/>
                  </a:solidFill>
                  <a:latin typeface="Segoe UI Semibold"/>
                </a:rPr>
                <a:t>Genetic Algorithm</a:t>
              </a:r>
            </a:p>
          </p:txBody>
        </p:sp>
        <p:sp>
          <p:nvSpPr>
            <p:cNvPr id="40" name="TextBox 39"/>
            <p:cNvSpPr txBox="1"/>
            <p:nvPr/>
          </p:nvSpPr>
          <p:spPr>
            <a:xfrm>
              <a:off x="1920240" y="1993392"/>
              <a:ext cx="3657600" cy="365760"/>
            </a:xfrm>
            <a:prstGeom prst="rect">
              <a:avLst/>
            </a:prstGeom>
            <a:noFill/>
          </p:spPr>
          <p:txBody>
            <a:bodyPr wrap="square" lIns="0" tIns="0" rIns="0" bIns="0" anchor="t">
              <a:noAutofit/>
            </a:bodyPr>
            <a:lstStyle/>
            <a:p>
              <a:pPr algn="l">
                <a:lnSpc>
                  <a:spcPct val="112000"/>
                </a:lnSpc>
                <a:spcAft>
                  <a:spcPts val="0"/>
                </a:spcAft>
              </a:pPr>
              <a:r>
                <a:rPr sz="1100" b="0" i="0">
                  <a:solidFill>
                    <a:srgbClr val="C9D2E3"/>
                  </a:solidFill>
                  <a:latin typeface="Segoe UI"/>
                </a:rPr>
                <a:t>Evolves allocations via selection, crossover, mutation</a:t>
              </a:r>
            </a:p>
          </p:txBody>
        </p:sp>
      </p:grpSp>
      <p:grpSp>
        <p:nvGrpSpPr>
          <p:cNvPr id="41" name="Group 40"/>
          <p:cNvGrpSpPr/>
          <p:nvPr/>
        </p:nvGrpSpPr>
        <p:grpSpPr>
          <a:xfrm>
            <a:off x="548640" y="2514600"/>
            <a:ext cx="5120640" cy="777240"/>
            <a:chOff x="548640" y="2514600"/>
            <a:chExt cx="5120640" cy="777240"/>
          </a:xfrm>
        </p:grpSpPr>
        <p:sp>
          <p:nvSpPr>
            <p:cNvPr id="42" name="Rounded Rectangle 41"/>
            <p:cNvSpPr/>
            <p:nvPr/>
          </p:nvSpPr>
          <p:spPr>
            <a:xfrm>
              <a:off x="548640" y="2514600"/>
              <a:ext cx="5120640" cy="777240"/>
            </a:xfrm>
            <a:prstGeom prst="roundRect">
              <a:avLst>
                <a:gd name="adj" fmla="val 15000"/>
              </a:avLst>
            </a:prstGeom>
            <a:gradFill rotWithShape="1">
              <a:gsLst>
                <a:gs pos="0">
                  <a:srgbClr val="182A4C"/>
                </a:gs>
                <a:gs pos="100000">
                  <a:srgbClr val="13213D"/>
                </a:gs>
              </a:gsLst>
              <a:lin ang="0" scaled="0"/>
            </a:gradFill>
            <a:ln w="9525">
              <a:solidFill>
                <a:srgbClr val="2A3F69"/>
              </a:solidFill>
            </a:ln>
          </p:spPr>
          <p:txBody>
            <a:bodyPr wrap="square" rtlCol="0" anchor="ctr"/>
            <a:lstStyle/>
            <a:p>
              <a:pPr algn="ctr"/>
              <a:endParaRPr/>
            </a:p>
          </p:txBody>
        </p:sp>
        <p:sp>
          <p:nvSpPr>
            <p:cNvPr id="43" name="Rounded Rectangle 42"/>
            <p:cNvSpPr/>
            <p:nvPr/>
          </p:nvSpPr>
          <p:spPr>
            <a:xfrm>
              <a:off x="685800" y="2651760"/>
              <a:ext cx="1051560" cy="502920"/>
            </a:xfrm>
            <a:prstGeom prst="roundRect">
              <a:avLst>
                <a:gd name="adj" fmla="val 30000"/>
              </a:avLst>
            </a:prstGeom>
            <a:solidFill>
              <a:srgbClr val="199E70">
                <a:alpha val="25000"/>
              </a:srgbClr>
            </a:solidFill>
            <a:ln w="12700">
              <a:solidFill>
                <a:srgbClr val="199E70"/>
              </a:solidFill>
            </a:ln>
          </p:spPr>
          <p:txBody>
            <a:bodyPr wrap="square" lIns="0" tIns="0" rIns="0" bIns="0" rtlCol="0" anchor="ctr">
              <a:noAutofit/>
            </a:bodyPr>
            <a:lstStyle/>
            <a:p>
              <a:pPr algn="ctr">
                <a:lnSpc>
                  <a:spcPct val="112000"/>
                </a:lnSpc>
                <a:spcAft>
                  <a:spcPts val="0"/>
                </a:spcAft>
              </a:pPr>
              <a:r>
                <a:rPr sz="1250" b="0" i="0">
                  <a:solidFill>
                    <a:srgbClr val="FFFFFF"/>
                  </a:solidFill>
                  <a:latin typeface="Segoe UI Semibold"/>
                </a:rPr>
                <a:t>PSO</a:t>
              </a:r>
            </a:p>
          </p:txBody>
        </p:sp>
        <p:sp>
          <p:nvSpPr>
            <p:cNvPr id="44" name="TextBox 43"/>
            <p:cNvSpPr txBox="1"/>
            <p:nvPr/>
          </p:nvSpPr>
          <p:spPr>
            <a:xfrm>
              <a:off x="1920240" y="2578608"/>
              <a:ext cx="3657600" cy="320040"/>
            </a:xfrm>
            <a:prstGeom prst="rect">
              <a:avLst/>
            </a:prstGeom>
            <a:noFill/>
          </p:spPr>
          <p:txBody>
            <a:bodyPr wrap="square" lIns="0" tIns="0" rIns="0" bIns="0" anchor="t">
              <a:noAutofit/>
            </a:bodyPr>
            <a:lstStyle/>
            <a:p>
              <a:pPr algn="l">
                <a:lnSpc>
                  <a:spcPct val="112000"/>
                </a:lnSpc>
                <a:spcAft>
                  <a:spcPts val="0"/>
                </a:spcAft>
              </a:pPr>
              <a:r>
                <a:rPr sz="1350" b="0" i="0">
                  <a:solidFill>
                    <a:srgbClr val="FFFFFF"/>
                  </a:solidFill>
                  <a:latin typeface="Segoe UI Semibold"/>
                </a:rPr>
                <a:t>Particle Swarm</a:t>
              </a:r>
            </a:p>
          </p:txBody>
        </p:sp>
        <p:sp>
          <p:nvSpPr>
            <p:cNvPr id="45" name="TextBox 44"/>
            <p:cNvSpPr txBox="1"/>
            <p:nvPr/>
          </p:nvSpPr>
          <p:spPr>
            <a:xfrm>
              <a:off x="1920240" y="2880360"/>
              <a:ext cx="3657600" cy="365760"/>
            </a:xfrm>
            <a:prstGeom prst="rect">
              <a:avLst/>
            </a:prstGeom>
            <a:noFill/>
          </p:spPr>
          <p:txBody>
            <a:bodyPr wrap="square" lIns="0" tIns="0" rIns="0" bIns="0" anchor="t">
              <a:noAutofit/>
            </a:bodyPr>
            <a:lstStyle/>
            <a:p>
              <a:pPr algn="l">
                <a:lnSpc>
                  <a:spcPct val="112000"/>
                </a:lnSpc>
                <a:spcAft>
                  <a:spcPts val="0"/>
                </a:spcAft>
              </a:pPr>
              <a:r>
                <a:rPr sz="1100" b="0" i="0">
                  <a:solidFill>
                    <a:srgbClr val="C9D2E3"/>
                  </a:solidFill>
                  <a:latin typeface="Segoe UI"/>
                </a:rPr>
                <a:t>Candidate solutions move toward personal &amp; global bests</a:t>
              </a:r>
            </a:p>
          </p:txBody>
        </p:sp>
      </p:grpSp>
      <p:grpSp>
        <p:nvGrpSpPr>
          <p:cNvPr id="46" name="Group 45"/>
          <p:cNvGrpSpPr/>
          <p:nvPr/>
        </p:nvGrpSpPr>
        <p:grpSpPr>
          <a:xfrm>
            <a:off x="548640" y="3401568"/>
            <a:ext cx="5120640" cy="777240"/>
            <a:chOff x="548640" y="3401568"/>
            <a:chExt cx="5120640" cy="777240"/>
          </a:xfrm>
        </p:grpSpPr>
        <p:sp>
          <p:nvSpPr>
            <p:cNvPr id="47" name="Rounded Rectangle 46"/>
            <p:cNvSpPr/>
            <p:nvPr/>
          </p:nvSpPr>
          <p:spPr>
            <a:xfrm>
              <a:off x="548640" y="3401568"/>
              <a:ext cx="5120640" cy="777240"/>
            </a:xfrm>
            <a:prstGeom prst="roundRect">
              <a:avLst>
                <a:gd name="adj" fmla="val 15000"/>
              </a:avLst>
            </a:prstGeom>
            <a:gradFill rotWithShape="1">
              <a:gsLst>
                <a:gs pos="0">
                  <a:srgbClr val="182A4C"/>
                </a:gs>
                <a:gs pos="100000">
                  <a:srgbClr val="13213D"/>
                </a:gs>
              </a:gsLst>
              <a:lin ang="0" scaled="0"/>
            </a:gradFill>
            <a:ln w="9525">
              <a:solidFill>
                <a:srgbClr val="2A3F69"/>
              </a:solidFill>
            </a:ln>
          </p:spPr>
          <p:txBody>
            <a:bodyPr wrap="square" rtlCol="0" anchor="ctr"/>
            <a:lstStyle/>
            <a:p>
              <a:pPr algn="ctr"/>
              <a:endParaRPr/>
            </a:p>
          </p:txBody>
        </p:sp>
        <p:sp>
          <p:nvSpPr>
            <p:cNvPr id="48" name="Rounded Rectangle 47"/>
            <p:cNvSpPr/>
            <p:nvPr/>
          </p:nvSpPr>
          <p:spPr>
            <a:xfrm>
              <a:off x="685800" y="3538727"/>
              <a:ext cx="1051560" cy="502920"/>
            </a:xfrm>
            <a:prstGeom prst="roundRect">
              <a:avLst>
                <a:gd name="adj" fmla="val 30000"/>
              </a:avLst>
            </a:prstGeom>
            <a:solidFill>
              <a:srgbClr val="9085E9">
                <a:alpha val="25000"/>
              </a:srgbClr>
            </a:solidFill>
            <a:ln w="12700">
              <a:solidFill>
                <a:srgbClr val="9085E9"/>
              </a:solidFill>
            </a:ln>
          </p:spPr>
          <p:txBody>
            <a:bodyPr wrap="square" lIns="0" tIns="0" rIns="0" bIns="0" rtlCol="0" anchor="ctr">
              <a:noAutofit/>
            </a:bodyPr>
            <a:lstStyle/>
            <a:p>
              <a:pPr algn="ctr">
                <a:lnSpc>
                  <a:spcPct val="112000"/>
                </a:lnSpc>
                <a:spcAft>
                  <a:spcPts val="0"/>
                </a:spcAft>
              </a:pPr>
              <a:r>
                <a:rPr sz="1250" b="0" i="0">
                  <a:solidFill>
                    <a:srgbClr val="FFFFFF"/>
                  </a:solidFill>
                  <a:latin typeface="Segoe UI Semibold"/>
                </a:rPr>
                <a:t>ACO</a:t>
              </a:r>
            </a:p>
          </p:txBody>
        </p:sp>
        <p:sp>
          <p:nvSpPr>
            <p:cNvPr id="49" name="TextBox 48"/>
            <p:cNvSpPr txBox="1"/>
            <p:nvPr/>
          </p:nvSpPr>
          <p:spPr>
            <a:xfrm>
              <a:off x="1920240" y="3465575"/>
              <a:ext cx="3657600" cy="320040"/>
            </a:xfrm>
            <a:prstGeom prst="rect">
              <a:avLst/>
            </a:prstGeom>
            <a:noFill/>
          </p:spPr>
          <p:txBody>
            <a:bodyPr wrap="square" lIns="0" tIns="0" rIns="0" bIns="0" anchor="t">
              <a:noAutofit/>
            </a:bodyPr>
            <a:lstStyle/>
            <a:p>
              <a:pPr algn="l">
                <a:lnSpc>
                  <a:spcPct val="112000"/>
                </a:lnSpc>
                <a:spcAft>
                  <a:spcPts val="0"/>
                </a:spcAft>
              </a:pPr>
              <a:r>
                <a:rPr sz="1350" b="0" i="0">
                  <a:solidFill>
                    <a:srgbClr val="FFFFFF"/>
                  </a:solidFill>
                  <a:latin typeface="Segoe UI Semibold"/>
                </a:rPr>
                <a:t>Ant Colony</a:t>
              </a:r>
            </a:p>
          </p:txBody>
        </p:sp>
        <p:sp>
          <p:nvSpPr>
            <p:cNvPr id="50" name="TextBox 49"/>
            <p:cNvSpPr txBox="1"/>
            <p:nvPr/>
          </p:nvSpPr>
          <p:spPr>
            <a:xfrm>
              <a:off x="1920240" y="3767328"/>
              <a:ext cx="3657600" cy="365760"/>
            </a:xfrm>
            <a:prstGeom prst="rect">
              <a:avLst/>
            </a:prstGeom>
            <a:noFill/>
          </p:spPr>
          <p:txBody>
            <a:bodyPr wrap="square" lIns="0" tIns="0" rIns="0" bIns="0" anchor="t">
              <a:noAutofit/>
            </a:bodyPr>
            <a:lstStyle/>
            <a:p>
              <a:pPr algn="l">
                <a:lnSpc>
                  <a:spcPct val="112000"/>
                </a:lnSpc>
                <a:spcAft>
                  <a:spcPts val="0"/>
                </a:spcAft>
              </a:pPr>
              <a:r>
                <a:rPr sz="1100" b="0" i="0">
                  <a:solidFill>
                    <a:srgbClr val="C9D2E3"/>
                  </a:solidFill>
                  <a:latin typeface="Segoe UI"/>
                </a:rPr>
                <a:t>Pheromone trails reinforce good placement paths</a:t>
              </a:r>
            </a:p>
          </p:txBody>
        </p:sp>
      </p:grpSp>
      <p:grpSp>
        <p:nvGrpSpPr>
          <p:cNvPr id="51" name="Group 50"/>
          <p:cNvGrpSpPr/>
          <p:nvPr/>
        </p:nvGrpSpPr>
        <p:grpSpPr>
          <a:xfrm>
            <a:off x="548640" y="4288536"/>
            <a:ext cx="5120640" cy="777240"/>
            <a:chOff x="548640" y="4288536"/>
            <a:chExt cx="5120640" cy="777240"/>
          </a:xfrm>
        </p:grpSpPr>
        <p:sp>
          <p:nvSpPr>
            <p:cNvPr id="52" name="Rounded Rectangle 51"/>
            <p:cNvSpPr/>
            <p:nvPr/>
          </p:nvSpPr>
          <p:spPr>
            <a:xfrm>
              <a:off x="548640" y="4288536"/>
              <a:ext cx="5120640" cy="777240"/>
            </a:xfrm>
            <a:prstGeom prst="roundRect">
              <a:avLst>
                <a:gd name="adj" fmla="val 15000"/>
              </a:avLst>
            </a:prstGeom>
            <a:gradFill rotWithShape="1">
              <a:gsLst>
                <a:gs pos="0">
                  <a:srgbClr val="182A4C"/>
                </a:gs>
                <a:gs pos="100000">
                  <a:srgbClr val="13213D"/>
                </a:gs>
              </a:gsLst>
              <a:lin ang="0" scaled="0"/>
            </a:gradFill>
            <a:ln w="9525">
              <a:solidFill>
                <a:srgbClr val="2A3F69"/>
              </a:solidFill>
            </a:ln>
          </p:spPr>
          <p:txBody>
            <a:bodyPr wrap="square" rtlCol="0" anchor="ctr"/>
            <a:lstStyle/>
            <a:p>
              <a:pPr algn="ctr"/>
              <a:endParaRPr/>
            </a:p>
          </p:txBody>
        </p:sp>
        <p:sp>
          <p:nvSpPr>
            <p:cNvPr id="53" name="Rounded Rectangle 52"/>
            <p:cNvSpPr/>
            <p:nvPr/>
          </p:nvSpPr>
          <p:spPr>
            <a:xfrm>
              <a:off x="685800" y="4425696"/>
              <a:ext cx="1051560" cy="502920"/>
            </a:xfrm>
            <a:prstGeom prst="roundRect">
              <a:avLst>
                <a:gd name="adj" fmla="val 30000"/>
              </a:avLst>
            </a:prstGeom>
            <a:solidFill>
              <a:srgbClr val="D95926">
                <a:alpha val="25000"/>
              </a:srgbClr>
            </a:solidFill>
            <a:ln w="12700">
              <a:solidFill>
                <a:srgbClr val="D95926"/>
              </a:solidFill>
            </a:ln>
          </p:spPr>
          <p:txBody>
            <a:bodyPr wrap="square" lIns="0" tIns="0" rIns="0" bIns="0" rtlCol="0" anchor="ctr">
              <a:noAutofit/>
            </a:bodyPr>
            <a:lstStyle/>
            <a:p>
              <a:pPr algn="ctr">
                <a:lnSpc>
                  <a:spcPct val="112000"/>
                </a:lnSpc>
                <a:spcAft>
                  <a:spcPts val="0"/>
                </a:spcAft>
              </a:pPr>
              <a:r>
                <a:rPr sz="1250" b="0" i="0">
                  <a:solidFill>
                    <a:srgbClr val="FFFFFF"/>
                  </a:solidFill>
                  <a:latin typeface="Segoe UI Semibold"/>
                </a:rPr>
                <a:t>SA</a:t>
              </a:r>
            </a:p>
          </p:txBody>
        </p:sp>
        <p:sp>
          <p:nvSpPr>
            <p:cNvPr id="54" name="TextBox 53"/>
            <p:cNvSpPr txBox="1"/>
            <p:nvPr/>
          </p:nvSpPr>
          <p:spPr>
            <a:xfrm>
              <a:off x="1920240" y="4352544"/>
              <a:ext cx="3657600" cy="320040"/>
            </a:xfrm>
            <a:prstGeom prst="rect">
              <a:avLst/>
            </a:prstGeom>
            <a:noFill/>
          </p:spPr>
          <p:txBody>
            <a:bodyPr wrap="square" lIns="0" tIns="0" rIns="0" bIns="0" anchor="t">
              <a:noAutofit/>
            </a:bodyPr>
            <a:lstStyle/>
            <a:p>
              <a:pPr algn="l">
                <a:lnSpc>
                  <a:spcPct val="112000"/>
                </a:lnSpc>
                <a:spcAft>
                  <a:spcPts val="0"/>
                </a:spcAft>
              </a:pPr>
              <a:r>
                <a:rPr sz="1350" b="0" i="0">
                  <a:solidFill>
                    <a:srgbClr val="FFFFFF"/>
                  </a:solidFill>
                  <a:latin typeface="Segoe UI Semibold"/>
                </a:rPr>
                <a:t>Simulated Annealing</a:t>
              </a:r>
            </a:p>
          </p:txBody>
        </p:sp>
        <p:sp>
          <p:nvSpPr>
            <p:cNvPr id="55" name="TextBox 54"/>
            <p:cNvSpPr txBox="1"/>
            <p:nvPr/>
          </p:nvSpPr>
          <p:spPr>
            <a:xfrm>
              <a:off x="1920240" y="4654296"/>
              <a:ext cx="3657600" cy="365760"/>
            </a:xfrm>
            <a:prstGeom prst="rect">
              <a:avLst/>
            </a:prstGeom>
            <a:noFill/>
          </p:spPr>
          <p:txBody>
            <a:bodyPr wrap="square" lIns="0" tIns="0" rIns="0" bIns="0" anchor="t">
              <a:noAutofit/>
            </a:bodyPr>
            <a:lstStyle/>
            <a:p>
              <a:pPr algn="l">
                <a:lnSpc>
                  <a:spcPct val="112000"/>
                </a:lnSpc>
                <a:spcAft>
                  <a:spcPts val="0"/>
                </a:spcAft>
              </a:pPr>
              <a:r>
                <a:rPr sz="1100" b="0" i="0">
                  <a:solidFill>
                    <a:srgbClr val="C9D2E3"/>
                  </a:solidFill>
                  <a:latin typeface="Segoe UI"/>
                </a:rPr>
                <a:t>Accepts worse moves early to escape local optima</a:t>
              </a:r>
            </a:p>
          </p:txBody>
        </p:sp>
      </p:grpSp>
      <p:grpSp>
        <p:nvGrpSpPr>
          <p:cNvPr id="56" name="Group 55"/>
          <p:cNvGrpSpPr/>
          <p:nvPr/>
        </p:nvGrpSpPr>
        <p:grpSpPr>
          <a:xfrm>
            <a:off x="548640" y="5175504"/>
            <a:ext cx="5120640" cy="777240"/>
            <a:chOff x="548640" y="5175504"/>
            <a:chExt cx="5120640" cy="777240"/>
          </a:xfrm>
        </p:grpSpPr>
        <p:sp>
          <p:nvSpPr>
            <p:cNvPr id="57" name="Rounded Rectangle 56"/>
            <p:cNvSpPr/>
            <p:nvPr/>
          </p:nvSpPr>
          <p:spPr>
            <a:xfrm>
              <a:off x="548640" y="5175504"/>
              <a:ext cx="5120640" cy="777240"/>
            </a:xfrm>
            <a:prstGeom prst="roundRect">
              <a:avLst>
                <a:gd name="adj" fmla="val 15000"/>
              </a:avLst>
            </a:prstGeom>
            <a:gradFill rotWithShape="1">
              <a:gsLst>
                <a:gs pos="0">
                  <a:srgbClr val="182A4C"/>
                </a:gs>
                <a:gs pos="100000">
                  <a:srgbClr val="13213D"/>
                </a:gs>
              </a:gsLst>
              <a:lin ang="0" scaled="0"/>
            </a:gradFill>
            <a:ln w="9525">
              <a:solidFill>
                <a:srgbClr val="2A3F69"/>
              </a:solidFill>
            </a:ln>
          </p:spPr>
          <p:txBody>
            <a:bodyPr wrap="square" rtlCol="0" anchor="ctr"/>
            <a:lstStyle/>
            <a:p>
              <a:pPr algn="ctr"/>
              <a:endParaRPr/>
            </a:p>
          </p:txBody>
        </p:sp>
        <p:sp>
          <p:nvSpPr>
            <p:cNvPr id="58" name="Rounded Rectangle 57"/>
            <p:cNvSpPr/>
            <p:nvPr/>
          </p:nvSpPr>
          <p:spPr>
            <a:xfrm>
              <a:off x="685800" y="5312664"/>
              <a:ext cx="1051560" cy="502920"/>
            </a:xfrm>
            <a:prstGeom prst="roundRect">
              <a:avLst>
                <a:gd name="adj" fmla="val 30000"/>
              </a:avLst>
            </a:prstGeom>
            <a:solidFill>
              <a:srgbClr val="199E70">
                <a:alpha val="25000"/>
              </a:srgbClr>
            </a:solidFill>
            <a:ln w="12700">
              <a:solidFill>
                <a:srgbClr val="199E70"/>
              </a:solidFill>
            </a:ln>
          </p:spPr>
          <p:txBody>
            <a:bodyPr wrap="square" lIns="0" tIns="0" rIns="0" bIns="0" rtlCol="0" anchor="ctr">
              <a:noAutofit/>
            </a:bodyPr>
            <a:lstStyle/>
            <a:p>
              <a:pPr algn="ctr">
                <a:lnSpc>
                  <a:spcPct val="112000"/>
                </a:lnSpc>
                <a:spcAft>
                  <a:spcPts val="0"/>
                </a:spcAft>
              </a:pPr>
              <a:r>
                <a:rPr sz="1250" b="0" i="0">
                  <a:solidFill>
                    <a:srgbClr val="FFFFFF"/>
                  </a:solidFill>
                  <a:latin typeface="Segoe UI Semibold"/>
                </a:rPr>
                <a:t>NSGA-II</a:t>
              </a:r>
            </a:p>
          </p:txBody>
        </p:sp>
        <p:sp>
          <p:nvSpPr>
            <p:cNvPr id="59" name="TextBox 58"/>
            <p:cNvSpPr txBox="1"/>
            <p:nvPr/>
          </p:nvSpPr>
          <p:spPr>
            <a:xfrm>
              <a:off x="1920240" y="5239512"/>
              <a:ext cx="3657600" cy="320040"/>
            </a:xfrm>
            <a:prstGeom prst="rect">
              <a:avLst/>
            </a:prstGeom>
            <a:noFill/>
          </p:spPr>
          <p:txBody>
            <a:bodyPr wrap="square" lIns="0" tIns="0" rIns="0" bIns="0" anchor="t">
              <a:noAutofit/>
            </a:bodyPr>
            <a:lstStyle/>
            <a:p>
              <a:pPr algn="l">
                <a:lnSpc>
                  <a:spcPct val="112000"/>
                </a:lnSpc>
                <a:spcAft>
                  <a:spcPts val="0"/>
                </a:spcAft>
              </a:pPr>
              <a:r>
                <a:rPr sz="1350" b="0" i="0">
                  <a:solidFill>
                    <a:srgbClr val="FFFFFF"/>
                  </a:solidFill>
                  <a:latin typeface="Segoe UI Semibold"/>
                </a:rPr>
                <a:t>Multi-objective GA</a:t>
              </a:r>
            </a:p>
          </p:txBody>
        </p:sp>
        <p:sp>
          <p:nvSpPr>
            <p:cNvPr id="60" name="TextBox 59"/>
            <p:cNvSpPr txBox="1"/>
            <p:nvPr/>
          </p:nvSpPr>
          <p:spPr>
            <a:xfrm>
              <a:off x="1920240" y="5541264"/>
              <a:ext cx="3657600" cy="365760"/>
            </a:xfrm>
            <a:prstGeom prst="rect">
              <a:avLst/>
            </a:prstGeom>
            <a:noFill/>
          </p:spPr>
          <p:txBody>
            <a:bodyPr wrap="square" lIns="0" tIns="0" rIns="0" bIns="0" anchor="t">
              <a:noAutofit/>
            </a:bodyPr>
            <a:lstStyle/>
            <a:p>
              <a:pPr algn="l">
                <a:lnSpc>
                  <a:spcPct val="112000"/>
                </a:lnSpc>
                <a:spcAft>
                  <a:spcPts val="0"/>
                </a:spcAft>
              </a:pPr>
              <a:r>
                <a:rPr sz="1100" b="0" i="0">
                  <a:solidFill>
                    <a:srgbClr val="C9D2E3"/>
                  </a:solidFill>
                  <a:latin typeface="Segoe UI"/>
                </a:rPr>
                <a:t>Non-dominated sorting yields a Pareto front</a:t>
              </a:r>
            </a:p>
          </p:txBody>
        </p:sp>
      </p:grpSp>
      <p:sp>
        <p:nvSpPr>
          <p:cNvPr id="61" name="Rounded Rectangle 60"/>
          <p:cNvSpPr/>
          <p:nvPr/>
        </p:nvSpPr>
        <p:spPr>
          <a:xfrm>
            <a:off x="5897880" y="1627632"/>
            <a:ext cx="5742432" cy="4379976"/>
          </a:xfrm>
          <a:prstGeom prst="roundRect">
            <a:avLst>
              <a:gd name="adj" fmla="val 5000"/>
            </a:avLst>
          </a:prstGeom>
          <a:gradFill rotWithShape="1">
            <a:gsLst>
              <a:gs pos="0">
                <a:srgbClr val="182A4C"/>
              </a:gs>
              <a:gs pos="100000">
                <a:srgbClr val="13213D"/>
              </a:gs>
            </a:gsLst>
            <a:lin ang="5400000" scaled="0"/>
          </a:gradFill>
          <a:ln w="9525">
            <a:solidFill>
              <a:srgbClr val="2A3F69"/>
            </a:solidFill>
          </a:ln>
        </p:spPr>
        <p:txBody>
          <a:bodyPr wrap="square" rtlCol="0" anchor="ctr"/>
          <a:lstStyle/>
          <a:p>
            <a:pPr algn="ctr"/>
            <a:endParaRPr/>
          </a:p>
        </p:txBody>
      </p:sp>
      <p:graphicFrame>
        <p:nvGraphicFramePr>
          <p:cNvPr id="62" name="Chart 61"/>
          <p:cNvGraphicFramePr>
            <a:graphicFrameLocks noGrp="1"/>
          </p:cNvGraphicFramePr>
          <p:nvPr/>
        </p:nvGraphicFramePr>
        <p:xfrm>
          <a:off x="5989320" y="1737360"/>
          <a:ext cx="5559552" cy="42062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600"/>
                                        <p:tgtEl>
                                          <p:spTgt spid="36"/>
                                        </p:tgtEl>
                                      </p:cBhvr>
                                    </p:animEffect>
                                    <p:anim calcmode="lin" valueType="num">
                                      <p:cBhvr>
                                        <p:cTn id="8" dur="600" fill="hold"/>
                                        <p:tgtEl>
                                          <p:spTgt spid="36"/>
                                        </p:tgtEl>
                                        <p:attrNameLst>
                                          <p:attrName>ppt_x</p:attrName>
                                        </p:attrNameLst>
                                      </p:cBhvr>
                                      <p:tavLst>
                                        <p:tav tm="0">
                                          <p:val>
                                            <p:strVal val="#ppt_x"/>
                                          </p:val>
                                        </p:tav>
                                        <p:tav tm="100000">
                                          <p:val>
                                            <p:strVal val="#ppt_x"/>
                                          </p:val>
                                        </p:tav>
                                      </p:tavLst>
                                    </p:anim>
                                    <p:anim calcmode="lin" valueType="num">
                                      <p:cBhvr>
                                        <p:cTn id="9" dur="600" fill="hold"/>
                                        <p:tgtEl>
                                          <p:spTgt spid="36"/>
                                        </p:tgtEl>
                                        <p:attrNameLst>
                                          <p:attrName>ppt_y</p:attrName>
                                        </p:attrNameLst>
                                      </p:cBhvr>
                                      <p:tavLst>
                                        <p:tav tm="0">
                                          <p:val>
                                            <p:strVal val="#ppt_y+.08"/>
                                          </p:val>
                                        </p:tav>
                                        <p:tav tm="100000">
                                          <p:val>
                                            <p:strVal val="#ppt_y"/>
                                          </p:val>
                                        </p:tav>
                                      </p:tavLst>
                                    </p:anim>
                                  </p:childTnLst>
                                </p:cTn>
                              </p:par>
                              <p:par>
                                <p:cTn id="10" presetID="42" presetClass="entr" presetSubtype="0" fill="hold" nodeType="withEffect">
                                  <p:stCondLst>
                                    <p:cond delay="410"/>
                                  </p:stCondLst>
                                  <p:childTnLst>
                                    <p:set>
                                      <p:cBhvr>
                                        <p:cTn id="11" dur="1" fill="hold">
                                          <p:stCondLst>
                                            <p:cond delay="0"/>
                                          </p:stCondLst>
                                        </p:cTn>
                                        <p:tgtEl>
                                          <p:spTgt spid="41"/>
                                        </p:tgtEl>
                                        <p:attrNameLst>
                                          <p:attrName>style.visibility</p:attrName>
                                        </p:attrNameLst>
                                      </p:cBhvr>
                                      <p:to>
                                        <p:strVal val="visible"/>
                                      </p:to>
                                    </p:set>
                                    <p:animEffect transition="in" filter="fade">
                                      <p:cBhvr>
                                        <p:cTn id="12" dur="600"/>
                                        <p:tgtEl>
                                          <p:spTgt spid="41"/>
                                        </p:tgtEl>
                                      </p:cBhvr>
                                    </p:animEffect>
                                    <p:anim calcmode="lin" valueType="num">
                                      <p:cBhvr>
                                        <p:cTn id="13" dur="600" fill="hold"/>
                                        <p:tgtEl>
                                          <p:spTgt spid="41"/>
                                        </p:tgtEl>
                                        <p:attrNameLst>
                                          <p:attrName>ppt_x</p:attrName>
                                        </p:attrNameLst>
                                      </p:cBhvr>
                                      <p:tavLst>
                                        <p:tav tm="0">
                                          <p:val>
                                            <p:strVal val="#ppt_x"/>
                                          </p:val>
                                        </p:tav>
                                        <p:tav tm="100000">
                                          <p:val>
                                            <p:strVal val="#ppt_x"/>
                                          </p:val>
                                        </p:tav>
                                      </p:tavLst>
                                    </p:anim>
                                    <p:anim calcmode="lin" valueType="num">
                                      <p:cBhvr>
                                        <p:cTn id="14" dur="600" fill="hold"/>
                                        <p:tgtEl>
                                          <p:spTgt spid="41"/>
                                        </p:tgtEl>
                                        <p:attrNameLst>
                                          <p:attrName>ppt_y</p:attrName>
                                        </p:attrNameLst>
                                      </p:cBhvr>
                                      <p:tavLst>
                                        <p:tav tm="0">
                                          <p:val>
                                            <p:strVal val="#ppt_y+.08"/>
                                          </p:val>
                                        </p:tav>
                                        <p:tav tm="100000">
                                          <p:val>
                                            <p:strVal val="#ppt_y"/>
                                          </p:val>
                                        </p:tav>
                                      </p:tavLst>
                                    </p:anim>
                                  </p:childTnLst>
                                </p:cTn>
                              </p:par>
                              <p:par>
                                <p:cTn id="15" presetID="42" presetClass="entr" presetSubtype="0" fill="hold" nodeType="withEffect">
                                  <p:stCondLst>
                                    <p:cond delay="570"/>
                                  </p:stCondLst>
                                  <p:childTnLst>
                                    <p:set>
                                      <p:cBhvr>
                                        <p:cTn id="16" dur="1" fill="hold">
                                          <p:stCondLst>
                                            <p:cond delay="0"/>
                                          </p:stCondLst>
                                        </p:cTn>
                                        <p:tgtEl>
                                          <p:spTgt spid="46"/>
                                        </p:tgtEl>
                                        <p:attrNameLst>
                                          <p:attrName>style.visibility</p:attrName>
                                        </p:attrNameLst>
                                      </p:cBhvr>
                                      <p:to>
                                        <p:strVal val="visible"/>
                                      </p:to>
                                    </p:set>
                                    <p:animEffect transition="in" filter="fade">
                                      <p:cBhvr>
                                        <p:cTn id="17" dur="600"/>
                                        <p:tgtEl>
                                          <p:spTgt spid="46"/>
                                        </p:tgtEl>
                                      </p:cBhvr>
                                    </p:animEffect>
                                    <p:anim calcmode="lin" valueType="num">
                                      <p:cBhvr>
                                        <p:cTn id="18" dur="600" fill="hold"/>
                                        <p:tgtEl>
                                          <p:spTgt spid="46"/>
                                        </p:tgtEl>
                                        <p:attrNameLst>
                                          <p:attrName>ppt_x</p:attrName>
                                        </p:attrNameLst>
                                      </p:cBhvr>
                                      <p:tavLst>
                                        <p:tav tm="0">
                                          <p:val>
                                            <p:strVal val="#ppt_x"/>
                                          </p:val>
                                        </p:tav>
                                        <p:tav tm="100000">
                                          <p:val>
                                            <p:strVal val="#ppt_x"/>
                                          </p:val>
                                        </p:tav>
                                      </p:tavLst>
                                    </p:anim>
                                    <p:anim calcmode="lin" valueType="num">
                                      <p:cBhvr>
                                        <p:cTn id="19" dur="600" fill="hold"/>
                                        <p:tgtEl>
                                          <p:spTgt spid="46"/>
                                        </p:tgtEl>
                                        <p:attrNameLst>
                                          <p:attrName>ppt_y</p:attrName>
                                        </p:attrNameLst>
                                      </p:cBhvr>
                                      <p:tavLst>
                                        <p:tav tm="0">
                                          <p:val>
                                            <p:strVal val="#ppt_y+.08"/>
                                          </p:val>
                                        </p:tav>
                                        <p:tav tm="100000">
                                          <p:val>
                                            <p:strVal val="#ppt_y"/>
                                          </p:val>
                                        </p:tav>
                                      </p:tavLst>
                                    </p:anim>
                                  </p:childTnLst>
                                </p:cTn>
                              </p:par>
                              <p:par>
                                <p:cTn id="20" presetID="42" presetClass="entr" presetSubtype="0" fill="hold" nodeType="withEffect">
                                  <p:stCondLst>
                                    <p:cond delay="730"/>
                                  </p:stCondLst>
                                  <p:childTnLst>
                                    <p:set>
                                      <p:cBhvr>
                                        <p:cTn id="21" dur="1" fill="hold">
                                          <p:stCondLst>
                                            <p:cond delay="0"/>
                                          </p:stCondLst>
                                        </p:cTn>
                                        <p:tgtEl>
                                          <p:spTgt spid="51"/>
                                        </p:tgtEl>
                                        <p:attrNameLst>
                                          <p:attrName>style.visibility</p:attrName>
                                        </p:attrNameLst>
                                      </p:cBhvr>
                                      <p:to>
                                        <p:strVal val="visible"/>
                                      </p:to>
                                    </p:set>
                                    <p:animEffect transition="in" filter="fade">
                                      <p:cBhvr>
                                        <p:cTn id="22" dur="600"/>
                                        <p:tgtEl>
                                          <p:spTgt spid="51"/>
                                        </p:tgtEl>
                                      </p:cBhvr>
                                    </p:animEffect>
                                    <p:anim calcmode="lin" valueType="num">
                                      <p:cBhvr>
                                        <p:cTn id="23" dur="600" fill="hold"/>
                                        <p:tgtEl>
                                          <p:spTgt spid="51"/>
                                        </p:tgtEl>
                                        <p:attrNameLst>
                                          <p:attrName>ppt_x</p:attrName>
                                        </p:attrNameLst>
                                      </p:cBhvr>
                                      <p:tavLst>
                                        <p:tav tm="0">
                                          <p:val>
                                            <p:strVal val="#ppt_x"/>
                                          </p:val>
                                        </p:tav>
                                        <p:tav tm="100000">
                                          <p:val>
                                            <p:strVal val="#ppt_x"/>
                                          </p:val>
                                        </p:tav>
                                      </p:tavLst>
                                    </p:anim>
                                    <p:anim calcmode="lin" valueType="num">
                                      <p:cBhvr>
                                        <p:cTn id="24" dur="600" fill="hold"/>
                                        <p:tgtEl>
                                          <p:spTgt spid="51"/>
                                        </p:tgtEl>
                                        <p:attrNameLst>
                                          <p:attrName>ppt_y</p:attrName>
                                        </p:attrNameLst>
                                      </p:cBhvr>
                                      <p:tavLst>
                                        <p:tav tm="0">
                                          <p:val>
                                            <p:strVal val="#ppt_y+.08"/>
                                          </p:val>
                                        </p:tav>
                                        <p:tav tm="100000">
                                          <p:val>
                                            <p:strVal val="#ppt_y"/>
                                          </p:val>
                                        </p:tav>
                                      </p:tavLst>
                                    </p:anim>
                                  </p:childTnLst>
                                </p:cTn>
                              </p:par>
                              <p:par>
                                <p:cTn id="25" presetID="42" presetClass="entr" presetSubtype="0" fill="hold" nodeType="withEffect">
                                  <p:stCondLst>
                                    <p:cond delay="890"/>
                                  </p:stCondLst>
                                  <p:childTnLst>
                                    <p:set>
                                      <p:cBhvr>
                                        <p:cTn id="26" dur="1" fill="hold">
                                          <p:stCondLst>
                                            <p:cond delay="0"/>
                                          </p:stCondLst>
                                        </p:cTn>
                                        <p:tgtEl>
                                          <p:spTgt spid="56"/>
                                        </p:tgtEl>
                                        <p:attrNameLst>
                                          <p:attrName>style.visibility</p:attrName>
                                        </p:attrNameLst>
                                      </p:cBhvr>
                                      <p:to>
                                        <p:strVal val="visible"/>
                                      </p:to>
                                    </p:set>
                                    <p:animEffect transition="in" filter="fade">
                                      <p:cBhvr>
                                        <p:cTn id="27" dur="600"/>
                                        <p:tgtEl>
                                          <p:spTgt spid="56"/>
                                        </p:tgtEl>
                                      </p:cBhvr>
                                    </p:animEffect>
                                    <p:anim calcmode="lin" valueType="num">
                                      <p:cBhvr>
                                        <p:cTn id="28" dur="600" fill="hold"/>
                                        <p:tgtEl>
                                          <p:spTgt spid="56"/>
                                        </p:tgtEl>
                                        <p:attrNameLst>
                                          <p:attrName>ppt_x</p:attrName>
                                        </p:attrNameLst>
                                      </p:cBhvr>
                                      <p:tavLst>
                                        <p:tav tm="0">
                                          <p:val>
                                            <p:strVal val="#ppt_x"/>
                                          </p:val>
                                        </p:tav>
                                        <p:tav tm="100000">
                                          <p:val>
                                            <p:strVal val="#ppt_x"/>
                                          </p:val>
                                        </p:tav>
                                      </p:tavLst>
                                    </p:anim>
                                    <p:anim calcmode="lin" valueType="num">
                                      <p:cBhvr>
                                        <p:cTn id="29" dur="600" fill="hold"/>
                                        <p:tgtEl>
                                          <p:spTgt spid="56"/>
                                        </p:tgtEl>
                                        <p:attrNameLst>
                                          <p:attrName>ppt_y</p:attrName>
                                        </p:attrNameLst>
                                      </p:cBhvr>
                                      <p:tavLst>
                                        <p:tav tm="0">
                                          <p:val>
                                            <p:strVal val="#ppt_y+.08"/>
                                          </p:val>
                                        </p:tav>
                                        <p:tav tm="100000">
                                          <p:val>
                                            <p:strVal val="#ppt_y"/>
                                          </p:val>
                                        </p:tav>
                                      </p:tavLst>
                                    </p:anim>
                                  </p:childTnLst>
                                </p:cTn>
                              </p:par>
                              <p:par>
                                <p:cTn id="30" presetID="10" presetClass="entr" presetSubtype="0" fill="hold" grpId="0" nodeType="withEffect">
                                  <p:stCondLst>
                                    <p:cond delay="250"/>
                                  </p:stCondLst>
                                  <p:childTnLst>
                                    <p:set>
                                      <p:cBhvr>
                                        <p:cTn id="31" dur="1" fill="hold">
                                          <p:stCondLst>
                                            <p:cond delay="0"/>
                                          </p:stCondLst>
                                        </p:cTn>
                                        <p:tgtEl>
                                          <p:spTgt spid="61"/>
                                        </p:tgtEl>
                                        <p:attrNameLst>
                                          <p:attrName>style.visibility</p:attrName>
                                        </p:attrNameLst>
                                      </p:cBhvr>
                                      <p:to>
                                        <p:strVal val="visible"/>
                                      </p:to>
                                    </p:set>
                                    <p:animEffect transition="in" filter="fade">
                                      <p:cBhvr>
                                        <p:cTn id="32" dur="600"/>
                                        <p:tgtEl>
                                          <p:spTgt spid="61"/>
                                        </p:tgtEl>
                                      </p:cBhvr>
                                    </p:animEffect>
                                  </p:childTnLst>
                                </p:cTn>
                              </p:par>
                              <p:par>
                                <p:cTn id="33" presetID="10" presetClass="entr" presetSubtype="0" fill="hold" nodeType="withEffect">
                                  <p:stCondLst>
                                    <p:cond delay="410"/>
                                  </p:stCondLst>
                                  <p:childTnLst>
                                    <p:set>
                                      <p:cBhvr>
                                        <p:cTn id="34" dur="1" fill="hold">
                                          <p:stCondLst>
                                            <p:cond delay="0"/>
                                          </p:stCondLst>
                                        </p:cTn>
                                        <p:tgtEl>
                                          <p:spTgt spid="62"/>
                                        </p:tgtEl>
                                        <p:attrNameLst>
                                          <p:attrName>style.visibility</p:attrName>
                                        </p:attrNameLst>
                                      </p:cBhvr>
                                      <p:to>
                                        <p:strVal val="visible"/>
                                      </p:to>
                                    </p:set>
                                    <p:animEffect transition="in" filter="fade">
                                      <p:cBhvr>
                                        <p:cTn id="35" dur="9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900744" y="-2578753"/>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819624" y="4096077"/>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9995633" y="4986192"/>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RESOURCE ALLOCATION</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Machine Learning &amp; Deep Reinforcement Learning</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Resource Allocation</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lang="en-GB" sz="1000">
                <a:solidFill>
                  <a:srgbClr val="C9D2E3"/>
                </a:solidFill>
                <a:latin typeface="Segoe UI Semibold"/>
              </a:rPr>
              <a:t>23</a:t>
            </a:r>
            <a:r>
              <a:rPr sz="1000" b="0" i="0" dirty="0">
                <a:solidFill>
                  <a:srgbClr val="8C9AB5"/>
                </a:solidFill>
                <a:latin typeface="Segoe UI"/>
              </a:rPr>
              <a:t> / 30</a:t>
            </a:r>
          </a:p>
        </p:txBody>
      </p:sp>
      <p:sp>
        <p:nvSpPr>
          <p:cNvPr id="36" name="Rounded Rectangle 35"/>
          <p:cNvSpPr/>
          <p:nvPr/>
        </p:nvSpPr>
        <p:spPr>
          <a:xfrm>
            <a:off x="1280160" y="1691640"/>
            <a:ext cx="4023360" cy="1051560"/>
          </a:xfrm>
          <a:prstGeom prst="roundRect">
            <a:avLst>
              <a:gd name="adj" fmla="val 20000"/>
            </a:avLst>
          </a:prstGeom>
          <a:solidFill>
            <a:srgbClr val="9085E9">
              <a:alpha val="30000"/>
            </a:srgbClr>
          </a:solidFill>
          <a:ln w="15875">
            <a:solidFill>
              <a:srgbClr val="B5ADF5"/>
            </a:solidFill>
          </a:ln>
          <a:effectLst>
            <a:outerShdw blurRad="279400" dir="5400000" algn="t" rotWithShape="0">
              <a:srgbClr val="000000">
                <a:alpha val="45000"/>
              </a:srgbClr>
            </a:outerShdw>
          </a:effectLst>
        </p:spPr>
        <p:txBody>
          <a:bodyPr wrap="square" lIns="45720" tIns="45720" rIns="45720" bIns="45720" rtlCol="0" anchor="ctr">
            <a:noAutofit/>
          </a:bodyPr>
          <a:lstStyle/>
          <a:p>
            <a:pPr algn="ctr">
              <a:lnSpc>
                <a:spcPct val="112000"/>
              </a:lnSpc>
              <a:spcAft>
                <a:spcPts val="0"/>
              </a:spcAft>
            </a:pPr>
            <a:r>
              <a:rPr sz="1700" b="0" i="0">
                <a:solidFill>
                  <a:srgbClr val="FFFFFF"/>
                </a:solidFill>
                <a:latin typeface="Segoe UI Semibold"/>
              </a:rPr>
              <a:t>DRL agent</a:t>
            </a:r>
          </a:p>
          <a:p>
            <a:pPr algn="ctr">
              <a:lnSpc>
                <a:spcPct val="112000"/>
              </a:lnSpc>
              <a:spcAft>
                <a:spcPts val="0"/>
              </a:spcAft>
            </a:pPr>
            <a:r>
              <a:rPr sz="1150" b="0" i="0">
                <a:solidFill>
                  <a:srgbClr val="C9D2E3"/>
                </a:solidFill>
                <a:latin typeface="Segoe UI"/>
              </a:rPr>
              <a:t>policy  π(a | s)  ·  DQN · PPO · actor-critic</a:t>
            </a:r>
          </a:p>
        </p:txBody>
      </p:sp>
      <p:grpSp>
        <p:nvGrpSpPr>
          <p:cNvPr id="37" name="Group 36"/>
          <p:cNvGrpSpPr/>
          <p:nvPr/>
        </p:nvGrpSpPr>
        <p:grpSpPr>
          <a:xfrm>
            <a:off x="1280160" y="4160520"/>
            <a:ext cx="4023360" cy="1691640"/>
            <a:chOff x="1280160" y="4160520"/>
            <a:chExt cx="4023360" cy="1691640"/>
          </a:xfrm>
        </p:grpSpPr>
        <p:sp>
          <p:nvSpPr>
            <p:cNvPr id="38" name="Rounded Rectangle 37"/>
            <p:cNvSpPr/>
            <p:nvPr/>
          </p:nvSpPr>
          <p:spPr>
            <a:xfrm>
              <a:off x="1280160" y="4160520"/>
              <a:ext cx="4023360" cy="1691640"/>
            </a:xfrm>
            <a:prstGeom prst="roundRect">
              <a:avLst>
                <a:gd name="adj" fmla="val 12000"/>
              </a:avLst>
            </a:prstGeom>
            <a:gradFill rotWithShape="1">
              <a:gsLst>
                <a:gs pos="0">
                  <a:srgbClr val="182A4C"/>
                </a:gs>
                <a:gs pos="100000">
                  <a:srgbClr val="13213D"/>
                </a:gs>
              </a:gsLst>
              <a:lin ang="5400000" scaled="0"/>
            </a:gradFill>
            <a:ln w="15875">
              <a:solidFill>
                <a:srgbClr val="199E70"/>
              </a:solidFill>
            </a:ln>
          </p:spPr>
          <p:txBody>
            <a:bodyPr wrap="square" rtlCol="0" anchor="ctr"/>
            <a:lstStyle/>
            <a:p>
              <a:pPr algn="ctr"/>
              <a:endParaRPr/>
            </a:p>
          </p:txBody>
        </p:sp>
        <p:sp>
          <p:nvSpPr>
            <p:cNvPr id="39" name="TextBox 38"/>
            <p:cNvSpPr txBox="1"/>
            <p:nvPr/>
          </p:nvSpPr>
          <p:spPr>
            <a:xfrm>
              <a:off x="1280160" y="4224528"/>
              <a:ext cx="4023360" cy="365760"/>
            </a:xfrm>
            <a:prstGeom prst="rect">
              <a:avLst/>
            </a:prstGeom>
            <a:noFill/>
          </p:spPr>
          <p:txBody>
            <a:bodyPr wrap="square" lIns="0" tIns="0" rIns="0" bIns="0" anchor="t">
              <a:noAutofit/>
            </a:bodyPr>
            <a:lstStyle/>
            <a:p>
              <a:pPr algn="ctr">
                <a:lnSpc>
                  <a:spcPct val="112000"/>
                </a:lnSpc>
                <a:spcAft>
                  <a:spcPts val="0"/>
                </a:spcAft>
              </a:pPr>
              <a:r>
                <a:rPr sz="1500" b="0" i="0">
                  <a:solidFill>
                    <a:srgbClr val="FFFFFF"/>
                  </a:solidFill>
                  <a:latin typeface="Segoe UI Semibold"/>
                </a:rPr>
                <a:t>Multi-cloud environment</a:t>
              </a:r>
            </a:p>
          </p:txBody>
        </p:sp>
        <p:sp>
          <p:nvSpPr>
            <p:cNvPr id="40" name="Cloud 39"/>
            <p:cNvSpPr/>
            <p:nvPr/>
          </p:nvSpPr>
          <p:spPr>
            <a:xfrm>
              <a:off x="1600200" y="4709160"/>
              <a:ext cx="1051560" cy="658368"/>
            </a:xfrm>
            <a:prstGeom prst="cloud">
              <a:avLst/>
            </a:prstGeom>
            <a:solidFill>
              <a:srgbClr val="3987E5">
                <a:alpha val="75000"/>
              </a:srgbClr>
            </a:solidFill>
            <a:ln>
              <a:noFill/>
            </a:ln>
          </p:spPr>
          <p:txBody>
            <a:bodyPr wrap="square" rtlCol="0" anchor="ctr"/>
            <a:lstStyle/>
            <a:p>
              <a:pPr algn="ctr"/>
              <a:endParaRPr/>
            </a:p>
          </p:txBody>
        </p:sp>
        <p:sp>
          <p:nvSpPr>
            <p:cNvPr id="41" name="TextBox 40"/>
            <p:cNvSpPr txBox="1"/>
            <p:nvPr/>
          </p:nvSpPr>
          <p:spPr>
            <a:xfrm>
              <a:off x="1600200" y="4709160"/>
              <a:ext cx="1051560" cy="658368"/>
            </a:xfrm>
            <a:prstGeom prst="rect">
              <a:avLst/>
            </a:prstGeom>
            <a:noFill/>
          </p:spPr>
          <p:txBody>
            <a:bodyPr wrap="square" lIns="0" tIns="0" rIns="0" bIns="0" anchor="ctr">
              <a:noAutofit/>
            </a:bodyPr>
            <a:lstStyle/>
            <a:p>
              <a:pPr algn="ctr">
                <a:lnSpc>
                  <a:spcPct val="112000"/>
                </a:lnSpc>
                <a:spcAft>
                  <a:spcPts val="0"/>
                </a:spcAft>
              </a:pPr>
              <a:r>
                <a:rPr sz="1100" b="0" i="0">
                  <a:solidFill>
                    <a:srgbClr val="FFFFFF"/>
                  </a:solidFill>
                  <a:latin typeface="Segoe UI Semibold"/>
                </a:rPr>
                <a:t>AWS</a:t>
              </a:r>
            </a:p>
          </p:txBody>
        </p:sp>
        <p:sp>
          <p:nvSpPr>
            <p:cNvPr id="42" name="Cloud 41"/>
            <p:cNvSpPr/>
            <p:nvPr/>
          </p:nvSpPr>
          <p:spPr>
            <a:xfrm>
              <a:off x="2788920" y="4709160"/>
              <a:ext cx="1051560" cy="658368"/>
            </a:xfrm>
            <a:prstGeom prst="cloud">
              <a:avLst/>
            </a:prstGeom>
            <a:solidFill>
              <a:srgbClr val="9085E9">
                <a:alpha val="75000"/>
              </a:srgbClr>
            </a:solidFill>
            <a:ln>
              <a:noFill/>
            </a:ln>
          </p:spPr>
          <p:txBody>
            <a:bodyPr wrap="square" rtlCol="0" anchor="ctr"/>
            <a:lstStyle/>
            <a:p>
              <a:pPr algn="ctr"/>
              <a:endParaRPr/>
            </a:p>
          </p:txBody>
        </p:sp>
        <p:sp>
          <p:nvSpPr>
            <p:cNvPr id="43" name="TextBox 42"/>
            <p:cNvSpPr txBox="1"/>
            <p:nvPr/>
          </p:nvSpPr>
          <p:spPr>
            <a:xfrm>
              <a:off x="2788920" y="4709160"/>
              <a:ext cx="1051560" cy="658368"/>
            </a:xfrm>
            <a:prstGeom prst="rect">
              <a:avLst/>
            </a:prstGeom>
            <a:noFill/>
          </p:spPr>
          <p:txBody>
            <a:bodyPr wrap="square" lIns="0" tIns="0" rIns="0" bIns="0" anchor="ctr">
              <a:noAutofit/>
            </a:bodyPr>
            <a:lstStyle/>
            <a:p>
              <a:pPr algn="ctr">
                <a:lnSpc>
                  <a:spcPct val="112000"/>
                </a:lnSpc>
                <a:spcAft>
                  <a:spcPts val="0"/>
                </a:spcAft>
              </a:pPr>
              <a:r>
                <a:rPr sz="1100" b="0" i="0">
                  <a:solidFill>
                    <a:srgbClr val="FFFFFF"/>
                  </a:solidFill>
                  <a:latin typeface="Segoe UI Semibold"/>
                </a:rPr>
                <a:t>Azure</a:t>
              </a:r>
            </a:p>
          </p:txBody>
        </p:sp>
        <p:sp>
          <p:nvSpPr>
            <p:cNvPr id="44" name="Cloud 43"/>
            <p:cNvSpPr/>
            <p:nvPr/>
          </p:nvSpPr>
          <p:spPr>
            <a:xfrm>
              <a:off x="3977639" y="4709160"/>
              <a:ext cx="1051560" cy="658368"/>
            </a:xfrm>
            <a:prstGeom prst="cloud">
              <a:avLst/>
            </a:prstGeom>
            <a:solidFill>
              <a:srgbClr val="199E70">
                <a:alpha val="75000"/>
              </a:srgbClr>
            </a:solidFill>
            <a:ln>
              <a:noFill/>
            </a:ln>
          </p:spPr>
          <p:txBody>
            <a:bodyPr wrap="square" rtlCol="0" anchor="ctr"/>
            <a:lstStyle/>
            <a:p>
              <a:pPr algn="ctr"/>
              <a:endParaRPr/>
            </a:p>
          </p:txBody>
        </p:sp>
        <p:sp>
          <p:nvSpPr>
            <p:cNvPr id="45" name="TextBox 44"/>
            <p:cNvSpPr txBox="1"/>
            <p:nvPr/>
          </p:nvSpPr>
          <p:spPr>
            <a:xfrm>
              <a:off x="3977639" y="4709160"/>
              <a:ext cx="1051560" cy="658368"/>
            </a:xfrm>
            <a:prstGeom prst="rect">
              <a:avLst/>
            </a:prstGeom>
            <a:noFill/>
          </p:spPr>
          <p:txBody>
            <a:bodyPr wrap="square" lIns="0" tIns="0" rIns="0" bIns="0" anchor="ctr">
              <a:noAutofit/>
            </a:bodyPr>
            <a:lstStyle/>
            <a:p>
              <a:pPr algn="ctr">
                <a:lnSpc>
                  <a:spcPct val="112000"/>
                </a:lnSpc>
                <a:spcAft>
                  <a:spcPts val="0"/>
                </a:spcAft>
              </a:pPr>
              <a:r>
                <a:rPr sz="1100" b="0" i="0">
                  <a:solidFill>
                    <a:srgbClr val="FFFFFF"/>
                  </a:solidFill>
                  <a:latin typeface="Segoe UI Semibold"/>
                </a:rPr>
                <a:t>GCP</a:t>
              </a:r>
            </a:p>
          </p:txBody>
        </p:sp>
      </p:grpSp>
      <p:grpSp>
        <p:nvGrpSpPr>
          <p:cNvPr id="46" name="Group 45"/>
          <p:cNvGrpSpPr/>
          <p:nvPr/>
        </p:nvGrpSpPr>
        <p:grpSpPr>
          <a:xfrm>
            <a:off x="4663440" y="2743200"/>
            <a:ext cx="1874520" cy="1417320"/>
            <a:chOff x="4663440" y="2743200"/>
            <a:chExt cx="1874520" cy="1417320"/>
          </a:xfrm>
        </p:grpSpPr>
        <p:cxnSp>
          <p:nvCxnSpPr>
            <p:cNvPr id="47" name="Connector 46"/>
            <p:cNvCxnSpPr/>
            <p:nvPr/>
          </p:nvCxnSpPr>
          <p:spPr>
            <a:xfrm>
              <a:off x="4663440" y="2743200"/>
              <a:ext cx="0" cy="1417320"/>
            </a:xfrm>
            <a:prstGeom prst="line">
              <a:avLst/>
            </a:prstGeom>
            <a:ln w="28575">
              <a:solidFill>
                <a:srgbClr val="D95926"/>
              </a:solidFill>
              <a:tailEnd type="triangle" w="med" len="med"/>
            </a:ln>
          </p:spPr>
        </p:cxnSp>
        <p:sp>
          <p:nvSpPr>
            <p:cNvPr id="48" name="TextBox 47"/>
            <p:cNvSpPr txBox="1"/>
            <p:nvPr/>
          </p:nvSpPr>
          <p:spPr>
            <a:xfrm>
              <a:off x="4800600" y="3063240"/>
              <a:ext cx="1737360" cy="822960"/>
            </a:xfrm>
            <a:prstGeom prst="rect">
              <a:avLst/>
            </a:prstGeom>
            <a:noFill/>
          </p:spPr>
          <p:txBody>
            <a:bodyPr wrap="square" lIns="0" tIns="0" rIns="0" bIns="0" anchor="t">
              <a:noAutofit/>
            </a:bodyPr>
            <a:lstStyle/>
            <a:p>
              <a:pPr algn="l">
                <a:lnSpc>
                  <a:spcPct val="112000"/>
                </a:lnSpc>
                <a:spcAft>
                  <a:spcPts val="0"/>
                </a:spcAft>
              </a:pPr>
              <a:r>
                <a:rPr sz="1250" b="0" i="0">
                  <a:solidFill>
                    <a:srgbClr val="FFFFFF"/>
                  </a:solidFill>
                  <a:latin typeface="Segoe UI Semibold"/>
                </a:rPr>
                <a:t>Action  aₜ</a:t>
              </a:r>
            </a:p>
            <a:p>
              <a:pPr algn="l">
                <a:lnSpc>
                  <a:spcPct val="112000"/>
                </a:lnSpc>
                <a:spcAft>
                  <a:spcPts val="0"/>
                </a:spcAft>
              </a:pPr>
              <a:r>
                <a:rPr sz="1000" b="0" i="0">
                  <a:solidFill>
                    <a:srgbClr val="8C9AB5"/>
                  </a:solidFill>
                  <a:latin typeface="Segoe UI"/>
                </a:rPr>
                <a:t>place · scale · migrate</a:t>
              </a:r>
            </a:p>
          </p:txBody>
        </p:sp>
      </p:grpSp>
      <p:grpSp>
        <p:nvGrpSpPr>
          <p:cNvPr id="49" name="Group 48"/>
          <p:cNvGrpSpPr/>
          <p:nvPr/>
        </p:nvGrpSpPr>
        <p:grpSpPr>
          <a:xfrm>
            <a:off x="228600" y="2743200"/>
            <a:ext cx="1691640" cy="1417320"/>
            <a:chOff x="228600" y="2743200"/>
            <a:chExt cx="1691640" cy="1417320"/>
          </a:xfrm>
        </p:grpSpPr>
        <p:cxnSp>
          <p:nvCxnSpPr>
            <p:cNvPr id="50" name="Connector 49"/>
            <p:cNvCxnSpPr/>
            <p:nvPr/>
          </p:nvCxnSpPr>
          <p:spPr>
            <a:xfrm flipV="1">
              <a:off x="1920240" y="2743200"/>
              <a:ext cx="0" cy="1417320"/>
            </a:xfrm>
            <a:prstGeom prst="line">
              <a:avLst/>
            </a:prstGeom>
            <a:ln w="28575">
              <a:solidFill>
                <a:srgbClr val="199E70"/>
              </a:solidFill>
              <a:tailEnd type="triangle" w="med" len="med"/>
            </a:ln>
          </p:spPr>
        </p:cxnSp>
        <p:sp>
          <p:nvSpPr>
            <p:cNvPr id="51" name="TextBox 50"/>
            <p:cNvSpPr txBox="1"/>
            <p:nvPr/>
          </p:nvSpPr>
          <p:spPr>
            <a:xfrm>
              <a:off x="228600" y="3063240"/>
              <a:ext cx="1600200" cy="822960"/>
            </a:xfrm>
            <a:prstGeom prst="rect">
              <a:avLst/>
            </a:prstGeom>
            <a:noFill/>
          </p:spPr>
          <p:txBody>
            <a:bodyPr wrap="square" lIns="0" tIns="0" rIns="0" bIns="0" anchor="t">
              <a:noAutofit/>
            </a:bodyPr>
            <a:lstStyle/>
            <a:p>
              <a:pPr algn="r">
                <a:lnSpc>
                  <a:spcPct val="112000"/>
                </a:lnSpc>
                <a:spcAft>
                  <a:spcPts val="0"/>
                </a:spcAft>
              </a:pPr>
              <a:r>
                <a:rPr sz="1250" b="0" i="0">
                  <a:solidFill>
                    <a:srgbClr val="FFFFFF"/>
                  </a:solidFill>
                  <a:latin typeface="Segoe UI Semibold"/>
                </a:rPr>
                <a:t>State  sₜ₊₁</a:t>
              </a:r>
            </a:p>
            <a:p>
              <a:pPr algn="r">
                <a:lnSpc>
                  <a:spcPct val="112000"/>
                </a:lnSpc>
                <a:spcAft>
                  <a:spcPts val="0"/>
                </a:spcAft>
              </a:pPr>
              <a:r>
                <a:rPr sz="1000" b="0" i="0">
                  <a:solidFill>
                    <a:srgbClr val="8C9AB5"/>
                  </a:solidFill>
                  <a:latin typeface="Segoe UI"/>
                </a:rPr>
                <a:t>utilization · queues · prices</a:t>
              </a:r>
            </a:p>
          </p:txBody>
        </p:sp>
      </p:grpSp>
      <p:grpSp>
        <p:nvGrpSpPr>
          <p:cNvPr id="52" name="Group 51"/>
          <p:cNvGrpSpPr/>
          <p:nvPr/>
        </p:nvGrpSpPr>
        <p:grpSpPr>
          <a:xfrm>
            <a:off x="3154680" y="2743200"/>
            <a:ext cx="1645920" cy="1417320"/>
            <a:chOff x="3154680" y="2743200"/>
            <a:chExt cx="1645920" cy="1417320"/>
          </a:xfrm>
        </p:grpSpPr>
        <p:cxnSp>
          <p:nvCxnSpPr>
            <p:cNvPr id="53" name="Connector 52"/>
            <p:cNvCxnSpPr/>
            <p:nvPr/>
          </p:nvCxnSpPr>
          <p:spPr>
            <a:xfrm flipV="1">
              <a:off x="3154680" y="2743200"/>
              <a:ext cx="0" cy="1417320"/>
            </a:xfrm>
            <a:prstGeom prst="line">
              <a:avLst/>
            </a:prstGeom>
            <a:ln w="28575">
              <a:solidFill>
                <a:srgbClr val="3987E5"/>
              </a:solidFill>
              <a:tailEnd type="triangle" w="med" len="med"/>
            </a:ln>
          </p:spPr>
        </p:cxnSp>
        <p:sp>
          <p:nvSpPr>
            <p:cNvPr id="54" name="TextBox 53"/>
            <p:cNvSpPr txBox="1"/>
            <p:nvPr/>
          </p:nvSpPr>
          <p:spPr>
            <a:xfrm>
              <a:off x="3291840" y="3063240"/>
              <a:ext cx="1508760" cy="822960"/>
            </a:xfrm>
            <a:prstGeom prst="rect">
              <a:avLst/>
            </a:prstGeom>
            <a:noFill/>
          </p:spPr>
          <p:txBody>
            <a:bodyPr wrap="square" lIns="0" tIns="0" rIns="0" bIns="0" anchor="t">
              <a:noAutofit/>
            </a:bodyPr>
            <a:lstStyle/>
            <a:p>
              <a:pPr algn="l">
                <a:lnSpc>
                  <a:spcPct val="112000"/>
                </a:lnSpc>
                <a:spcAft>
                  <a:spcPts val="0"/>
                </a:spcAft>
              </a:pPr>
              <a:r>
                <a:rPr sz="1250" b="0" i="0">
                  <a:solidFill>
                    <a:srgbClr val="FFFFFF"/>
                  </a:solidFill>
                  <a:latin typeface="Segoe UI Semibold"/>
                </a:rPr>
                <a:t>Reward  rₜ₊₁</a:t>
              </a:r>
            </a:p>
            <a:p>
              <a:pPr algn="l">
                <a:lnSpc>
                  <a:spcPct val="112000"/>
                </a:lnSpc>
                <a:spcAft>
                  <a:spcPts val="0"/>
                </a:spcAft>
              </a:pPr>
              <a:r>
                <a:rPr sz="1000" b="0" i="0">
                  <a:solidFill>
                    <a:srgbClr val="8C9AB5"/>
                  </a:solidFill>
                  <a:latin typeface="Segoe UI"/>
                </a:rPr>
                <a:t>− cost − SLA penalty</a:t>
              </a:r>
            </a:p>
          </p:txBody>
        </p:sp>
      </p:grpSp>
      <p:grpSp>
        <p:nvGrpSpPr>
          <p:cNvPr id="55" name="Group 54"/>
          <p:cNvGrpSpPr/>
          <p:nvPr/>
        </p:nvGrpSpPr>
        <p:grpSpPr>
          <a:xfrm>
            <a:off x="6080760" y="1645920"/>
            <a:ext cx="5559552" cy="1325880"/>
            <a:chOff x="6080760" y="1645920"/>
            <a:chExt cx="5559552" cy="1325880"/>
          </a:xfrm>
        </p:grpSpPr>
        <p:sp>
          <p:nvSpPr>
            <p:cNvPr id="56" name="Rounded Rectangle 55"/>
            <p:cNvSpPr/>
            <p:nvPr/>
          </p:nvSpPr>
          <p:spPr>
            <a:xfrm>
              <a:off x="6080760" y="1645920"/>
              <a:ext cx="5559552" cy="1325880"/>
            </a:xfrm>
            <a:prstGeom prst="roundRect">
              <a:avLst>
                <a:gd name="adj" fmla="val 12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57" name="Rectangle 56"/>
            <p:cNvSpPr/>
            <p:nvPr/>
          </p:nvSpPr>
          <p:spPr>
            <a:xfrm>
              <a:off x="6080760" y="1901952"/>
              <a:ext cx="45720" cy="384048"/>
            </a:xfrm>
            <a:prstGeom prst="rect">
              <a:avLst/>
            </a:prstGeom>
            <a:solidFill>
              <a:srgbClr val="3987E5"/>
            </a:solidFill>
            <a:ln>
              <a:noFill/>
            </a:ln>
          </p:spPr>
          <p:txBody>
            <a:bodyPr wrap="square" rtlCol="0" anchor="ctr"/>
            <a:lstStyle/>
            <a:p>
              <a:pPr algn="ctr"/>
              <a:endParaRPr/>
            </a:p>
          </p:txBody>
        </p:sp>
        <p:sp>
          <p:nvSpPr>
            <p:cNvPr id="58" name="TextBox 57"/>
            <p:cNvSpPr txBox="1"/>
            <p:nvPr/>
          </p:nvSpPr>
          <p:spPr>
            <a:xfrm>
              <a:off x="6336792" y="1847088"/>
              <a:ext cx="5120640" cy="411480"/>
            </a:xfrm>
            <a:prstGeom prst="rect">
              <a:avLst/>
            </a:prstGeom>
            <a:noFill/>
          </p:spPr>
          <p:txBody>
            <a:bodyPr wrap="square" lIns="0" tIns="0" rIns="0" bIns="0" anchor="t">
              <a:noAutofit/>
            </a:bodyPr>
            <a:lstStyle/>
            <a:p>
              <a:pPr algn="l">
                <a:lnSpc>
                  <a:spcPct val="112000"/>
                </a:lnSpc>
                <a:spcAft>
                  <a:spcPts val="0"/>
                </a:spcAft>
              </a:pPr>
              <a:r>
                <a:rPr sz="1500" b="0" i="0">
                  <a:solidFill>
                    <a:srgbClr val="FFFFFF"/>
                  </a:solidFill>
                  <a:latin typeface="Segoe UI Semibold"/>
                </a:rPr>
                <a:t>Workload forecasting</a:t>
              </a:r>
            </a:p>
          </p:txBody>
        </p:sp>
        <p:sp>
          <p:nvSpPr>
            <p:cNvPr id="59" name="TextBox 58"/>
            <p:cNvSpPr txBox="1"/>
            <p:nvPr/>
          </p:nvSpPr>
          <p:spPr>
            <a:xfrm>
              <a:off x="6355080" y="2212848"/>
              <a:ext cx="5056632" cy="621792"/>
            </a:xfrm>
            <a:prstGeom prst="rect">
              <a:avLst/>
            </a:prstGeom>
            <a:noFill/>
          </p:spPr>
          <p:txBody>
            <a:bodyPr wrap="square" lIns="0" tIns="0" rIns="0" bIns="0" anchor="t">
              <a:noAutofit/>
            </a:bodyPr>
            <a:lstStyle/>
            <a:p>
              <a:pPr algn="l">
                <a:lnSpc>
                  <a:spcPct val="115000"/>
                </a:lnSpc>
                <a:spcAft>
                  <a:spcPts val="400"/>
                </a:spcAft>
              </a:pPr>
              <a:r>
                <a:rPr sz="1250" b="0" i="0">
                  <a:solidFill>
                    <a:srgbClr val="C9D2E3"/>
                  </a:solidFill>
                  <a:latin typeface="Segoe UI"/>
                </a:rPr>
                <a:t>ARIMA, Prophet, LSTM and transformers predict demand to provision capacity ahead of peaks.</a:t>
              </a:r>
            </a:p>
          </p:txBody>
        </p:sp>
      </p:grpSp>
      <p:grpSp>
        <p:nvGrpSpPr>
          <p:cNvPr id="60" name="Group 59"/>
          <p:cNvGrpSpPr/>
          <p:nvPr/>
        </p:nvGrpSpPr>
        <p:grpSpPr>
          <a:xfrm>
            <a:off x="6080760" y="3108960"/>
            <a:ext cx="5559552" cy="1325880"/>
            <a:chOff x="6080760" y="3108960"/>
            <a:chExt cx="5559552" cy="1325880"/>
          </a:xfrm>
        </p:grpSpPr>
        <p:sp>
          <p:nvSpPr>
            <p:cNvPr id="61" name="Rounded Rectangle 60"/>
            <p:cNvSpPr/>
            <p:nvPr/>
          </p:nvSpPr>
          <p:spPr>
            <a:xfrm>
              <a:off x="6080760" y="3108960"/>
              <a:ext cx="5559552" cy="1325880"/>
            </a:xfrm>
            <a:prstGeom prst="roundRect">
              <a:avLst>
                <a:gd name="adj" fmla="val 12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62" name="Rectangle 61"/>
            <p:cNvSpPr/>
            <p:nvPr/>
          </p:nvSpPr>
          <p:spPr>
            <a:xfrm>
              <a:off x="6080760" y="3364992"/>
              <a:ext cx="45720" cy="384048"/>
            </a:xfrm>
            <a:prstGeom prst="rect">
              <a:avLst/>
            </a:prstGeom>
            <a:solidFill>
              <a:srgbClr val="9085E9"/>
            </a:solidFill>
            <a:ln>
              <a:noFill/>
            </a:ln>
          </p:spPr>
          <p:txBody>
            <a:bodyPr wrap="square" rtlCol="0" anchor="ctr"/>
            <a:lstStyle/>
            <a:p>
              <a:pPr algn="ctr"/>
              <a:endParaRPr/>
            </a:p>
          </p:txBody>
        </p:sp>
        <p:sp>
          <p:nvSpPr>
            <p:cNvPr id="63" name="TextBox 62"/>
            <p:cNvSpPr txBox="1"/>
            <p:nvPr/>
          </p:nvSpPr>
          <p:spPr>
            <a:xfrm>
              <a:off x="6336792" y="3310128"/>
              <a:ext cx="5120640" cy="411480"/>
            </a:xfrm>
            <a:prstGeom prst="rect">
              <a:avLst/>
            </a:prstGeom>
            <a:noFill/>
          </p:spPr>
          <p:txBody>
            <a:bodyPr wrap="square" lIns="0" tIns="0" rIns="0" bIns="0" anchor="t">
              <a:noAutofit/>
            </a:bodyPr>
            <a:lstStyle/>
            <a:p>
              <a:pPr algn="l">
                <a:lnSpc>
                  <a:spcPct val="112000"/>
                </a:lnSpc>
                <a:spcAft>
                  <a:spcPts val="0"/>
                </a:spcAft>
              </a:pPr>
              <a:r>
                <a:rPr sz="1500" b="0" i="0">
                  <a:solidFill>
                    <a:srgbClr val="FFFFFF"/>
                  </a:solidFill>
                  <a:latin typeface="Segoe UI Semibold"/>
                </a:rPr>
                <a:t>Learned schedulers</a:t>
              </a:r>
            </a:p>
          </p:txBody>
        </p:sp>
        <p:sp>
          <p:nvSpPr>
            <p:cNvPr id="64" name="TextBox 63"/>
            <p:cNvSpPr txBox="1"/>
            <p:nvPr/>
          </p:nvSpPr>
          <p:spPr>
            <a:xfrm>
              <a:off x="6355080" y="3675888"/>
              <a:ext cx="5056632" cy="621792"/>
            </a:xfrm>
            <a:prstGeom prst="rect">
              <a:avLst/>
            </a:prstGeom>
            <a:noFill/>
          </p:spPr>
          <p:txBody>
            <a:bodyPr wrap="square" lIns="0" tIns="0" rIns="0" bIns="0" anchor="t">
              <a:noAutofit/>
            </a:bodyPr>
            <a:lstStyle/>
            <a:p>
              <a:pPr algn="l">
                <a:lnSpc>
                  <a:spcPct val="115000"/>
                </a:lnSpc>
                <a:spcAft>
                  <a:spcPts val="400"/>
                </a:spcAft>
              </a:pPr>
              <a:r>
                <a:rPr sz="1250" b="0" i="0">
                  <a:solidFill>
                    <a:srgbClr val="C9D2E3"/>
                  </a:solidFill>
                  <a:latin typeface="Segoe UI"/>
                </a:rPr>
                <a:t>DRL agents learn placement, scaling and migration policies that adapt to changing prices and load.</a:t>
              </a:r>
            </a:p>
          </p:txBody>
        </p:sp>
      </p:grpSp>
      <p:grpSp>
        <p:nvGrpSpPr>
          <p:cNvPr id="65" name="Group 64"/>
          <p:cNvGrpSpPr/>
          <p:nvPr/>
        </p:nvGrpSpPr>
        <p:grpSpPr>
          <a:xfrm>
            <a:off x="6080760" y="4572000"/>
            <a:ext cx="5559552" cy="1325880"/>
            <a:chOff x="6080760" y="4572000"/>
            <a:chExt cx="5559552" cy="1325880"/>
          </a:xfrm>
        </p:grpSpPr>
        <p:sp>
          <p:nvSpPr>
            <p:cNvPr id="66" name="Rounded Rectangle 65"/>
            <p:cNvSpPr/>
            <p:nvPr/>
          </p:nvSpPr>
          <p:spPr>
            <a:xfrm>
              <a:off x="6080760" y="4572000"/>
              <a:ext cx="5559552" cy="1325880"/>
            </a:xfrm>
            <a:prstGeom prst="roundRect">
              <a:avLst>
                <a:gd name="adj" fmla="val 12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67" name="Rectangle 66"/>
            <p:cNvSpPr/>
            <p:nvPr/>
          </p:nvSpPr>
          <p:spPr>
            <a:xfrm>
              <a:off x="6080760" y="4828032"/>
              <a:ext cx="45720" cy="384048"/>
            </a:xfrm>
            <a:prstGeom prst="rect">
              <a:avLst/>
            </a:prstGeom>
            <a:solidFill>
              <a:srgbClr val="D95926"/>
            </a:solidFill>
            <a:ln>
              <a:noFill/>
            </a:ln>
          </p:spPr>
          <p:txBody>
            <a:bodyPr wrap="square" rtlCol="0" anchor="ctr"/>
            <a:lstStyle/>
            <a:p>
              <a:pPr algn="ctr"/>
              <a:endParaRPr/>
            </a:p>
          </p:txBody>
        </p:sp>
        <p:sp>
          <p:nvSpPr>
            <p:cNvPr id="68" name="TextBox 67"/>
            <p:cNvSpPr txBox="1"/>
            <p:nvPr/>
          </p:nvSpPr>
          <p:spPr>
            <a:xfrm>
              <a:off x="6336792" y="4773168"/>
              <a:ext cx="5120640" cy="411480"/>
            </a:xfrm>
            <a:prstGeom prst="rect">
              <a:avLst/>
            </a:prstGeom>
            <a:noFill/>
          </p:spPr>
          <p:txBody>
            <a:bodyPr wrap="square" lIns="0" tIns="0" rIns="0" bIns="0" anchor="t">
              <a:noAutofit/>
            </a:bodyPr>
            <a:lstStyle/>
            <a:p>
              <a:pPr algn="l">
                <a:lnSpc>
                  <a:spcPct val="112000"/>
                </a:lnSpc>
                <a:spcAft>
                  <a:spcPts val="0"/>
                </a:spcAft>
              </a:pPr>
              <a:r>
                <a:rPr sz="1500" b="0" i="0">
                  <a:solidFill>
                    <a:srgbClr val="FFFFFF"/>
                  </a:solidFill>
                  <a:latin typeface="Segoe UI Semibold"/>
                </a:rPr>
                <a:t>Open challenges</a:t>
              </a:r>
            </a:p>
          </p:txBody>
        </p:sp>
        <p:sp>
          <p:nvSpPr>
            <p:cNvPr id="69" name="TextBox 68"/>
            <p:cNvSpPr txBox="1"/>
            <p:nvPr/>
          </p:nvSpPr>
          <p:spPr>
            <a:xfrm>
              <a:off x="6355080" y="5138928"/>
              <a:ext cx="5056632" cy="621792"/>
            </a:xfrm>
            <a:prstGeom prst="rect">
              <a:avLst/>
            </a:prstGeom>
            <a:noFill/>
          </p:spPr>
          <p:txBody>
            <a:bodyPr wrap="square" lIns="0" tIns="0" rIns="0" bIns="0" anchor="t">
              <a:noAutofit/>
            </a:bodyPr>
            <a:lstStyle/>
            <a:p>
              <a:pPr algn="l">
                <a:lnSpc>
                  <a:spcPct val="115000"/>
                </a:lnSpc>
                <a:spcAft>
                  <a:spcPts val="400"/>
                </a:spcAft>
              </a:pPr>
              <a:r>
                <a:rPr sz="1250" b="0" i="0">
                  <a:solidFill>
                    <a:srgbClr val="C9D2E3"/>
                  </a:solidFill>
                  <a:latin typeface="Segoe UI"/>
                </a:rPr>
                <a:t>Training cost, sim-to-real gap, safe exploration under SLAs, and explainability for operators.</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250"/>
                                  </p:stCondLst>
                                  <p:childTnLst>
                                    <p:set>
                                      <p:cBhvr>
                                        <p:cTn id="6" dur="1" fill="hold">
                                          <p:stCondLst>
                                            <p:cond delay="0"/>
                                          </p:stCondLst>
                                        </p:cTn>
                                        <p:tgtEl>
                                          <p:spTgt spid="36"/>
                                        </p:tgtEl>
                                        <p:attrNameLst>
                                          <p:attrName>style.visibility</p:attrName>
                                        </p:attrNameLst>
                                      </p:cBhvr>
                                      <p:to>
                                        <p:strVal val="visible"/>
                                      </p:to>
                                    </p:set>
                                    <p:anim calcmode="lin" valueType="num">
                                      <p:cBhvr>
                                        <p:cTn id="7" dur="600" fill="hold"/>
                                        <p:tgtEl>
                                          <p:spTgt spid="36"/>
                                        </p:tgtEl>
                                        <p:attrNameLst>
                                          <p:attrName>ppt_w</p:attrName>
                                        </p:attrNameLst>
                                      </p:cBhvr>
                                      <p:tavLst>
                                        <p:tav tm="0">
                                          <p:val>
                                            <p:fltVal val="0"/>
                                          </p:val>
                                        </p:tav>
                                        <p:tav tm="100000">
                                          <p:val>
                                            <p:strVal val="#ppt_w"/>
                                          </p:val>
                                        </p:tav>
                                      </p:tavLst>
                                    </p:anim>
                                    <p:anim calcmode="lin" valueType="num">
                                      <p:cBhvr>
                                        <p:cTn id="8" dur="600" fill="hold"/>
                                        <p:tgtEl>
                                          <p:spTgt spid="36"/>
                                        </p:tgtEl>
                                        <p:attrNameLst>
                                          <p:attrName>ppt_h</p:attrName>
                                        </p:attrNameLst>
                                      </p:cBhvr>
                                      <p:tavLst>
                                        <p:tav tm="0">
                                          <p:val>
                                            <p:fltVal val="0"/>
                                          </p:val>
                                        </p:tav>
                                        <p:tav tm="100000">
                                          <p:val>
                                            <p:strVal val="#ppt_h"/>
                                          </p:val>
                                        </p:tav>
                                      </p:tavLst>
                                    </p:anim>
                                    <p:animEffect transition="in" filter="fade">
                                      <p:cBhvr>
                                        <p:cTn id="9" dur="600"/>
                                        <p:tgtEl>
                                          <p:spTgt spid="36"/>
                                        </p:tgtEl>
                                      </p:cBhvr>
                                    </p:animEffect>
                                  </p:childTnLst>
                                </p:cTn>
                              </p:par>
                              <p:par>
                                <p:cTn id="10" presetID="53" presetClass="entr" presetSubtype="16" fill="hold" nodeType="withEffect">
                                  <p:stCondLst>
                                    <p:cond delay="410"/>
                                  </p:stCondLst>
                                  <p:childTnLst>
                                    <p:set>
                                      <p:cBhvr>
                                        <p:cTn id="11" dur="1" fill="hold">
                                          <p:stCondLst>
                                            <p:cond delay="0"/>
                                          </p:stCondLst>
                                        </p:cTn>
                                        <p:tgtEl>
                                          <p:spTgt spid="37"/>
                                        </p:tgtEl>
                                        <p:attrNameLst>
                                          <p:attrName>style.visibility</p:attrName>
                                        </p:attrNameLst>
                                      </p:cBhvr>
                                      <p:to>
                                        <p:strVal val="visible"/>
                                      </p:to>
                                    </p:set>
                                    <p:anim calcmode="lin" valueType="num">
                                      <p:cBhvr>
                                        <p:cTn id="12" dur="600" fill="hold"/>
                                        <p:tgtEl>
                                          <p:spTgt spid="37"/>
                                        </p:tgtEl>
                                        <p:attrNameLst>
                                          <p:attrName>ppt_w</p:attrName>
                                        </p:attrNameLst>
                                      </p:cBhvr>
                                      <p:tavLst>
                                        <p:tav tm="0">
                                          <p:val>
                                            <p:fltVal val="0"/>
                                          </p:val>
                                        </p:tav>
                                        <p:tav tm="100000">
                                          <p:val>
                                            <p:strVal val="#ppt_w"/>
                                          </p:val>
                                        </p:tav>
                                      </p:tavLst>
                                    </p:anim>
                                    <p:anim calcmode="lin" valueType="num">
                                      <p:cBhvr>
                                        <p:cTn id="13" dur="600" fill="hold"/>
                                        <p:tgtEl>
                                          <p:spTgt spid="37"/>
                                        </p:tgtEl>
                                        <p:attrNameLst>
                                          <p:attrName>ppt_h</p:attrName>
                                        </p:attrNameLst>
                                      </p:cBhvr>
                                      <p:tavLst>
                                        <p:tav tm="0">
                                          <p:val>
                                            <p:fltVal val="0"/>
                                          </p:val>
                                        </p:tav>
                                        <p:tav tm="100000">
                                          <p:val>
                                            <p:strVal val="#ppt_h"/>
                                          </p:val>
                                        </p:tav>
                                      </p:tavLst>
                                    </p:anim>
                                    <p:animEffect transition="in" filter="fade">
                                      <p:cBhvr>
                                        <p:cTn id="14" dur="600"/>
                                        <p:tgtEl>
                                          <p:spTgt spid="37"/>
                                        </p:tgtEl>
                                      </p:cBhvr>
                                    </p:animEffect>
                                  </p:childTnLst>
                                </p:cTn>
                              </p:par>
                              <p:par>
                                <p:cTn id="15" presetID="10" presetClass="entr" presetSubtype="0" fill="hold" nodeType="withEffect">
                                  <p:stCondLst>
                                    <p:cond delay="570"/>
                                  </p:stCondLst>
                                  <p:childTnLst>
                                    <p:set>
                                      <p:cBhvr>
                                        <p:cTn id="16" dur="1" fill="hold">
                                          <p:stCondLst>
                                            <p:cond delay="0"/>
                                          </p:stCondLst>
                                        </p:cTn>
                                        <p:tgtEl>
                                          <p:spTgt spid="46"/>
                                        </p:tgtEl>
                                        <p:attrNameLst>
                                          <p:attrName>style.visibility</p:attrName>
                                        </p:attrNameLst>
                                      </p:cBhvr>
                                      <p:to>
                                        <p:strVal val="visible"/>
                                      </p:to>
                                    </p:set>
                                    <p:animEffect transition="in" filter="fade">
                                      <p:cBhvr>
                                        <p:cTn id="17" dur="600"/>
                                        <p:tgtEl>
                                          <p:spTgt spid="46"/>
                                        </p:tgtEl>
                                      </p:cBhvr>
                                    </p:animEffect>
                                  </p:childTnLst>
                                </p:cTn>
                              </p:par>
                              <p:par>
                                <p:cTn id="18" presetID="10" presetClass="entr" presetSubtype="0" fill="hold" nodeType="withEffect">
                                  <p:stCondLst>
                                    <p:cond delay="730"/>
                                  </p:stCondLst>
                                  <p:childTnLst>
                                    <p:set>
                                      <p:cBhvr>
                                        <p:cTn id="19" dur="1" fill="hold">
                                          <p:stCondLst>
                                            <p:cond delay="0"/>
                                          </p:stCondLst>
                                        </p:cTn>
                                        <p:tgtEl>
                                          <p:spTgt spid="49"/>
                                        </p:tgtEl>
                                        <p:attrNameLst>
                                          <p:attrName>style.visibility</p:attrName>
                                        </p:attrNameLst>
                                      </p:cBhvr>
                                      <p:to>
                                        <p:strVal val="visible"/>
                                      </p:to>
                                    </p:set>
                                    <p:animEffect transition="in" filter="fade">
                                      <p:cBhvr>
                                        <p:cTn id="20" dur="600"/>
                                        <p:tgtEl>
                                          <p:spTgt spid="49"/>
                                        </p:tgtEl>
                                      </p:cBhvr>
                                    </p:animEffect>
                                  </p:childTnLst>
                                </p:cTn>
                              </p:par>
                              <p:par>
                                <p:cTn id="21" presetID="10" presetClass="entr" presetSubtype="0" fill="hold" nodeType="withEffect">
                                  <p:stCondLst>
                                    <p:cond delay="890"/>
                                  </p:stCondLst>
                                  <p:childTnLst>
                                    <p:set>
                                      <p:cBhvr>
                                        <p:cTn id="22" dur="1" fill="hold">
                                          <p:stCondLst>
                                            <p:cond delay="0"/>
                                          </p:stCondLst>
                                        </p:cTn>
                                        <p:tgtEl>
                                          <p:spTgt spid="52"/>
                                        </p:tgtEl>
                                        <p:attrNameLst>
                                          <p:attrName>style.visibility</p:attrName>
                                        </p:attrNameLst>
                                      </p:cBhvr>
                                      <p:to>
                                        <p:strVal val="visible"/>
                                      </p:to>
                                    </p:set>
                                    <p:animEffect transition="in" filter="fade">
                                      <p:cBhvr>
                                        <p:cTn id="23" dur="600"/>
                                        <p:tgtEl>
                                          <p:spTgt spid="52"/>
                                        </p:tgtEl>
                                      </p:cBhvr>
                                    </p:animEffect>
                                  </p:childTnLst>
                                </p:cTn>
                              </p:par>
                              <p:par>
                                <p:cTn id="24" presetID="42" presetClass="entr" presetSubtype="0" fill="hold" nodeType="withEffect">
                                  <p:stCondLst>
                                    <p:cond delay="1050"/>
                                  </p:stCondLst>
                                  <p:childTnLst>
                                    <p:set>
                                      <p:cBhvr>
                                        <p:cTn id="25" dur="1" fill="hold">
                                          <p:stCondLst>
                                            <p:cond delay="0"/>
                                          </p:stCondLst>
                                        </p:cTn>
                                        <p:tgtEl>
                                          <p:spTgt spid="55"/>
                                        </p:tgtEl>
                                        <p:attrNameLst>
                                          <p:attrName>style.visibility</p:attrName>
                                        </p:attrNameLst>
                                      </p:cBhvr>
                                      <p:to>
                                        <p:strVal val="visible"/>
                                      </p:to>
                                    </p:set>
                                    <p:animEffect transition="in" filter="fade">
                                      <p:cBhvr>
                                        <p:cTn id="26" dur="600"/>
                                        <p:tgtEl>
                                          <p:spTgt spid="55"/>
                                        </p:tgtEl>
                                      </p:cBhvr>
                                    </p:animEffect>
                                    <p:anim calcmode="lin" valueType="num">
                                      <p:cBhvr>
                                        <p:cTn id="27" dur="600" fill="hold"/>
                                        <p:tgtEl>
                                          <p:spTgt spid="55"/>
                                        </p:tgtEl>
                                        <p:attrNameLst>
                                          <p:attrName>ppt_x</p:attrName>
                                        </p:attrNameLst>
                                      </p:cBhvr>
                                      <p:tavLst>
                                        <p:tav tm="0">
                                          <p:val>
                                            <p:strVal val="#ppt_x"/>
                                          </p:val>
                                        </p:tav>
                                        <p:tav tm="100000">
                                          <p:val>
                                            <p:strVal val="#ppt_x"/>
                                          </p:val>
                                        </p:tav>
                                      </p:tavLst>
                                    </p:anim>
                                    <p:anim calcmode="lin" valueType="num">
                                      <p:cBhvr>
                                        <p:cTn id="28" dur="600" fill="hold"/>
                                        <p:tgtEl>
                                          <p:spTgt spid="55"/>
                                        </p:tgtEl>
                                        <p:attrNameLst>
                                          <p:attrName>ppt_y</p:attrName>
                                        </p:attrNameLst>
                                      </p:cBhvr>
                                      <p:tavLst>
                                        <p:tav tm="0">
                                          <p:val>
                                            <p:strVal val="#ppt_y+.08"/>
                                          </p:val>
                                        </p:tav>
                                        <p:tav tm="100000">
                                          <p:val>
                                            <p:strVal val="#ppt_y"/>
                                          </p:val>
                                        </p:tav>
                                      </p:tavLst>
                                    </p:anim>
                                  </p:childTnLst>
                                </p:cTn>
                              </p:par>
                              <p:par>
                                <p:cTn id="29" presetID="42" presetClass="entr" presetSubtype="0" fill="hold" nodeType="withEffect">
                                  <p:stCondLst>
                                    <p:cond delay="1210"/>
                                  </p:stCondLst>
                                  <p:childTnLst>
                                    <p:set>
                                      <p:cBhvr>
                                        <p:cTn id="30" dur="1" fill="hold">
                                          <p:stCondLst>
                                            <p:cond delay="0"/>
                                          </p:stCondLst>
                                        </p:cTn>
                                        <p:tgtEl>
                                          <p:spTgt spid="60"/>
                                        </p:tgtEl>
                                        <p:attrNameLst>
                                          <p:attrName>style.visibility</p:attrName>
                                        </p:attrNameLst>
                                      </p:cBhvr>
                                      <p:to>
                                        <p:strVal val="visible"/>
                                      </p:to>
                                    </p:set>
                                    <p:animEffect transition="in" filter="fade">
                                      <p:cBhvr>
                                        <p:cTn id="31" dur="600"/>
                                        <p:tgtEl>
                                          <p:spTgt spid="60"/>
                                        </p:tgtEl>
                                      </p:cBhvr>
                                    </p:animEffect>
                                    <p:anim calcmode="lin" valueType="num">
                                      <p:cBhvr>
                                        <p:cTn id="32" dur="600" fill="hold"/>
                                        <p:tgtEl>
                                          <p:spTgt spid="60"/>
                                        </p:tgtEl>
                                        <p:attrNameLst>
                                          <p:attrName>ppt_x</p:attrName>
                                        </p:attrNameLst>
                                      </p:cBhvr>
                                      <p:tavLst>
                                        <p:tav tm="0">
                                          <p:val>
                                            <p:strVal val="#ppt_x"/>
                                          </p:val>
                                        </p:tav>
                                        <p:tav tm="100000">
                                          <p:val>
                                            <p:strVal val="#ppt_x"/>
                                          </p:val>
                                        </p:tav>
                                      </p:tavLst>
                                    </p:anim>
                                    <p:anim calcmode="lin" valueType="num">
                                      <p:cBhvr>
                                        <p:cTn id="33" dur="600" fill="hold"/>
                                        <p:tgtEl>
                                          <p:spTgt spid="60"/>
                                        </p:tgtEl>
                                        <p:attrNameLst>
                                          <p:attrName>ppt_y</p:attrName>
                                        </p:attrNameLst>
                                      </p:cBhvr>
                                      <p:tavLst>
                                        <p:tav tm="0">
                                          <p:val>
                                            <p:strVal val="#ppt_y+.08"/>
                                          </p:val>
                                        </p:tav>
                                        <p:tav tm="100000">
                                          <p:val>
                                            <p:strVal val="#ppt_y"/>
                                          </p:val>
                                        </p:tav>
                                      </p:tavLst>
                                    </p:anim>
                                  </p:childTnLst>
                                </p:cTn>
                              </p:par>
                              <p:par>
                                <p:cTn id="34" presetID="42" presetClass="entr" presetSubtype="0" fill="hold" nodeType="withEffect">
                                  <p:stCondLst>
                                    <p:cond delay="1370"/>
                                  </p:stCondLst>
                                  <p:childTnLst>
                                    <p:set>
                                      <p:cBhvr>
                                        <p:cTn id="35" dur="1" fill="hold">
                                          <p:stCondLst>
                                            <p:cond delay="0"/>
                                          </p:stCondLst>
                                        </p:cTn>
                                        <p:tgtEl>
                                          <p:spTgt spid="65"/>
                                        </p:tgtEl>
                                        <p:attrNameLst>
                                          <p:attrName>style.visibility</p:attrName>
                                        </p:attrNameLst>
                                      </p:cBhvr>
                                      <p:to>
                                        <p:strVal val="visible"/>
                                      </p:to>
                                    </p:set>
                                    <p:animEffect transition="in" filter="fade">
                                      <p:cBhvr>
                                        <p:cTn id="36" dur="600"/>
                                        <p:tgtEl>
                                          <p:spTgt spid="65"/>
                                        </p:tgtEl>
                                      </p:cBhvr>
                                    </p:animEffect>
                                    <p:anim calcmode="lin" valueType="num">
                                      <p:cBhvr>
                                        <p:cTn id="37" dur="600" fill="hold"/>
                                        <p:tgtEl>
                                          <p:spTgt spid="65"/>
                                        </p:tgtEl>
                                        <p:attrNameLst>
                                          <p:attrName>ppt_x</p:attrName>
                                        </p:attrNameLst>
                                      </p:cBhvr>
                                      <p:tavLst>
                                        <p:tav tm="0">
                                          <p:val>
                                            <p:strVal val="#ppt_x"/>
                                          </p:val>
                                        </p:tav>
                                        <p:tav tm="100000">
                                          <p:val>
                                            <p:strVal val="#ppt_x"/>
                                          </p:val>
                                        </p:tav>
                                      </p:tavLst>
                                    </p:anim>
                                    <p:anim calcmode="lin" valueType="num">
                                      <p:cBhvr>
                                        <p:cTn id="38" dur="600" fill="hold"/>
                                        <p:tgtEl>
                                          <p:spTgt spid="6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334209" y="-2522985"/>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1971760" y="4179167"/>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337337" y="4477592"/>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RESOURCE ALLOCATION</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Market-Based &amp; Game-Theoretic Allocation</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Resource Allocation</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lang="en-GB" sz="1000">
                <a:solidFill>
                  <a:srgbClr val="C9D2E3"/>
                </a:solidFill>
                <a:latin typeface="Segoe UI Semibold"/>
              </a:rPr>
              <a:t>24</a:t>
            </a:r>
            <a:r>
              <a:rPr sz="1000" b="0" i="0" dirty="0">
                <a:solidFill>
                  <a:srgbClr val="8C9AB5"/>
                </a:solidFill>
                <a:latin typeface="Segoe UI"/>
              </a:rPr>
              <a:t> / 30</a:t>
            </a:r>
          </a:p>
        </p:txBody>
      </p:sp>
      <p:grpSp>
        <p:nvGrpSpPr>
          <p:cNvPr id="36" name="Group 35"/>
          <p:cNvGrpSpPr/>
          <p:nvPr/>
        </p:nvGrpSpPr>
        <p:grpSpPr>
          <a:xfrm>
            <a:off x="548640" y="1627632"/>
            <a:ext cx="3593592" cy="2057400"/>
            <a:chOff x="548640" y="1627632"/>
            <a:chExt cx="3593592" cy="2057400"/>
          </a:xfrm>
        </p:grpSpPr>
        <p:sp>
          <p:nvSpPr>
            <p:cNvPr id="37" name="Rounded Rectangle 36"/>
            <p:cNvSpPr/>
            <p:nvPr/>
          </p:nvSpPr>
          <p:spPr>
            <a:xfrm>
              <a:off x="548640" y="1627632"/>
              <a:ext cx="3593592" cy="2057400"/>
            </a:xfrm>
            <a:prstGeom prst="roundRect">
              <a:avLst>
                <a:gd name="adj" fmla="val 8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38" name="Rectangle 37"/>
            <p:cNvSpPr/>
            <p:nvPr/>
          </p:nvSpPr>
          <p:spPr>
            <a:xfrm>
              <a:off x="548640" y="1627632"/>
              <a:ext cx="3593592" cy="45720"/>
            </a:xfrm>
            <a:prstGeom prst="rect">
              <a:avLst/>
            </a:prstGeom>
            <a:solidFill>
              <a:srgbClr val="3987E5"/>
            </a:solidFill>
            <a:ln>
              <a:noFill/>
            </a:ln>
          </p:spPr>
          <p:txBody>
            <a:bodyPr wrap="square" rtlCol="0" anchor="ctr"/>
            <a:lstStyle/>
            <a:p>
              <a:pPr algn="ctr"/>
              <a:endParaRPr/>
            </a:p>
          </p:txBody>
        </p:sp>
        <p:sp>
          <p:nvSpPr>
            <p:cNvPr id="39" name="TextBox 38"/>
            <p:cNvSpPr txBox="1"/>
            <p:nvPr/>
          </p:nvSpPr>
          <p:spPr>
            <a:xfrm>
              <a:off x="822959" y="1764792"/>
              <a:ext cx="3108960" cy="320040"/>
            </a:xfrm>
            <a:prstGeom prst="rect">
              <a:avLst/>
            </a:prstGeom>
            <a:noFill/>
          </p:spPr>
          <p:txBody>
            <a:bodyPr wrap="square" lIns="0" tIns="0" rIns="0" bIns="0" anchor="t">
              <a:noAutofit/>
            </a:bodyPr>
            <a:lstStyle/>
            <a:p>
              <a:pPr algn="l">
                <a:lnSpc>
                  <a:spcPct val="112000"/>
                </a:lnSpc>
                <a:spcAft>
                  <a:spcPts val="0"/>
                </a:spcAft>
              </a:pPr>
              <a:r>
                <a:rPr sz="1100" b="0" i="0" spc="200">
                  <a:solidFill>
                    <a:srgbClr val="7DB3F5"/>
                  </a:solidFill>
                  <a:latin typeface="Segoe UI Semibold"/>
                </a:rPr>
                <a:t>ON-DEMAND</a:t>
              </a:r>
            </a:p>
          </p:txBody>
        </p:sp>
        <p:sp>
          <p:nvSpPr>
            <p:cNvPr id="40" name="TextBox 39"/>
            <p:cNvSpPr txBox="1"/>
            <p:nvPr/>
          </p:nvSpPr>
          <p:spPr>
            <a:xfrm>
              <a:off x="822959" y="2057400"/>
              <a:ext cx="3108960" cy="640080"/>
            </a:xfrm>
            <a:prstGeom prst="rect">
              <a:avLst/>
            </a:prstGeom>
            <a:noFill/>
          </p:spPr>
          <p:txBody>
            <a:bodyPr wrap="square" lIns="0" tIns="0" rIns="0" bIns="0" anchor="t">
              <a:noAutofit/>
            </a:bodyPr>
            <a:lstStyle/>
            <a:p>
              <a:pPr algn="l">
                <a:lnSpc>
                  <a:spcPct val="112000"/>
                </a:lnSpc>
                <a:spcAft>
                  <a:spcPts val="0"/>
                </a:spcAft>
              </a:pPr>
              <a:r>
                <a:rPr sz="3000" b="0" i="0">
                  <a:gradFill>
                    <a:gsLst>
                      <a:gs pos="0">
                        <a:srgbClr val="FFFFFF"/>
                      </a:gs>
                      <a:gs pos="100000">
                        <a:srgbClr val="7DB3F5"/>
                      </a:gs>
                    </a:gsLst>
                    <a:lin ang="0" scaled="0"/>
                  </a:gradFill>
                  <a:latin typeface="Segoe UI Semibold"/>
                </a:rPr>
                <a:t>baseline</a:t>
              </a:r>
            </a:p>
          </p:txBody>
        </p:sp>
        <p:sp>
          <p:nvSpPr>
            <p:cNvPr id="41" name="TextBox 40"/>
            <p:cNvSpPr txBox="1"/>
            <p:nvPr/>
          </p:nvSpPr>
          <p:spPr>
            <a:xfrm>
              <a:off x="822959" y="2743200"/>
              <a:ext cx="3108960" cy="868680"/>
            </a:xfrm>
            <a:prstGeom prst="rect">
              <a:avLst/>
            </a:prstGeom>
            <a:noFill/>
          </p:spPr>
          <p:txBody>
            <a:bodyPr wrap="square" lIns="0" tIns="0" rIns="0" bIns="0" anchor="t">
              <a:noAutofit/>
            </a:bodyPr>
            <a:lstStyle/>
            <a:p>
              <a:pPr algn="l">
                <a:lnSpc>
                  <a:spcPct val="112000"/>
                </a:lnSpc>
                <a:spcAft>
                  <a:spcPts val="0"/>
                </a:spcAft>
              </a:pPr>
              <a:r>
                <a:rPr sz="1200" b="0" i="0">
                  <a:solidFill>
                    <a:srgbClr val="C9D2E3"/>
                  </a:solidFill>
                  <a:latin typeface="Segoe UI"/>
                </a:rPr>
                <a:t>Pay per second / hour, no commitment. Maximum flexibility.</a:t>
              </a:r>
            </a:p>
          </p:txBody>
        </p:sp>
      </p:grpSp>
      <p:grpSp>
        <p:nvGrpSpPr>
          <p:cNvPr id="42" name="Group 41"/>
          <p:cNvGrpSpPr/>
          <p:nvPr/>
        </p:nvGrpSpPr>
        <p:grpSpPr>
          <a:xfrm>
            <a:off x="4297679" y="1627632"/>
            <a:ext cx="3593592" cy="2057400"/>
            <a:chOff x="4297679" y="1627632"/>
            <a:chExt cx="3593592" cy="2057400"/>
          </a:xfrm>
        </p:grpSpPr>
        <p:sp>
          <p:nvSpPr>
            <p:cNvPr id="43" name="Rounded Rectangle 42"/>
            <p:cNvSpPr/>
            <p:nvPr/>
          </p:nvSpPr>
          <p:spPr>
            <a:xfrm>
              <a:off x="4297679" y="1627632"/>
              <a:ext cx="3593592" cy="2057400"/>
            </a:xfrm>
            <a:prstGeom prst="roundRect">
              <a:avLst>
                <a:gd name="adj" fmla="val 8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44" name="Rectangle 43"/>
            <p:cNvSpPr/>
            <p:nvPr/>
          </p:nvSpPr>
          <p:spPr>
            <a:xfrm>
              <a:off x="4297679" y="1627632"/>
              <a:ext cx="3593592" cy="45720"/>
            </a:xfrm>
            <a:prstGeom prst="rect">
              <a:avLst/>
            </a:prstGeom>
            <a:solidFill>
              <a:srgbClr val="9085E9"/>
            </a:solidFill>
            <a:ln>
              <a:noFill/>
            </a:ln>
          </p:spPr>
          <p:txBody>
            <a:bodyPr wrap="square" rtlCol="0" anchor="ctr"/>
            <a:lstStyle/>
            <a:p>
              <a:pPr algn="ctr"/>
              <a:endParaRPr/>
            </a:p>
          </p:txBody>
        </p:sp>
        <p:sp>
          <p:nvSpPr>
            <p:cNvPr id="45" name="TextBox 44"/>
            <p:cNvSpPr txBox="1"/>
            <p:nvPr/>
          </p:nvSpPr>
          <p:spPr>
            <a:xfrm>
              <a:off x="4571999" y="1764792"/>
              <a:ext cx="3108960" cy="320040"/>
            </a:xfrm>
            <a:prstGeom prst="rect">
              <a:avLst/>
            </a:prstGeom>
            <a:noFill/>
          </p:spPr>
          <p:txBody>
            <a:bodyPr wrap="square" lIns="0" tIns="0" rIns="0" bIns="0" anchor="t">
              <a:noAutofit/>
            </a:bodyPr>
            <a:lstStyle/>
            <a:p>
              <a:pPr algn="l">
                <a:lnSpc>
                  <a:spcPct val="112000"/>
                </a:lnSpc>
                <a:spcAft>
                  <a:spcPts val="0"/>
                </a:spcAft>
              </a:pPr>
              <a:r>
                <a:rPr sz="1100" b="0" i="0" spc="200">
                  <a:solidFill>
                    <a:srgbClr val="B5ADF5"/>
                  </a:solidFill>
                  <a:latin typeface="Segoe UI Semibold"/>
                </a:rPr>
                <a:t>COMMITMENTS</a:t>
              </a:r>
            </a:p>
          </p:txBody>
        </p:sp>
        <p:sp>
          <p:nvSpPr>
            <p:cNvPr id="46" name="TextBox 45"/>
            <p:cNvSpPr txBox="1"/>
            <p:nvPr/>
          </p:nvSpPr>
          <p:spPr>
            <a:xfrm>
              <a:off x="4571999" y="2057400"/>
              <a:ext cx="3108960" cy="640080"/>
            </a:xfrm>
            <a:prstGeom prst="rect">
              <a:avLst/>
            </a:prstGeom>
            <a:noFill/>
          </p:spPr>
          <p:txBody>
            <a:bodyPr wrap="square" lIns="0" tIns="0" rIns="0" bIns="0" anchor="t">
              <a:noAutofit/>
            </a:bodyPr>
            <a:lstStyle/>
            <a:p>
              <a:pPr algn="l">
                <a:lnSpc>
                  <a:spcPct val="112000"/>
                </a:lnSpc>
                <a:spcAft>
                  <a:spcPts val="0"/>
                </a:spcAft>
              </a:pPr>
              <a:r>
                <a:rPr sz="3000" b="0" i="0">
                  <a:gradFill>
                    <a:gsLst>
                      <a:gs pos="0">
                        <a:srgbClr val="FFFFFF"/>
                      </a:gs>
                      <a:gs pos="100000">
                        <a:srgbClr val="B5ADF5"/>
                      </a:gs>
                    </a:gsLst>
                    <a:lin ang="0" scaled="0"/>
                  </a:gradFill>
                  <a:latin typeface="Segoe UI Semibold"/>
                </a:rPr>
                <a:t>up to 72% off</a:t>
              </a:r>
            </a:p>
          </p:txBody>
        </p:sp>
        <p:sp>
          <p:nvSpPr>
            <p:cNvPr id="47" name="TextBox 46"/>
            <p:cNvSpPr txBox="1"/>
            <p:nvPr/>
          </p:nvSpPr>
          <p:spPr>
            <a:xfrm>
              <a:off x="4571999" y="2743200"/>
              <a:ext cx="3108960" cy="868680"/>
            </a:xfrm>
            <a:prstGeom prst="rect">
              <a:avLst/>
            </a:prstGeom>
            <a:noFill/>
          </p:spPr>
          <p:txBody>
            <a:bodyPr wrap="square" lIns="0" tIns="0" rIns="0" bIns="0" anchor="t">
              <a:noAutofit/>
            </a:bodyPr>
            <a:lstStyle/>
            <a:p>
              <a:pPr algn="l">
                <a:lnSpc>
                  <a:spcPct val="112000"/>
                </a:lnSpc>
                <a:spcAft>
                  <a:spcPts val="0"/>
                </a:spcAft>
              </a:pPr>
              <a:r>
                <a:rPr sz="1200" b="0" i="0">
                  <a:solidFill>
                    <a:srgbClr val="C9D2E3"/>
                  </a:solidFill>
                  <a:latin typeface="Segoe UI"/>
                </a:rPr>
                <a:t>Reserved instances, Savings Plans, committed-use discounts (1–3 yrs).</a:t>
              </a:r>
            </a:p>
          </p:txBody>
        </p:sp>
      </p:grpSp>
      <p:grpSp>
        <p:nvGrpSpPr>
          <p:cNvPr id="48" name="Group 47"/>
          <p:cNvGrpSpPr/>
          <p:nvPr/>
        </p:nvGrpSpPr>
        <p:grpSpPr>
          <a:xfrm>
            <a:off x="8046719" y="1627632"/>
            <a:ext cx="3593592" cy="2057400"/>
            <a:chOff x="8046719" y="1627632"/>
            <a:chExt cx="3593592" cy="2057400"/>
          </a:xfrm>
        </p:grpSpPr>
        <p:sp>
          <p:nvSpPr>
            <p:cNvPr id="49" name="Rounded Rectangle 48"/>
            <p:cNvSpPr/>
            <p:nvPr/>
          </p:nvSpPr>
          <p:spPr>
            <a:xfrm>
              <a:off x="8046719" y="1627632"/>
              <a:ext cx="3593592" cy="2057400"/>
            </a:xfrm>
            <a:prstGeom prst="roundRect">
              <a:avLst>
                <a:gd name="adj" fmla="val 8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50" name="Rectangle 49"/>
            <p:cNvSpPr/>
            <p:nvPr/>
          </p:nvSpPr>
          <p:spPr>
            <a:xfrm>
              <a:off x="8046719" y="1627632"/>
              <a:ext cx="3593592" cy="45720"/>
            </a:xfrm>
            <a:prstGeom prst="rect">
              <a:avLst/>
            </a:prstGeom>
            <a:solidFill>
              <a:srgbClr val="D95926"/>
            </a:solidFill>
            <a:ln>
              <a:noFill/>
            </a:ln>
          </p:spPr>
          <p:txBody>
            <a:bodyPr wrap="square" rtlCol="0" anchor="ctr"/>
            <a:lstStyle/>
            <a:p>
              <a:pPr algn="ctr"/>
              <a:endParaRPr/>
            </a:p>
          </p:txBody>
        </p:sp>
        <p:sp>
          <p:nvSpPr>
            <p:cNvPr id="51" name="TextBox 50"/>
            <p:cNvSpPr txBox="1"/>
            <p:nvPr/>
          </p:nvSpPr>
          <p:spPr>
            <a:xfrm>
              <a:off x="8321040" y="1764792"/>
              <a:ext cx="3108960" cy="320040"/>
            </a:xfrm>
            <a:prstGeom prst="rect">
              <a:avLst/>
            </a:prstGeom>
            <a:noFill/>
          </p:spPr>
          <p:txBody>
            <a:bodyPr wrap="square" lIns="0" tIns="0" rIns="0" bIns="0" anchor="t">
              <a:noAutofit/>
            </a:bodyPr>
            <a:lstStyle/>
            <a:p>
              <a:pPr algn="l">
                <a:lnSpc>
                  <a:spcPct val="112000"/>
                </a:lnSpc>
                <a:spcAft>
                  <a:spcPts val="0"/>
                </a:spcAft>
              </a:pPr>
              <a:r>
                <a:rPr sz="1100" b="0" i="0" spc="200">
                  <a:solidFill>
                    <a:srgbClr val="F4925F"/>
                  </a:solidFill>
                  <a:latin typeface="Segoe UI Semibold"/>
                </a:rPr>
                <a:t>SPOT / PREEMPTIBLE</a:t>
              </a:r>
            </a:p>
          </p:txBody>
        </p:sp>
        <p:sp>
          <p:nvSpPr>
            <p:cNvPr id="52" name="TextBox 51"/>
            <p:cNvSpPr txBox="1"/>
            <p:nvPr/>
          </p:nvSpPr>
          <p:spPr>
            <a:xfrm>
              <a:off x="8321040" y="2057400"/>
              <a:ext cx="3108960" cy="640080"/>
            </a:xfrm>
            <a:prstGeom prst="rect">
              <a:avLst/>
            </a:prstGeom>
            <a:noFill/>
          </p:spPr>
          <p:txBody>
            <a:bodyPr wrap="square" lIns="0" tIns="0" rIns="0" bIns="0" anchor="t">
              <a:noAutofit/>
            </a:bodyPr>
            <a:lstStyle/>
            <a:p>
              <a:pPr algn="l">
                <a:lnSpc>
                  <a:spcPct val="112000"/>
                </a:lnSpc>
                <a:spcAft>
                  <a:spcPts val="0"/>
                </a:spcAft>
              </a:pPr>
              <a:r>
                <a:rPr sz="3000" b="0" i="0">
                  <a:gradFill>
                    <a:gsLst>
                      <a:gs pos="0">
                        <a:srgbClr val="FFFFFF"/>
                      </a:gs>
                      <a:gs pos="100000">
                        <a:srgbClr val="F4925F"/>
                      </a:gs>
                    </a:gsLst>
                    <a:lin ang="0" scaled="0"/>
                  </a:gradFill>
                  <a:latin typeface="Segoe UI Semibold"/>
                </a:rPr>
                <a:t>up to 90% off</a:t>
              </a:r>
            </a:p>
          </p:txBody>
        </p:sp>
        <p:sp>
          <p:nvSpPr>
            <p:cNvPr id="53" name="TextBox 52"/>
            <p:cNvSpPr txBox="1"/>
            <p:nvPr/>
          </p:nvSpPr>
          <p:spPr>
            <a:xfrm>
              <a:off x="8321040" y="2743200"/>
              <a:ext cx="3108960" cy="868680"/>
            </a:xfrm>
            <a:prstGeom prst="rect">
              <a:avLst/>
            </a:prstGeom>
            <a:noFill/>
          </p:spPr>
          <p:txBody>
            <a:bodyPr wrap="square" lIns="0" tIns="0" rIns="0" bIns="0" anchor="t">
              <a:noAutofit/>
            </a:bodyPr>
            <a:lstStyle/>
            <a:p>
              <a:pPr algn="l">
                <a:lnSpc>
                  <a:spcPct val="112000"/>
                </a:lnSpc>
                <a:spcAft>
                  <a:spcPts val="0"/>
                </a:spcAft>
              </a:pPr>
              <a:r>
                <a:rPr sz="1200" b="0" i="0">
                  <a:solidFill>
                    <a:srgbClr val="C9D2E3"/>
                  </a:solidFill>
                  <a:latin typeface="Segoe UI"/>
                </a:rPr>
                <a:t>Spare capacity; can be reclaimed with short notice.</a:t>
              </a:r>
            </a:p>
          </p:txBody>
        </p:sp>
      </p:grpSp>
      <p:grpSp>
        <p:nvGrpSpPr>
          <p:cNvPr id="54" name="Group 53"/>
          <p:cNvGrpSpPr/>
          <p:nvPr/>
        </p:nvGrpSpPr>
        <p:grpSpPr>
          <a:xfrm>
            <a:off x="548640" y="3886200"/>
            <a:ext cx="3593592" cy="2103120"/>
            <a:chOff x="548640" y="3886200"/>
            <a:chExt cx="3593592" cy="2103120"/>
          </a:xfrm>
        </p:grpSpPr>
        <p:sp>
          <p:nvSpPr>
            <p:cNvPr id="55" name="Rounded Rectangle 54"/>
            <p:cNvSpPr/>
            <p:nvPr/>
          </p:nvSpPr>
          <p:spPr>
            <a:xfrm>
              <a:off x="548640" y="3886200"/>
              <a:ext cx="3593592" cy="2103120"/>
            </a:xfrm>
            <a:prstGeom prst="roundRect">
              <a:avLst>
                <a:gd name="adj" fmla="val 7826"/>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56" name="Rectangle 55"/>
            <p:cNvSpPr/>
            <p:nvPr/>
          </p:nvSpPr>
          <p:spPr>
            <a:xfrm>
              <a:off x="548640" y="4142232"/>
              <a:ext cx="45720" cy="384048"/>
            </a:xfrm>
            <a:prstGeom prst="rect">
              <a:avLst/>
            </a:prstGeom>
            <a:solidFill>
              <a:srgbClr val="3987E5"/>
            </a:solidFill>
            <a:ln>
              <a:noFill/>
            </a:ln>
          </p:spPr>
          <p:txBody>
            <a:bodyPr wrap="square" rtlCol="0" anchor="ctr"/>
            <a:lstStyle/>
            <a:p>
              <a:pPr algn="ctr"/>
              <a:endParaRPr/>
            </a:p>
          </p:txBody>
        </p:sp>
        <p:sp>
          <p:nvSpPr>
            <p:cNvPr id="57" name="TextBox 56"/>
            <p:cNvSpPr txBox="1"/>
            <p:nvPr/>
          </p:nvSpPr>
          <p:spPr>
            <a:xfrm>
              <a:off x="804672" y="4087368"/>
              <a:ext cx="3154680" cy="411480"/>
            </a:xfrm>
            <a:prstGeom prst="rect">
              <a:avLst/>
            </a:prstGeom>
            <a:noFill/>
          </p:spPr>
          <p:txBody>
            <a:bodyPr wrap="square" lIns="0" tIns="0" rIns="0" bIns="0" anchor="t">
              <a:noAutofit/>
            </a:bodyPr>
            <a:lstStyle/>
            <a:p>
              <a:pPr algn="l">
                <a:lnSpc>
                  <a:spcPct val="112000"/>
                </a:lnSpc>
                <a:spcAft>
                  <a:spcPts val="0"/>
                </a:spcAft>
              </a:pPr>
              <a:r>
                <a:rPr sz="1550" b="0" i="0">
                  <a:solidFill>
                    <a:srgbClr val="FFFFFF"/>
                  </a:solidFill>
                  <a:latin typeface="Segoe UI Semibold"/>
                </a:rPr>
                <a:t>Auctions</a:t>
              </a:r>
            </a:p>
          </p:txBody>
        </p:sp>
        <p:sp>
          <p:nvSpPr>
            <p:cNvPr id="58" name="TextBox 57"/>
            <p:cNvSpPr txBox="1"/>
            <p:nvPr/>
          </p:nvSpPr>
          <p:spPr>
            <a:xfrm>
              <a:off x="822959" y="4709159"/>
              <a:ext cx="3090672" cy="1143000"/>
            </a:xfrm>
            <a:prstGeom prst="rect">
              <a:avLst/>
            </a:prstGeom>
            <a:noFill/>
          </p:spPr>
          <p:txBody>
            <a:bodyPr wrap="square" lIns="0" tIns="0" rIns="0" bIns="0" anchor="t">
              <a:noAutofit/>
            </a:bodyPr>
            <a:lstStyle/>
            <a:p>
              <a:pPr algn="l">
                <a:lnSpc>
                  <a:spcPct val="115000"/>
                </a:lnSpc>
                <a:spcAft>
                  <a:spcPts val="400"/>
                </a:spcAft>
              </a:pPr>
              <a:r>
                <a:rPr sz="1250" b="0" i="0">
                  <a:solidFill>
                    <a:srgbClr val="C9D2E3"/>
                  </a:solidFill>
                  <a:latin typeface="Segoe UI"/>
                </a:rPr>
                <a:t>Bidding allocates scarce capacity (e.g. GPUs) to the highest-value jobs; truthful designs such as VCG.</a:t>
              </a:r>
            </a:p>
          </p:txBody>
        </p:sp>
      </p:grpSp>
      <p:grpSp>
        <p:nvGrpSpPr>
          <p:cNvPr id="59" name="Group 58"/>
          <p:cNvGrpSpPr/>
          <p:nvPr/>
        </p:nvGrpSpPr>
        <p:grpSpPr>
          <a:xfrm>
            <a:off x="4297679" y="3886200"/>
            <a:ext cx="3593592" cy="2103120"/>
            <a:chOff x="4297679" y="3886200"/>
            <a:chExt cx="3593592" cy="2103120"/>
          </a:xfrm>
        </p:grpSpPr>
        <p:sp>
          <p:nvSpPr>
            <p:cNvPr id="60" name="Rounded Rectangle 59"/>
            <p:cNvSpPr/>
            <p:nvPr/>
          </p:nvSpPr>
          <p:spPr>
            <a:xfrm>
              <a:off x="4297679" y="3886200"/>
              <a:ext cx="3593592" cy="2103120"/>
            </a:xfrm>
            <a:prstGeom prst="roundRect">
              <a:avLst>
                <a:gd name="adj" fmla="val 7826"/>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61" name="Rectangle 60"/>
            <p:cNvSpPr/>
            <p:nvPr/>
          </p:nvSpPr>
          <p:spPr>
            <a:xfrm>
              <a:off x="4297679" y="4142232"/>
              <a:ext cx="45720" cy="384048"/>
            </a:xfrm>
            <a:prstGeom prst="rect">
              <a:avLst/>
            </a:prstGeom>
            <a:solidFill>
              <a:srgbClr val="199E70"/>
            </a:solidFill>
            <a:ln>
              <a:noFill/>
            </a:ln>
          </p:spPr>
          <p:txBody>
            <a:bodyPr wrap="square" rtlCol="0" anchor="ctr"/>
            <a:lstStyle/>
            <a:p>
              <a:pPr algn="ctr"/>
              <a:endParaRPr/>
            </a:p>
          </p:txBody>
        </p:sp>
        <p:sp>
          <p:nvSpPr>
            <p:cNvPr id="62" name="TextBox 61"/>
            <p:cNvSpPr txBox="1"/>
            <p:nvPr/>
          </p:nvSpPr>
          <p:spPr>
            <a:xfrm>
              <a:off x="4553712" y="4087368"/>
              <a:ext cx="3154679" cy="411480"/>
            </a:xfrm>
            <a:prstGeom prst="rect">
              <a:avLst/>
            </a:prstGeom>
            <a:noFill/>
          </p:spPr>
          <p:txBody>
            <a:bodyPr wrap="square" lIns="0" tIns="0" rIns="0" bIns="0" anchor="t">
              <a:noAutofit/>
            </a:bodyPr>
            <a:lstStyle/>
            <a:p>
              <a:pPr algn="l">
                <a:lnSpc>
                  <a:spcPct val="112000"/>
                </a:lnSpc>
                <a:spcAft>
                  <a:spcPts val="0"/>
                </a:spcAft>
              </a:pPr>
              <a:r>
                <a:rPr sz="1550" b="0" i="0">
                  <a:solidFill>
                    <a:srgbClr val="FFFFFF"/>
                  </a:solidFill>
                  <a:latin typeface="Segoe UI Semibold"/>
                </a:rPr>
                <a:t>Brokerage &amp; arbitrage</a:t>
              </a:r>
            </a:p>
          </p:txBody>
        </p:sp>
        <p:sp>
          <p:nvSpPr>
            <p:cNvPr id="63" name="TextBox 62"/>
            <p:cNvSpPr txBox="1"/>
            <p:nvPr/>
          </p:nvSpPr>
          <p:spPr>
            <a:xfrm>
              <a:off x="4571999" y="4709159"/>
              <a:ext cx="3090672" cy="1143000"/>
            </a:xfrm>
            <a:prstGeom prst="rect">
              <a:avLst/>
            </a:prstGeom>
            <a:noFill/>
          </p:spPr>
          <p:txBody>
            <a:bodyPr wrap="square" lIns="0" tIns="0" rIns="0" bIns="0" anchor="t">
              <a:noAutofit/>
            </a:bodyPr>
            <a:lstStyle/>
            <a:p>
              <a:pPr algn="l">
                <a:lnSpc>
                  <a:spcPct val="115000"/>
                </a:lnSpc>
                <a:spcAft>
                  <a:spcPts val="400"/>
                </a:spcAft>
              </a:pPr>
              <a:r>
                <a:rPr sz="1250" b="0" i="0">
                  <a:solidFill>
                    <a:srgbClr val="C9D2E3"/>
                  </a:solidFill>
                  <a:latin typeface="Segoe UI"/>
                </a:rPr>
                <a:t>Brokers compare live prices across providers and shift workloads to the cheapest feasible option.</a:t>
              </a:r>
            </a:p>
          </p:txBody>
        </p:sp>
      </p:grpSp>
      <p:grpSp>
        <p:nvGrpSpPr>
          <p:cNvPr id="64" name="Group 63"/>
          <p:cNvGrpSpPr/>
          <p:nvPr/>
        </p:nvGrpSpPr>
        <p:grpSpPr>
          <a:xfrm>
            <a:off x="8046719" y="3886200"/>
            <a:ext cx="3593592" cy="2103120"/>
            <a:chOff x="8046719" y="3886200"/>
            <a:chExt cx="3593592" cy="2103120"/>
          </a:xfrm>
        </p:grpSpPr>
        <p:sp>
          <p:nvSpPr>
            <p:cNvPr id="65" name="Rounded Rectangle 64"/>
            <p:cNvSpPr/>
            <p:nvPr/>
          </p:nvSpPr>
          <p:spPr>
            <a:xfrm>
              <a:off x="8046719" y="3886200"/>
              <a:ext cx="3593592" cy="2103120"/>
            </a:xfrm>
            <a:prstGeom prst="roundRect">
              <a:avLst>
                <a:gd name="adj" fmla="val 7826"/>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66" name="Rectangle 65"/>
            <p:cNvSpPr/>
            <p:nvPr/>
          </p:nvSpPr>
          <p:spPr>
            <a:xfrm>
              <a:off x="8046719" y="4142232"/>
              <a:ext cx="45720" cy="384048"/>
            </a:xfrm>
            <a:prstGeom prst="rect">
              <a:avLst/>
            </a:prstGeom>
            <a:solidFill>
              <a:srgbClr val="9085E9"/>
            </a:solidFill>
            <a:ln>
              <a:noFill/>
            </a:ln>
          </p:spPr>
          <p:txBody>
            <a:bodyPr wrap="square" rtlCol="0" anchor="ctr"/>
            <a:lstStyle/>
            <a:p>
              <a:pPr algn="ctr"/>
              <a:endParaRPr/>
            </a:p>
          </p:txBody>
        </p:sp>
        <p:sp>
          <p:nvSpPr>
            <p:cNvPr id="67" name="TextBox 66"/>
            <p:cNvSpPr txBox="1"/>
            <p:nvPr/>
          </p:nvSpPr>
          <p:spPr>
            <a:xfrm>
              <a:off x="8302751" y="4087368"/>
              <a:ext cx="3154680" cy="411480"/>
            </a:xfrm>
            <a:prstGeom prst="rect">
              <a:avLst/>
            </a:prstGeom>
            <a:noFill/>
          </p:spPr>
          <p:txBody>
            <a:bodyPr wrap="square" lIns="0" tIns="0" rIns="0" bIns="0" anchor="t">
              <a:noAutofit/>
            </a:bodyPr>
            <a:lstStyle/>
            <a:p>
              <a:pPr algn="l">
                <a:lnSpc>
                  <a:spcPct val="112000"/>
                </a:lnSpc>
                <a:spcAft>
                  <a:spcPts val="0"/>
                </a:spcAft>
              </a:pPr>
              <a:r>
                <a:rPr sz="1550" b="0" i="0">
                  <a:solidFill>
                    <a:srgbClr val="FFFFFF"/>
                  </a:solidFill>
                  <a:latin typeface="Segoe UI Semibold"/>
                </a:rPr>
                <a:t>Game theory</a:t>
              </a:r>
            </a:p>
          </p:txBody>
        </p:sp>
        <p:sp>
          <p:nvSpPr>
            <p:cNvPr id="68" name="TextBox 67"/>
            <p:cNvSpPr txBox="1"/>
            <p:nvPr/>
          </p:nvSpPr>
          <p:spPr>
            <a:xfrm>
              <a:off x="8321040" y="4709159"/>
              <a:ext cx="3090672" cy="1143000"/>
            </a:xfrm>
            <a:prstGeom prst="rect">
              <a:avLst/>
            </a:prstGeom>
            <a:noFill/>
          </p:spPr>
          <p:txBody>
            <a:bodyPr wrap="square" lIns="0" tIns="0" rIns="0" bIns="0" anchor="t">
              <a:noAutofit/>
            </a:bodyPr>
            <a:lstStyle/>
            <a:p>
              <a:pPr algn="l">
                <a:lnSpc>
                  <a:spcPct val="115000"/>
                </a:lnSpc>
                <a:spcAft>
                  <a:spcPts val="400"/>
                </a:spcAft>
              </a:pPr>
              <a:r>
                <a:rPr sz="1250" b="0" i="0">
                  <a:solidFill>
                    <a:srgbClr val="C9D2E3"/>
                  </a:solidFill>
                  <a:latin typeface="Segoe UI"/>
                </a:rPr>
                <a:t>Nash / Stackelberg models analyse competing tenants and providers for fair, stable allocations.</a:t>
              </a:r>
            </a:p>
          </p:txBody>
        </p:sp>
      </p:grpSp>
      <p:sp>
        <p:nvSpPr>
          <p:cNvPr id="69" name="TextBox 68"/>
          <p:cNvSpPr txBox="1"/>
          <p:nvPr/>
        </p:nvSpPr>
        <p:spPr>
          <a:xfrm>
            <a:off x="548640" y="6089904"/>
            <a:ext cx="11064240" cy="256032"/>
          </a:xfrm>
          <a:prstGeom prst="rect">
            <a:avLst/>
          </a:prstGeom>
          <a:noFill/>
        </p:spPr>
        <p:txBody>
          <a:bodyPr wrap="square" lIns="0" tIns="0" rIns="0" bIns="0" anchor="t">
            <a:noAutofit/>
          </a:bodyPr>
          <a:lstStyle/>
          <a:p>
            <a:pPr algn="l">
              <a:lnSpc>
                <a:spcPct val="112000"/>
              </a:lnSpc>
              <a:spcAft>
                <a:spcPts val="0"/>
              </a:spcAft>
            </a:pPr>
            <a:r>
              <a:rPr sz="900" b="0" i="0">
                <a:solidFill>
                  <a:srgbClr val="8C9AB5"/>
                </a:solidFill>
                <a:latin typeface="Segoe UI"/>
              </a:rPr>
              <a:t>Discounts as published by AWS (Savings Plans up to 72%, Spot up to 90% vs. On-Demand); Azure and Google Cloud offer comparable models.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600"/>
                                        <p:tgtEl>
                                          <p:spTgt spid="36"/>
                                        </p:tgtEl>
                                      </p:cBhvr>
                                    </p:animEffect>
                                    <p:anim calcmode="lin" valueType="num">
                                      <p:cBhvr>
                                        <p:cTn id="8" dur="600" fill="hold"/>
                                        <p:tgtEl>
                                          <p:spTgt spid="36"/>
                                        </p:tgtEl>
                                        <p:attrNameLst>
                                          <p:attrName>ppt_x</p:attrName>
                                        </p:attrNameLst>
                                      </p:cBhvr>
                                      <p:tavLst>
                                        <p:tav tm="0">
                                          <p:val>
                                            <p:strVal val="#ppt_x"/>
                                          </p:val>
                                        </p:tav>
                                        <p:tav tm="100000">
                                          <p:val>
                                            <p:strVal val="#ppt_x"/>
                                          </p:val>
                                        </p:tav>
                                      </p:tavLst>
                                    </p:anim>
                                    <p:anim calcmode="lin" valueType="num">
                                      <p:cBhvr>
                                        <p:cTn id="9" dur="600" fill="hold"/>
                                        <p:tgtEl>
                                          <p:spTgt spid="36"/>
                                        </p:tgtEl>
                                        <p:attrNameLst>
                                          <p:attrName>ppt_y</p:attrName>
                                        </p:attrNameLst>
                                      </p:cBhvr>
                                      <p:tavLst>
                                        <p:tav tm="0">
                                          <p:val>
                                            <p:strVal val="#ppt_y+.08"/>
                                          </p:val>
                                        </p:tav>
                                        <p:tav tm="100000">
                                          <p:val>
                                            <p:strVal val="#ppt_y"/>
                                          </p:val>
                                        </p:tav>
                                      </p:tavLst>
                                    </p:anim>
                                  </p:childTnLst>
                                </p:cTn>
                              </p:par>
                              <p:par>
                                <p:cTn id="10" presetID="42" presetClass="entr" presetSubtype="0" fill="hold" nodeType="withEffect">
                                  <p:stCondLst>
                                    <p:cond delay="41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600"/>
                                        <p:tgtEl>
                                          <p:spTgt spid="42"/>
                                        </p:tgtEl>
                                      </p:cBhvr>
                                    </p:animEffect>
                                    <p:anim calcmode="lin" valueType="num">
                                      <p:cBhvr>
                                        <p:cTn id="13" dur="600" fill="hold"/>
                                        <p:tgtEl>
                                          <p:spTgt spid="42"/>
                                        </p:tgtEl>
                                        <p:attrNameLst>
                                          <p:attrName>ppt_x</p:attrName>
                                        </p:attrNameLst>
                                      </p:cBhvr>
                                      <p:tavLst>
                                        <p:tav tm="0">
                                          <p:val>
                                            <p:strVal val="#ppt_x"/>
                                          </p:val>
                                        </p:tav>
                                        <p:tav tm="100000">
                                          <p:val>
                                            <p:strVal val="#ppt_x"/>
                                          </p:val>
                                        </p:tav>
                                      </p:tavLst>
                                    </p:anim>
                                    <p:anim calcmode="lin" valueType="num">
                                      <p:cBhvr>
                                        <p:cTn id="14" dur="600" fill="hold"/>
                                        <p:tgtEl>
                                          <p:spTgt spid="42"/>
                                        </p:tgtEl>
                                        <p:attrNameLst>
                                          <p:attrName>ppt_y</p:attrName>
                                        </p:attrNameLst>
                                      </p:cBhvr>
                                      <p:tavLst>
                                        <p:tav tm="0">
                                          <p:val>
                                            <p:strVal val="#ppt_y+.08"/>
                                          </p:val>
                                        </p:tav>
                                        <p:tav tm="100000">
                                          <p:val>
                                            <p:strVal val="#ppt_y"/>
                                          </p:val>
                                        </p:tav>
                                      </p:tavLst>
                                    </p:anim>
                                  </p:childTnLst>
                                </p:cTn>
                              </p:par>
                              <p:par>
                                <p:cTn id="15" presetID="42" presetClass="entr" presetSubtype="0" fill="hold" nodeType="withEffect">
                                  <p:stCondLst>
                                    <p:cond delay="570"/>
                                  </p:stCondLst>
                                  <p:childTnLst>
                                    <p:set>
                                      <p:cBhvr>
                                        <p:cTn id="16" dur="1" fill="hold">
                                          <p:stCondLst>
                                            <p:cond delay="0"/>
                                          </p:stCondLst>
                                        </p:cTn>
                                        <p:tgtEl>
                                          <p:spTgt spid="48"/>
                                        </p:tgtEl>
                                        <p:attrNameLst>
                                          <p:attrName>style.visibility</p:attrName>
                                        </p:attrNameLst>
                                      </p:cBhvr>
                                      <p:to>
                                        <p:strVal val="visible"/>
                                      </p:to>
                                    </p:set>
                                    <p:animEffect transition="in" filter="fade">
                                      <p:cBhvr>
                                        <p:cTn id="17" dur="600"/>
                                        <p:tgtEl>
                                          <p:spTgt spid="48"/>
                                        </p:tgtEl>
                                      </p:cBhvr>
                                    </p:animEffect>
                                    <p:anim calcmode="lin" valueType="num">
                                      <p:cBhvr>
                                        <p:cTn id="18" dur="600" fill="hold"/>
                                        <p:tgtEl>
                                          <p:spTgt spid="48"/>
                                        </p:tgtEl>
                                        <p:attrNameLst>
                                          <p:attrName>ppt_x</p:attrName>
                                        </p:attrNameLst>
                                      </p:cBhvr>
                                      <p:tavLst>
                                        <p:tav tm="0">
                                          <p:val>
                                            <p:strVal val="#ppt_x"/>
                                          </p:val>
                                        </p:tav>
                                        <p:tav tm="100000">
                                          <p:val>
                                            <p:strVal val="#ppt_x"/>
                                          </p:val>
                                        </p:tav>
                                      </p:tavLst>
                                    </p:anim>
                                    <p:anim calcmode="lin" valueType="num">
                                      <p:cBhvr>
                                        <p:cTn id="19" dur="600" fill="hold"/>
                                        <p:tgtEl>
                                          <p:spTgt spid="48"/>
                                        </p:tgtEl>
                                        <p:attrNameLst>
                                          <p:attrName>ppt_y</p:attrName>
                                        </p:attrNameLst>
                                      </p:cBhvr>
                                      <p:tavLst>
                                        <p:tav tm="0">
                                          <p:val>
                                            <p:strVal val="#ppt_y+.08"/>
                                          </p:val>
                                        </p:tav>
                                        <p:tav tm="100000">
                                          <p:val>
                                            <p:strVal val="#ppt_y"/>
                                          </p:val>
                                        </p:tav>
                                      </p:tavLst>
                                    </p:anim>
                                  </p:childTnLst>
                                </p:cTn>
                              </p:par>
                              <p:par>
                                <p:cTn id="20" presetID="42" presetClass="entr" presetSubtype="0" fill="hold" nodeType="withEffect">
                                  <p:stCondLst>
                                    <p:cond delay="730"/>
                                  </p:stCondLst>
                                  <p:childTnLst>
                                    <p:set>
                                      <p:cBhvr>
                                        <p:cTn id="21" dur="1" fill="hold">
                                          <p:stCondLst>
                                            <p:cond delay="0"/>
                                          </p:stCondLst>
                                        </p:cTn>
                                        <p:tgtEl>
                                          <p:spTgt spid="54"/>
                                        </p:tgtEl>
                                        <p:attrNameLst>
                                          <p:attrName>style.visibility</p:attrName>
                                        </p:attrNameLst>
                                      </p:cBhvr>
                                      <p:to>
                                        <p:strVal val="visible"/>
                                      </p:to>
                                    </p:set>
                                    <p:animEffect transition="in" filter="fade">
                                      <p:cBhvr>
                                        <p:cTn id="22" dur="600"/>
                                        <p:tgtEl>
                                          <p:spTgt spid="54"/>
                                        </p:tgtEl>
                                      </p:cBhvr>
                                    </p:animEffect>
                                    <p:anim calcmode="lin" valueType="num">
                                      <p:cBhvr>
                                        <p:cTn id="23" dur="600" fill="hold"/>
                                        <p:tgtEl>
                                          <p:spTgt spid="54"/>
                                        </p:tgtEl>
                                        <p:attrNameLst>
                                          <p:attrName>ppt_x</p:attrName>
                                        </p:attrNameLst>
                                      </p:cBhvr>
                                      <p:tavLst>
                                        <p:tav tm="0">
                                          <p:val>
                                            <p:strVal val="#ppt_x"/>
                                          </p:val>
                                        </p:tav>
                                        <p:tav tm="100000">
                                          <p:val>
                                            <p:strVal val="#ppt_x"/>
                                          </p:val>
                                        </p:tav>
                                      </p:tavLst>
                                    </p:anim>
                                    <p:anim calcmode="lin" valueType="num">
                                      <p:cBhvr>
                                        <p:cTn id="24" dur="600" fill="hold"/>
                                        <p:tgtEl>
                                          <p:spTgt spid="54"/>
                                        </p:tgtEl>
                                        <p:attrNameLst>
                                          <p:attrName>ppt_y</p:attrName>
                                        </p:attrNameLst>
                                      </p:cBhvr>
                                      <p:tavLst>
                                        <p:tav tm="0">
                                          <p:val>
                                            <p:strVal val="#ppt_y+.08"/>
                                          </p:val>
                                        </p:tav>
                                        <p:tav tm="100000">
                                          <p:val>
                                            <p:strVal val="#ppt_y"/>
                                          </p:val>
                                        </p:tav>
                                      </p:tavLst>
                                    </p:anim>
                                  </p:childTnLst>
                                </p:cTn>
                              </p:par>
                              <p:par>
                                <p:cTn id="25" presetID="42" presetClass="entr" presetSubtype="0" fill="hold" nodeType="withEffect">
                                  <p:stCondLst>
                                    <p:cond delay="890"/>
                                  </p:stCondLst>
                                  <p:childTnLst>
                                    <p:set>
                                      <p:cBhvr>
                                        <p:cTn id="26" dur="1" fill="hold">
                                          <p:stCondLst>
                                            <p:cond delay="0"/>
                                          </p:stCondLst>
                                        </p:cTn>
                                        <p:tgtEl>
                                          <p:spTgt spid="59"/>
                                        </p:tgtEl>
                                        <p:attrNameLst>
                                          <p:attrName>style.visibility</p:attrName>
                                        </p:attrNameLst>
                                      </p:cBhvr>
                                      <p:to>
                                        <p:strVal val="visible"/>
                                      </p:to>
                                    </p:set>
                                    <p:animEffect transition="in" filter="fade">
                                      <p:cBhvr>
                                        <p:cTn id="27" dur="600"/>
                                        <p:tgtEl>
                                          <p:spTgt spid="59"/>
                                        </p:tgtEl>
                                      </p:cBhvr>
                                    </p:animEffect>
                                    <p:anim calcmode="lin" valueType="num">
                                      <p:cBhvr>
                                        <p:cTn id="28" dur="600" fill="hold"/>
                                        <p:tgtEl>
                                          <p:spTgt spid="59"/>
                                        </p:tgtEl>
                                        <p:attrNameLst>
                                          <p:attrName>ppt_x</p:attrName>
                                        </p:attrNameLst>
                                      </p:cBhvr>
                                      <p:tavLst>
                                        <p:tav tm="0">
                                          <p:val>
                                            <p:strVal val="#ppt_x"/>
                                          </p:val>
                                        </p:tav>
                                        <p:tav tm="100000">
                                          <p:val>
                                            <p:strVal val="#ppt_x"/>
                                          </p:val>
                                        </p:tav>
                                      </p:tavLst>
                                    </p:anim>
                                    <p:anim calcmode="lin" valueType="num">
                                      <p:cBhvr>
                                        <p:cTn id="29" dur="600" fill="hold"/>
                                        <p:tgtEl>
                                          <p:spTgt spid="59"/>
                                        </p:tgtEl>
                                        <p:attrNameLst>
                                          <p:attrName>ppt_y</p:attrName>
                                        </p:attrNameLst>
                                      </p:cBhvr>
                                      <p:tavLst>
                                        <p:tav tm="0">
                                          <p:val>
                                            <p:strVal val="#ppt_y+.08"/>
                                          </p:val>
                                        </p:tav>
                                        <p:tav tm="100000">
                                          <p:val>
                                            <p:strVal val="#ppt_y"/>
                                          </p:val>
                                        </p:tav>
                                      </p:tavLst>
                                    </p:anim>
                                  </p:childTnLst>
                                </p:cTn>
                              </p:par>
                              <p:par>
                                <p:cTn id="30" presetID="42" presetClass="entr" presetSubtype="0" fill="hold" nodeType="withEffect">
                                  <p:stCondLst>
                                    <p:cond delay="1050"/>
                                  </p:stCondLst>
                                  <p:childTnLst>
                                    <p:set>
                                      <p:cBhvr>
                                        <p:cTn id="31" dur="1" fill="hold">
                                          <p:stCondLst>
                                            <p:cond delay="0"/>
                                          </p:stCondLst>
                                        </p:cTn>
                                        <p:tgtEl>
                                          <p:spTgt spid="64"/>
                                        </p:tgtEl>
                                        <p:attrNameLst>
                                          <p:attrName>style.visibility</p:attrName>
                                        </p:attrNameLst>
                                      </p:cBhvr>
                                      <p:to>
                                        <p:strVal val="visible"/>
                                      </p:to>
                                    </p:set>
                                    <p:animEffect transition="in" filter="fade">
                                      <p:cBhvr>
                                        <p:cTn id="32" dur="600"/>
                                        <p:tgtEl>
                                          <p:spTgt spid="64"/>
                                        </p:tgtEl>
                                      </p:cBhvr>
                                    </p:animEffect>
                                    <p:anim calcmode="lin" valueType="num">
                                      <p:cBhvr>
                                        <p:cTn id="33" dur="600" fill="hold"/>
                                        <p:tgtEl>
                                          <p:spTgt spid="64"/>
                                        </p:tgtEl>
                                        <p:attrNameLst>
                                          <p:attrName>ppt_x</p:attrName>
                                        </p:attrNameLst>
                                      </p:cBhvr>
                                      <p:tavLst>
                                        <p:tav tm="0">
                                          <p:val>
                                            <p:strVal val="#ppt_x"/>
                                          </p:val>
                                        </p:tav>
                                        <p:tav tm="100000">
                                          <p:val>
                                            <p:strVal val="#ppt_x"/>
                                          </p:val>
                                        </p:tav>
                                      </p:tavLst>
                                    </p:anim>
                                    <p:anim calcmode="lin" valueType="num">
                                      <p:cBhvr>
                                        <p:cTn id="34" dur="600" fill="hold"/>
                                        <p:tgtEl>
                                          <p:spTgt spid="6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9087188" y="-2332213"/>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1936019" y="3926777"/>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323503" y="5059043"/>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RESOURCE ALLOCATION</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Comparing Allocation Approaches</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Resource Allocation</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lang="en-GB" sz="1000">
                <a:solidFill>
                  <a:srgbClr val="C9D2E3"/>
                </a:solidFill>
                <a:latin typeface="Segoe UI Semibold"/>
              </a:rPr>
              <a:t>25</a:t>
            </a:r>
            <a:r>
              <a:rPr sz="1000" b="0" i="0" dirty="0">
                <a:solidFill>
                  <a:srgbClr val="8C9AB5"/>
                </a:solidFill>
                <a:latin typeface="Segoe UI"/>
              </a:rPr>
              <a:t> / 30</a:t>
            </a:r>
          </a:p>
        </p:txBody>
      </p:sp>
      <p:grpSp>
        <p:nvGrpSpPr>
          <p:cNvPr id="36" name="Group 35"/>
          <p:cNvGrpSpPr/>
          <p:nvPr/>
        </p:nvGrpSpPr>
        <p:grpSpPr>
          <a:xfrm>
            <a:off x="548640" y="1627632"/>
            <a:ext cx="11228831" cy="502920"/>
            <a:chOff x="548640" y="1627632"/>
            <a:chExt cx="11228831" cy="502920"/>
          </a:xfrm>
        </p:grpSpPr>
        <p:sp>
          <p:nvSpPr>
            <p:cNvPr id="37" name="Rounded Rectangle 36"/>
            <p:cNvSpPr/>
            <p:nvPr/>
          </p:nvSpPr>
          <p:spPr>
            <a:xfrm>
              <a:off x="548640" y="1627632"/>
              <a:ext cx="11091672" cy="502920"/>
            </a:xfrm>
            <a:prstGeom prst="roundRect">
              <a:avLst>
                <a:gd name="adj" fmla="val 20000"/>
              </a:avLst>
            </a:prstGeom>
            <a:solidFill>
              <a:srgbClr val="1D3360"/>
            </a:solidFill>
            <a:ln>
              <a:noFill/>
            </a:ln>
          </p:spPr>
          <p:txBody>
            <a:bodyPr wrap="square" rtlCol="0" anchor="ctr"/>
            <a:lstStyle/>
            <a:p>
              <a:pPr algn="ctr"/>
              <a:endParaRPr/>
            </a:p>
          </p:txBody>
        </p:sp>
        <p:sp>
          <p:nvSpPr>
            <p:cNvPr id="38" name="TextBox 37"/>
            <p:cNvSpPr txBox="1"/>
            <p:nvPr/>
          </p:nvSpPr>
          <p:spPr>
            <a:xfrm>
              <a:off x="777240" y="1627632"/>
              <a:ext cx="2514600" cy="502920"/>
            </a:xfrm>
            <a:prstGeom prst="rect">
              <a:avLst/>
            </a:prstGeom>
            <a:noFill/>
          </p:spPr>
          <p:txBody>
            <a:bodyPr wrap="square" lIns="0" tIns="0" rIns="0" bIns="0" anchor="ctr">
              <a:noAutofit/>
            </a:bodyPr>
            <a:lstStyle/>
            <a:p>
              <a:pPr algn="l">
                <a:lnSpc>
                  <a:spcPct val="112000"/>
                </a:lnSpc>
                <a:spcAft>
                  <a:spcPts val="0"/>
                </a:spcAft>
              </a:pPr>
              <a:r>
                <a:rPr sz="1100" b="0" i="0" spc="200">
                  <a:solidFill>
                    <a:srgbClr val="FFFFFF"/>
                  </a:solidFill>
                  <a:latin typeface="Segoe UI Semibold"/>
                </a:rPr>
                <a:t>APPROACH</a:t>
              </a:r>
            </a:p>
          </p:txBody>
        </p:sp>
        <p:sp>
          <p:nvSpPr>
            <p:cNvPr id="39" name="TextBox 38"/>
            <p:cNvSpPr txBox="1"/>
            <p:nvPr/>
          </p:nvSpPr>
          <p:spPr>
            <a:xfrm>
              <a:off x="3063240" y="1627632"/>
              <a:ext cx="1298448" cy="502920"/>
            </a:xfrm>
            <a:prstGeom prst="rect">
              <a:avLst/>
            </a:prstGeom>
            <a:noFill/>
          </p:spPr>
          <p:txBody>
            <a:bodyPr wrap="square" lIns="0" tIns="0" rIns="0" bIns="0" anchor="ctr">
              <a:noAutofit/>
            </a:bodyPr>
            <a:lstStyle/>
            <a:p>
              <a:pPr algn="ctr">
                <a:lnSpc>
                  <a:spcPct val="112000"/>
                </a:lnSpc>
                <a:spcAft>
                  <a:spcPts val="0"/>
                </a:spcAft>
              </a:pPr>
              <a:r>
                <a:rPr sz="1150" b="0" i="0">
                  <a:solidFill>
                    <a:srgbClr val="FFFFFF"/>
                  </a:solidFill>
                  <a:latin typeface="Segoe UI Semibold"/>
                </a:rPr>
                <a:t>Optimality</a:t>
              </a:r>
            </a:p>
          </p:txBody>
        </p:sp>
        <p:sp>
          <p:nvSpPr>
            <p:cNvPr id="40" name="TextBox 39"/>
            <p:cNvSpPr txBox="1"/>
            <p:nvPr/>
          </p:nvSpPr>
          <p:spPr>
            <a:xfrm>
              <a:off x="4361688" y="1627632"/>
              <a:ext cx="1298448" cy="502920"/>
            </a:xfrm>
            <a:prstGeom prst="rect">
              <a:avLst/>
            </a:prstGeom>
            <a:noFill/>
          </p:spPr>
          <p:txBody>
            <a:bodyPr wrap="square" lIns="0" tIns="0" rIns="0" bIns="0" anchor="ctr">
              <a:noAutofit/>
            </a:bodyPr>
            <a:lstStyle/>
            <a:p>
              <a:pPr algn="ctr">
                <a:lnSpc>
                  <a:spcPct val="112000"/>
                </a:lnSpc>
                <a:spcAft>
                  <a:spcPts val="0"/>
                </a:spcAft>
              </a:pPr>
              <a:r>
                <a:rPr sz="1150" b="0" i="0">
                  <a:solidFill>
                    <a:srgbClr val="FFFFFF"/>
                  </a:solidFill>
                  <a:latin typeface="Segoe UI Semibold"/>
                </a:rPr>
                <a:t>Scalability</a:t>
              </a:r>
            </a:p>
          </p:txBody>
        </p:sp>
        <p:sp>
          <p:nvSpPr>
            <p:cNvPr id="41" name="TextBox 40"/>
            <p:cNvSpPr txBox="1"/>
            <p:nvPr/>
          </p:nvSpPr>
          <p:spPr>
            <a:xfrm>
              <a:off x="5660136" y="1627632"/>
              <a:ext cx="1298448" cy="502920"/>
            </a:xfrm>
            <a:prstGeom prst="rect">
              <a:avLst/>
            </a:prstGeom>
            <a:noFill/>
          </p:spPr>
          <p:txBody>
            <a:bodyPr wrap="square" lIns="0" tIns="0" rIns="0" bIns="0" anchor="ctr">
              <a:noAutofit/>
            </a:bodyPr>
            <a:lstStyle/>
            <a:p>
              <a:pPr algn="ctr">
                <a:lnSpc>
                  <a:spcPct val="112000"/>
                </a:lnSpc>
                <a:spcAft>
                  <a:spcPts val="0"/>
                </a:spcAft>
              </a:pPr>
              <a:r>
                <a:rPr sz="1150" b="0" i="0">
                  <a:solidFill>
                    <a:srgbClr val="FFFFFF"/>
                  </a:solidFill>
                  <a:latin typeface="Segoe UI Semibold"/>
                </a:rPr>
                <a:t>Adaptivity</a:t>
              </a:r>
            </a:p>
          </p:txBody>
        </p:sp>
        <p:sp>
          <p:nvSpPr>
            <p:cNvPr id="42" name="TextBox 41"/>
            <p:cNvSpPr txBox="1"/>
            <p:nvPr/>
          </p:nvSpPr>
          <p:spPr>
            <a:xfrm>
              <a:off x="6958583" y="1627632"/>
              <a:ext cx="1298448" cy="502920"/>
            </a:xfrm>
            <a:prstGeom prst="rect">
              <a:avLst/>
            </a:prstGeom>
            <a:noFill/>
          </p:spPr>
          <p:txBody>
            <a:bodyPr wrap="square" lIns="0" tIns="0" rIns="0" bIns="0" anchor="ctr">
              <a:noAutofit/>
            </a:bodyPr>
            <a:lstStyle/>
            <a:p>
              <a:pPr algn="ctr">
                <a:lnSpc>
                  <a:spcPct val="112000"/>
                </a:lnSpc>
                <a:spcAft>
                  <a:spcPts val="0"/>
                </a:spcAft>
              </a:pPr>
              <a:r>
                <a:rPr sz="1150" b="0" i="0">
                  <a:solidFill>
                    <a:srgbClr val="FFFFFF"/>
                  </a:solidFill>
                  <a:latin typeface="Segoe UI Semibold"/>
                </a:rPr>
                <a:t>Explainability</a:t>
              </a:r>
            </a:p>
          </p:txBody>
        </p:sp>
        <p:sp>
          <p:nvSpPr>
            <p:cNvPr id="43" name="TextBox 42"/>
            <p:cNvSpPr txBox="1"/>
            <p:nvPr/>
          </p:nvSpPr>
          <p:spPr>
            <a:xfrm>
              <a:off x="8257031" y="1627632"/>
              <a:ext cx="1298448" cy="502920"/>
            </a:xfrm>
            <a:prstGeom prst="rect">
              <a:avLst/>
            </a:prstGeom>
            <a:noFill/>
          </p:spPr>
          <p:txBody>
            <a:bodyPr wrap="square" lIns="0" tIns="0" rIns="0" bIns="0" anchor="ctr">
              <a:noAutofit/>
            </a:bodyPr>
            <a:lstStyle/>
            <a:p>
              <a:pPr algn="ctr">
                <a:lnSpc>
                  <a:spcPct val="112000"/>
                </a:lnSpc>
                <a:spcAft>
                  <a:spcPts val="0"/>
                </a:spcAft>
              </a:pPr>
              <a:r>
                <a:rPr sz="1150" b="0" i="0">
                  <a:solidFill>
                    <a:srgbClr val="FFFFFF"/>
                  </a:solidFill>
                  <a:latin typeface="Segoe UI Semibold"/>
                </a:rPr>
                <a:t>Ease of build</a:t>
              </a:r>
            </a:p>
          </p:txBody>
        </p:sp>
        <p:sp>
          <p:nvSpPr>
            <p:cNvPr id="44" name="TextBox 43"/>
            <p:cNvSpPr txBox="1"/>
            <p:nvPr/>
          </p:nvSpPr>
          <p:spPr>
            <a:xfrm>
              <a:off x="9692640" y="1627632"/>
              <a:ext cx="2084831" cy="502920"/>
            </a:xfrm>
            <a:prstGeom prst="rect">
              <a:avLst/>
            </a:prstGeom>
            <a:noFill/>
          </p:spPr>
          <p:txBody>
            <a:bodyPr wrap="square" lIns="0" tIns="0" rIns="0" bIns="0" anchor="ctr">
              <a:noAutofit/>
            </a:bodyPr>
            <a:lstStyle/>
            <a:p>
              <a:pPr algn="l">
                <a:lnSpc>
                  <a:spcPct val="112000"/>
                </a:lnSpc>
                <a:spcAft>
                  <a:spcPts val="0"/>
                </a:spcAft>
              </a:pPr>
              <a:r>
                <a:rPr sz="1100" b="0" i="0" spc="200">
                  <a:solidFill>
                    <a:srgbClr val="FFFFFF"/>
                  </a:solidFill>
                  <a:latin typeface="Segoe UI Semibold"/>
                </a:rPr>
                <a:t>BEST FOR</a:t>
              </a:r>
            </a:p>
          </p:txBody>
        </p:sp>
      </p:grpSp>
      <p:grpSp>
        <p:nvGrpSpPr>
          <p:cNvPr id="45" name="Group 44"/>
          <p:cNvGrpSpPr/>
          <p:nvPr/>
        </p:nvGrpSpPr>
        <p:grpSpPr>
          <a:xfrm>
            <a:off x="548640" y="2240280"/>
            <a:ext cx="11137391" cy="640080"/>
            <a:chOff x="548640" y="2240280"/>
            <a:chExt cx="11137391" cy="640080"/>
          </a:xfrm>
        </p:grpSpPr>
        <p:sp>
          <p:nvSpPr>
            <p:cNvPr id="46" name="Rounded Rectangle 45"/>
            <p:cNvSpPr/>
            <p:nvPr/>
          </p:nvSpPr>
          <p:spPr>
            <a:xfrm>
              <a:off x="548640" y="2240280"/>
              <a:ext cx="11091672" cy="640080"/>
            </a:xfrm>
            <a:prstGeom prst="roundRect">
              <a:avLst>
                <a:gd name="adj" fmla="val 20000"/>
              </a:avLst>
            </a:prstGeom>
            <a:solidFill>
              <a:srgbClr val="13213D"/>
            </a:solidFill>
            <a:ln w="6350">
              <a:solidFill>
                <a:srgbClr val="2A3F69"/>
              </a:solidFill>
            </a:ln>
          </p:spPr>
          <p:txBody>
            <a:bodyPr wrap="square" rtlCol="0" anchor="ctr"/>
            <a:lstStyle/>
            <a:p>
              <a:pPr algn="ctr"/>
              <a:endParaRPr/>
            </a:p>
          </p:txBody>
        </p:sp>
        <p:sp>
          <p:nvSpPr>
            <p:cNvPr id="47" name="Rectangle 46"/>
            <p:cNvSpPr/>
            <p:nvPr/>
          </p:nvSpPr>
          <p:spPr>
            <a:xfrm>
              <a:off x="548640" y="2395728"/>
              <a:ext cx="45720" cy="329184"/>
            </a:xfrm>
            <a:prstGeom prst="rect">
              <a:avLst/>
            </a:prstGeom>
            <a:solidFill>
              <a:srgbClr val="3987E5"/>
            </a:solidFill>
            <a:ln>
              <a:noFill/>
            </a:ln>
          </p:spPr>
          <p:txBody>
            <a:bodyPr wrap="square" rtlCol="0" anchor="ctr"/>
            <a:lstStyle/>
            <a:p>
              <a:pPr algn="ctr"/>
              <a:endParaRPr/>
            </a:p>
          </p:txBody>
        </p:sp>
        <p:sp>
          <p:nvSpPr>
            <p:cNvPr id="48" name="TextBox 47"/>
            <p:cNvSpPr txBox="1"/>
            <p:nvPr/>
          </p:nvSpPr>
          <p:spPr>
            <a:xfrm>
              <a:off x="777240" y="2240280"/>
              <a:ext cx="2514600" cy="640080"/>
            </a:xfrm>
            <a:prstGeom prst="rect">
              <a:avLst/>
            </a:prstGeom>
            <a:noFill/>
          </p:spPr>
          <p:txBody>
            <a:bodyPr wrap="square" lIns="0" tIns="0" rIns="0" bIns="0" anchor="ctr">
              <a:noAutofit/>
            </a:bodyPr>
            <a:lstStyle/>
            <a:p>
              <a:pPr algn="l">
                <a:lnSpc>
                  <a:spcPct val="112000"/>
                </a:lnSpc>
                <a:spcAft>
                  <a:spcPts val="0"/>
                </a:spcAft>
              </a:pPr>
              <a:r>
                <a:rPr sz="1350" b="0" i="0">
                  <a:solidFill>
                    <a:srgbClr val="FFFFFF"/>
                  </a:solidFill>
                  <a:latin typeface="Segoe UI Semibold"/>
                </a:rPr>
                <a:t>Exact (ILP / CP)</a:t>
              </a:r>
            </a:p>
          </p:txBody>
        </p:sp>
        <p:sp>
          <p:nvSpPr>
            <p:cNvPr id="49" name="Oval 48"/>
            <p:cNvSpPr/>
            <p:nvPr/>
          </p:nvSpPr>
          <p:spPr>
            <a:xfrm>
              <a:off x="3282696" y="2496312"/>
              <a:ext cx="128016" cy="128016"/>
            </a:xfrm>
            <a:prstGeom prst="ellipse">
              <a:avLst/>
            </a:prstGeom>
            <a:solidFill>
              <a:srgbClr val="7DB3F5"/>
            </a:solidFill>
            <a:ln>
              <a:noFill/>
            </a:ln>
          </p:spPr>
          <p:txBody>
            <a:bodyPr wrap="square" rtlCol="0" anchor="ctr"/>
            <a:lstStyle/>
            <a:p>
              <a:pPr algn="ctr"/>
              <a:endParaRPr/>
            </a:p>
          </p:txBody>
        </p:sp>
        <p:sp>
          <p:nvSpPr>
            <p:cNvPr id="50" name="Oval 49"/>
            <p:cNvSpPr/>
            <p:nvPr/>
          </p:nvSpPr>
          <p:spPr>
            <a:xfrm>
              <a:off x="3465576" y="2496312"/>
              <a:ext cx="128016" cy="128016"/>
            </a:xfrm>
            <a:prstGeom prst="ellipse">
              <a:avLst/>
            </a:prstGeom>
            <a:solidFill>
              <a:srgbClr val="7DB3F5"/>
            </a:solidFill>
            <a:ln>
              <a:noFill/>
            </a:ln>
          </p:spPr>
          <p:txBody>
            <a:bodyPr wrap="square" rtlCol="0" anchor="ctr"/>
            <a:lstStyle/>
            <a:p>
              <a:pPr algn="ctr"/>
              <a:endParaRPr/>
            </a:p>
          </p:txBody>
        </p:sp>
        <p:sp>
          <p:nvSpPr>
            <p:cNvPr id="51" name="Oval 50"/>
            <p:cNvSpPr/>
            <p:nvPr/>
          </p:nvSpPr>
          <p:spPr>
            <a:xfrm>
              <a:off x="3648456" y="2496312"/>
              <a:ext cx="128016" cy="128016"/>
            </a:xfrm>
            <a:prstGeom prst="ellipse">
              <a:avLst/>
            </a:prstGeom>
            <a:solidFill>
              <a:srgbClr val="7DB3F5"/>
            </a:solidFill>
            <a:ln>
              <a:noFill/>
            </a:ln>
          </p:spPr>
          <p:txBody>
            <a:bodyPr wrap="square" rtlCol="0" anchor="ctr"/>
            <a:lstStyle/>
            <a:p>
              <a:pPr algn="ctr"/>
              <a:endParaRPr/>
            </a:p>
          </p:txBody>
        </p:sp>
        <p:sp>
          <p:nvSpPr>
            <p:cNvPr id="52" name="Oval 51"/>
            <p:cNvSpPr/>
            <p:nvPr/>
          </p:nvSpPr>
          <p:spPr>
            <a:xfrm>
              <a:off x="3831336" y="2496312"/>
              <a:ext cx="128016" cy="128016"/>
            </a:xfrm>
            <a:prstGeom prst="ellipse">
              <a:avLst/>
            </a:prstGeom>
            <a:solidFill>
              <a:srgbClr val="7DB3F5"/>
            </a:solidFill>
            <a:ln>
              <a:noFill/>
            </a:ln>
          </p:spPr>
          <p:txBody>
            <a:bodyPr wrap="square" rtlCol="0" anchor="ctr"/>
            <a:lstStyle/>
            <a:p>
              <a:pPr algn="ctr"/>
              <a:endParaRPr/>
            </a:p>
          </p:txBody>
        </p:sp>
        <p:sp>
          <p:nvSpPr>
            <p:cNvPr id="53" name="Oval 52"/>
            <p:cNvSpPr/>
            <p:nvPr/>
          </p:nvSpPr>
          <p:spPr>
            <a:xfrm>
              <a:off x="4014216" y="2496312"/>
              <a:ext cx="128016" cy="128016"/>
            </a:xfrm>
            <a:prstGeom prst="ellipse">
              <a:avLst/>
            </a:prstGeom>
            <a:solidFill>
              <a:srgbClr val="7DB3F5"/>
            </a:solidFill>
            <a:ln>
              <a:noFill/>
            </a:ln>
          </p:spPr>
          <p:txBody>
            <a:bodyPr wrap="square" rtlCol="0" anchor="ctr"/>
            <a:lstStyle/>
            <a:p>
              <a:pPr algn="ctr"/>
              <a:endParaRPr/>
            </a:p>
          </p:txBody>
        </p:sp>
        <p:sp>
          <p:nvSpPr>
            <p:cNvPr id="54" name="Oval 53"/>
            <p:cNvSpPr/>
            <p:nvPr/>
          </p:nvSpPr>
          <p:spPr>
            <a:xfrm>
              <a:off x="4581144" y="2496312"/>
              <a:ext cx="128016" cy="128016"/>
            </a:xfrm>
            <a:prstGeom prst="ellipse">
              <a:avLst/>
            </a:prstGeom>
            <a:solidFill>
              <a:srgbClr val="7DB3F5"/>
            </a:solidFill>
            <a:ln>
              <a:noFill/>
            </a:ln>
          </p:spPr>
          <p:txBody>
            <a:bodyPr wrap="square" rtlCol="0" anchor="ctr"/>
            <a:lstStyle/>
            <a:p>
              <a:pPr algn="ctr"/>
              <a:endParaRPr/>
            </a:p>
          </p:txBody>
        </p:sp>
        <p:sp>
          <p:nvSpPr>
            <p:cNvPr id="55" name="Oval 54"/>
            <p:cNvSpPr/>
            <p:nvPr/>
          </p:nvSpPr>
          <p:spPr>
            <a:xfrm>
              <a:off x="4764024" y="2496312"/>
              <a:ext cx="128016" cy="128016"/>
            </a:xfrm>
            <a:prstGeom prst="ellipse">
              <a:avLst/>
            </a:prstGeom>
            <a:solidFill>
              <a:srgbClr val="2A3A5C"/>
            </a:solidFill>
            <a:ln>
              <a:noFill/>
            </a:ln>
          </p:spPr>
          <p:txBody>
            <a:bodyPr wrap="square" rtlCol="0" anchor="ctr"/>
            <a:lstStyle/>
            <a:p>
              <a:pPr algn="ctr"/>
              <a:endParaRPr/>
            </a:p>
          </p:txBody>
        </p:sp>
        <p:sp>
          <p:nvSpPr>
            <p:cNvPr id="56" name="Oval 55"/>
            <p:cNvSpPr/>
            <p:nvPr/>
          </p:nvSpPr>
          <p:spPr>
            <a:xfrm>
              <a:off x="4946904" y="2496312"/>
              <a:ext cx="128016" cy="128016"/>
            </a:xfrm>
            <a:prstGeom prst="ellipse">
              <a:avLst/>
            </a:prstGeom>
            <a:solidFill>
              <a:srgbClr val="2A3A5C"/>
            </a:solidFill>
            <a:ln>
              <a:noFill/>
            </a:ln>
          </p:spPr>
          <p:txBody>
            <a:bodyPr wrap="square" rtlCol="0" anchor="ctr"/>
            <a:lstStyle/>
            <a:p>
              <a:pPr algn="ctr"/>
              <a:endParaRPr/>
            </a:p>
          </p:txBody>
        </p:sp>
        <p:sp>
          <p:nvSpPr>
            <p:cNvPr id="57" name="Oval 56"/>
            <p:cNvSpPr/>
            <p:nvPr/>
          </p:nvSpPr>
          <p:spPr>
            <a:xfrm>
              <a:off x="5129784" y="2496312"/>
              <a:ext cx="128016" cy="128016"/>
            </a:xfrm>
            <a:prstGeom prst="ellipse">
              <a:avLst/>
            </a:prstGeom>
            <a:solidFill>
              <a:srgbClr val="2A3A5C"/>
            </a:solidFill>
            <a:ln>
              <a:noFill/>
            </a:ln>
          </p:spPr>
          <p:txBody>
            <a:bodyPr wrap="square" rtlCol="0" anchor="ctr"/>
            <a:lstStyle/>
            <a:p>
              <a:pPr algn="ctr"/>
              <a:endParaRPr/>
            </a:p>
          </p:txBody>
        </p:sp>
        <p:sp>
          <p:nvSpPr>
            <p:cNvPr id="58" name="Oval 57"/>
            <p:cNvSpPr/>
            <p:nvPr/>
          </p:nvSpPr>
          <p:spPr>
            <a:xfrm>
              <a:off x="5312664" y="2496312"/>
              <a:ext cx="128016" cy="128016"/>
            </a:xfrm>
            <a:prstGeom prst="ellipse">
              <a:avLst/>
            </a:prstGeom>
            <a:solidFill>
              <a:srgbClr val="2A3A5C"/>
            </a:solidFill>
            <a:ln>
              <a:noFill/>
            </a:ln>
          </p:spPr>
          <p:txBody>
            <a:bodyPr wrap="square" rtlCol="0" anchor="ctr"/>
            <a:lstStyle/>
            <a:p>
              <a:pPr algn="ctr"/>
              <a:endParaRPr/>
            </a:p>
          </p:txBody>
        </p:sp>
        <p:sp>
          <p:nvSpPr>
            <p:cNvPr id="59" name="Oval 58"/>
            <p:cNvSpPr/>
            <p:nvPr/>
          </p:nvSpPr>
          <p:spPr>
            <a:xfrm>
              <a:off x="5879592" y="2496312"/>
              <a:ext cx="128016" cy="128016"/>
            </a:xfrm>
            <a:prstGeom prst="ellipse">
              <a:avLst/>
            </a:prstGeom>
            <a:solidFill>
              <a:srgbClr val="7DB3F5"/>
            </a:solidFill>
            <a:ln>
              <a:noFill/>
            </a:ln>
          </p:spPr>
          <p:txBody>
            <a:bodyPr wrap="square" rtlCol="0" anchor="ctr"/>
            <a:lstStyle/>
            <a:p>
              <a:pPr algn="ctr"/>
              <a:endParaRPr/>
            </a:p>
          </p:txBody>
        </p:sp>
        <p:sp>
          <p:nvSpPr>
            <p:cNvPr id="60" name="Oval 59"/>
            <p:cNvSpPr/>
            <p:nvPr/>
          </p:nvSpPr>
          <p:spPr>
            <a:xfrm>
              <a:off x="6062472" y="2496312"/>
              <a:ext cx="128016" cy="128016"/>
            </a:xfrm>
            <a:prstGeom prst="ellipse">
              <a:avLst/>
            </a:prstGeom>
            <a:solidFill>
              <a:srgbClr val="2A3A5C"/>
            </a:solidFill>
            <a:ln>
              <a:noFill/>
            </a:ln>
          </p:spPr>
          <p:txBody>
            <a:bodyPr wrap="square" rtlCol="0" anchor="ctr"/>
            <a:lstStyle/>
            <a:p>
              <a:pPr algn="ctr"/>
              <a:endParaRPr/>
            </a:p>
          </p:txBody>
        </p:sp>
        <p:sp>
          <p:nvSpPr>
            <p:cNvPr id="61" name="Oval 60"/>
            <p:cNvSpPr/>
            <p:nvPr/>
          </p:nvSpPr>
          <p:spPr>
            <a:xfrm>
              <a:off x="6245352" y="2496312"/>
              <a:ext cx="128016" cy="128016"/>
            </a:xfrm>
            <a:prstGeom prst="ellipse">
              <a:avLst/>
            </a:prstGeom>
            <a:solidFill>
              <a:srgbClr val="2A3A5C"/>
            </a:solidFill>
            <a:ln>
              <a:noFill/>
            </a:ln>
          </p:spPr>
          <p:txBody>
            <a:bodyPr wrap="square" rtlCol="0" anchor="ctr"/>
            <a:lstStyle/>
            <a:p>
              <a:pPr algn="ctr"/>
              <a:endParaRPr/>
            </a:p>
          </p:txBody>
        </p:sp>
        <p:sp>
          <p:nvSpPr>
            <p:cNvPr id="62" name="Oval 61"/>
            <p:cNvSpPr/>
            <p:nvPr/>
          </p:nvSpPr>
          <p:spPr>
            <a:xfrm>
              <a:off x="6428232" y="2496312"/>
              <a:ext cx="128016" cy="128016"/>
            </a:xfrm>
            <a:prstGeom prst="ellipse">
              <a:avLst/>
            </a:prstGeom>
            <a:solidFill>
              <a:srgbClr val="2A3A5C"/>
            </a:solidFill>
            <a:ln>
              <a:noFill/>
            </a:ln>
          </p:spPr>
          <p:txBody>
            <a:bodyPr wrap="square" rtlCol="0" anchor="ctr"/>
            <a:lstStyle/>
            <a:p>
              <a:pPr algn="ctr"/>
              <a:endParaRPr/>
            </a:p>
          </p:txBody>
        </p:sp>
        <p:sp>
          <p:nvSpPr>
            <p:cNvPr id="63" name="Oval 62"/>
            <p:cNvSpPr/>
            <p:nvPr/>
          </p:nvSpPr>
          <p:spPr>
            <a:xfrm>
              <a:off x="6611112" y="2496312"/>
              <a:ext cx="128016" cy="128016"/>
            </a:xfrm>
            <a:prstGeom prst="ellipse">
              <a:avLst/>
            </a:prstGeom>
            <a:solidFill>
              <a:srgbClr val="2A3A5C"/>
            </a:solidFill>
            <a:ln>
              <a:noFill/>
            </a:ln>
          </p:spPr>
          <p:txBody>
            <a:bodyPr wrap="square" rtlCol="0" anchor="ctr"/>
            <a:lstStyle/>
            <a:p>
              <a:pPr algn="ctr"/>
              <a:endParaRPr/>
            </a:p>
          </p:txBody>
        </p:sp>
        <p:sp>
          <p:nvSpPr>
            <p:cNvPr id="64" name="Oval 63"/>
            <p:cNvSpPr/>
            <p:nvPr/>
          </p:nvSpPr>
          <p:spPr>
            <a:xfrm>
              <a:off x="7178040" y="2496312"/>
              <a:ext cx="128016" cy="128016"/>
            </a:xfrm>
            <a:prstGeom prst="ellipse">
              <a:avLst/>
            </a:prstGeom>
            <a:solidFill>
              <a:srgbClr val="7DB3F5"/>
            </a:solidFill>
            <a:ln>
              <a:noFill/>
            </a:ln>
          </p:spPr>
          <p:txBody>
            <a:bodyPr wrap="square" rtlCol="0" anchor="ctr"/>
            <a:lstStyle/>
            <a:p>
              <a:pPr algn="ctr"/>
              <a:endParaRPr/>
            </a:p>
          </p:txBody>
        </p:sp>
        <p:sp>
          <p:nvSpPr>
            <p:cNvPr id="65" name="Oval 64"/>
            <p:cNvSpPr/>
            <p:nvPr/>
          </p:nvSpPr>
          <p:spPr>
            <a:xfrm>
              <a:off x="7360919" y="2496312"/>
              <a:ext cx="128016" cy="128016"/>
            </a:xfrm>
            <a:prstGeom prst="ellipse">
              <a:avLst/>
            </a:prstGeom>
            <a:solidFill>
              <a:srgbClr val="7DB3F5"/>
            </a:solidFill>
            <a:ln>
              <a:noFill/>
            </a:ln>
          </p:spPr>
          <p:txBody>
            <a:bodyPr wrap="square" rtlCol="0" anchor="ctr"/>
            <a:lstStyle/>
            <a:p>
              <a:pPr algn="ctr"/>
              <a:endParaRPr/>
            </a:p>
          </p:txBody>
        </p:sp>
        <p:sp>
          <p:nvSpPr>
            <p:cNvPr id="66" name="Oval 65"/>
            <p:cNvSpPr/>
            <p:nvPr/>
          </p:nvSpPr>
          <p:spPr>
            <a:xfrm>
              <a:off x="7543799" y="2496312"/>
              <a:ext cx="128016" cy="128016"/>
            </a:xfrm>
            <a:prstGeom prst="ellipse">
              <a:avLst/>
            </a:prstGeom>
            <a:solidFill>
              <a:srgbClr val="7DB3F5"/>
            </a:solidFill>
            <a:ln>
              <a:noFill/>
            </a:ln>
          </p:spPr>
          <p:txBody>
            <a:bodyPr wrap="square" rtlCol="0" anchor="ctr"/>
            <a:lstStyle/>
            <a:p>
              <a:pPr algn="ctr"/>
              <a:endParaRPr/>
            </a:p>
          </p:txBody>
        </p:sp>
        <p:sp>
          <p:nvSpPr>
            <p:cNvPr id="67" name="Oval 66"/>
            <p:cNvSpPr/>
            <p:nvPr/>
          </p:nvSpPr>
          <p:spPr>
            <a:xfrm>
              <a:off x="7726679" y="2496312"/>
              <a:ext cx="128016" cy="128016"/>
            </a:xfrm>
            <a:prstGeom prst="ellipse">
              <a:avLst/>
            </a:prstGeom>
            <a:solidFill>
              <a:srgbClr val="7DB3F5"/>
            </a:solidFill>
            <a:ln>
              <a:noFill/>
            </a:ln>
          </p:spPr>
          <p:txBody>
            <a:bodyPr wrap="square" rtlCol="0" anchor="ctr"/>
            <a:lstStyle/>
            <a:p>
              <a:pPr algn="ctr"/>
              <a:endParaRPr/>
            </a:p>
          </p:txBody>
        </p:sp>
        <p:sp>
          <p:nvSpPr>
            <p:cNvPr id="68" name="Oval 67"/>
            <p:cNvSpPr/>
            <p:nvPr/>
          </p:nvSpPr>
          <p:spPr>
            <a:xfrm>
              <a:off x="7909559" y="2496312"/>
              <a:ext cx="128016" cy="128016"/>
            </a:xfrm>
            <a:prstGeom prst="ellipse">
              <a:avLst/>
            </a:prstGeom>
            <a:solidFill>
              <a:srgbClr val="7DB3F5"/>
            </a:solidFill>
            <a:ln>
              <a:noFill/>
            </a:ln>
          </p:spPr>
          <p:txBody>
            <a:bodyPr wrap="square" rtlCol="0" anchor="ctr"/>
            <a:lstStyle/>
            <a:p>
              <a:pPr algn="ctr"/>
              <a:endParaRPr/>
            </a:p>
          </p:txBody>
        </p:sp>
        <p:sp>
          <p:nvSpPr>
            <p:cNvPr id="69" name="Oval 68"/>
            <p:cNvSpPr/>
            <p:nvPr/>
          </p:nvSpPr>
          <p:spPr>
            <a:xfrm>
              <a:off x="8476487" y="2496312"/>
              <a:ext cx="128016" cy="128016"/>
            </a:xfrm>
            <a:prstGeom prst="ellipse">
              <a:avLst/>
            </a:prstGeom>
            <a:solidFill>
              <a:srgbClr val="7DB3F5"/>
            </a:solidFill>
            <a:ln>
              <a:noFill/>
            </a:ln>
          </p:spPr>
          <p:txBody>
            <a:bodyPr wrap="square" rtlCol="0" anchor="ctr"/>
            <a:lstStyle/>
            <a:p>
              <a:pPr algn="ctr"/>
              <a:endParaRPr/>
            </a:p>
          </p:txBody>
        </p:sp>
        <p:sp>
          <p:nvSpPr>
            <p:cNvPr id="70" name="Oval 69"/>
            <p:cNvSpPr/>
            <p:nvPr/>
          </p:nvSpPr>
          <p:spPr>
            <a:xfrm>
              <a:off x="8659367" y="2496312"/>
              <a:ext cx="128016" cy="128016"/>
            </a:xfrm>
            <a:prstGeom prst="ellipse">
              <a:avLst/>
            </a:prstGeom>
            <a:solidFill>
              <a:srgbClr val="7DB3F5"/>
            </a:solidFill>
            <a:ln>
              <a:noFill/>
            </a:ln>
          </p:spPr>
          <p:txBody>
            <a:bodyPr wrap="square" rtlCol="0" anchor="ctr"/>
            <a:lstStyle/>
            <a:p>
              <a:pPr algn="ctr"/>
              <a:endParaRPr/>
            </a:p>
          </p:txBody>
        </p:sp>
        <p:sp>
          <p:nvSpPr>
            <p:cNvPr id="71" name="Oval 70"/>
            <p:cNvSpPr/>
            <p:nvPr/>
          </p:nvSpPr>
          <p:spPr>
            <a:xfrm>
              <a:off x="8842247" y="2496312"/>
              <a:ext cx="128016" cy="128016"/>
            </a:xfrm>
            <a:prstGeom prst="ellipse">
              <a:avLst/>
            </a:prstGeom>
            <a:solidFill>
              <a:srgbClr val="7DB3F5"/>
            </a:solidFill>
            <a:ln>
              <a:noFill/>
            </a:ln>
          </p:spPr>
          <p:txBody>
            <a:bodyPr wrap="square" rtlCol="0" anchor="ctr"/>
            <a:lstStyle/>
            <a:p>
              <a:pPr algn="ctr"/>
              <a:endParaRPr/>
            </a:p>
          </p:txBody>
        </p:sp>
        <p:sp>
          <p:nvSpPr>
            <p:cNvPr id="72" name="Oval 71"/>
            <p:cNvSpPr/>
            <p:nvPr/>
          </p:nvSpPr>
          <p:spPr>
            <a:xfrm>
              <a:off x="9025127" y="2496312"/>
              <a:ext cx="128016" cy="128016"/>
            </a:xfrm>
            <a:prstGeom prst="ellipse">
              <a:avLst/>
            </a:prstGeom>
            <a:solidFill>
              <a:srgbClr val="2A3A5C"/>
            </a:solidFill>
            <a:ln>
              <a:noFill/>
            </a:ln>
          </p:spPr>
          <p:txBody>
            <a:bodyPr wrap="square" rtlCol="0" anchor="ctr"/>
            <a:lstStyle/>
            <a:p>
              <a:pPr algn="ctr"/>
              <a:endParaRPr/>
            </a:p>
          </p:txBody>
        </p:sp>
        <p:sp>
          <p:nvSpPr>
            <p:cNvPr id="73" name="Oval 72"/>
            <p:cNvSpPr/>
            <p:nvPr/>
          </p:nvSpPr>
          <p:spPr>
            <a:xfrm>
              <a:off x="9208007" y="2496312"/>
              <a:ext cx="128016" cy="128016"/>
            </a:xfrm>
            <a:prstGeom prst="ellipse">
              <a:avLst/>
            </a:prstGeom>
            <a:solidFill>
              <a:srgbClr val="2A3A5C"/>
            </a:solidFill>
            <a:ln>
              <a:noFill/>
            </a:ln>
          </p:spPr>
          <p:txBody>
            <a:bodyPr wrap="square" rtlCol="0" anchor="ctr"/>
            <a:lstStyle/>
            <a:p>
              <a:pPr algn="ctr"/>
              <a:endParaRPr/>
            </a:p>
          </p:txBody>
        </p:sp>
        <p:sp>
          <p:nvSpPr>
            <p:cNvPr id="74" name="TextBox 73"/>
            <p:cNvSpPr txBox="1"/>
            <p:nvPr/>
          </p:nvSpPr>
          <p:spPr>
            <a:xfrm>
              <a:off x="9692640" y="2240280"/>
              <a:ext cx="1993391" cy="640080"/>
            </a:xfrm>
            <a:prstGeom prst="rect">
              <a:avLst/>
            </a:prstGeom>
            <a:noFill/>
          </p:spPr>
          <p:txBody>
            <a:bodyPr wrap="square" lIns="0" tIns="0" rIns="0" bIns="0" anchor="ctr">
              <a:noAutofit/>
            </a:bodyPr>
            <a:lstStyle/>
            <a:p>
              <a:pPr algn="l">
                <a:lnSpc>
                  <a:spcPct val="105000"/>
                </a:lnSpc>
                <a:spcAft>
                  <a:spcPts val="0"/>
                </a:spcAft>
              </a:pPr>
              <a:r>
                <a:rPr sz="1150" b="0" i="0">
                  <a:solidFill>
                    <a:srgbClr val="C9D2E3"/>
                  </a:solidFill>
                  <a:latin typeface="Segoe UI"/>
                </a:rPr>
                <a:t>Offline planning, small instances</a:t>
              </a:r>
            </a:p>
          </p:txBody>
        </p:sp>
      </p:grpSp>
      <p:grpSp>
        <p:nvGrpSpPr>
          <p:cNvPr id="75" name="Group 74"/>
          <p:cNvGrpSpPr/>
          <p:nvPr/>
        </p:nvGrpSpPr>
        <p:grpSpPr>
          <a:xfrm>
            <a:off x="548640" y="2971800"/>
            <a:ext cx="11137391" cy="640080"/>
            <a:chOff x="548640" y="2971800"/>
            <a:chExt cx="11137391" cy="640080"/>
          </a:xfrm>
        </p:grpSpPr>
        <p:sp>
          <p:nvSpPr>
            <p:cNvPr id="76" name="Rounded Rectangle 75"/>
            <p:cNvSpPr/>
            <p:nvPr/>
          </p:nvSpPr>
          <p:spPr>
            <a:xfrm>
              <a:off x="548640" y="2971800"/>
              <a:ext cx="11091672" cy="640080"/>
            </a:xfrm>
            <a:prstGeom prst="roundRect">
              <a:avLst>
                <a:gd name="adj" fmla="val 20000"/>
              </a:avLst>
            </a:prstGeom>
            <a:solidFill>
              <a:srgbClr val="182A4C"/>
            </a:solidFill>
            <a:ln w="6350">
              <a:solidFill>
                <a:srgbClr val="2A3F69"/>
              </a:solidFill>
            </a:ln>
          </p:spPr>
          <p:txBody>
            <a:bodyPr wrap="square" rtlCol="0" anchor="ctr"/>
            <a:lstStyle/>
            <a:p>
              <a:pPr algn="ctr"/>
              <a:endParaRPr/>
            </a:p>
          </p:txBody>
        </p:sp>
        <p:sp>
          <p:nvSpPr>
            <p:cNvPr id="77" name="Rectangle 76"/>
            <p:cNvSpPr/>
            <p:nvPr/>
          </p:nvSpPr>
          <p:spPr>
            <a:xfrm>
              <a:off x="548640" y="3127248"/>
              <a:ext cx="45720" cy="329184"/>
            </a:xfrm>
            <a:prstGeom prst="rect">
              <a:avLst/>
            </a:prstGeom>
            <a:solidFill>
              <a:srgbClr val="199E70"/>
            </a:solidFill>
            <a:ln>
              <a:noFill/>
            </a:ln>
          </p:spPr>
          <p:txBody>
            <a:bodyPr wrap="square" rtlCol="0" anchor="ctr"/>
            <a:lstStyle/>
            <a:p>
              <a:pPr algn="ctr"/>
              <a:endParaRPr/>
            </a:p>
          </p:txBody>
        </p:sp>
        <p:sp>
          <p:nvSpPr>
            <p:cNvPr id="78" name="TextBox 77"/>
            <p:cNvSpPr txBox="1"/>
            <p:nvPr/>
          </p:nvSpPr>
          <p:spPr>
            <a:xfrm>
              <a:off x="777240" y="2971800"/>
              <a:ext cx="2514600" cy="640080"/>
            </a:xfrm>
            <a:prstGeom prst="rect">
              <a:avLst/>
            </a:prstGeom>
            <a:noFill/>
          </p:spPr>
          <p:txBody>
            <a:bodyPr wrap="square" lIns="0" tIns="0" rIns="0" bIns="0" anchor="ctr">
              <a:noAutofit/>
            </a:bodyPr>
            <a:lstStyle/>
            <a:p>
              <a:pPr algn="l">
                <a:lnSpc>
                  <a:spcPct val="112000"/>
                </a:lnSpc>
                <a:spcAft>
                  <a:spcPts val="0"/>
                </a:spcAft>
              </a:pPr>
              <a:r>
                <a:rPr sz="1350" b="0" i="0">
                  <a:solidFill>
                    <a:srgbClr val="FFFFFF"/>
                  </a:solidFill>
                  <a:latin typeface="Segoe UI Semibold"/>
                </a:rPr>
                <a:t>Heuristics</a:t>
              </a:r>
            </a:p>
          </p:txBody>
        </p:sp>
        <p:sp>
          <p:nvSpPr>
            <p:cNvPr id="79" name="Oval 78"/>
            <p:cNvSpPr/>
            <p:nvPr/>
          </p:nvSpPr>
          <p:spPr>
            <a:xfrm>
              <a:off x="3282696" y="3227832"/>
              <a:ext cx="128016" cy="128016"/>
            </a:xfrm>
            <a:prstGeom prst="ellipse">
              <a:avLst/>
            </a:prstGeom>
            <a:solidFill>
              <a:srgbClr val="4FD1A1"/>
            </a:solidFill>
            <a:ln>
              <a:noFill/>
            </a:ln>
          </p:spPr>
          <p:txBody>
            <a:bodyPr wrap="square" rtlCol="0" anchor="ctr"/>
            <a:lstStyle/>
            <a:p>
              <a:pPr algn="ctr"/>
              <a:endParaRPr/>
            </a:p>
          </p:txBody>
        </p:sp>
        <p:sp>
          <p:nvSpPr>
            <p:cNvPr id="80" name="Oval 79"/>
            <p:cNvSpPr/>
            <p:nvPr/>
          </p:nvSpPr>
          <p:spPr>
            <a:xfrm>
              <a:off x="3465576" y="3227832"/>
              <a:ext cx="128016" cy="128016"/>
            </a:xfrm>
            <a:prstGeom prst="ellipse">
              <a:avLst/>
            </a:prstGeom>
            <a:solidFill>
              <a:srgbClr val="4FD1A1"/>
            </a:solidFill>
            <a:ln>
              <a:noFill/>
            </a:ln>
          </p:spPr>
          <p:txBody>
            <a:bodyPr wrap="square" rtlCol="0" anchor="ctr"/>
            <a:lstStyle/>
            <a:p>
              <a:pPr algn="ctr"/>
              <a:endParaRPr/>
            </a:p>
          </p:txBody>
        </p:sp>
        <p:sp>
          <p:nvSpPr>
            <p:cNvPr id="81" name="Oval 80"/>
            <p:cNvSpPr/>
            <p:nvPr/>
          </p:nvSpPr>
          <p:spPr>
            <a:xfrm>
              <a:off x="3648456" y="3227832"/>
              <a:ext cx="128016" cy="128016"/>
            </a:xfrm>
            <a:prstGeom prst="ellipse">
              <a:avLst/>
            </a:prstGeom>
            <a:solidFill>
              <a:srgbClr val="2A3A5C"/>
            </a:solidFill>
            <a:ln>
              <a:noFill/>
            </a:ln>
          </p:spPr>
          <p:txBody>
            <a:bodyPr wrap="square" rtlCol="0" anchor="ctr"/>
            <a:lstStyle/>
            <a:p>
              <a:pPr algn="ctr"/>
              <a:endParaRPr/>
            </a:p>
          </p:txBody>
        </p:sp>
        <p:sp>
          <p:nvSpPr>
            <p:cNvPr id="82" name="Oval 81"/>
            <p:cNvSpPr/>
            <p:nvPr/>
          </p:nvSpPr>
          <p:spPr>
            <a:xfrm>
              <a:off x="3831336" y="3227832"/>
              <a:ext cx="128016" cy="128016"/>
            </a:xfrm>
            <a:prstGeom prst="ellipse">
              <a:avLst/>
            </a:prstGeom>
            <a:solidFill>
              <a:srgbClr val="2A3A5C"/>
            </a:solidFill>
            <a:ln>
              <a:noFill/>
            </a:ln>
          </p:spPr>
          <p:txBody>
            <a:bodyPr wrap="square" rtlCol="0" anchor="ctr"/>
            <a:lstStyle/>
            <a:p>
              <a:pPr algn="ctr"/>
              <a:endParaRPr/>
            </a:p>
          </p:txBody>
        </p:sp>
        <p:sp>
          <p:nvSpPr>
            <p:cNvPr id="83" name="Oval 82"/>
            <p:cNvSpPr/>
            <p:nvPr/>
          </p:nvSpPr>
          <p:spPr>
            <a:xfrm>
              <a:off x="4014216" y="3227832"/>
              <a:ext cx="128016" cy="128016"/>
            </a:xfrm>
            <a:prstGeom prst="ellipse">
              <a:avLst/>
            </a:prstGeom>
            <a:solidFill>
              <a:srgbClr val="2A3A5C"/>
            </a:solidFill>
            <a:ln>
              <a:noFill/>
            </a:ln>
          </p:spPr>
          <p:txBody>
            <a:bodyPr wrap="square" rtlCol="0" anchor="ctr"/>
            <a:lstStyle/>
            <a:p>
              <a:pPr algn="ctr"/>
              <a:endParaRPr/>
            </a:p>
          </p:txBody>
        </p:sp>
        <p:sp>
          <p:nvSpPr>
            <p:cNvPr id="84" name="Oval 83"/>
            <p:cNvSpPr/>
            <p:nvPr/>
          </p:nvSpPr>
          <p:spPr>
            <a:xfrm>
              <a:off x="4581144" y="3227832"/>
              <a:ext cx="128016" cy="128016"/>
            </a:xfrm>
            <a:prstGeom prst="ellipse">
              <a:avLst/>
            </a:prstGeom>
            <a:solidFill>
              <a:srgbClr val="4FD1A1"/>
            </a:solidFill>
            <a:ln>
              <a:noFill/>
            </a:ln>
          </p:spPr>
          <p:txBody>
            <a:bodyPr wrap="square" rtlCol="0" anchor="ctr"/>
            <a:lstStyle/>
            <a:p>
              <a:pPr algn="ctr"/>
              <a:endParaRPr/>
            </a:p>
          </p:txBody>
        </p:sp>
        <p:sp>
          <p:nvSpPr>
            <p:cNvPr id="85" name="Oval 84"/>
            <p:cNvSpPr/>
            <p:nvPr/>
          </p:nvSpPr>
          <p:spPr>
            <a:xfrm>
              <a:off x="4764024" y="3227832"/>
              <a:ext cx="128016" cy="128016"/>
            </a:xfrm>
            <a:prstGeom prst="ellipse">
              <a:avLst/>
            </a:prstGeom>
            <a:solidFill>
              <a:srgbClr val="4FD1A1"/>
            </a:solidFill>
            <a:ln>
              <a:noFill/>
            </a:ln>
          </p:spPr>
          <p:txBody>
            <a:bodyPr wrap="square" rtlCol="0" anchor="ctr"/>
            <a:lstStyle/>
            <a:p>
              <a:pPr algn="ctr"/>
              <a:endParaRPr/>
            </a:p>
          </p:txBody>
        </p:sp>
        <p:sp>
          <p:nvSpPr>
            <p:cNvPr id="86" name="Oval 85"/>
            <p:cNvSpPr/>
            <p:nvPr/>
          </p:nvSpPr>
          <p:spPr>
            <a:xfrm>
              <a:off x="4946904" y="3227832"/>
              <a:ext cx="128016" cy="128016"/>
            </a:xfrm>
            <a:prstGeom prst="ellipse">
              <a:avLst/>
            </a:prstGeom>
            <a:solidFill>
              <a:srgbClr val="4FD1A1"/>
            </a:solidFill>
            <a:ln>
              <a:noFill/>
            </a:ln>
          </p:spPr>
          <p:txBody>
            <a:bodyPr wrap="square" rtlCol="0" anchor="ctr"/>
            <a:lstStyle/>
            <a:p>
              <a:pPr algn="ctr"/>
              <a:endParaRPr/>
            </a:p>
          </p:txBody>
        </p:sp>
        <p:sp>
          <p:nvSpPr>
            <p:cNvPr id="87" name="Oval 86"/>
            <p:cNvSpPr/>
            <p:nvPr/>
          </p:nvSpPr>
          <p:spPr>
            <a:xfrm>
              <a:off x="5129784" y="3227832"/>
              <a:ext cx="128016" cy="128016"/>
            </a:xfrm>
            <a:prstGeom prst="ellipse">
              <a:avLst/>
            </a:prstGeom>
            <a:solidFill>
              <a:srgbClr val="4FD1A1"/>
            </a:solidFill>
            <a:ln>
              <a:noFill/>
            </a:ln>
          </p:spPr>
          <p:txBody>
            <a:bodyPr wrap="square" rtlCol="0" anchor="ctr"/>
            <a:lstStyle/>
            <a:p>
              <a:pPr algn="ctr"/>
              <a:endParaRPr/>
            </a:p>
          </p:txBody>
        </p:sp>
        <p:sp>
          <p:nvSpPr>
            <p:cNvPr id="88" name="Oval 87"/>
            <p:cNvSpPr/>
            <p:nvPr/>
          </p:nvSpPr>
          <p:spPr>
            <a:xfrm>
              <a:off x="5312664" y="3227832"/>
              <a:ext cx="128016" cy="128016"/>
            </a:xfrm>
            <a:prstGeom prst="ellipse">
              <a:avLst/>
            </a:prstGeom>
            <a:solidFill>
              <a:srgbClr val="4FD1A1"/>
            </a:solidFill>
            <a:ln>
              <a:noFill/>
            </a:ln>
          </p:spPr>
          <p:txBody>
            <a:bodyPr wrap="square" rtlCol="0" anchor="ctr"/>
            <a:lstStyle/>
            <a:p>
              <a:pPr algn="ctr"/>
              <a:endParaRPr/>
            </a:p>
          </p:txBody>
        </p:sp>
        <p:sp>
          <p:nvSpPr>
            <p:cNvPr id="89" name="Oval 88"/>
            <p:cNvSpPr/>
            <p:nvPr/>
          </p:nvSpPr>
          <p:spPr>
            <a:xfrm>
              <a:off x="5879592" y="3227832"/>
              <a:ext cx="128016" cy="128016"/>
            </a:xfrm>
            <a:prstGeom prst="ellipse">
              <a:avLst/>
            </a:prstGeom>
            <a:solidFill>
              <a:srgbClr val="4FD1A1"/>
            </a:solidFill>
            <a:ln>
              <a:noFill/>
            </a:ln>
          </p:spPr>
          <p:txBody>
            <a:bodyPr wrap="square" rtlCol="0" anchor="ctr"/>
            <a:lstStyle/>
            <a:p>
              <a:pPr algn="ctr"/>
              <a:endParaRPr/>
            </a:p>
          </p:txBody>
        </p:sp>
        <p:sp>
          <p:nvSpPr>
            <p:cNvPr id="90" name="Oval 89"/>
            <p:cNvSpPr/>
            <p:nvPr/>
          </p:nvSpPr>
          <p:spPr>
            <a:xfrm>
              <a:off x="6062472" y="3227832"/>
              <a:ext cx="128016" cy="128016"/>
            </a:xfrm>
            <a:prstGeom prst="ellipse">
              <a:avLst/>
            </a:prstGeom>
            <a:solidFill>
              <a:srgbClr val="4FD1A1"/>
            </a:solidFill>
            <a:ln>
              <a:noFill/>
            </a:ln>
          </p:spPr>
          <p:txBody>
            <a:bodyPr wrap="square" rtlCol="0" anchor="ctr"/>
            <a:lstStyle/>
            <a:p>
              <a:pPr algn="ctr"/>
              <a:endParaRPr/>
            </a:p>
          </p:txBody>
        </p:sp>
        <p:sp>
          <p:nvSpPr>
            <p:cNvPr id="91" name="Oval 90"/>
            <p:cNvSpPr/>
            <p:nvPr/>
          </p:nvSpPr>
          <p:spPr>
            <a:xfrm>
              <a:off x="6245352" y="3227832"/>
              <a:ext cx="128016" cy="128016"/>
            </a:xfrm>
            <a:prstGeom prst="ellipse">
              <a:avLst/>
            </a:prstGeom>
            <a:solidFill>
              <a:srgbClr val="4FD1A1"/>
            </a:solidFill>
            <a:ln>
              <a:noFill/>
            </a:ln>
          </p:spPr>
          <p:txBody>
            <a:bodyPr wrap="square" rtlCol="0" anchor="ctr"/>
            <a:lstStyle/>
            <a:p>
              <a:pPr algn="ctr"/>
              <a:endParaRPr/>
            </a:p>
          </p:txBody>
        </p:sp>
        <p:sp>
          <p:nvSpPr>
            <p:cNvPr id="92" name="Oval 91"/>
            <p:cNvSpPr/>
            <p:nvPr/>
          </p:nvSpPr>
          <p:spPr>
            <a:xfrm>
              <a:off x="6428232" y="3227832"/>
              <a:ext cx="128016" cy="128016"/>
            </a:xfrm>
            <a:prstGeom prst="ellipse">
              <a:avLst/>
            </a:prstGeom>
            <a:solidFill>
              <a:srgbClr val="2A3A5C"/>
            </a:solidFill>
            <a:ln>
              <a:noFill/>
            </a:ln>
          </p:spPr>
          <p:txBody>
            <a:bodyPr wrap="square" rtlCol="0" anchor="ctr"/>
            <a:lstStyle/>
            <a:p>
              <a:pPr algn="ctr"/>
              <a:endParaRPr/>
            </a:p>
          </p:txBody>
        </p:sp>
        <p:sp>
          <p:nvSpPr>
            <p:cNvPr id="93" name="Oval 92"/>
            <p:cNvSpPr/>
            <p:nvPr/>
          </p:nvSpPr>
          <p:spPr>
            <a:xfrm>
              <a:off x="6611112" y="3227832"/>
              <a:ext cx="128016" cy="128016"/>
            </a:xfrm>
            <a:prstGeom prst="ellipse">
              <a:avLst/>
            </a:prstGeom>
            <a:solidFill>
              <a:srgbClr val="2A3A5C"/>
            </a:solidFill>
            <a:ln>
              <a:noFill/>
            </a:ln>
          </p:spPr>
          <p:txBody>
            <a:bodyPr wrap="square" rtlCol="0" anchor="ctr"/>
            <a:lstStyle/>
            <a:p>
              <a:pPr algn="ctr"/>
              <a:endParaRPr/>
            </a:p>
          </p:txBody>
        </p:sp>
        <p:sp>
          <p:nvSpPr>
            <p:cNvPr id="94" name="Oval 93"/>
            <p:cNvSpPr/>
            <p:nvPr/>
          </p:nvSpPr>
          <p:spPr>
            <a:xfrm>
              <a:off x="7178040" y="3227832"/>
              <a:ext cx="128016" cy="128016"/>
            </a:xfrm>
            <a:prstGeom prst="ellipse">
              <a:avLst/>
            </a:prstGeom>
            <a:solidFill>
              <a:srgbClr val="4FD1A1"/>
            </a:solidFill>
            <a:ln>
              <a:noFill/>
            </a:ln>
          </p:spPr>
          <p:txBody>
            <a:bodyPr wrap="square" rtlCol="0" anchor="ctr"/>
            <a:lstStyle/>
            <a:p>
              <a:pPr algn="ctr"/>
              <a:endParaRPr/>
            </a:p>
          </p:txBody>
        </p:sp>
        <p:sp>
          <p:nvSpPr>
            <p:cNvPr id="95" name="Oval 94"/>
            <p:cNvSpPr/>
            <p:nvPr/>
          </p:nvSpPr>
          <p:spPr>
            <a:xfrm>
              <a:off x="7360919" y="3227832"/>
              <a:ext cx="128016" cy="128016"/>
            </a:xfrm>
            <a:prstGeom prst="ellipse">
              <a:avLst/>
            </a:prstGeom>
            <a:solidFill>
              <a:srgbClr val="4FD1A1"/>
            </a:solidFill>
            <a:ln>
              <a:noFill/>
            </a:ln>
          </p:spPr>
          <p:txBody>
            <a:bodyPr wrap="square" rtlCol="0" anchor="ctr"/>
            <a:lstStyle/>
            <a:p>
              <a:pPr algn="ctr"/>
              <a:endParaRPr/>
            </a:p>
          </p:txBody>
        </p:sp>
        <p:sp>
          <p:nvSpPr>
            <p:cNvPr id="96" name="Oval 95"/>
            <p:cNvSpPr/>
            <p:nvPr/>
          </p:nvSpPr>
          <p:spPr>
            <a:xfrm>
              <a:off x="7543799" y="3227832"/>
              <a:ext cx="128016" cy="128016"/>
            </a:xfrm>
            <a:prstGeom prst="ellipse">
              <a:avLst/>
            </a:prstGeom>
            <a:solidFill>
              <a:srgbClr val="4FD1A1"/>
            </a:solidFill>
            <a:ln>
              <a:noFill/>
            </a:ln>
          </p:spPr>
          <p:txBody>
            <a:bodyPr wrap="square" rtlCol="0" anchor="ctr"/>
            <a:lstStyle/>
            <a:p>
              <a:pPr algn="ctr"/>
              <a:endParaRPr/>
            </a:p>
          </p:txBody>
        </p:sp>
        <p:sp>
          <p:nvSpPr>
            <p:cNvPr id="97" name="Oval 96"/>
            <p:cNvSpPr/>
            <p:nvPr/>
          </p:nvSpPr>
          <p:spPr>
            <a:xfrm>
              <a:off x="7726679" y="3227832"/>
              <a:ext cx="128016" cy="128016"/>
            </a:xfrm>
            <a:prstGeom prst="ellipse">
              <a:avLst/>
            </a:prstGeom>
            <a:solidFill>
              <a:srgbClr val="4FD1A1"/>
            </a:solidFill>
            <a:ln>
              <a:noFill/>
            </a:ln>
          </p:spPr>
          <p:txBody>
            <a:bodyPr wrap="square" rtlCol="0" anchor="ctr"/>
            <a:lstStyle/>
            <a:p>
              <a:pPr algn="ctr"/>
              <a:endParaRPr/>
            </a:p>
          </p:txBody>
        </p:sp>
        <p:sp>
          <p:nvSpPr>
            <p:cNvPr id="98" name="Oval 97"/>
            <p:cNvSpPr/>
            <p:nvPr/>
          </p:nvSpPr>
          <p:spPr>
            <a:xfrm>
              <a:off x="7909559" y="3227832"/>
              <a:ext cx="128016" cy="128016"/>
            </a:xfrm>
            <a:prstGeom prst="ellipse">
              <a:avLst/>
            </a:prstGeom>
            <a:solidFill>
              <a:srgbClr val="4FD1A1"/>
            </a:solidFill>
            <a:ln>
              <a:noFill/>
            </a:ln>
          </p:spPr>
          <p:txBody>
            <a:bodyPr wrap="square" rtlCol="0" anchor="ctr"/>
            <a:lstStyle/>
            <a:p>
              <a:pPr algn="ctr"/>
              <a:endParaRPr/>
            </a:p>
          </p:txBody>
        </p:sp>
        <p:sp>
          <p:nvSpPr>
            <p:cNvPr id="99" name="Oval 98"/>
            <p:cNvSpPr/>
            <p:nvPr/>
          </p:nvSpPr>
          <p:spPr>
            <a:xfrm>
              <a:off x="8476487" y="3227832"/>
              <a:ext cx="128016" cy="128016"/>
            </a:xfrm>
            <a:prstGeom prst="ellipse">
              <a:avLst/>
            </a:prstGeom>
            <a:solidFill>
              <a:srgbClr val="4FD1A1"/>
            </a:solidFill>
            <a:ln>
              <a:noFill/>
            </a:ln>
          </p:spPr>
          <p:txBody>
            <a:bodyPr wrap="square" rtlCol="0" anchor="ctr"/>
            <a:lstStyle/>
            <a:p>
              <a:pPr algn="ctr"/>
              <a:endParaRPr/>
            </a:p>
          </p:txBody>
        </p:sp>
        <p:sp>
          <p:nvSpPr>
            <p:cNvPr id="100" name="Oval 99"/>
            <p:cNvSpPr/>
            <p:nvPr/>
          </p:nvSpPr>
          <p:spPr>
            <a:xfrm>
              <a:off x="8659367" y="3227832"/>
              <a:ext cx="128016" cy="128016"/>
            </a:xfrm>
            <a:prstGeom prst="ellipse">
              <a:avLst/>
            </a:prstGeom>
            <a:solidFill>
              <a:srgbClr val="4FD1A1"/>
            </a:solidFill>
            <a:ln>
              <a:noFill/>
            </a:ln>
          </p:spPr>
          <p:txBody>
            <a:bodyPr wrap="square" rtlCol="0" anchor="ctr"/>
            <a:lstStyle/>
            <a:p>
              <a:pPr algn="ctr"/>
              <a:endParaRPr/>
            </a:p>
          </p:txBody>
        </p:sp>
        <p:sp>
          <p:nvSpPr>
            <p:cNvPr id="101" name="Oval 100"/>
            <p:cNvSpPr/>
            <p:nvPr/>
          </p:nvSpPr>
          <p:spPr>
            <a:xfrm>
              <a:off x="8842247" y="3227832"/>
              <a:ext cx="128016" cy="128016"/>
            </a:xfrm>
            <a:prstGeom prst="ellipse">
              <a:avLst/>
            </a:prstGeom>
            <a:solidFill>
              <a:srgbClr val="4FD1A1"/>
            </a:solidFill>
            <a:ln>
              <a:noFill/>
            </a:ln>
          </p:spPr>
          <p:txBody>
            <a:bodyPr wrap="square" rtlCol="0" anchor="ctr"/>
            <a:lstStyle/>
            <a:p>
              <a:pPr algn="ctr"/>
              <a:endParaRPr/>
            </a:p>
          </p:txBody>
        </p:sp>
        <p:sp>
          <p:nvSpPr>
            <p:cNvPr id="102" name="Oval 101"/>
            <p:cNvSpPr/>
            <p:nvPr/>
          </p:nvSpPr>
          <p:spPr>
            <a:xfrm>
              <a:off x="9025127" y="3227832"/>
              <a:ext cx="128016" cy="128016"/>
            </a:xfrm>
            <a:prstGeom prst="ellipse">
              <a:avLst/>
            </a:prstGeom>
            <a:solidFill>
              <a:srgbClr val="4FD1A1"/>
            </a:solidFill>
            <a:ln>
              <a:noFill/>
            </a:ln>
          </p:spPr>
          <p:txBody>
            <a:bodyPr wrap="square" rtlCol="0" anchor="ctr"/>
            <a:lstStyle/>
            <a:p>
              <a:pPr algn="ctr"/>
              <a:endParaRPr/>
            </a:p>
          </p:txBody>
        </p:sp>
        <p:sp>
          <p:nvSpPr>
            <p:cNvPr id="103" name="Oval 102"/>
            <p:cNvSpPr/>
            <p:nvPr/>
          </p:nvSpPr>
          <p:spPr>
            <a:xfrm>
              <a:off x="9208007" y="3227832"/>
              <a:ext cx="128016" cy="128016"/>
            </a:xfrm>
            <a:prstGeom prst="ellipse">
              <a:avLst/>
            </a:prstGeom>
            <a:solidFill>
              <a:srgbClr val="4FD1A1"/>
            </a:solidFill>
            <a:ln>
              <a:noFill/>
            </a:ln>
          </p:spPr>
          <p:txBody>
            <a:bodyPr wrap="square" rtlCol="0" anchor="ctr"/>
            <a:lstStyle/>
            <a:p>
              <a:pPr algn="ctr"/>
              <a:endParaRPr/>
            </a:p>
          </p:txBody>
        </p:sp>
        <p:sp>
          <p:nvSpPr>
            <p:cNvPr id="104" name="TextBox 103"/>
            <p:cNvSpPr txBox="1"/>
            <p:nvPr/>
          </p:nvSpPr>
          <p:spPr>
            <a:xfrm>
              <a:off x="9692640" y="2971800"/>
              <a:ext cx="1993391" cy="640080"/>
            </a:xfrm>
            <a:prstGeom prst="rect">
              <a:avLst/>
            </a:prstGeom>
            <a:noFill/>
          </p:spPr>
          <p:txBody>
            <a:bodyPr wrap="square" lIns="0" tIns="0" rIns="0" bIns="0" anchor="ctr">
              <a:noAutofit/>
            </a:bodyPr>
            <a:lstStyle/>
            <a:p>
              <a:pPr algn="l">
                <a:lnSpc>
                  <a:spcPct val="105000"/>
                </a:lnSpc>
                <a:spcAft>
                  <a:spcPts val="0"/>
                </a:spcAft>
              </a:pPr>
              <a:r>
                <a:rPr sz="1150" b="0" i="0">
                  <a:solidFill>
                    <a:srgbClr val="C9D2E3"/>
                  </a:solidFill>
                  <a:latin typeface="Segoe UI"/>
                </a:rPr>
                <a:t>Real-time placement at scale</a:t>
              </a:r>
            </a:p>
          </p:txBody>
        </p:sp>
      </p:grpSp>
      <p:grpSp>
        <p:nvGrpSpPr>
          <p:cNvPr id="105" name="Group 104"/>
          <p:cNvGrpSpPr/>
          <p:nvPr/>
        </p:nvGrpSpPr>
        <p:grpSpPr>
          <a:xfrm>
            <a:off x="548640" y="3703320"/>
            <a:ext cx="11137391" cy="640080"/>
            <a:chOff x="548640" y="3703320"/>
            <a:chExt cx="11137391" cy="640080"/>
          </a:xfrm>
        </p:grpSpPr>
        <p:sp>
          <p:nvSpPr>
            <p:cNvPr id="106" name="Rounded Rectangle 105"/>
            <p:cNvSpPr/>
            <p:nvPr/>
          </p:nvSpPr>
          <p:spPr>
            <a:xfrm>
              <a:off x="548640" y="3703320"/>
              <a:ext cx="11091672" cy="640080"/>
            </a:xfrm>
            <a:prstGeom prst="roundRect">
              <a:avLst>
                <a:gd name="adj" fmla="val 20000"/>
              </a:avLst>
            </a:prstGeom>
            <a:solidFill>
              <a:srgbClr val="13213D"/>
            </a:solidFill>
            <a:ln w="6350">
              <a:solidFill>
                <a:srgbClr val="2A3F69"/>
              </a:solidFill>
            </a:ln>
          </p:spPr>
          <p:txBody>
            <a:bodyPr wrap="square" rtlCol="0" anchor="ctr"/>
            <a:lstStyle/>
            <a:p>
              <a:pPr algn="ctr"/>
              <a:endParaRPr/>
            </a:p>
          </p:txBody>
        </p:sp>
        <p:sp>
          <p:nvSpPr>
            <p:cNvPr id="107" name="Rectangle 106"/>
            <p:cNvSpPr/>
            <p:nvPr/>
          </p:nvSpPr>
          <p:spPr>
            <a:xfrm>
              <a:off x="548640" y="3858768"/>
              <a:ext cx="45720" cy="329184"/>
            </a:xfrm>
            <a:prstGeom prst="rect">
              <a:avLst/>
            </a:prstGeom>
            <a:solidFill>
              <a:srgbClr val="9085E9"/>
            </a:solidFill>
            <a:ln>
              <a:noFill/>
            </a:ln>
          </p:spPr>
          <p:txBody>
            <a:bodyPr wrap="square" rtlCol="0" anchor="ctr"/>
            <a:lstStyle/>
            <a:p>
              <a:pPr algn="ctr"/>
              <a:endParaRPr/>
            </a:p>
          </p:txBody>
        </p:sp>
        <p:sp>
          <p:nvSpPr>
            <p:cNvPr id="108" name="TextBox 107"/>
            <p:cNvSpPr txBox="1"/>
            <p:nvPr/>
          </p:nvSpPr>
          <p:spPr>
            <a:xfrm>
              <a:off x="777240" y="3703320"/>
              <a:ext cx="2514600" cy="640080"/>
            </a:xfrm>
            <a:prstGeom prst="rect">
              <a:avLst/>
            </a:prstGeom>
            <a:noFill/>
          </p:spPr>
          <p:txBody>
            <a:bodyPr wrap="square" lIns="0" tIns="0" rIns="0" bIns="0" anchor="ctr">
              <a:noAutofit/>
            </a:bodyPr>
            <a:lstStyle/>
            <a:p>
              <a:pPr algn="l">
                <a:lnSpc>
                  <a:spcPct val="112000"/>
                </a:lnSpc>
                <a:spcAft>
                  <a:spcPts val="0"/>
                </a:spcAft>
              </a:pPr>
              <a:r>
                <a:rPr sz="1350" b="0" i="0">
                  <a:solidFill>
                    <a:srgbClr val="FFFFFF"/>
                  </a:solidFill>
                  <a:latin typeface="Segoe UI Semibold"/>
                </a:rPr>
                <a:t>Metaheuristics</a:t>
              </a:r>
            </a:p>
          </p:txBody>
        </p:sp>
        <p:sp>
          <p:nvSpPr>
            <p:cNvPr id="109" name="Oval 108"/>
            <p:cNvSpPr/>
            <p:nvPr/>
          </p:nvSpPr>
          <p:spPr>
            <a:xfrm>
              <a:off x="3282696" y="3959352"/>
              <a:ext cx="128016" cy="128016"/>
            </a:xfrm>
            <a:prstGeom prst="ellipse">
              <a:avLst/>
            </a:prstGeom>
            <a:solidFill>
              <a:srgbClr val="B5ADF5"/>
            </a:solidFill>
            <a:ln>
              <a:noFill/>
            </a:ln>
          </p:spPr>
          <p:txBody>
            <a:bodyPr wrap="square" rtlCol="0" anchor="ctr"/>
            <a:lstStyle/>
            <a:p>
              <a:pPr algn="ctr"/>
              <a:endParaRPr/>
            </a:p>
          </p:txBody>
        </p:sp>
        <p:sp>
          <p:nvSpPr>
            <p:cNvPr id="110" name="Oval 109"/>
            <p:cNvSpPr/>
            <p:nvPr/>
          </p:nvSpPr>
          <p:spPr>
            <a:xfrm>
              <a:off x="3465576" y="3959352"/>
              <a:ext cx="128016" cy="128016"/>
            </a:xfrm>
            <a:prstGeom prst="ellipse">
              <a:avLst/>
            </a:prstGeom>
            <a:solidFill>
              <a:srgbClr val="B5ADF5"/>
            </a:solidFill>
            <a:ln>
              <a:noFill/>
            </a:ln>
          </p:spPr>
          <p:txBody>
            <a:bodyPr wrap="square" rtlCol="0" anchor="ctr"/>
            <a:lstStyle/>
            <a:p>
              <a:pPr algn="ctr"/>
              <a:endParaRPr/>
            </a:p>
          </p:txBody>
        </p:sp>
        <p:sp>
          <p:nvSpPr>
            <p:cNvPr id="111" name="Oval 110"/>
            <p:cNvSpPr/>
            <p:nvPr/>
          </p:nvSpPr>
          <p:spPr>
            <a:xfrm>
              <a:off x="3648456" y="3959352"/>
              <a:ext cx="128016" cy="128016"/>
            </a:xfrm>
            <a:prstGeom prst="ellipse">
              <a:avLst/>
            </a:prstGeom>
            <a:solidFill>
              <a:srgbClr val="B5ADF5"/>
            </a:solidFill>
            <a:ln>
              <a:noFill/>
            </a:ln>
          </p:spPr>
          <p:txBody>
            <a:bodyPr wrap="square" rtlCol="0" anchor="ctr"/>
            <a:lstStyle/>
            <a:p>
              <a:pPr algn="ctr"/>
              <a:endParaRPr/>
            </a:p>
          </p:txBody>
        </p:sp>
        <p:sp>
          <p:nvSpPr>
            <p:cNvPr id="112" name="Oval 111"/>
            <p:cNvSpPr/>
            <p:nvPr/>
          </p:nvSpPr>
          <p:spPr>
            <a:xfrm>
              <a:off x="3831336" y="3959352"/>
              <a:ext cx="128016" cy="128016"/>
            </a:xfrm>
            <a:prstGeom prst="ellipse">
              <a:avLst/>
            </a:prstGeom>
            <a:solidFill>
              <a:srgbClr val="B5ADF5"/>
            </a:solidFill>
            <a:ln>
              <a:noFill/>
            </a:ln>
          </p:spPr>
          <p:txBody>
            <a:bodyPr wrap="square" rtlCol="0" anchor="ctr"/>
            <a:lstStyle/>
            <a:p>
              <a:pPr algn="ctr"/>
              <a:endParaRPr/>
            </a:p>
          </p:txBody>
        </p:sp>
        <p:sp>
          <p:nvSpPr>
            <p:cNvPr id="113" name="Oval 112"/>
            <p:cNvSpPr/>
            <p:nvPr/>
          </p:nvSpPr>
          <p:spPr>
            <a:xfrm>
              <a:off x="4014216" y="3959352"/>
              <a:ext cx="128016" cy="128016"/>
            </a:xfrm>
            <a:prstGeom prst="ellipse">
              <a:avLst/>
            </a:prstGeom>
            <a:solidFill>
              <a:srgbClr val="2A3A5C"/>
            </a:solidFill>
            <a:ln>
              <a:noFill/>
            </a:ln>
          </p:spPr>
          <p:txBody>
            <a:bodyPr wrap="square" rtlCol="0" anchor="ctr"/>
            <a:lstStyle/>
            <a:p>
              <a:pPr algn="ctr"/>
              <a:endParaRPr/>
            </a:p>
          </p:txBody>
        </p:sp>
        <p:sp>
          <p:nvSpPr>
            <p:cNvPr id="114" name="Oval 113"/>
            <p:cNvSpPr/>
            <p:nvPr/>
          </p:nvSpPr>
          <p:spPr>
            <a:xfrm>
              <a:off x="4581144" y="3959352"/>
              <a:ext cx="128016" cy="128016"/>
            </a:xfrm>
            <a:prstGeom prst="ellipse">
              <a:avLst/>
            </a:prstGeom>
            <a:solidFill>
              <a:srgbClr val="B5ADF5"/>
            </a:solidFill>
            <a:ln>
              <a:noFill/>
            </a:ln>
          </p:spPr>
          <p:txBody>
            <a:bodyPr wrap="square" rtlCol="0" anchor="ctr"/>
            <a:lstStyle/>
            <a:p>
              <a:pPr algn="ctr"/>
              <a:endParaRPr/>
            </a:p>
          </p:txBody>
        </p:sp>
        <p:sp>
          <p:nvSpPr>
            <p:cNvPr id="115" name="Oval 114"/>
            <p:cNvSpPr/>
            <p:nvPr/>
          </p:nvSpPr>
          <p:spPr>
            <a:xfrm>
              <a:off x="4764024" y="3959352"/>
              <a:ext cx="128016" cy="128016"/>
            </a:xfrm>
            <a:prstGeom prst="ellipse">
              <a:avLst/>
            </a:prstGeom>
            <a:solidFill>
              <a:srgbClr val="B5ADF5"/>
            </a:solidFill>
            <a:ln>
              <a:noFill/>
            </a:ln>
          </p:spPr>
          <p:txBody>
            <a:bodyPr wrap="square" rtlCol="0" anchor="ctr"/>
            <a:lstStyle/>
            <a:p>
              <a:pPr algn="ctr"/>
              <a:endParaRPr/>
            </a:p>
          </p:txBody>
        </p:sp>
        <p:sp>
          <p:nvSpPr>
            <p:cNvPr id="116" name="Oval 115"/>
            <p:cNvSpPr/>
            <p:nvPr/>
          </p:nvSpPr>
          <p:spPr>
            <a:xfrm>
              <a:off x="4946904" y="3959352"/>
              <a:ext cx="128016" cy="128016"/>
            </a:xfrm>
            <a:prstGeom prst="ellipse">
              <a:avLst/>
            </a:prstGeom>
            <a:solidFill>
              <a:srgbClr val="B5ADF5"/>
            </a:solidFill>
            <a:ln>
              <a:noFill/>
            </a:ln>
          </p:spPr>
          <p:txBody>
            <a:bodyPr wrap="square" rtlCol="0" anchor="ctr"/>
            <a:lstStyle/>
            <a:p>
              <a:pPr algn="ctr"/>
              <a:endParaRPr/>
            </a:p>
          </p:txBody>
        </p:sp>
        <p:sp>
          <p:nvSpPr>
            <p:cNvPr id="117" name="Oval 116"/>
            <p:cNvSpPr/>
            <p:nvPr/>
          </p:nvSpPr>
          <p:spPr>
            <a:xfrm>
              <a:off x="5129784" y="3959352"/>
              <a:ext cx="128016" cy="128016"/>
            </a:xfrm>
            <a:prstGeom prst="ellipse">
              <a:avLst/>
            </a:prstGeom>
            <a:solidFill>
              <a:srgbClr val="2A3A5C"/>
            </a:solidFill>
            <a:ln>
              <a:noFill/>
            </a:ln>
          </p:spPr>
          <p:txBody>
            <a:bodyPr wrap="square" rtlCol="0" anchor="ctr"/>
            <a:lstStyle/>
            <a:p>
              <a:pPr algn="ctr"/>
              <a:endParaRPr/>
            </a:p>
          </p:txBody>
        </p:sp>
        <p:sp>
          <p:nvSpPr>
            <p:cNvPr id="118" name="Oval 117"/>
            <p:cNvSpPr/>
            <p:nvPr/>
          </p:nvSpPr>
          <p:spPr>
            <a:xfrm>
              <a:off x="5312664" y="3959352"/>
              <a:ext cx="128016" cy="128016"/>
            </a:xfrm>
            <a:prstGeom prst="ellipse">
              <a:avLst/>
            </a:prstGeom>
            <a:solidFill>
              <a:srgbClr val="2A3A5C"/>
            </a:solidFill>
            <a:ln>
              <a:noFill/>
            </a:ln>
          </p:spPr>
          <p:txBody>
            <a:bodyPr wrap="square" rtlCol="0" anchor="ctr"/>
            <a:lstStyle/>
            <a:p>
              <a:pPr algn="ctr"/>
              <a:endParaRPr/>
            </a:p>
          </p:txBody>
        </p:sp>
        <p:sp>
          <p:nvSpPr>
            <p:cNvPr id="119" name="Oval 118"/>
            <p:cNvSpPr/>
            <p:nvPr/>
          </p:nvSpPr>
          <p:spPr>
            <a:xfrm>
              <a:off x="5879592" y="3959352"/>
              <a:ext cx="128016" cy="128016"/>
            </a:xfrm>
            <a:prstGeom prst="ellipse">
              <a:avLst/>
            </a:prstGeom>
            <a:solidFill>
              <a:srgbClr val="B5ADF5"/>
            </a:solidFill>
            <a:ln>
              <a:noFill/>
            </a:ln>
          </p:spPr>
          <p:txBody>
            <a:bodyPr wrap="square" rtlCol="0" anchor="ctr"/>
            <a:lstStyle/>
            <a:p>
              <a:pPr algn="ctr"/>
              <a:endParaRPr/>
            </a:p>
          </p:txBody>
        </p:sp>
        <p:sp>
          <p:nvSpPr>
            <p:cNvPr id="120" name="Oval 119"/>
            <p:cNvSpPr/>
            <p:nvPr/>
          </p:nvSpPr>
          <p:spPr>
            <a:xfrm>
              <a:off x="6062472" y="3959352"/>
              <a:ext cx="128016" cy="128016"/>
            </a:xfrm>
            <a:prstGeom prst="ellipse">
              <a:avLst/>
            </a:prstGeom>
            <a:solidFill>
              <a:srgbClr val="B5ADF5"/>
            </a:solidFill>
            <a:ln>
              <a:noFill/>
            </a:ln>
          </p:spPr>
          <p:txBody>
            <a:bodyPr wrap="square" rtlCol="0" anchor="ctr"/>
            <a:lstStyle/>
            <a:p>
              <a:pPr algn="ctr"/>
              <a:endParaRPr/>
            </a:p>
          </p:txBody>
        </p:sp>
        <p:sp>
          <p:nvSpPr>
            <p:cNvPr id="121" name="Oval 120"/>
            <p:cNvSpPr/>
            <p:nvPr/>
          </p:nvSpPr>
          <p:spPr>
            <a:xfrm>
              <a:off x="6245352" y="3959352"/>
              <a:ext cx="128016" cy="128016"/>
            </a:xfrm>
            <a:prstGeom prst="ellipse">
              <a:avLst/>
            </a:prstGeom>
            <a:solidFill>
              <a:srgbClr val="B5ADF5"/>
            </a:solidFill>
            <a:ln>
              <a:noFill/>
            </a:ln>
          </p:spPr>
          <p:txBody>
            <a:bodyPr wrap="square" rtlCol="0" anchor="ctr"/>
            <a:lstStyle/>
            <a:p>
              <a:pPr algn="ctr"/>
              <a:endParaRPr/>
            </a:p>
          </p:txBody>
        </p:sp>
        <p:sp>
          <p:nvSpPr>
            <p:cNvPr id="122" name="Oval 121"/>
            <p:cNvSpPr/>
            <p:nvPr/>
          </p:nvSpPr>
          <p:spPr>
            <a:xfrm>
              <a:off x="6428232" y="3959352"/>
              <a:ext cx="128016" cy="128016"/>
            </a:xfrm>
            <a:prstGeom prst="ellipse">
              <a:avLst/>
            </a:prstGeom>
            <a:solidFill>
              <a:srgbClr val="2A3A5C"/>
            </a:solidFill>
            <a:ln>
              <a:noFill/>
            </a:ln>
          </p:spPr>
          <p:txBody>
            <a:bodyPr wrap="square" rtlCol="0" anchor="ctr"/>
            <a:lstStyle/>
            <a:p>
              <a:pPr algn="ctr"/>
              <a:endParaRPr/>
            </a:p>
          </p:txBody>
        </p:sp>
        <p:sp>
          <p:nvSpPr>
            <p:cNvPr id="123" name="Oval 122"/>
            <p:cNvSpPr/>
            <p:nvPr/>
          </p:nvSpPr>
          <p:spPr>
            <a:xfrm>
              <a:off x="6611112" y="3959352"/>
              <a:ext cx="128016" cy="128016"/>
            </a:xfrm>
            <a:prstGeom prst="ellipse">
              <a:avLst/>
            </a:prstGeom>
            <a:solidFill>
              <a:srgbClr val="2A3A5C"/>
            </a:solidFill>
            <a:ln>
              <a:noFill/>
            </a:ln>
          </p:spPr>
          <p:txBody>
            <a:bodyPr wrap="square" rtlCol="0" anchor="ctr"/>
            <a:lstStyle/>
            <a:p>
              <a:pPr algn="ctr"/>
              <a:endParaRPr/>
            </a:p>
          </p:txBody>
        </p:sp>
        <p:sp>
          <p:nvSpPr>
            <p:cNvPr id="124" name="Oval 123"/>
            <p:cNvSpPr/>
            <p:nvPr/>
          </p:nvSpPr>
          <p:spPr>
            <a:xfrm>
              <a:off x="7178040" y="3959352"/>
              <a:ext cx="128016" cy="128016"/>
            </a:xfrm>
            <a:prstGeom prst="ellipse">
              <a:avLst/>
            </a:prstGeom>
            <a:solidFill>
              <a:srgbClr val="B5ADF5"/>
            </a:solidFill>
            <a:ln>
              <a:noFill/>
            </a:ln>
          </p:spPr>
          <p:txBody>
            <a:bodyPr wrap="square" rtlCol="0" anchor="ctr"/>
            <a:lstStyle/>
            <a:p>
              <a:pPr algn="ctr"/>
              <a:endParaRPr/>
            </a:p>
          </p:txBody>
        </p:sp>
        <p:sp>
          <p:nvSpPr>
            <p:cNvPr id="125" name="Oval 124"/>
            <p:cNvSpPr/>
            <p:nvPr/>
          </p:nvSpPr>
          <p:spPr>
            <a:xfrm>
              <a:off x="7360919" y="3959352"/>
              <a:ext cx="128016" cy="128016"/>
            </a:xfrm>
            <a:prstGeom prst="ellipse">
              <a:avLst/>
            </a:prstGeom>
            <a:solidFill>
              <a:srgbClr val="B5ADF5"/>
            </a:solidFill>
            <a:ln>
              <a:noFill/>
            </a:ln>
          </p:spPr>
          <p:txBody>
            <a:bodyPr wrap="square" rtlCol="0" anchor="ctr"/>
            <a:lstStyle/>
            <a:p>
              <a:pPr algn="ctr"/>
              <a:endParaRPr/>
            </a:p>
          </p:txBody>
        </p:sp>
        <p:sp>
          <p:nvSpPr>
            <p:cNvPr id="126" name="Oval 125"/>
            <p:cNvSpPr/>
            <p:nvPr/>
          </p:nvSpPr>
          <p:spPr>
            <a:xfrm>
              <a:off x="7543799" y="3959352"/>
              <a:ext cx="128016" cy="128016"/>
            </a:xfrm>
            <a:prstGeom prst="ellipse">
              <a:avLst/>
            </a:prstGeom>
            <a:solidFill>
              <a:srgbClr val="B5ADF5"/>
            </a:solidFill>
            <a:ln>
              <a:noFill/>
            </a:ln>
          </p:spPr>
          <p:txBody>
            <a:bodyPr wrap="square" rtlCol="0" anchor="ctr"/>
            <a:lstStyle/>
            <a:p>
              <a:pPr algn="ctr"/>
              <a:endParaRPr/>
            </a:p>
          </p:txBody>
        </p:sp>
        <p:sp>
          <p:nvSpPr>
            <p:cNvPr id="127" name="Oval 126"/>
            <p:cNvSpPr/>
            <p:nvPr/>
          </p:nvSpPr>
          <p:spPr>
            <a:xfrm>
              <a:off x="7726679" y="3959352"/>
              <a:ext cx="128016" cy="128016"/>
            </a:xfrm>
            <a:prstGeom prst="ellipse">
              <a:avLst/>
            </a:prstGeom>
            <a:solidFill>
              <a:srgbClr val="2A3A5C"/>
            </a:solidFill>
            <a:ln>
              <a:noFill/>
            </a:ln>
          </p:spPr>
          <p:txBody>
            <a:bodyPr wrap="square" rtlCol="0" anchor="ctr"/>
            <a:lstStyle/>
            <a:p>
              <a:pPr algn="ctr"/>
              <a:endParaRPr/>
            </a:p>
          </p:txBody>
        </p:sp>
        <p:sp>
          <p:nvSpPr>
            <p:cNvPr id="128" name="Oval 127"/>
            <p:cNvSpPr/>
            <p:nvPr/>
          </p:nvSpPr>
          <p:spPr>
            <a:xfrm>
              <a:off x="7909559" y="3959352"/>
              <a:ext cx="128016" cy="128016"/>
            </a:xfrm>
            <a:prstGeom prst="ellipse">
              <a:avLst/>
            </a:prstGeom>
            <a:solidFill>
              <a:srgbClr val="2A3A5C"/>
            </a:solidFill>
            <a:ln>
              <a:noFill/>
            </a:ln>
          </p:spPr>
          <p:txBody>
            <a:bodyPr wrap="square" rtlCol="0" anchor="ctr"/>
            <a:lstStyle/>
            <a:p>
              <a:pPr algn="ctr"/>
              <a:endParaRPr/>
            </a:p>
          </p:txBody>
        </p:sp>
        <p:sp>
          <p:nvSpPr>
            <p:cNvPr id="129" name="Oval 128"/>
            <p:cNvSpPr/>
            <p:nvPr/>
          </p:nvSpPr>
          <p:spPr>
            <a:xfrm>
              <a:off x="8476487" y="3959352"/>
              <a:ext cx="128016" cy="128016"/>
            </a:xfrm>
            <a:prstGeom prst="ellipse">
              <a:avLst/>
            </a:prstGeom>
            <a:solidFill>
              <a:srgbClr val="B5ADF5"/>
            </a:solidFill>
            <a:ln>
              <a:noFill/>
            </a:ln>
          </p:spPr>
          <p:txBody>
            <a:bodyPr wrap="square" rtlCol="0" anchor="ctr"/>
            <a:lstStyle/>
            <a:p>
              <a:pPr algn="ctr"/>
              <a:endParaRPr/>
            </a:p>
          </p:txBody>
        </p:sp>
        <p:sp>
          <p:nvSpPr>
            <p:cNvPr id="130" name="Oval 129"/>
            <p:cNvSpPr/>
            <p:nvPr/>
          </p:nvSpPr>
          <p:spPr>
            <a:xfrm>
              <a:off x="8659367" y="3959352"/>
              <a:ext cx="128016" cy="128016"/>
            </a:xfrm>
            <a:prstGeom prst="ellipse">
              <a:avLst/>
            </a:prstGeom>
            <a:solidFill>
              <a:srgbClr val="B5ADF5"/>
            </a:solidFill>
            <a:ln>
              <a:noFill/>
            </a:ln>
          </p:spPr>
          <p:txBody>
            <a:bodyPr wrap="square" rtlCol="0" anchor="ctr"/>
            <a:lstStyle/>
            <a:p>
              <a:pPr algn="ctr"/>
              <a:endParaRPr/>
            </a:p>
          </p:txBody>
        </p:sp>
        <p:sp>
          <p:nvSpPr>
            <p:cNvPr id="131" name="Oval 130"/>
            <p:cNvSpPr/>
            <p:nvPr/>
          </p:nvSpPr>
          <p:spPr>
            <a:xfrm>
              <a:off x="8842247" y="3959352"/>
              <a:ext cx="128016" cy="128016"/>
            </a:xfrm>
            <a:prstGeom prst="ellipse">
              <a:avLst/>
            </a:prstGeom>
            <a:solidFill>
              <a:srgbClr val="B5ADF5"/>
            </a:solidFill>
            <a:ln>
              <a:noFill/>
            </a:ln>
          </p:spPr>
          <p:txBody>
            <a:bodyPr wrap="square" rtlCol="0" anchor="ctr"/>
            <a:lstStyle/>
            <a:p>
              <a:pPr algn="ctr"/>
              <a:endParaRPr/>
            </a:p>
          </p:txBody>
        </p:sp>
        <p:sp>
          <p:nvSpPr>
            <p:cNvPr id="132" name="Oval 131"/>
            <p:cNvSpPr/>
            <p:nvPr/>
          </p:nvSpPr>
          <p:spPr>
            <a:xfrm>
              <a:off x="9025127" y="3959352"/>
              <a:ext cx="128016" cy="128016"/>
            </a:xfrm>
            <a:prstGeom prst="ellipse">
              <a:avLst/>
            </a:prstGeom>
            <a:solidFill>
              <a:srgbClr val="2A3A5C"/>
            </a:solidFill>
            <a:ln>
              <a:noFill/>
            </a:ln>
          </p:spPr>
          <p:txBody>
            <a:bodyPr wrap="square" rtlCol="0" anchor="ctr"/>
            <a:lstStyle/>
            <a:p>
              <a:pPr algn="ctr"/>
              <a:endParaRPr/>
            </a:p>
          </p:txBody>
        </p:sp>
        <p:sp>
          <p:nvSpPr>
            <p:cNvPr id="133" name="Oval 132"/>
            <p:cNvSpPr/>
            <p:nvPr/>
          </p:nvSpPr>
          <p:spPr>
            <a:xfrm>
              <a:off x="9208007" y="3959352"/>
              <a:ext cx="128016" cy="128016"/>
            </a:xfrm>
            <a:prstGeom prst="ellipse">
              <a:avLst/>
            </a:prstGeom>
            <a:solidFill>
              <a:srgbClr val="2A3A5C"/>
            </a:solidFill>
            <a:ln>
              <a:noFill/>
            </a:ln>
          </p:spPr>
          <p:txBody>
            <a:bodyPr wrap="square" rtlCol="0" anchor="ctr"/>
            <a:lstStyle/>
            <a:p>
              <a:pPr algn="ctr"/>
              <a:endParaRPr/>
            </a:p>
          </p:txBody>
        </p:sp>
        <p:sp>
          <p:nvSpPr>
            <p:cNvPr id="134" name="TextBox 133"/>
            <p:cNvSpPr txBox="1"/>
            <p:nvPr/>
          </p:nvSpPr>
          <p:spPr>
            <a:xfrm>
              <a:off x="9692640" y="3703320"/>
              <a:ext cx="1993391" cy="640080"/>
            </a:xfrm>
            <a:prstGeom prst="rect">
              <a:avLst/>
            </a:prstGeom>
            <a:noFill/>
          </p:spPr>
          <p:txBody>
            <a:bodyPr wrap="square" lIns="0" tIns="0" rIns="0" bIns="0" anchor="ctr">
              <a:noAutofit/>
            </a:bodyPr>
            <a:lstStyle/>
            <a:p>
              <a:pPr algn="l">
                <a:lnSpc>
                  <a:spcPct val="105000"/>
                </a:lnSpc>
                <a:spcAft>
                  <a:spcPts val="0"/>
                </a:spcAft>
              </a:pPr>
              <a:r>
                <a:rPr sz="1150" b="0" i="0">
                  <a:solidFill>
                    <a:srgbClr val="C9D2E3"/>
                  </a:solidFill>
                  <a:latin typeface="Segoe UI"/>
                </a:rPr>
                <a:t>Multi-objective batch optimization</a:t>
              </a:r>
            </a:p>
          </p:txBody>
        </p:sp>
      </p:grpSp>
      <p:grpSp>
        <p:nvGrpSpPr>
          <p:cNvPr id="135" name="Group 134"/>
          <p:cNvGrpSpPr/>
          <p:nvPr/>
        </p:nvGrpSpPr>
        <p:grpSpPr>
          <a:xfrm>
            <a:off x="548640" y="4434840"/>
            <a:ext cx="11137391" cy="640080"/>
            <a:chOff x="548640" y="4434840"/>
            <a:chExt cx="11137391" cy="640080"/>
          </a:xfrm>
        </p:grpSpPr>
        <p:sp>
          <p:nvSpPr>
            <p:cNvPr id="136" name="Rounded Rectangle 135"/>
            <p:cNvSpPr/>
            <p:nvPr/>
          </p:nvSpPr>
          <p:spPr>
            <a:xfrm>
              <a:off x="548640" y="4434840"/>
              <a:ext cx="11091672" cy="640080"/>
            </a:xfrm>
            <a:prstGeom prst="roundRect">
              <a:avLst>
                <a:gd name="adj" fmla="val 20000"/>
              </a:avLst>
            </a:prstGeom>
            <a:solidFill>
              <a:srgbClr val="182A4C"/>
            </a:solidFill>
            <a:ln w="6350">
              <a:solidFill>
                <a:srgbClr val="2A3F69"/>
              </a:solidFill>
            </a:ln>
          </p:spPr>
          <p:txBody>
            <a:bodyPr wrap="square" rtlCol="0" anchor="ctr"/>
            <a:lstStyle/>
            <a:p>
              <a:pPr algn="ctr"/>
              <a:endParaRPr/>
            </a:p>
          </p:txBody>
        </p:sp>
        <p:sp>
          <p:nvSpPr>
            <p:cNvPr id="137" name="Rectangle 136"/>
            <p:cNvSpPr/>
            <p:nvPr/>
          </p:nvSpPr>
          <p:spPr>
            <a:xfrm>
              <a:off x="548640" y="4590288"/>
              <a:ext cx="45720" cy="329184"/>
            </a:xfrm>
            <a:prstGeom prst="rect">
              <a:avLst/>
            </a:prstGeom>
            <a:solidFill>
              <a:srgbClr val="D95926"/>
            </a:solidFill>
            <a:ln>
              <a:noFill/>
            </a:ln>
          </p:spPr>
          <p:txBody>
            <a:bodyPr wrap="square" rtlCol="0" anchor="ctr"/>
            <a:lstStyle/>
            <a:p>
              <a:pPr algn="ctr"/>
              <a:endParaRPr/>
            </a:p>
          </p:txBody>
        </p:sp>
        <p:sp>
          <p:nvSpPr>
            <p:cNvPr id="138" name="TextBox 137"/>
            <p:cNvSpPr txBox="1"/>
            <p:nvPr/>
          </p:nvSpPr>
          <p:spPr>
            <a:xfrm>
              <a:off x="777240" y="4434840"/>
              <a:ext cx="2514600" cy="640080"/>
            </a:xfrm>
            <a:prstGeom prst="rect">
              <a:avLst/>
            </a:prstGeom>
            <a:noFill/>
          </p:spPr>
          <p:txBody>
            <a:bodyPr wrap="square" lIns="0" tIns="0" rIns="0" bIns="0" anchor="ctr">
              <a:noAutofit/>
            </a:bodyPr>
            <a:lstStyle/>
            <a:p>
              <a:pPr algn="l">
                <a:lnSpc>
                  <a:spcPct val="112000"/>
                </a:lnSpc>
                <a:spcAft>
                  <a:spcPts val="0"/>
                </a:spcAft>
              </a:pPr>
              <a:r>
                <a:rPr sz="1350" b="0" i="0">
                  <a:solidFill>
                    <a:srgbClr val="FFFFFF"/>
                  </a:solidFill>
                  <a:latin typeface="Segoe UI Semibold"/>
                </a:rPr>
                <a:t>ML / Deep RL</a:t>
              </a:r>
            </a:p>
          </p:txBody>
        </p:sp>
        <p:sp>
          <p:nvSpPr>
            <p:cNvPr id="139" name="Oval 138"/>
            <p:cNvSpPr/>
            <p:nvPr/>
          </p:nvSpPr>
          <p:spPr>
            <a:xfrm>
              <a:off x="3282696" y="4690872"/>
              <a:ext cx="128016" cy="128016"/>
            </a:xfrm>
            <a:prstGeom prst="ellipse">
              <a:avLst/>
            </a:prstGeom>
            <a:solidFill>
              <a:srgbClr val="F4925F"/>
            </a:solidFill>
            <a:ln>
              <a:noFill/>
            </a:ln>
          </p:spPr>
          <p:txBody>
            <a:bodyPr wrap="square" rtlCol="0" anchor="ctr"/>
            <a:lstStyle/>
            <a:p>
              <a:pPr algn="ctr"/>
              <a:endParaRPr/>
            </a:p>
          </p:txBody>
        </p:sp>
        <p:sp>
          <p:nvSpPr>
            <p:cNvPr id="140" name="Oval 139"/>
            <p:cNvSpPr/>
            <p:nvPr/>
          </p:nvSpPr>
          <p:spPr>
            <a:xfrm>
              <a:off x="3465576" y="4690872"/>
              <a:ext cx="128016" cy="128016"/>
            </a:xfrm>
            <a:prstGeom prst="ellipse">
              <a:avLst/>
            </a:prstGeom>
            <a:solidFill>
              <a:srgbClr val="F4925F"/>
            </a:solidFill>
            <a:ln>
              <a:noFill/>
            </a:ln>
          </p:spPr>
          <p:txBody>
            <a:bodyPr wrap="square" rtlCol="0" anchor="ctr"/>
            <a:lstStyle/>
            <a:p>
              <a:pPr algn="ctr"/>
              <a:endParaRPr/>
            </a:p>
          </p:txBody>
        </p:sp>
        <p:sp>
          <p:nvSpPr>
            <p:cNvPr id="141" name="Oval 140"/>
            <p:cNvSpPr/>
            <p:nvPr/>
          </p:nvSpPr>
          <p:spPr>
            <a:xfrm>
              <a:off x="3648456" y="4690872"/>
              <a:ext cx="128016" cy="128016"/>
            </a:xfrm>
            <a:prstGeom prst="ellipse">
              <a:avLst/>
            </a:prstGeom>
            <a:solidFill>
              <a:srgbClr val="F4925F"/>
            </a:solidFill>
            <a:ln>
              <a:noFill/>
            </a:ln>
          </p:spPr>
          <p:txBody>
            <a:bodyPr wrap="square" rtlCol="0" anchor="ctr"/>
            <a:lstStyle/>
            <a:p>
              <a:pPr algn="ctr"/>
              <a:endParaRPr/>
            </a:p>
          </p:txBody>
        </p:sp>
        <p:sp>
          <p:nvSpPr>
            <p:cNvPr id="142" name="Oval 141"/>
            <p:cNvSpPr/>
            <p:nvPr/>
          </p:nvSpPr>
          <p:spPr>
            <a:xfrm>
              <a:off x="3831336" y="4690872"/>
              <a:ext cx="128016" cy="128016"/>
            </a:xfrm>
            <a:prstGeom prst="ellipse">
              <a:avLst/>
            </a:prstGeom>
            <a:solidFill>
              <a:srgbClr val="F4925F"/>
            </a:solidFill>
            <a:ln>
              <a:noFill/>
            </a:ln>
          </p:spPr>
          <p:txBody>
            <a:bodyPr wrap="square" rtlCol="0" anchor="ctr"/>
            <a:lstStyle/>
            <a:p>
              <a:pPr algn="ctr"/>
              <a:endParaRPr/>
            </a:p>
          </p:txBody>
        </p:sp>
        <p:sp>
          <p:nvSpPr>
            <p:cNvPr id="143" name="Oval 142"/>
            <p:cNvSpPr/>
            <p:nvPr/>
          </p:nvSpPr>
          <p:spPr>
            <a:xfrm>
              <a:off x="4014216" y="4690872"/>
              <a:ext cx="128016" cy="128016"/>
            </a:xfrm>
            <a:prstGeom prst="ellipse">
              <a:avLst/>
            </a:prstGeom>
            <a:solidFill>
              <a:srgbClr val="2A3A5C"/>
            </a:solidFill>
            <a:ln>
              <a:noFill/>
            </a:ln>
          </p:spPr>
          <p:txBody>
            <a:bodyPr wrap="square" rtlCol="0" anchor="ctr"/>
            <a:lstStyle/>
            <a:p>
              <a:pPr algn="ctr"/>
              <a:endParaRPr/>
            </a:p>
          </p:txBody>
        </p:sp>
        <p:sp>
          <p:nvSpPr>
            <p:cNvPr id="144" name="Oval 143"/>
            <p:cNvSpPr/>
            <p:nvPr/>
          </p:nvSpPr>
          <p:spPr>
            <a:xfrm>
              <a:off x="4581144" y="4690872"/>
              <a:ext cx="128016" cy="128016"/>
            </a:xfrm>
            <a:prstGeom prst="ellipse">
              <a:avLst/>
            </a:prstGeom>
            <a:solidFill>
              <a:srgbClr val="F4925F"/>
            </a:solidFill>
            <a:ln>
              <a:noFill/>
            </a:ln>
          </p:spPr>
          <p:txBody>
            <a:bodyPr wrap="square" rtlCol="0" anchor="ctr"/>
            <a:lstStyle/>
            <a:p>
              <a:pPr algn="ctr"/>
              <a:endParaRPr/>
            </a:p>
          </p:txBody>
        </p:sp>
        <p:sp>
          <p:nvSpPr>
            <p:cNvPr id="145" name="Oval 144"/>
            <p:cNvSpPr/>
            <p:nvPr/>
          </p:nvSpPr>
          <p:spPr>
            <a:xfrm>
              <a:off x="4764024" y="4690872"/>
              <a:ext cx="128016" cy="128016"/>
            </a:xfrm>
            <a:prstGeom prst="ellipse">
              <a:avLst/>
            </a:prstGeom>
            <a:solidFill>
              <a:srgbClr val="F4925F"/>
            </a:solidFill>
            <a:ln>
              <a:noFill/>
            </a:ln>
          </p:spPr>
          <p:txBody>
            <a:bodyPr wrap="square" rtlCol="0" anchor="ctr"/>
            <a:lstStyle/>
            <a:p>
              <a:pPr algn="ctr"/>
              <a:endParaRPr/>
            </a:p>
          </p:txBody>
        </p:sp>
        <p:sp>
          <p:nvSpPr>
            <p:cNvPr id="146" name="Oval 145"/>
            <p:cNvSpPr/>
            <p:nvPr/>
          </p:nvSpPr>
          <p:spPr>
            <a:xfrm>
              <a:off x="4946904" y="4690872"/>
              <a:ext cx="128016" cy="128016"/>
            </a:xfrm>
            <a:prstGeom prst="ellipse">
              <a:avLst/>
            </a:prstGeom>
            <a:solidFill>
              <a:srgbClr val="F4925F"/>
            </a:solidFill>
            <a:ln>
              <a:noFill/>
            </a:ln>
          </p:spPr>
          <p:txBody>
            <a:bodyPr wrap="square" rtlCol="0" anchor="ctr"/>
            <a:lstStyle/>
            <a:p>
              <a:pPr algn="ctr"/>
              <a:endParaRPr/>
            </a:p>
          </p:txBody>
        </p:sp>
        <p:sp>
          <p:nvSpPr>
            <p:cNvPr id="147" name="Oval 146"/>
            <p:cNvSpPr/>
            <p:nvPr/>
          </p:nvSpPr>
          <p:spPr>
            <a:xfrm>
              <a:off x="5129784" y="4690872"/>
              <a:ext cx="128016" cy="128016"/>
            </a:xfrm>
            <a:prstGeom prst="ellipse">
              <a:avLst/>
            </a:prstGeom>
            <a:solidFill>
              <a:srgbClr val="F4925F"/>
            </a:solidFill>
            <a:ln>
              <a:noFill/>
            </a:ln>
          </p:spPr>
          <p:txBody>
            <a:bodyPr wrap="square" rtlCol="0" anchor="ctr"/>
            <a:lstStyle/>
            <a:p>
              <a:pPr algn="ctr"/>
              <a:endParaRPr/>
            </a:p>
          </p:txBody>
        </p:sp>
        <p:sp>
          <p:nvSpPr>
            <p:cNvPr id="148" name="Oval 147"/>
            <p:cNvSpPr/>
            <p:nvPr/>
          </p:nvSpPr>
          <p:spPr>
            <a:xfrm>
              <a:off x="5312664" y="4690872"/>
              <a:ext cx="128016" cy="128016"/>
            </a:xfrm>
            <a:prstGeom prst="ellipse">
              <a:avLst/>
            </a:prstGeom>
            <a:solidFill>
              <a:srgbClr val="2A3A5C"/>
            </a:solidFill>
            <a:ln>
              <a:noFill/>
            </a:ln>
          </p:spPr>
          <p:txBody>
            <a:bodyPr wrap="square" rtlCol="0" anchor="ctr"/>
            <a:lstStyle/>
            <a:p>
              <a:pPr algn="ctr"/>
              <a:endParaRPr/>
            </a:p>
          </p:txBody>
        </p:sp>
        <p:sp>
          <p:nvSpPr>
            <p:cNvPr id="149" name="Oval 148"/>
            <p:cNvSpPr/>
            <p:nvPr/>
          </p:nvSpPr>
          <p:spPr>
            <a:xfrm>
              <a:off x="5879592" y="4690872"/>
              <a:ext cx="128016" cy="128016"/>
            </a:xfrm>
            <a:prstGeom prst="ellipse">
              <a:avLst/>
            </a:prstGeom>
            <a:solidFill>
              <a:srgbClr val="F4925F"/>
            </a:solidFill>
            <a:ln>
              <a:noFill/>
            </a:ln>
          </p:spPr>
          <p:txBody>
            <a:bodyPr wrap="square" rtlCol="0" anchor="ctr"/>
            <a:lstStyle/>
            <a:p>
              <a:pPr algn="ctr"/>
              <a:endParaRPr/>
            </a:p>
          </p:txBody>
        </p:sp>
        <p:sp>
          <p:nvSpPr>
            <p:cNvPr id="150" name="Oval 149"/>
            <p:cNvSpPr/>
            <p:nvPr/>
          </p:nvSpPr>
          <p:spPr>
            <a:xfrm>
              <a:off x="6062472" y="4690872"/>
              <a:ext cx="128016" cy="128016"/>
            </a:xfrm>
            <a:prstGeom prst="ellipse">
              <a:avLst/>
            </a:prstGeom>
            <a:solidFill>
              <a:srgbClr val="F4925F"/>
            </a:solidFill>
            <a:ln>
              <a:noFill/>
            </a:ln>
          </p:spPr>
          <p:txBody>
            <a:bodyPr wrap="square" rtlCol="0" anchor="ctr"/>
            <a:lstStyle/>
            <a:p>
              <a:pPr algn="ctr"/>
              <a:endParaRPr/>
            </a:p>
          </p:txBody>
        </p:sp>
        <p:sp>
          <p:nvSpPr>
            <p:cNvPr id="151" name="Oval 150"/>
            <p:cNvSpPr/>
            <p:nvPr/>
          </p:nvSpPr>
          <p:spPr>
            <a:xfrm>
              <a:off x="6245352" y="4690872"/>
              <a:ext cx="128016" cy="128016"/>
            </a:xfrm>
            <a:prstGeom prst="ellipse">
              <a:avLst/>
            </a:prstGeom>
            <a:solidFill>
              <a:srgbClr val="F4925F"/>
            </a:solidFill>
            <a:ln>
              <a:noFill/>
            </a:ln>
          </p:spPr>
          <p:txBody>
            <a:bodyPr wrap="square" rtlCol="0" anchor="ctr"/>
            <a:lstStyle/>
            <a:p>
              <a:pPr algn="ctr"/>
              <a:endParaRPr/>
            </a:p>
          </p:txBody>
        </p:sp>
        <p:sp>
          <p:nvSpPr>
            <p:cNvPr id="152" name="Oval 151"/>
            <p:cNvSpPr/>
            <p:nvPr/>
          </p:nvSpPr>
          <p:spPr>
            <a:xfrm>
              <a:off x="6428232" y="4690872"/>
              <a:ext cx="128016" cy="128016"/>
            </a:xfrm>
            <a:prstGeom prst="ellipse">
              <a:avLst/>
            </a:prstGeom>
            <a:solidFill>
              <a:srgbClr val="F4925F"/>
            </a:solidFill>
            <a:ln>
              <a:noFill/>
            </a:ln>
          </p:spPr>
          <p:txBody>
            <a:bodyPr wrap="square" rtlCol="0" anchor="ctr"/>
            <a:lstStyle/>
            <a:p>
              <a:pPr algn="ctr"/>
              <a:endParaRPr/>
            </a:p>
          </p:txBody>
        </p:sp>
        <p:sp>
          <p:nvSpPr>
            <p:cNvPr id="153" name="Oval 152"/>
            <p:cNvSpPr/>
            <p:nvPr/>
          </p:nvSpPr>
          <p:spPr>
            <a:xfrm>
              <a:off x="6611112" y="4690872"/>
              <a:ext cx="128016" cy="128016"/>
            </a:xfrm>
            <a:prstGeom prst="ellipse">
              <a:avLst/>
            </a:prstGeom>
            <a:solidFill>
              <a:srgbClr val="F4925F"/>
            </a:solidFill>
            <a:ln>
              <a:noFill/>
            </a:ln>
          </p:spPr>
          <p:txBody>
            <a:bodyPr wrap="square" rtlCol="0" anchor="ctr"/>
            <a:lstStyle/>
            <a:p>
              <a:pPr algn="ctr"/>
              <a:endParaRPr/>
            </a:p>
          </p:txBody>
        </p:sp>
        <p:sp>
          <p:nvSpPr>
            <p:cNvPr id="154" name="Oval 153"/>
            <p:cNvSpPr/>
            <p:nvPr/>
          </p:nvSpPr>
          <p:spPr>
            <a:xfrm>
              <a:off x="7178040" y="4690872"/>
              <a:ext cx="128016" cy="128016"/>
            </a:xfrm>
            <a:prstGeom prst="ellipse">
              <a:avLst/>
            </a:prstGeom>
            <a:solidFill>
              <a:srgbClr val="F4925F"/>
            </a:solidFill>
            <a:ln>
              <a:noFill/>
            </a:ln>
          </p:spPr>
          <p:txBody>
            <a:bodyPr wrap="square" rtlCol="0" anchor="ctr"/>
            <a:lstStyle/>
            <a:p>
              <a:pPr algn="ctr"/>
              <a:endParaRPr/>
            </a:p>
          </p:txBody>
        </p:sp>
        <p:sp>
          <p:nvSpPr>
            <p:cNvPr id="155" name="Oval 154"/>
            <p:cNvSpPr/>
            <p:nvPr/>
          </p:nvSpPr>
          <p:spPr>
            <a:xfrm>
              <a:off x="7360919" y="4690872"/>
              <a:ext cx="128016" cy="128016"/>
            </a:xfrm>
            <a:prstGeom prst="ellipse">
              <a:avLst/>
            </a:prstGeom>
            <a:solidFill>
              <a:srgbClr val="2A3A5C"/>
            </a:solidFill>
            <a:ln>
              <a:noFill/>
            </a:ln>
          </p:spPr>
          <p:txBody>
            <a:bodyPr wrap="square" rtlCol="0" anchor="ctr"/>
            <a:lstStyle/>
            <a:p>
              <a:pPr algn="ctr"/>
              <a:endParaRPr/>
            </a:p>
          </p:txBody>
        </p:sp>
        <p:sp>
          <p:nvSpPr>
            <p:cNvPr id="156" name="Oval 155"/>
            <p:cNvSpPr/>
            <p:nvPr/>
          </p:nvSpPr>
          <p:spPr>
            <a:xfrm>
              <a:off x="7543799" y="4690872"/>
              <a:ext cx="128016" cy="128016"/>
            </a:xfrm>
            <a:prstGeom prst="ellipse">
              <a:avLst/>
            </a:prstGeom>
            <a:solidFill>
              <a:srgbClr val="2A3A5C"/>
            </a:solidFill>
            <a:ln>
              <a:noFill/>
            </a:ln>
          </p:spPr>
          <p:txBody>
            <a:bodyPr wrap="square" rtlCol="0" anchor="ctr"/>
            <a:lstStyle/>
            <a:p>
              <a:pPr algn="ctr"/>
              <a:endParaRPr/>
            </a:p>
          </p:txBody>
        </p:sp>
        <p:sp>
          <p:nvSpPr>
            <p:cNvPr id="157" name="Oval 156"/>
            <p:cNvSpPr/>
            <p:nvPr/>
          </p:nvSpPr>
          <p:spPr>
            <a:xfrm>
              <a:off x="7726679" y="4690872"/>
              <a:ext cx="128016" cy="128016"/>
            </a:xfrm>
            <a:prstGeom prst="ellipse">
              <a:avLst/>
            </a:prstGeom>
            <a:solidFill>
              <a:srgbClr val="2A3A5C"/>
            </a:solidFill>
            <a:ln>
              <a:noFill/>
            </a:ln>
          </p:spPr>
          <p:txBody>
            <a:bodyPr wrap="square" rtlCol="0" anchor="ctr"/>
            <a:lstStyle/>
            <a:p>
              <a:pPr algn="ctr"/>
              <a:endParaRPr/>
            </a:p>
          </p:txBody>
        </p:sp>
        <p:sp>
          <p:nvSpPr>
            <p:cNvPr id="158" name="Oval 157"/>
            <p:cNvSpPr/>
            <p:nvPr/>
          </p:nvSpPr>
          <p:spPr>
            <a:xfrm>
              <a:off x="7909559" y="4690872"/>
              <a:ext cx="128016" cy="128016"/>
            </a:xfrm>
            <a:prstGeom prst="ellipse">
              <a:avLst/>
            </a:prstGeom>
            <a:solidFill>
              <a:srgbClr val="2A3A5C"/>
            </a:solidFill>
            <a:ln>
              <a:noFill/>
            </a:ln>
          </p:spPr>
          <p:txBody>
            <a:bodyPr wrap="square" rtlCol="0" anchor="ctr"/>
            <a:lstStyle/>
            <a:p>
              <a:pPr algn="ctr"/>
              <a:endParaRPr/>
            </a:p>
          </p:txBody>
        </p:sp>
        <p:sp>
          <p:nvSpPr>
            <p:cNvPr id="159" name="Oval 158"/>
            <p:cNvSpPr/>
            <p:nvPr/>
          </p:nvSpPr>
          <p:spPr>
            <a:xfrm>
              <a:off x="8476487" y="4690872"/>
              <a:ext cx="128016" cy="128016"/>
            </a:xfrm>
            <a:prstGeom prst="ellipse">
              <a:avLst/>
            </a:prstGeom>
            <a:solidFill>
              <a:srgbClr val="F4925F"/>
            </a:solidFill>
            <a:ln>
              <a:noFill/>
            </a:ln>
          </p:spPr>
          <p:txBody>
            <a:bodyPr wrap="square" rtlCol="0" anchor="ctr"/>
            <a:lstStyle/>
            <a:p>
              <a:pPr algn="ctr"/>
              <a:endParaRPr/>
            </a:p>
          </p:txBody>
        </p:sp>
        <p:sp>
          <p:nvSpPr>
            <p:cNvPr id="160" name="Oval 159"/>
            <p:cNvSpPr/>
            <p:nvPr/>
          </p:nvSpPr>
          <p:spPr>
            <a:xfrm>
              <a:off x="8659367" y="4690872"/>
              <a:ext cx="128016" cy="128016"/>
            </a:xfrm>
            <a:prstGeom prst="ellipse">
              <a:avLst/>
            </a:prstGeom>
            <a:solidFill>
              <a:srgbClr val="2A3A5C"/>
            </a:solidFill>
            <a:ln>
              <a:noFill/>
            </a:ln>
          </p:spPr>
          <p:txBody>
            <a:bodyPr wrap="square" rtlCol="0" anchor="ctr"/>
            <a:lstStyle/>
            <a:p>
              <a:pPr algn="ctr"/>
              <a:endParaRPr/>
            </a:p>
          </p:txBody>
        </p:sp>
        <p:sp>
          <p:nvSpPr>
            <p:cNvPr id="161" name="Oval 160"/>
            <p:cNvSpPr/>
            <p:nvPr/>
          </p:nvSpPr>
          <p:spPr>
            <a:xfrm>
              <a:off x="8842247" y="4690872"/>
              <a:ext cx="128016" cy="128016"/>
            </a:xfrm>
            <a:prstGeom prst="ellipse">
              <a:avLst/>
            </a:prstGeom>
            <a:solidFill>
              <a:srgbClr val="2A3A5C"/>
            </a:solidFill>
            <a:ln>
              <a:noFill/>
            </a:ln>
          </p:spPr>
          <p:txBody>
            <a:bodyPr wrap="square" rtlCol="0" anchor="ctr"/>
            <a:lstStyle/>
            <a:p>
              <a:pPr algn="ctr"/>
              <a:endParaRPr/>
            </a:p>
          </p:txBody>
        </p:sp>
        <p:sp>
          <p:nvSpPr>
            <p:cNvPr id="162" name="Oval 161"/>
            <p:cNvSpPr/>
            <p:nvPr/>
          </p:nvSpPr>
          <p:spPr>
            <a:xfrm>
              <a:off x="9025127" y="4690872"/>
              <a:ext cx="128016" cy="128016"/>
            </a:xfrm>
            <a:prstGeom prst="ellipse">
              <a:avLst/>
            </a:prstGeom>
            <a:solidFill>
              <a:srgbClr val="2A3A5C"/>
            </a:solidFill>
            <a:ln>
              <a:noFill/>
            </a:ln>
          </p:spPr>
          <p:txBody>
            <a:bodyPr wrap="square" rtlCol="0" anchor="ctr"/>
            <a:lstStyle/>
            <a:p>
              <a:pPr algn="ctr"/>
              <a:endParaRPr/>
            </a:p>
          </p:txBody>
        </p:sp>
        <p:sp>
          <p:nvSpPr>
            <p:cNvPr id="163" name="Oval 162"/>
            <p:cNvSpPr/>
            <p:nvPr/>
          </p:nvSpPr>
          <p:spPr>
            <a:xfrm>
              <a:off x="9208007" y="4690872"/>
              <a:ext cx="128016" cy="128016"/>
            </a:xfrm>
            <a:prstGeom prst="ellipse">
              <a:avLst/>
            </a:prstGeom>
            <a:solidFill>
              <a:srgbClr val="2A3A5C"/>
            </a:solidFill>
            <a:ln>
              <a:noFill/>
            </a:ln>
          </p:spPr>
          <p:txBody>
            <a:bodyPr wrap="square" rtlCol="0" anchor="ctr"/>
            <a:lstStyle/>
            <a:p>
              <a:pPr algn="ctr"/>
              <a:endParaRPr/>
            </a:p>
          </p:txBody>
        </p:sp>
        <p:sp>
          <p:nvSpPr>
            <p:cNvPr id="164" name="TextBox 163"/>
            <p:cNvSpPr txBox="1"/>
            <p:nvPr/>
          </p:nvSpPr>
          <p:spPr>
            <a:xfrm>
              <a:off x="9692640" y="4434840"/>
              <a:ext cx="1993391" cy="640080"/>
            </a:xfrm>
            <a:prstGeom prst="rect">
              <a:avLst/>
            </a:prstGeom>
            <a:noFill/>
          </p:spPr>
          <p:txBody>
            <a:bodyPr wrap="square" lIns="0" tIns="0" rIns="0" bIns="0" anchor="ctr">
              <a:noAutofit/>
            </a:bodyPr>
            <a:lstStyle/>
            <a:p>
              <a:pPr algn="l">
                <a:lnSpc>
                  <a:spcPct val="105000"/>
                </a:lnSpc>
                <a:spcAft>
                  <a:spcPts val="0"/>
                </a:spcAft>
              </a:pPr>
              <a:r>
                <a:rPr sz="1150" b="0" i="0">
                  <a:solidFill>
                    <a:srgbClr val="C9D2E3"/>
                  </a:solidFill>
                  <a:latin typeface="Segoe UI"/>
                </a:rPr>
                <a:t>Dynamic, non-stationary workloads</a:t>
              </a:r>
            </a:p>
          </p:txBody>
        </p:sp>
      </p:grpSp>
      <p:grpSp>
        <p:nvGrpSpPr>
          <p:cNvPr id="165" name="Group 164"/>
          <p:cNvGrpSpPr/>
          <p:nvPr/>
        </p:nvGrpSpPr>
        <p:grpSpPr>
          <a:xfrm>
            <a:off x="548640" y="5166360"/>
            <a:ext cx="11137391" cy="640080"/>
            <a:chOff x="548640" y="5166360"/>
            <a:chExt cx="11137391" cy="640080"/>
          </a:xfrm>
        </p:grpSpPr>
        <p:sp>
          <p:nvSpPr>
            <p:cNvPr id="166" name="Rounded Rectangle 165"/>
            <p:cNvSpPr/>
            <p:nvPr/>
          </p:nvSpPr>
          <p:spPr>
            <a:xfrm>
              <a:off x="548640" y="5166360"/>
              <a:ext cx="11091672" cy="640080"/>
            </a:xfrm>
            <a:prstGeom prst="roundRect">
              <a:avLst>
                <a:gd name="adj" fmla="val 20000"/>
              </a:avLst>
            </a:prstGeom>
            <a:solidFill>
              <a:srgbClr val="13213D"/>
            </a:solidFill>
            <a:ln w="6350">
              <a:solidFill>
                <a:srgbClr val="2A3F69"/>
              </a:solidFill>
            </a:ln>
          </p:spPr>
          <p:txBody>
            <a:bodyPr wrap="square" rtlCol="0" anchor="ctr"/>
            <a:lstStyle/>
            <a:p>
              <a:pPr algn="ctr"/>
              <a:endParaRPr/>
            </a:p>
          </p:txBody>
        </p:sp>
        <p:sp>
          <p:nvSpPr>
            <p:cNvPr id="167" name="Rectangle 166"/>
            <p:cNvSpPr/>
            <p:nvPr/>
          </p:nvSpPr>
          <p:spPr>
            <a:xfrm>
              <a:off x="548640" y="5321808"/>
              <a:ext cx="45720" cy="329184"/>
            </a:xfrm>
            <a:prstGeom prst="rect">
              <a:avLst/>
            </a:prstGeom>
            <a:solidFill>
              <a:srgbClr val="3987E5"/>
            </a:solidFill>
            <a:ln>
              <a:noFill/>
            </a:ln>
          </p:spPr>
          <p:txBody>
            <a:bodyPr wrap="square" rtlCol="0" anchor="ctr"/>
            <a:lstStyle/>
            <a:p>
              <a:pPr algn="ctr"/>
              <a:endParaRPr/>
            </a:p>
          </p:txBody>
        </p:sp>
        <p:sp>
          <p:nvSpPr>
            <p:cNvPr id="168" name="TextBox 167"/>
            <p:cNvSpPr txBox="1"/>
            <p:nvPr/>
          </p:nvSpPr>
          <p:spPr>
            <a:xfrm>
              <a:off x="777240" y="5166360"/>
              <a:ext cx="2514600" cy="640080"/>
            </a:xfrm>
            <a:prstGeom prst="rect">
              <a:avLst/>
            </a:prstGeom>
            <a:noFill/>
          </p:spPr>
          <p:txBody>
            <a:bodyPr wrap="square" lIns="0" tIns="0" rIns="0" bIns="0" anchor="ctr">
              <a:noAutofit/>
            </a:bodyPr>
            <a:lstStyle/>
            <a:p>
              <a:pPr algn="l">
                <a:lnSpc>
                  <a:spcPct val="112000"/>
                </a:lnSpc>
                <a:spcAft>
                  <a:spcPts val="0"/>
                </a:spcAft>
              </a:pPr>
              <a:r>
                <a:rPr sz="1350" b="0" i="0">
                  <a:solidFill>
                    <a:srgbClr val="FFFFFF"/>
                  </a:solidFill>
                  <a:latin typeface="Segoe UI Semibold"/>
                </a:rPr>
                <a:t>Market / game theory</a:t>
              </a:r>
            </a:p>
          </p:txBody>
        </p:sp>
        <p:sp>
          <p:nvSpPr>
            <p:cNvPr id="169" name="Oval 168"/>
            <p:cNvSpPr/>
            <p:nvPr/>
          </p:nvSpPr>
          <p:spPr>
            <a:xfrm>
              <a:off x="3282696" y="5422392"/>
              <a:ext cx="128016" cy="128016"/>
            </a:xfrm>
            <a:prstGeom prst="ellipse">
              <a:avLst/>
            </a:prstGeom>
            <a:solidFill>
              <a:srgbClr val="7DB3F5"/>
            </a:solidFill>
            <a:ln>
              <a:noFill/>
            </a:ln>
          </p:spPr>
          <p:txBody>
            <a:bodyPr wrap="square" rtlCol="0" anchor="ctr"/>
            <a:lstStyle/>
            <a:p>
              <a:pPr algn="ctr"/>
              <a:endParaRPr/>
            </a:p>
          </p:txBody>
        </p:sp>
        <p:sp>
          <p:nvSpPr>
            <p:cNvPr id="170" name="Oval 169"/>
            <p:cNvSpPr/>
            <p:nvPr/>
          </p:nvSpPr>
          <p:spPr>
            <a:xfrm>
              <a:off x="3465576" y="5422392"/>
              <a:ext cx="128016" cy="128016"/>
            </a:xfrm>
            <a:prstGeom prst="ellipse">
              <a:avLst/>
            </a:prstGeom>
            <a:solidFill>
              <a:srgbClr val="7DB3F5"/>
            </a:solidFill>
            <a:ln>
              <a:noFill/>
            </a:ln>
          </p:spPr>
          <p:txBody>
            <a:bodyPr wrap="square" rtlCol="0" anchor="ctr"/>
            <a:lstStyle/>
            <a:p>
              <a:pPr algn="ctr"/>
              <a:endParaRPr/>
            </a:p>
          </p:txBody>
        </p:sp>
        <p:sp>
          <p:nvSpPr>
            <p:cNvPr id="171" name="Oval 170"/>
            <p:cNvSpPr/>
            <p:nvPr/>
          </p:nvSpPr>
          <p:spPr>
            <a:xfrm>
              <a:off x="3648456" y="5422392"/>
              <a:ext cx="128016" cy="128016"/>
            </a:xfrm>
            <a:prstGeom prst="ellipse">
              <a:avLst/>
            </a:prstGeom>
            <a:solidFill>
              <a:srgbClr val="7DB3F5"/>
            </a:solidFill>
            <a:ln>
              <a:noFill/>
            </a:ln>
          </p:spPr>
          <p:txBody>
            <a:bodyPr wrap="square" rtlCol="0" anchor="ctr"/>
            <a:lstStyle/>
            <a:p>
              <a:pPr algn="ctr"/>
              <a:endParaRPr/>
            </a:p>
          </p:txBody>
        </p:sp>
        <p:sp>
          <p:nvSpPr>
            <p:cNvPr id="172" name="Oval 171"/>
            <p:cNvSpPr/>
            <p:nvPr/>
          </p:nvSpPr>
          <p:spPr>
            <a:xfrm>
              <a:off x="3831336" y="5422392"/>
              <a:ext cx="128016" cy="128016"/>
            </a:xfrm>
            <a:prstGeom prst="ellipse">
              <a:avLst/>
            </a:prstGeom>
            <a:solidFill>
              <a:srgbClr val="2A3A5C"/>
            </a:solidFill>
            <a:ln>
              <a:noFill/>
            </a:ln>
          </p:spPr>
          <p:txBody>
            <a:bodyPr wrap="square" rtlCol="0" anchor="ctr"/>
            <a:lstStyle/>
            <a:p>
              <a:pPr algn="ctr"/>
              <a:endParaRPr/>
            </a:p>
          </p:txBody>
        </p:sp>
        <p:sp>
          <p:nvSpPr>
            <p:cNvPr id="173" name="Oval 172"/>
            <p:cNvSpPr/>
            <p:nvPr/>
          </p:nvSpPr>
          <p:spPr>
            <a:xfrm>
              <a:off x="4014216" y="5422392"/>
              <a:ext cx="128016" cy="128016"/>
            </a:xfrm>
            <a:prstGeom prst="ellipse">
              <a:avLst/>
            </a:prstGeom>
            <a:solidFill>
              <a:srgbClr val="2A3A5C"/>
            </a:solidFill>
            <a:ln>
              <a:noFill/>
            </a:ln>
          </p:spPr>
          <p:txBody>
            <a:bodyPr wrap="square" rtlCol="0" anchor="ctr"/>
            <a:lstStyle/>
            <a:p>
              <a:pPr algn="ctr"/>
              <a:endParaRPr/>
            </a:p>
          </p:txBody>
        </p:sp>
        <p:sp>
          <p:nvSpPr>
            <p:cNvPr id="174" name="Oval 173"/>
            <p:cNvSpPr/>
            <p:nvPr/>
          </p:nvSpPr>
          <p:spPr>
            <a:xfrm>
              <a:off x="4581144" y="5422392"/>
              <a:ext cx="128016" cy="128016"/>
            </a:xfrm>
            <a:prstGeom prst="ellipse">
              <a:avLst/>
            </a:prstGeom>
            <a:solidFill>
              <a:srgbClr val="7DB3F5"/>
            </a:solidFill>
            <a:ln>
              <a:noFill/>
            </a:ln>
          </p:spPr>
          <p:txBody>
            <a:bodyPr wrap="square" rtlCol="0" anchor="ctr"/>
            <a:lstStyle/>
            <a:p>
              <a:pPr algn="ctr"/>
              <a:endParaRPr/>
            </a:p>
          </p:txBody>
        </p:sp>
        <p:sp>
          <p:nvSpPr>
            <p:cNvPr id="175" name="Oval 174"/>
            <p:cNvSpPr/>
            <p:nvPr/>
          </p:nvSpPr>
          <p:spPr>
            <a:xfrm>
              <a:off x="4764024" y="5422392"/>
              <a:ext cx="128016" cy="128016"/>
            </a:xfrm>
            <a:prstGeom prst="ellipse">
              <a:avLst/>
            </a:prstGeom>
            <a:solidFill>
              <a:srgbClr val="7DB3F5"/>
            </a:solidFill>
            <a:ln>
              <a:noFill/>
            </a:ln>
          </p:spPr>
          <p:txBody>
            <a:bodyPr wrap="square" rtlCol="0" anchor="ctr"/>
            <a:lstStyle/>
            <a:p>
              <a:pPr algn="ctr"/>
              <a:endParaRPr/>
            </a:p>
          </p:txBody>
        </p:sp>
        <p:sp>
          <p:nvSpPr>
            <p:cNvPr id="176" name="Oval 175"/>
            <p:cNvSpPr/>
            <p:nvPr/>
          </p:nvSpPr>
          <p:spPr>
            <a:xfrm>
              <a:off x="4946904" y="5422392"/>
              <a:ext cx="128016" cy="128016"/>
            </a:xfrm>
            <a:prstGeom prst="ellipse">
              <a:avLst/>
            </a:prstGeom>
            <a:solidFill>
              <a:srgbClr val="7DB3F5"/>
            </a:solidFill>
            <a:ln>
              <a:noFill/>
            </a:ln>
          </p:spPr>
          <p:txBody>
            <a:bodyPr wrap="square" rtlCol="0" anchor="ctr"/>
            <a:lstStyle/>
            <a:p>
              <a:pPr algn="ctr"/>
              <a:endParaRPr/>
            </a:p>
          </p:txBody>
        </p:sp>
        <p:sp>
          <p:nvSpPr>
            <p:cNvPr id="177" name="Oval 176"/>
            <p:cNvSpPr/>
            <p:nvPr/>
          </p:nvSpPr>
          <p:spPr>
            <a:xfrm>
              <a:off x="5129784" y="5422392"/>
              <a:ext cx="128016" cy="128016"/>
            </a:xfrm>
            <a:prstGeom prst="ellipse">
              <a:avLst/>
            </a:prstGeom>
            <a:solidFill>
              <a:srgbClr val="7DB3F5"/>
            </a:solidFill>
            <a:ln>
              <a:noFill/>
            </a:ln>
          </p:spPr>
          <p:txBody>
            <a:bodyPr wrap="square" rtlCol="0" anchor="ctr"/>
            <a:lstStyle/>
            <a:p>
              <a:pPr algn="ctr"/>
              <a:endParaRPr/>
            </a:p>
          </p:txBody>
        </p:sp>
        <p:sp>
          <p:nvSpPr>
            <p:cNvPr id="178" name="Oval 177"/>
            <p:cNvSpPr/>
            <p:nvPr/>
          </p:nvSpPr>
          <p:spPr>
            <a:xfrm>
              <a:off x="5312664" y="5422392"/>
              <a:ext cx="128016" cy="128016"/>
            </a:xfrm>
            <a:prstGeom prst="ellipse">
              <a:avLst/>
            </a:prstGeom>
            <a:solidFill>
              <a:srgbClr val="2A3A5C"/>
            </a:solidFill>
            <a:ln>
              <a:noFill/>
            </a:ln>
          </p:spPr>
          <p:txBody>
            <a:bodyPr wrap="square" rtlCol="0" anchor="ctr"/>
            <a:lstStyle/>
            <a:p>
              <a:pPr algn="ctr"/>
              <a:endParaRPr/>
            </a:p>
          </p:txBody>
        </p:sp>
        <p:sp>
          <p:nvSpPr>
            <p:cNvPr id="179" name="Oval 178"/>
            <p:cNvSpPr/>
            <p:nvPr/>
          </p:nvSpPr>
          <p:spPr>
            <a:xfrm>
              <a:off x="5879592" y="5422392"/>
              <a:ext cx="128016" cy="128016"/>
            </a:xfrm>
            <a:prstGeom prst="ellipse">
              <a:avLst/>
            </a:prstGeom>
            <a:solidFill>
              <a:srgbClr val="7DB3F5"/>
            </a:solidFill>
            <a:ln>
              <a:noFill/>
            </a:ln>
          </p:spPr>
          <p:txBody>
            <a:bodyPr wrap="square" rtlCol="0" anchor="ctr"/>
            <a:lstStyle/>
            <a:p>
              <a:pPr algn="ctr"/>
              <a:endParaRPr/>
            </a:p>
          </p:txBody>
        </p:sp>
        <p:sp>
          <p:nvSpPr>
            <p:cNvPr id="180" name="Oval 179"/>
            <p:cNvSpPr/>
            <p:nvPr/>
          </p:nvSpPr>
          <p:spPr>
            <a:xfrm>
              <a:off x="6062472" y="5422392"/>
              <a:ext cx="128016" cy="128016"/>
            </a:xfrm>
            <a:prstGeom prst="ellipse">
              <a:avLst/>
            </a:prstGeom>
            <a:solidFill>
              <a:srgbClr val="7DB3F5"/>
            </a:solidFill>
            <a:ln>
              <a:noFill/>
            </a:ln>
          </p:spPr>
          <p:txBody>
            <a:bodyPr wrap="square" rtlCol="0" anchor="ctr"/>
            <a:lstStyle/>
            <a:p>
              <a:pPr algn="ctr"/>
              <a:endParaRPr/>
            </a:p>
          </p:txBody>
        </p:sp>
        <p:sp>
          <p:nvSpPr>
            <p:cNvPr id="181" name="Oval 180"/>
            <p:cNvSpPr/>
            <p:nvPr/>
          </p:nvSpPr>
          <p:spPr>
            <a:xfrm>
              <a:off x="6245352" y="5422392"/>
              <a:ext cx="128016" cy="128016"/>
            </a:xfrm>
            <a:prstGeom prst="ellipse">
              <a:avLst/>
            </a:prstGeom>
            <a:solidFill>
              <a:srgbClr val="7DB3F5"/>
            </a:solidFill>
            <a:ln>
              <a:noFill/>
            </a:ln>
          </p:spPr>
          <p:txBody>
            <a:bodyPr wrap="square" rtlCol="0" anchor="ctr"/>
            <a:lstStyle/>
            <a:p>
              <a:pPr algn="ctr"/>
              <a:endParaRPr/>
            </a:p>
          </p:txBody>
        </p:sp>
        <p:sp>
          <p:nvSpPr>
            <p:cNvPr id="182" name="Oval 181"/>
            <p:cNvSpPr/>
            <p:nvPr/>
          </p:nvSpPr>
          <p:spPr>
            <a:xfrm>
              <a:off x="6428232" y="5422392"/>
              <a:ext cx="128016" cy="128016"/>
            </a:xfrm>
            <a:prstGeom prst="ellipse">
              <a:avLst/>
            </a:prstGeom>
            <a:solidFill>
              <a:srgbClr val="7DB3F5"/>
            </a:solidFill>
            <a:ln>
              <a:noFill/>
            </a:ln>
          </p:spPr>
          <p:txBody>
            <a:bodyPr wrap="square" rtlCol="0" anchor="ctr"/>
            <a:lstStyle/>
            <a:p>
              <a:pPr algn="ctr"/>
              <a:endParaRPr/>
            </a:p>
          </p:txBody>
        </p:sp>
        <p:sp>
          <p:nvSpPr>
            <p:cNvPr id="183" name="Oval 182"/>
            <p:cNvSpPr/>
            <p:nvPr/>
          </p:nvSpPr>
          <p:spPr>
            <a:xfrm>
              <a:off x="6611112" y="5422392"/>
              <a:ext cx="128016" cy="128016"/>
            </a:xfrm>
            <a:prstGeom prst="ellipse">
              <a:avLst/>
            </a:prstGeom>
            <a:solidFill>
              <a:srgbClr val="2A3A5C"/>
            </a:solidFill>
            <a:ln>
              <a:noFill/>
            </a:ln>
          </p:spPr>
          <p:txBody>
            <a:bodyPr wrap="square" rtlCol="0" anchor="ctr"/>
            <a:lstStyle/>
            <a:p>
              <a:pPr algn="ctr"/>
              <a:endParaRPr/>
            </a:p>
          </p:txBody>
        </p:sp>
        <p:sp>
          <p:nvSpPr>
            <p:cNvPr id="184" name="Oval 183"/>
            <p:cNvSpPr/>
            <p:nvPr/>
          </p:nvSpPr>
          <p:spPr>
            <a:xfrm>
              <a:off x="7178040" y="5422392"/>
              <a:ext cx="128016" cy="128016"/>
            </a:xfrm>
            <a:prstGeom prst="ellipse">
              <a:avLst/>
            </a:prstGeom>
            <a:solidFill>
              <a:srgbClr val="7DB3F5"/>
            </a:solidFill>
            <a:ln>
              <a:noFill/>
            </a:ln>
          </p:spPr>
          <p:txBody>
            <a:bodyPr wrap="square" rtlCol="0" anchor="ctr"/>
            <a:lstStyle/>
            <a:p>
              <a:pPr algn="ctr"/>
              <a:endParaRPr/>
            </a:p>
          </p:txBody>
        </p:sp>
        <p:sp>
          <p:nvSpPr>
            <p:cNvPr id="185" name="Oval 184"/>
            <p:cNvSpPr/>
            <p:nvPr/>
          </p:nvSpPr>
          <p:spPr>
            <a:xfrm>
              <a:off x="7360919" y="5422392"/>
              <a:ext cx="128016" cy="128016"/>
            </a:xfrm>
            <a:prstGeom prst="ellipse">
              <a:avLst/>
            </a:prstGeom>
            <a:solidFill>
              <a:srgbClr val="7DB3F5"/>
            </a:solidFill>
            <a:ln>
              <a:noFill/>
            </a:ln>
          </p:spPr>
          <p:txBody>
            <a:bodyPr wrap="square" rtlCol="0" anchor="ctr"/>
            <a:lstStyle/>
            <a:p>
              <a:pPr algn="ctr"/>
              <a:endParaRPr/>
            </a:p>
          </p:txBody>
        </p:sp>
        <p:sp>
          <p:nvSpPr>
            <p:cNvPr id="186" name="Oval 185"/>
            <p:cNvSpPr/>
            <p:nvPr/>
          </p:nvSpPr>
          <p:spPr>
            <a:xfrm>
              <a:off x="7543799" y="5422392"/>
              <a:ext cx="128016" cy="128016"/>
            </a:xfrm>
            <a:prstGeom prst="ellipse">
              <a:avLst/>
            </a:prstGeom>
            <a:solidFill>
              <a:srgbClr val="7DB3F5"/>
            </a:solidFill>
            <a:ln>
              <a:noFill/>
            </a:ln>
          </p:spPr>
          <p:txBody>
            <a:bodyPr wrap="square" rtlCol="0" anchor="ctr"/>
            <a:lstStyle/>
            <a:p>
              <a:pPr algn="ctr"/>
              <a:endParaRPr/>
            </a:p>
          </p:txBody>
        </p:sp>
        <p:sp>
          <p:nvSpPr>
            <p:cNvPr id="187" name="Oval 186"/>
            <p:cNvSpPr/>
            <p:nvPr/>
          </p:nvSpPr>
          <p:spPr>
            <a:xfrm>
              <a:off x="7726679" y="5422392"/>
              <a:ext cx="128016" cy="128016"/>
            </a:xfrm>
            <a:prstGeom prst="ellipse">
              <a:avLst/>
            </a:prstGeom>
            <a:solidFill>
              <a:srgbClr val="2A3A5C"/>
            </a:solidFill>
            <a:ln>
              <a:noFill/>
            </a:ln>
          </p:spPr>
          <p:txBody>
            <a:bodyPr wrap="square" rtlCol="0" anchor="ctr"/>
            <a:lstStyle/>
            <a:p>
              <a:pPr algn="ctr"/>
              <a:endParaRPr/>
            </a:p>
          </p:txBody>
        </p:sp>
        <p:sp>
          <p:nvSpPr>
            <p:cNvPr id="188" name="Oval 187"/>
            <p:cNvSpPr/>
            <p:nvPr/>
          </p:nvSpPr>
          <p:spPr>
            <a:xfrm>
              <a:off x="7909559" y="5422392"/>
              <a:ext cx="128016" cy="128016"/>
            </a:xfrm>
            <a:prstGeom prst="ellipse">
              <a:avLst/>
            </a:prstGeom>
            <a:solidFill>
              <a:srgbClr val="2A3A5C"/>
            </a:solidFill>
            <a:ln>
              <a:noFill/>
            </a:ln>
          </p:spPr>
          <p:txBody>
            <a:bodyPr wrap="square" rtlCol="0" anchor="ctr"/>
            <a:lstStyle/>
            <a:p>
              <a:pPr algn="ctr"/>
              <a:endParaRPr/>
            </a:p>
          </p:txBody>
        </p:sp>
        <p:sp>
          <p:nvSpPr>
            <p:cNvPr id="189" name="Oval 188"/>
            <p:cNvSpPr/>
            <p:nvPr/>
          </p:nvSpPr>
          <p:spPr>
            <a:xfrm>
              <a:off x="8476487" y="5422392"/>
              <a:ext cx="128016" cy="128016"/>
            </a:xfrm>
            <a:prstGeom prst="ellipse">
              <a:avLst/>
            </a:prstGeom>
            <a:solidFill>
              <a:srgbClr val="7DB3F5"/>
            </a:solidFill>
            <a:ln>
              <a:noFill/>
            </a:ln>
          </p:spPr>
          <p:txBody>
            <a:bodyPr wrap="square" rtlCol="0" anchor="ctr"/>
            <a:lstStyle/>
            <a:p>
              <a:pPr algn="ctr"/>
              <a:endParaRPr/>
            </a:p>
          </p:txBody>
        </p:sp>
        <p:sp>
          <p:nvSpPr>
            <p:cNvPr id="190" name="Oval 189"/>
            <p:cNvSpPr/>
            <p:nvPr/>
          </p:nvSpPr>
          <p:spPr>
            <a:xfrm>
              <a:off x="8659367" y="5422392"/>
              <a:ext cx="128016" cy="128016"/>
            </a:xfrm>
            <a:prstGeom prst="ellipse">
              <a:avLst/>
            </a:prstGeom>
            <a:solidFill>
              <a:srgbClr val="7DB3F5"/>
            </a:solidFill>
            <a:ln>
              <a:noFill/>
            </a:ln>
          </p:spPr>
          <p:txBody>
            <a:bodyPr wrap="square" rtlCol="0" anchor="ctr"/>
            <a:lstStyle/>
            <a:p>
              <a:pPr algn="ctr"/>
              <a:endParaRPr/>
            </a:p>
          </p:txBody>
        </p:sp>
        <p:sp>
          <p:nvSpPr>
            <p:cNvPr id="191" name="Oval 190"/>
            <p:cNvSpPr/>
            <p:nvPr/>
          </p:nvSpPr>
          <p:spPr>
            <a:xfrm>
              <a:off x="8842247" y="5422392"/>
              <a:ext cx="128016" cy="128016"/>
            </a:xfrm>
            <a:prstGeom prst="ellipse">
              <a:avLst/>
            </a:prstGeom>
            <a:solidFill>
              <a:srgbClr val="2A3A5C"/>
            </a:solidFill>
            <a:ln>
              <a:noFill/>
            </a:ln>
          </p:spPr>
          <p:txBody>
            <a:bodyPr wrap="square" rtlCol="0" anchor="ctr"/>
            <a:lstStyle/>
            <a:p>
              <a:pPr algn="ctr"/>
              <a:endParaRPr/>
            </a:p>
          </p:txBody>
        </p:sp>
        <p:sp>
          <p:nvSpPr>
            <p:cNvPr id="192" name="Oval 191"/>
            <p:cNvSpPr/>
            <p:nvPr/>
          </p:nvSpPr>
          <p:spPr>
            <a:xfrm>
              <a:off x="9025127" y="5422392"/>
              <a:ext cx="128016" cy="128016"/>
            </a:xfrm>
            <a:prstGeom prst="ellipse">
              <a:avLst/>
            </a:prstGeom>
            <a:solidFill>
              <a:srgbClr val="2A3A5C"/>
            </a:solidFill>
            <a:ln>
              <a:noFill/>
            </a:ln>
          </p:spPr>
          <p:txBody>
            <a:bodyPr wrap="square" rtlCol="0" anchor="ctr"/>
            <a:lstStyle/>
            <a:p>
              <a:pPr algn="ctr"/>
              <a:endParaRPr/>
            </a:p>
          </p:txBody>
        </p:sp>
        <p:sp>
          <p:nvSpPr>
            <p:cNvPr id="193" name="Oval 192"/>
            <p:cNvSpPr/>
            <p:nvPr/>
          </p:nvSpPr>
          <p:spPr>
            <a:xfrm>
              <a:off x="9208007" y="5422392"/>
              <a:ext cx="128016" cy="128016"/>
            </a:xfrm>
            <a:prstGeom prst="ellipse">
              <a:avLst/>
            </a:prstGeom>
            <a:solidFill>
              <a:srgbClr val="2A3A5C"/>
            </a:solidFill>
            <a:ln>
              <a:noFill/>
            </a:ln>
          </p:spPr>
          <p:txBody>
            <a:bodyPr wrap="square" rtlCol="0" anchor="ctr"/>
            <a:lstStyle/>
            <a:p>
              <a:pPr algn="ctr"/>
              <a:endParaRPr/>
            </a:p>
          </p:txBody>
        </p:sp>
        <p:sp>
          <p:nvSpPr>
            <p:cNvPr id="194" name="TextBox 193"/>
            <p:cNvSpPr txBox="1"/>
            <p:nvPr/>
          </p:nvSpPr>
          <p:spPr>
            <a:xfrm>
              <a:off x="9692640" y="5166360"/>
              <a:ext cx="1993391" cy="640080"/>
            </a:xfrm>
            <a:prstGeom prst="rect">
              <a:avLst/>
            </a:prstGeom>
            <a:noFill/>
          </p:spPr>
          <p:txBody>
            <a:bodyPr wrap="square" lIns="0" tIns="0" rIns="0" bIns="0" anchor="ctr">
              <a:noAutofit/>
            </a:bodyPr>
            <a:lstStyle/>
            <a:p>
              <a:pPr algn="l">
                <a:lnSpc>
                  <a:spcPct val="105000"/>
                </a:lnSpc>
                <a:spcAft>
                  <a:spcPts val="0"/>
                </a:spcAft>
              </a:pPr>
              <a:r>
                <a:rPr sz="1150" b="0" i="0">
                  <a:solidFill>
                    <a:srgbClr val="C9D2E3"/>
                  </a:solidFill>
                  <a:latin typeface="Segoe UI"/>
                </a:rPr>
                <a:t>Multi-tenant, spot &amp; brokerage</a:t>
              </a:r>
            </a:p>
          </p:txBody>
        </p:sp>
      </p:grpSp>
      <p:sp>
        <p:nvSpPr>
          <p:cNvPr id="195" name="TextBox 194"/>
          <p:cNvSpPr txBox="1"/>
          <p:nvPr/>
        </p:nvSpPr>
        <p:spPr>
          <a:xfrm>
            <a:off x="548640" y="5943600"/>
            <a:ext cx="11064240" cy="274320"/>
          </a:xfrm>
          <a:prstGeom prst="rect">
            <a:avLst/>
          </a:prstGeom>
          <a:noFill/>
        </p:spPr>
        <p:txBody>
          <a:bodyPr wrap="square" lIns="0" tIns="0" rIns="0" bIns="0" anchor="t">
            <a:noAutofit/>
          </a:bodyPr>
          <a:lstStyle/>
          <a:p>
            <a:pPr algn="l">
              <a:lnSpc>
                <a:spcPct val="112000"/>
              </a:lnSpc>
              <a:spcAft>
                <a:spcPts val="0"/>
              </a:spcAft>
            </a:pPr>
            <a:r>
              <a:rPr sz="1050" b="0" i="0">
                <a:solidFill>
                  <a:srgbClr val="8C9AB5"/>
                </a:solidFill>
                <a:latin typeface="Segoe UI"/>
              </a:rPr>
              <a:t>Ratings 1–5 (●●●●● = strongest), qualitative synthesis of the literature. Hybrids are common: heuristics online + periodic metaheuristic / ILP re-optimization.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600"/>
                                        <p:tgtEl>
                                          <p:spTgt spid="36"/>
                                        </p:tgtEl>
                                      </p:cBhvr>
                                    </p:animEffect>
                                  </p:childTnLst>
                                </p:cTn>
                              </p:par>
                              <p:par>
                                <p:cTn id="8" presetID="22" presetClass="entr" presetSubtype="8" fill="hold" nodeType="withEffect">
                                  <p:stCondLst>
                                    <p:cond delay="410"/>
                                  </p:stCondLst>
                                  <p:childTnLst>
                                    <p:set>
                                      <p:cBhvr>
                                        <p:cTn id="9" dur="1" fill="hold">
                                          <p:stCondLst>
                                            <p:cond delay="0"/>
                                          </p:stCondLst>
                                        </p:cTn>
                                        <p:tgtEl>
                                          <p:spTgt spid="45"/>
                                        </p:tgtEl>
                                        <p:attrNameLst>
                                          <p:attrName>style.visibility</p:attrName>
                                        </p:attrNameLst>
                                      </p:cBhvr>
                                      <p:to>
                                        <p:strVal val="visible"/>
                                      </p:to>
                                    </p:set>
                                    <p:animEffect transition="in" filter="wipe(left)">
                                      <p:cBhvr>
                                        <p:cTn id="10" dur="600"/>
                                        <p:tgtEl>
                                          <p:spTgt spid="45"/>
                                        </p:tgtEl>
                                      </p:cBhvr>
                                    </p:animEffect>
                                  </p:childTnLst>
                                </p:cTn>
                              </p:par>
                              <p:par>
                                <p:cTn id="11" presetID="22" presetClass="entr" presetSubtype="8" fill="hold" nodeType="withEffect">
                                  <p:stCondLst>
                                    <p:cond delay="570"/>
                                  </p:stCondLst>
                                  <p:childTnLst>
                                    <p:set>
                                      <p:cBhvr>
                                        <p:cTn id="12" dur="1" fill="hold">
                                          <p:stCondLst>
                                            <p:cond delay="0"/>
                                          </p:stCondLst>
                                        </p:cTn>
                                        <p:tgtEl>
                                          <p:spTgt spid="75"/>
                                        </p:tgtEl>
                                        <p:attrNameLst>
                                          <p:attrName>style.visibility</p:attrName>
                                        </p:attrNameLst>
                                      </p:cBhvr>
                                      <p:to>
                                        <p:strVal val="visible"/>
                                      </p:to>
                                    </p:set>
                                    <p:animEffect transition="in" filter="wipe(left)">
                                      <p:cBhvr>
                                        <p:cTn id="13" dur="600"/>
                                        <p:tgtEl>
                                          <p:spTgt spid="75"/>
                                        </p:tgtEl>
                                      </p:cBhvr>
                                    </p:animEffect>
                                  </p:childTnLst>
                                </p:cTn>
                              </p:par>
                              <p:par>
                                <p:cTn id="14" presetID="22" presetClass="entr" presetSubtype="8" fill="hold" nodeType="withEffect">
                                  <p:stCondLst>
                                    <p:cond delay="730"/>
                                  </p:stCondLst>
                                  <p:childTnLst>
                                    <p:set>
                                      <p:cBhvr>
                                        <p:cTn id="15" dur="1" fill="hold">
                                          <p:stCondLst>
                                            <p:cond delay="0"/>
                                          </p:stCondLst>
                                        </p:cTn>
                                        <p:tgtEl>
                                          <p:spTgt spid="105"/>
                                        </p:tgtEl>
                                        <p:attrNameLst>
                                          <p:attrName>style.visibility</p:attrName>
                                        </p:attrNameLst>
                                      </p:cBhvr>
                                      <p:to>
                                        <p:strVal val="visible"/>
                                      </p:to>
                                    </p:set>
                                    <p:animEffect transition="in" filter="wipe(left)">
                                      <p:cBhvr>
                                        <p:cTn id="16" dur="600"/>
                                        <p:tgtEl>
                                          <p:spTgt spid="105"/>
                                        </p:tgtEl>
                                      </p:cBhvr>
                                    </p:animEffect>
                                  </p:childTnLst>
                                </p:cTn>
                              </p:par>
                              <p:par>
                                <p:cTn id="17" presetID="22" presetClass="entr" presetSubtype="8" fill="hold" nodeType="withEffect">
                                  <p:stCondLst>
                                    <p:cond delay="890"/>
                                  </p:stCondLst>
                                  <p:childTnLst>
                                    <p:set>
                                      <p:cBhvr>
                                        <p:cTn id="18" dur="1" fill="hold">
                                          <p:stCondLst>
                                            <p:cond delay="0"/>
                                          </p:stCondLst>
                                        </p:cTn>
                                        <p:tgtEl>
                                          <p:spTgt spid="135"/>
                                        </p:tgtEl>
                                        <p:attrNameLst>
                                          <p:attrName>style.visibility</p:attrName>
                                        </p:attrNameLst>
                                      </p:cBhvr>
                                      <p:to>
                                        <p:strVal val="visible"/>
                                      </p:to>
                                    </p:set>
                                    <p:animEffect transition="in" filter="wipe(left)">
                                      <p:cBhvr>
                                        <p:cTn id="19" dur="600"/>
                                        <p:tgtEl>
                                          <p:spTgt spid="135"/>
                                        </p:tgtEl>
                                      </p:cBhvr>
                                    </p:animEffect>
                                  </p:childTnLst>
                                </p:cTn>
                              </p:par>
                              <p:par>
                                <p:cTn id="20" presetID="22" presetClass="entr" presetSubtype="8" fill="hold" nodeType="withEffect">
                                  <p:stCondLst>
                                    <p:cond delay="1050"/>
                                  </p:stCondLst>
                                  <p:childTnLst>
                                    <p:set>
                                      <p:cBhvr>
                                        <p:cTn id="21" dur="1" fill="hold">
                                          <p:stCondLst>
                                            <p:cond delay="0"/>
                                          </p:stCondLst>
                                        </p:cTn>
                                        <p:tgtEl>
                                          <p:spTgt spid="165"/>
                                        </p:tgtEl>
                                        <p:attrNameLst>
                                          <p:attrName>style.visibility</p:attrName>
                                        </p:attrNameLst>
                                      </p:cBhvr>
                                      <p:to>
                                        <p:strVal val="visible"/>
                                      </p:to>
                                    </p:set>
                                    <p:animEffect transition="in" filter="wipe(left)">
                                      <p:cBhvr>
                                        <p:cTn id="22" dur="600"/>
                                        <p:tgtEl>
                                          <p:spTgt spid="165"/>
                                        </p:tgtEl>
                                      </p:cBhvr>
                                    </p:animEffect>
                                  </p:childTnLst>
                                </p:cTn>
                              </p:par>
                              <p:par>
                                <p:cTn id="23" presetID="10" presetClass="entr" presetSubtype="0" fill="hold" grpId="0" nodeType="withEffect">
                                  <p:stCondLst>
                                    <p:cond delay="1210"/>
                                  </p:stCondLst>
                                  <p:childTnLst>
                                    <p:set>
                                      <p:cBhvr>
                                        <p:cTn id="24" dur="1" fill="hold">
                                          <p:stCondLst>
                                            <p:cond delay="0"/>
                                          </p:stCondLst>
                                        </p:cTn>
                                        <p:tgtEl>
                                          <p:spTgt spid="195"/>
                                        </p:tgtEl>
                                        <p:attrNameLst>
                                          <p:attrName>style.visibility</p:attrName>
                                        </p:attrNameLst>
                                      </p:cBhvr>
                                      <p:to>
                                        <p:strVal val="visible"/>
                                      </p:to>
                                    </p:set>
                                    <p:animEffect transition="in" filter="fade">
                                      <p:cBhvr>
                                        <p:cTn id="25" dur="600"/>
                                        <p:tgtEl>
                                          <p:spTgt spid="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9270503" y="-2043544"/>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018223" y="4312130"/>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474544" y="4635080"/>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RESOURCE ALLOCATION</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Elasticity: Reactive vs. Predictive Autoscaling</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Resource Allocation</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lang="en-GB" sz="1000">
                <a:solidFill>
                  <a:srgbClr val="C9D2E3"/>
                </a:solidFill>
                <a:latin typeface="Segoe UI Semibold"/>
              </a:rPr>
              <a:t>26</a:t>
            </a:r>
            <a:r>
              <a:rPr sz="1000" b="0" i="0" dirty="0">
                <a:solidFill>
                  <a:srgbClr val="8C9AB5"/>
                </a:solidFill>
                <a:latin typeface="Segoe UI"/>
              </a:rPr>
              <a:t> / 30</a:t>
            </a:r>
          </a:p>
        </p:txBody>
      </p:sp>
      <p:sp>
        <p:nvSpPr>
          <p:cNvPr id="36" name="Rounded Rectangle 35"/>
          <p:cNvSpPr/>
          <p:nvPr/>
        </p:nvSpPr>
        <p:spPr>
          <a:xfrm>
            <a:off x="548640" y="1627632"/>
            <a:ext cx="6903720" cy="4379976"/>
          </a:xfrm>
          <a:prstGeom prst="roundRect">
            <a:avLst>
              <a:gd name="adj" fmla="val 5000"/>
            </a:avLst>
          </a:prstGeom>
          <a:gradFill rotWithShape="1">
            <a:gsLst>
              <a:gs pos="0">
                <a:srgbClr val="182A4C"/>
              </a:gs>
              <a:gs pos="100000">
                <a:srgbClr val="13213D"/>
              </a:gs>
            </a:gsLst>
            <a:lin ang="5400000" scaled="0"/>
          </a:gradFill>
          <a:ln w="9525">
            <a:solidFill>
              <a:srgbClr val="2A3F69"/>
            </a:solidFill>
          </a:ln>
        </p:spPr>
        <p:txBody>
          <a:bodyPr wrap="square" rtlCol="0" anchor="ctr"/>
          <a:lstStyle/>
          <a:p>
            <a:pPr algn="ctr"/>
            <a:endParaRPr/>
          </a:p>
        </p:txBody>
      </p:sp>
      <p:sp>
        <p:nvSpPr>
          <p:cNvPr id="37" name="TextBox 36"/>
          <p:cNvSpPr txBox="1"/>
          <p:nvPr/>
        </p:nvSpPr>
        <p:spPr>
          <a:xfrm>
            <a:off x="822960" y="1737360"/>
            <a:ext cx="6309360" cy="320040"/>
          </a:xfrm>
          <a:prstGeom prst="rect">
            <a:avLst/>
          </a:prstGeom>
          <a:noFill/>
        </p:spPr>
        <p:txBody>
          <a:bodyPr wrap="square" lIns="0" tIns="0" rIns="0" bIns="0" anchor="t">
            <a:noAutofit/>
          </a:bodyPr>
          <a:lstStyle/>
          <a:p>
            <a:pPr algn="l">
              <a:lnSpc>
                <a:spcPct val="112000"/>
              </a:lnSpc>
              <a:spcAft>
                <a:spcPts val="0"/>
              </a:spcAft>
            </a:pPr>
            <a:r>
              <a:rPr sz="1350" b="0" i="0">
                <a:solidFill>
                  <a:srgbClr val="FFFFFF"/>
                </a:solidFill>
                <a:latin typeface="Segoe UI Semibold"/>
              </a:rPr>
              <a:t>Capacity units over a 24-hour day (illustrative)</a:t>
            </a:r>
          </a:p>
        </p:txBody>
      </p:sp>
      <p:graphicFrame>
        <p:nvGraphicFramePr>
          <p:cNvPr id="38" name="Chart 37"/>
          <p:cNvGraphicFramePr>
            <a:graphicFrameLocks noGrp="1"/>
          </p:cNvGraphicFramePr>
          <p:nvPr/>
        </p:nvGraphicFramePr>
        <p:xfrm>
          <a:off x="640080" y="2057400"/>
          <a:ext cx="6720840" cy="3886200"/>
        </p:xfrm>
        <a:graphic>
          <a:graphicData uri="http://schemas.openxmlformats.org/drawingml/2006/chart">
            <c:chart xmlns:c="http://schemas.openxmlformats.org/drawingml/2006/chart" xmlns:r="http://schemas.openxmlformats.org/officeDocument/2006/relationships" r:id="rId3"/>
          </a:graphicData>
        </a:graphic>
      </p:graphicFrame>
      <p:grpSp>
        <p:nvGrpSpPr>
          <p:cNvPr id="39" name="Group 38"/>
          <p:cNvGrpSpPr/>
          <p:nvPr/>
        </p:nvGrpSpPr>
        <p:grpSpPr>
          <a:xfrm>
            <a:off x="7680960" y="1627632"/>
            <a:ext cx="3959352" cy="1005840"/>
            <a:chOff x="7680960" y="1627632"/>
            <a:chExt cx="3959352" cy="1005840"/>
          </a:xfrm>
        </p:grpSpPr>
        <p:sp>
          <p:nvSpPr>
            <p:cNvPr id="40" name="Rounded Rectangle 39"/>
            <p:cNvSpPr/>
            <p:nvPr/>
          </p:nvSpPr>
          <p:spPr>
            <a:xfrm>
              <a:off x="7680960" y="1627632"/>
              <a:ext cx="3959352" cy="1005840"/>
            </a:xfrm>
            <a:prstGeom prst="roundRect">
              <a:avLst>
                <a:gd name="adj" fmla="val 12000"/>
              </a:avLst>
            </a:prstGeom>
            <a:gradFill rotWithShape="1">
              <a:gsLst>
                <a:gs pos="0">
                  <a:srgbClr val="182A4C"/>
                </a:gs>
                <a:gs pos="100000">
                  <a:srgbClr val="13213D"/>
                </a:gs>
              </a:gsLst>
              <a:lin ang="0" scaled="0"/>
            </a:gradFill>
            <a:ln w="9525">
              <a:solidFill>
                <a:srgbClr val="2A3F69"/>
              </a:solidFill>
            </a:ln>
          </p:spPr>
          <p:txBody>
            <a:bodyPr wrap="square" rtlCol="0" anchor="ctr"/>
            <a:lstStyle/>
            <a:p>
              <a:pPr algn="ctr"/>
              <a:endParaRPr/>
            </a:p>
          </p:txBody>
        </p:sp>
        <p:sp>
          <p:nvSpPr>
            <p:cNvPr id="41" name="Rectangle 40"/>
            <p:cNvSpPr/>
            <p:nvPr/>
          </p:nvSpPr>
          <p:spPr>
            <a:xfrm>
              <a:off x="7680960" y="1856232"/>
              <a:ext cx="45720" cy="548640"/>
            </a:xfrm>
            <a:prstGeom prst="rect">
              <a:avLst/>
            </a:prstGeom>
            <a:solidFill>
              <a:srgbClr val="3987E5"/>
            </a:solidFill>
            <a:ln>
              <a:noFill/>
            </a:ln>
          </p:spPr>
          <p:txBody>
            <a:bodyPr wrap="square" rtlCol="0" anchor="ctr"/>
            <a:lstStyle/>
            <a:p>
              <a:pPr algn="ctr"/>
              <a:endParaRPr/>
            </a:p>
          </p:txBody>
        </p:sp>
        <p:sp>
          <p:nvSpPr>
            <p:cNvPr id="42" name="TextBox 41"/>
            <p:cNvSpPr txBox="1"/>
            <p:nvPr/>
          </p:nvSpPr>
          <p:spPr>
            <a:xfrm>
              <a:off x="7909560" y="1700784"/>
              <a:ext cx="3566160" cy="320040"/>
            </a:xfrm>
            <a:prstGeom prst="rect">
              <a:avLst/>
            </a:prstGeom>
            <a:noFill/>
          </p:spPr>
          <p:txBody>
            <a:bodyPr wrap="square" lIns="0" tIns="0" rIns="0" bIns="0" anchor="t">
              <a:noAutofit/>
            </a:bodyPr>
            <a:lstStyle/>
            <a:p>
              <a:pPr algn="l">
                <a:lnSpc>
                  <a:spcPct val="112000"/>
                </a:lnSpc>
                <a:spcAft>
                  <a:spcPts val="0"/>
                </a:spcAft>
              </a:pPr>
              <a:r>
                <a:rPr sz="1450" b="0" i="0">
                  <a:solidFill>
                    <a:srgbClr val="FFFFFF"/>
                  </a:solidFill>
                  <a:latin typeface="Segoe UI Semibold"/>
                </a:rPr>
                <a:t>Horizontal</a:t>
              </a:r>
            </a:p>
          </p:txBody>
        </p:sp>
        <p:sp>
          <p:nvSpPr>
            <p:cNvPr id="43" name="TextBox 42"/>
            <p:cNvSpPr txBox="1"/>
            <p:nvPr/>
          </p:nvSpPr>
          <p:spPr>
            <a:xfrm>
              <a:off x="7909560" y="2011680"/>
              <a:ext cx="3566160" cy="274320"/>
            </a:xfrm>
            <a:prstGeom prst="rect">
              <a:avLst/>
            </a:prstGeom>
            <a:noFill/>
          </p:spPr>
          <p:txBody>
            <a:bodyPr wrap="square" lIns="0" tIns="0" rIns="0" bIns="0" anchor="t">
              <a:noAutofit/>
            </a:bodyPr>
            <a:lstStyle/>
            <a:p>
              <a:pPr algn="l">
                <a:lnSpc>
                  <a:spcPct val="112000"/>
                </a:lnSpc>
                <a:spcAft>
                  <a:spcPts val="0"/>
                </a:spcAft>
              </a:pPr>
              <a:r>
                <a:rPr sz="1150" b="0" i="0">
                  <a:solidFill>
                    <a:srgbClr val="C9D2E3"/>
                  </a:solidFill>
                  <a:latin typeface="Segoe UI"/>
                </a:rPr>
                <a:t>Add / remove instances or pods</a:t>
              </a:r>
            </a:p>
          </p:txBody>
        </p:sp>
        <p:sp>
          <p:nvSpPr>
            <p:cNvPr id="44" name="TextBox 43"/>
            <p:cNvSpPr txBox="1"/>
            <p:nvPr/>
          </p:nvSpPr>
          <p:spPr>
            <a:xfrm>
              <a:off x="7909560" y="2286000"/>
              <a:ext cx="3566160" cy="274320"/>
            </a:xfrm>
            <a:prstGeom prst="rect">
              <a:avLst/>
            </a:prstGeom>
            <a:noFill/>
          </p:spPr>
          <p:txBody>
            <a:bodyPr wrap="square" lIns="0" tIns="0" rIns="0" bIns="0" anchor="t">
              <a:noAutofit/>
            </a:bodyPr>
            <a:lstStyle/>
            <a:p>
              <a:pPr algn="l">
                <a:lnSpc>
                  <a:spcPct val="112000"/>
                </a:lnSpc>
                <a:spcAft>
                  <a:spcPts val="0"/>
                </a:spcAft>
              </a:pPr>
              <a:r>
                <a:rPr sz="1050" b="0" i="0">
                  <a:solidFill>
                    <a:srgbClr val="7DB3F5"/>
                  </a:solidFill>
                  <a:latin typeface="Segoe UI"/>
                </a:rPr>
                <a:t>HPA, KEDA, ASG / VMSS / MIG</a:t>
              </a:r>
            </a:p>
          </p:txBody>
        </p:sp>
      </p:grpSp>
      <p:grpSp>
        <p:nvGrpSpPr>
          <p:cNvPr id="45" name="Group 44"/>
          <p:cNvGrpSpPr/>
          <p:nvPr/>
        </p:nvGrpSpPr>
        <p:grpSpPr>
          <a:xfrm>
            <a:off x="7680960" y="2743200"/>
            <a:ext cx="3959352" cy="1005840"/>
            <a:chOff x="7680960" y="2743200"/>
            <a:chExt cx="3959352" cy="1005840"/>
          </a:xfrm>
        </p:grpSpPr>
        <p:sp>
          <p:nvSpPr>
            <p:cNvPr id="46" name="Rounded Rectangle 45"/>
            <p:cNvSpPr/>
            <p:nvPr/>
          </p:nvSpPr>
          <p:spPr>
            <a:xfrm>
              <a:off x="7680960" y="2743200"/>
              <a:ext cx="3959352" cy="1005840"/>
            </a:xfrm>
            <a:prstGeom prst="roundRect">
              <a:avLst>
                <a:gd name="adj" fmla="val 12000"/>
              </a:avLst>
            </a:prstGeom>
            <a:gradFill rotWithShape="1">
              <a:gsLst>
                <a:gs pos="0">
                  <a:srgbClr val="182A4C"/>
                </a:gs>
                <a:gs pos="100000">
                  <a:srgbClr val="13213D"/>
                </a:gs>
              </a:gsLst>
              <a:lin ang="0" scaled="0"/>
            </a:gradFill>
            <a:ln w="9525">
              <a:solidFill>
                <a:srgbClr val="2A3F69"/>
              </a:solidFill>
            </a:ln>
          </p:spPr>
          <p:txBody>
            <a:bodyPr wrap="square" rtlCol="0" anchor="ctr"/>
            <a:lstStyle/>
            <a:p>
              <a:pPr algn="ctr"/>
              <a:endParaRPr/>
            </a:p>
          </p:txBody>
        </p:sp>
        <p:sp>
          <p:nvSpPr>
            <p:cNvPr id="47" name="Rectangle 46"/>
            <p:cNvSpPr/>
            <p:nvPr/>
          </p:nvSpPr>
          <p:spPr>
            <a:xfrm>
              <a:off x="7680960" y="2971800"/>
              <a:ext cx="45720" cy="548640"/>
            </a:xfrm>
            <a:prstGeom prst="rect">
              <a:avLst/>
            </a:prstGeom>
            <a:solidFill>
              <a:srgbClr val="9085E9"/>
            </a:solidFill>
            <a:ln>
              <a:noFill/>
            </a:ln>
          </p:spPr>
          <p:txBody>
            <a:bodyPr wrap="square" rtlCol="0" anchor="ctr"/>
            <a:lstStyle/>
            <a:p>
              <a:pPr algn="ctr"/>
              <a:endParaRPr/>
            </a:p>
          </p:txBody>
        </p:sp>
        <p:sp>
          <p:nvSpPr>
            <p:cNvPr id="48" name="TextBox 47"/>
            <p:cNvSpPr txBox="1"/>
            <p:nvPr/>
          </p:nvSpPr>
          <p:spPr>
            <a:xfrm>
              <a:off x="7909560" y="2816352"/>
              <a:ext cx="3566160" cy="320040"/>
            </a:xfrm>
            <a:prstGeom prst="rect">
              <a:avLst/>
            </a:prstGeom>
            <a:noFill/>
          </p:spPr>
          <p:txBody>
            <a:bodyPr wrap="square" lIns="0" tIns="0" rIns="0" bIns="0" anchor="t">
              <a:noAutofit/>
            </a:bodyPr>
            <a:lstStyle/>
            <a:p>
              <a:pPr algn="l">
                <a:lnSpc>
                  <a:spcPct val="112000"/>
                </a:lnSpc>
                <a:spcAft>
                  <a:spcPts val="0"/>
                </a:spcAft>
              </a:pPr>
              <a:r>
                <a:rPr sz="1450" b="0" i="0">
                  <a:solidFill>
                    <a:srgbClr val="FFFFFF"/>
                  </a:solidFill>
                  <a:latin typeface="Segoe UI Semibold"/>
                </a:rPr>
                <a:t>Vertical</a:t>
              </a:r>
            </a:p>
          </p:txBody>
        </p:sp>
        <p:sp>
          <p:nvSpPr>
            <p:cNvPr id="49" name="TextBox 48"/>
            <p:cNvSpPr txBox="1"/>
            <p:nvPr/>
          </p:nvSpPr>
          <p:spPr>
            <a:xfrm>
              <a:off x="7909560" y="3127248"/>
              <a:ext cx="3566160" cy="274320"/>
            </a:xfrm>
            <a:prstGeom prst="rect">
              <a:avLst/>
            </a:prstGeom>
            <a:noFill/>
          </p:spPr>
          <p:txBody>
            <a:bodyPr wrap="square" lIns="0" tIns="0" rIns="0" bIns="0" anchor="t">
              <a:noAutofit/>
            </a:bodyPr>
            <a:lstStyle/>
            <a:p>
              <a:pPr algn="l">
                <a:lnSpc>
                  <a:spcPct val="112000"/>
                </a:lnSpc>
                <a:spcAft>
                  <a:spcPts val="0"/>
                </a:spcAft>
              </a:pPr>
              <a:r>
                <a:rPr sz="1150" b="0" i="0">
                  <a:solidFill>
                    <a:srgbClr val="C9D2E3"/>
                  </a:solidFill>
                  <a:latin typeface="Segoe UI"/>
                </a:rPr>
                <a:t>Resize CPU &amp; memory of a unit</a:t>
              </a:r>
            </a:p>
          </p:txBody>
        </p:sp>
        <p:sp>
          <p:nvSpPr>
            <p:cNvPr id="50" name="TextBox 49"/>
            <p:cNvSpPr txBox="1"/>
            <p:nvPr/>
          </p:nvSpPr>
          <p:spPr>
            <a:xfrm>
              <a:off x="7909560" y="3401568"/>
              <a:ext cx="3566160" cy="274320"/>
            </a:xfrm>
            <a:prstGeom prst="rect">
              <a:avLst/>
            </a:prstGeom>
            <a:noFill/>
          </p:spPr>
          <p:txBody>
            <a:bodyPr wrap="square" lIns="0" tIns="0" rIns="0" bIns="0" anchor="t">
              <a:noAutofit/>
            </a:bodyPr>
            <a:lstStyle/>
            <a:p>
              <a:pPr algn="l">
                <a:lnSpc>
                  <a:spcPct val="112000"/>
                </a:lnSpc>
                <a:spcAft>
                  <a:spcPts val="0"/>
                </a:spcAft>
              </a:pPr>
              <a:r>
                <a:rPr sz="1050" b="0" i="0">
                  <a:solidFill>
                    <a:srgbClr val="B5ADF5"/>
                  </a:solidFill>
                  <a:latin typeface="Segoe UI"/>
                </a:rPr>
                <a:t>VPA, rightsizing recommenders</a:t>
              </a:r>
            </a:p>
          </p:txBody>
        </p:sp>
      </p:grpSp>
      <p:grpSp>
        <p:nvGrpSpPr>
          <p:cNvPr id="51" name="Group 50"/>
          <p:cNvGrpSpPr/>
          <p:nvPr/>
        </p:nvGrpSpPr>
        <p:grpSpPr>
          <a:xfrm>
            <a:off x="7680960" y="3858768"/>
            <a:ext cx="3959352" cy="1005840"/>
            <a:chOff x="7680960" y="3858768"/>
            <a:chExt cx="3959352" cy="1005840"/>
          </a:xfrm>
        </p:grpSpPr>
        <p:sp>
          <p:nvSpPr>
            <p:cNvPr id="52" name="Rounded Rectangle 51"/>
            <p:cNvSpPr/>
            <p:nvPr/>
          </p:nvSpPr>
          <p:spPr>
            <a:xfrm>
              <a:off x="7680960" y="3858768"/>
              <a:ext cx="3959352" cy="1005840"/>
            </a:xfrm>
            <a:prstGeom prst="roundRect">
              <a:avLst>
                <a:gd name="adj" fmla="val 12000"/>
              </a:avLst>
            </a:prstGeom>
            <a:gradFill rotWithShape="1">
              <a:gsLst>
                <a:gs pos="0">
                  <a:srgbClr val="182A4C"/>
                </a:gs>
                <a:gs pos="100000">
                  <a:srgbClr val="13213D"/>
                </a:gs>
              </a:gsLst>
              <a:lin ang="0" scaled="0"/>
            </a:gradFill>
            <a:ln w="9525">
              <a:solidFill>
                <a:srgbClr val="2A3F69"/>
              </a:solidFill>
            </a:ln>
          </p:spPr>
          <p:txBody>
            <a:bodyPr wrap="square" rtlCol="0" anchor="ctr"/>
            <a:lstStyle/>
            <a:p>
              <a:pPr algn="ctr"/>
              <a:endParaRPr/>
            </a:p>
          </p:txBody>
        </p:sp>
        <p:sp>
          <p:nvSpPr>
            <p:cNvPr id="53" name="Rectangle 52"/>
            <p:cNvSpPr/>
            <p:nvPr/>
          </p:nvSpPr>
          <p:spPr>
            <a:xfrm>
              <a:off x="7680960" y="4087368"/>
              <a:ext cx="45720" cy="548640"/>
            </a:xfrm>
            <a:prstGeom prst="rect">
              <a:avLst/>
            </a:prstGeom>
            <a:solidFill>
              <a:srgbClr val="199E70"/>
            </a:solidFill>
            <a:ln>
              <a:noFill/>
            </a:ln>
          </p:spPr>
          <p:txBody>
            <a:bodyPr wrap="square" rtlCol="0" anchor="ctr"/>
            <a:lstStyle/>
            <a:p>
              <a:pPr algn="ctr"/>
              <a:endParaRPr/>
            </a:p>
          </p:txBody>
        </p:sp>
        <p:sp>
          <p:nvSpPr>
            <p:cNvPr id="54" name="TextBox 53"/>
            <p:cNvSpPr txBox="1"/>
            <p:nvPr/>
          </p:nvSpPr>
          <p:spPr>
            <a:xfrm>
              <a:off x="7909560" y="3931920"/>
              <a:ext cx="3566160" cy="320040"/>
            </a:xfrm>
            <a:prstGeom prst="rect">
              <a:avLst/>
            </a:prstGeom>
            <a:noFill/>
          </p:spPr>
          <p:txBody>
            <a:bodyPr wrap="square" lIns="0" tIns="0" rIns="0" bIns="0" anchor="t">
              <a:noAutofit/>
            </a:bodyPr>
            <a:lstStyle/>
            <a:p>
              <a:pPr algn="l">
                <a:lnSpc>
                  <a:spcPct val="112000"/>
                </a:lnSpc>
                <a:spcAft>
                  <a:spcPts val="0"/>
                </a:spcAft>
              </a:pPr>
              <a:r>
                <a:rPr sz="1450" b="0" i="0">
                  <a:solidFill>
                    <a:srgbClr val="FFFFFF"/>
                  </a:solidFill>
                  <a:latin typeface="Segoe UI Semibold"/>
                </a:rPr>
                <a:t>Cluster / node</a:t>
              </a:r>
            </a:p>
          </p:txBody>
        </p:sp>
        <p:sp>
          <p:nvSpPr>
            <p:cNvPr id="55" name="TextBox 54"/>
            <p:cNvSpPr txBox="1"/>
            <p:nvPr/>
          </p:nvSpPr>
          <p:spPr>
            <a:xfrm>
              <a:off x="7909560" y="4242816"/>
              <a:ext cx="3566160" cy="274320"/>
            </a:xfrm>
            <a:prstGeom prst="rect">
              <a:avLst/>
            </a:prstGeom>
            <a:noFill/>
          </p:spPr>
          <p:txBody>
            <a:bodyPr wrap="square" lIns="0" tIns="0" rIns="0" bIns="0" anchor="t">
              <a:noAutofit/>
            </a:bodyPr>
            <a:lstStyle/>
            <a:p>
              <a:pPr algn="l">
                <a:lnSpc>
                  <a:spcPct val="112000"/>
                </a:lnSpc>
                <a:spcAft>
                  <a:spcPts val="0"/>
                </a:spcAft>
              </a:pPr>
              <a:r>
                <a:rPr sz="1150" b="0" i="0">
                  <a:solidFill>
                    <a:srgbClr val="C9D2E3"/>
                  </a:solidFill>
                  <a:latin typeface="Segoe UI"/>
                </a:rPr>
                <a:t>Add nodes when pods are pending</a:t>
              </a:r>
            </a:p>
          </p:txBody>
        </p:sp>
        <p:sp>
          <p:nvSpPr>
            <p:cNvPr id="56" name="TextBox 55"/>
            <p:cNvSpPr txBox="1"/>
            <p:nvPr/>
          </p:nvSpPr>
          <p:spPr>
            <a:xfrm>
              <a:off x="7909560" y="4517136"/>
              <a:ext cx="3566160" cy="274320"/>
            </a:xfrm>
            <a:prstGeom prst="rect">
              <a:avLst/>
            </a:prstGeom>
            <a:noFill/>
          </p:spPr>
          <p:txBody>
            <a:bodyPr wrap="square" lIns="0" tIns="0" rIns="0" bIns="0" anchor="t">
              <a:noAutofit/>
            </a:bodyPr>
            <a:lstStyle/>
            <a:p>
              <a:pPr algn="l">
                <a:lnSpc>
                  <a:spcPct val="112000"/>
                </a:lnSpc>
                <a:spcAft>
                  <a:spcPts val="0"/>
                </a:spcAft>
              </a:pPr>
              <a:r>
                <a:rPr sz="1050" b="0" i="0">
                  <a:solidFill>
                    <a:srgbClr val="4FD1A1"/>
                  </a:solidFill>
                  <a:latin typeface="Segoe UI"/>
                </a:rPr>
                <a:t>Cluster Autoscaler, Karpenter</a:t>
              </a:r>
            </a:p>
          </p:txBody>
        </p:sp>
      </p:grpSp>
      <p:grpSp>
        <p:nvGrpSpPr>
          <p:cNvPr id="57" name="Group 56"/>
          <p:cNvGrpSpPr/>
          <p:nvPr/>
        </p:nvGrpSpPr>
        <p:grpSpPr>
          <a:xfrm>
            <a:off x="7680960" y="4974336"/>
            <a:ext cx="3959352" cy="1005840"/>
            <a:chOff x="7680960" y="4974336"/>
            <a:chExt cx="3959352" cy="1005840"/>
          </a:xfrm>
        </p:grpSpPr>
        <p:sp>
          <p:nvSpPr>
            <p:cNvPr id="58" name="Rounded Rectangle 57"/>
            <p:cNvSpPr/>
            <p:nvPr/>
          </p:nvSpPr>
          <p:spPr>
            <a:xfrm>
              <a:off x="7680960" y="4974336"/>
              <a:ext cx="3959352" cy="1005840"/>
            </a:xfrm>
            <a:prstGeom prst="roundRect">
              <a:avLst>
                <a:gd name="adj" fmla="val 12000"/>
              </a:avLst>
            </a:prstGeom>
            <a:gradFill rotWithShape="1">
              <a:gsLst>
                <a:gs pos="0">
                  <a:srgbClr val="182A4C"/>
                </a:gs>
                <a:gs pos="100000">
                  <a:srgbClr val="13213D"/>
                </a:gs>
              </a:gsLst>
              <a:lin ang="0" scaled="0"/>
            </a:gradFill>
            <a:ln w="9525">
              <a:solidFill>
                <a:srgbClr val="2A3F69"/>
              </a:solidFill>
            </a:ln>
          </p:spPr>
          <p:txBody>
            <a:bodyPr wrap="square" rtlCol="0" anchor="ctr"/>
            <a:lstStyle/>
            <a:p>
              <a:pPr algn="ctr"/>
              <a:endParaRPr/>
            </a:p>
          </p:txBody>
        </p:sp>
        <p:sp>
          <p:nvSpPr>
            <p:cNvPr id="59" name="Rectangle 58"/>
            <p:cNvSpPr/>
            <p:nvPr/>
          </p:nvSpPr>
          <p:spPr>
            <a:xfrm>
              <a:off x="7680960" y="5202936"/>
              <a:ext cx="45720" cy="548640"/>
            </a:xfrm>
            <a:prstGeom prst="rect">
              <a:avLst/>
            </a:prstGeom>
            <a:solidFill>
              <a:srgbClr val="D95926"/>
            </a:solidFill>
            <a:ln>
              <a:noFill/>
            </a:ln>
          </p:spPr>
          <p:txBody>
            <a:bodyPr wrap="square" rtlCol="0" anchor="ctr"/>
            <a:lstStyle/>
            <a:p>
              <a:pPr algn="ctr"/>
              <a:endParaRPr/>
            </a:p>
          </p:txBody>
        </p:sp>
        <p:sp>
          <p:nvSpPr>
            <p:cNvPr id="60" name="TextBox 59"/>
            <p:cNvSpPr txBox="1"/>
            <p:nvPr/>
          </p:nvSpPr>
          <p:spPr>
            <a:xfrm>
              <a:off x="7909560" y="5047488"/>
              <a:ext cx="3566160" cy="320040"/>
            </a:xfrm>
            <a:prstGeom prst="rect">
              <a:avLst/>
            </a:prstGeom>
            <a:noFill/>
          </p:spPr>
          <p:txBody>
            <a:bodyPr wrap="square" lIns="0" tIns="0" rIns="0" bIns="0" anchor="t">
              <a:noAutofit/>
            </a:bodyPr>
            <a:lstStyle/>
            <a:p>
              <a:pPr algn="l">
                <a:lnSpc>
                  <a:spcPct val="112000"/>
                </a:lnSpc>
                <a:spcAft>
                  <a:spcPts val="0"/>
                </a:spcAft>
              </a:pPr>
              <a:r>
                <a:rPr sz="1450" b="0" i="0">
                  <a:solidFill>
                    <a:srgbClr val="FFFFFF"/>
                  </a:solidFill>
                  <a:latin typeface="Segoe UI Semibold"/>
                </a:rPr>
                <a:t>Predictive</a:t>
              </a:r>
            </a:p>
          </p:txBody>
        </p:sp>
        <p:sp>
          <p:nvSpPr>
            <p:cNvPr id="61" name="TextBox 60"/>
            <p:cNvSpPr txBox="1"/>
            <p:nvPr/>
          </p:nvSpPr>
          <p:spPr>
            <a:xfrm>
              <a:off x="7909560" y="5358384"/>
              <a:ext cx="3566160" cy="274320"/>
            </a:xfrm>
            <a:prstGeom prst="rect">
              <a:avLst/>
            </a:prstGeom>
            <a:noFill/>
          </p:spPr>
          <p:txBody>
            <a:bodyPr wrap="square" lIns="0" tIns="0" rIns="0" bIns="0" anchor="t">
              <a:noAutofit/>
            </a:bodyPr>
            <a:lstStyle/>
            <a:p>
              <a:pPr algn="l">
                <a:lnSpc>
                  <a:spcPct val="112000"/>
                </a:lnSpc>
                <a:spcAft>
                  <a:spcPts val="0"/>
                </a:spcAft>
              </a:pPr>
              <a:r>
                <a:rPr sz="1150" b="0" i="0">
                  <a:solidFill>
                    <a:srgbClr val="C9D2E3"/>
                  </a:solidFill>
                  <a:latin typeface="Segoe UI"/>
                </a:rPr>
                <a:t>Scale ahead of forecast demand</a:t>
              </a:r>
            </a:p>
          </p:txBody>
        </p:sp>
        <p:sp>
          <p:nvSpPr>
            <p:cNvPr id="62" name="TextBox 61"/>
            <p:cNvSpPr txBox="1"/>
            <p:nvPr/>
          </p:nvSpPr>
          <p:spPr>
            <a:xfrm>
              <a:off x="7909560" y="5632704"/>
              <a:ext cx="3566160" cy="274320"/>
            </a:xfrm>
            <a:prstGeom prst="rect">
              <a:avLst/>
            </a:prstGeom>
            <a:noFill/>
          </p:spPr>
          <p:txBody>
            <a:bodyPr wrap="square" lIns="0" tIns="0" rIns="0" bIns="0" anchor="t">
              <a:noAutofit/>
            </a:bodyPr>
            <a:lstStyle/>
            <a:p>
              <a:pPr algn="l">
                <a:lnSpc>
                  <a:spcPct val="112000"/>
                </a:lnSpc>
                <a:spcAft>
                  <a:spcPts val="0"/>
                </a:spcAft>
              </a:pPr>
              <a:r>
                <a:rPr sz="1050" b="0" i="0">
                  <a:solidFill>
                    <a:srgbClr val="F4925F"/>
                  </a:solidFill>
                  <a:latin typeface="Segoe UI"/>
                </a:rPr>
                <a:t>Provider predictive scaling, ML</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600"/>
                                        <p:tgtEl>
                                          <p:spTgt spid="36"/>
                                        </p:tgtEl>
                                      </p:cBhvr>
                                    </p:animEffect>
                                  </p:childTnLst>
                                </p:cTn>
                              </p:par>
                              <p:par>
                                <p:cTn id="8" presetID="10" presetClass="entr" presetSubtype="0" fill="hold" grpId="0" nodeType="withEffect">
                                  <p:stCondLst>
                                    <p:cond delay="41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600"/>
                                        <p:tgtEl>
                                          <p:spTgt spid="37"/>
                                        </p:tgtEl>
                                      </p:cBhvr>
                                    </p:animEffect>
                                  </p:childTnLst>
                                </p:cTn>
                              </p:par>
                              <p:par>
                                <p:cTn id="11" presetID="22" presetClass="entr" presetSubtype="8" fill="hold" nodeType="withEffect">
                                  <p:stCondLst>
                                    <p:cond delay="570"/>
                                  </p:stCondLst>
                                  <p:childTnLst>
                                    <p:set>
                                      <p:cBhvr>
                                        <p:cTn id="12" dur="1" fill="hold">
                                          <p:stCondLst>
                                            <p:cond delay="0"/>
                                          </p:stCondLst>
                                        </p:cTn>
                                        <p:tgtEl>
                                          <p:spTgt spid="38"/>
                                        </p:tgtEl>
                                        <p:attrNameLst>
                                          <p:attrName>style.visibility</p:attrName>
                                        </p:attrNameLst>
                                      </p:cBhvr>
                                      <p:to>
                                        <p:strVal val="visible"/>
                                      </p:to>
                                    </p:set>
                                    <p:animEffect transition="in" filter="wipe(left)">
                                      <p:cBhvr>
                                        <p:cTn id="13" dur="1400"/>
                                        <p:tgtEl>
                                          <p:spTgt spid="38"/>
                                        </p:tgtEl>
                                      </p:cBhvr>
                                    </p:animEffect>
                                  </p:childTnLst>
                                </p:cTn>
                              </p:par>
                              <p:par>
                                <p:cTn id="14" presetID="42" presetClass="entr" presetSubtype="0" fill="hold" nodeType="withEffect">
                                  <p:stCondLst>
                                    <p:cond delay="57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600"/>
                                        <p:tgtEl>
                                          <p:spTgt spid="39"/>
                                        </p:tgtEl>
                                      </p:cBhvr>
                                    </p:animEffect>
                                    <p:anim calcmode="lin" valueType="num">
                                      <p:cBhvr>
                                        <p:cTn id="17" dur="600" fill="hold"/>
                                        <p:tgtEl>
                                          <p:spTgt spid="39"/>
                                        </p:tgtEl>
                                        <p:attrNameLst>
                                          <p:attrName>ppt_x</p:attrName>
                                        </p:attrNameLst>
                                      </p:cBhvr>
                                      <p:tavLst>
                                        <p:tav tm="0">
                                          <p:val>
                                            <p:strVal val="#ppt_x"/>
                                          </p:val>
                                        </p:tav>
                                        <p:tav tm="100000">
                                          <p:val>
                                            <p:strVal val="#ppt_x"/>
                                          </p:val>
                                        </p:tav>
                                      </p:tavLst>
                                    </p:anim>
                                    <p:anim calcmode="lin" valueType="num">
                                      <p:cBhvr>
                                        <p:cTn id="18" dur="600" fill="hold"/>
                                        <p:tgtEl>
                                          <p:spTgt spid="39"/>
                                        </p:tgtEl>
                                        <p:attrNameLst>
                                          <p:attrName>ppt_y</p:attrName>
                                        </p:attrNameLst>
                                      </p:cBhvr>
                                      <p:tavLst>
                                        <p:tav tm="0">
                                          <p:val>
                                            <p:strVal val="#ppt_y+.08"/>
                                          </p:val>
                                        </p:tav>
                                        <p:tav tm="100000">
                                          <p:val>
                                            <p:strVal val="#ppt_y"/>
                                          </p:val>
                                        </p:tav>
                                      </p:tavLst>
                                    </p:anim>
                                  </p:childTnLst>
                                </p:cTn>
                              </p:par>
                              <p:par>
                                <p:cTn id="19" presetID="42" presetClass="entr" presetSubtype="0" fill="hold" nodeType="withEffect">
                                  <p:stCondLst>
                                    <p:cond delay="730"/>
                                  </p:stCondLst>
                                  <p:childTnLst>
                                    <p:set>
                                      <p:cBhvr>
                                        <p:cTn id="20" dur="1" fill="hold">
                                          <p:stCondLst>
                                            <p:cond delay="0"/>
                                          </p:stCondLst>
                                        </p:cTn>
                                        <p:tgtEl>
                                          <p:spTgt spid="45"/>
                                        </p:tgtEl>
                                        <p:attrNameLst>
                                          <p:attrName>style.visibility</p:attrName>
                                        </p:attrNameLst>
                                      </p:cBhvr>
                                      <p:to>
                                        <p:strVal val="visible"/>
                                      </p:to>
                                    </p:set>
                                    <p:animEffect transition="in" filter="fade">
                                      <p:cBhvr>
                                        <p:cTn id="21" dur="600"/>
                                        <p:tgtEl>
                                          <p:spTgt spid="45"/>
                                        </p:tgtEl>
                                      </p:cBhvr>
                                    </p:animEffect>
                                    <p:anim calcmode="lin" valueType="num">
                                      <p:cBhvr>
                                        <p:cTn id="22" dur="600" fill="hold"/>
                                        <p:tgtEl>
                                          <p:spTgt spid="45"/>
                                        </p:tgtEl>
                                        <p:attrNameLst>
                                          <p:attrName>ppt_x</p:attrName>
                                        </p:attrNameLst>
                                      </p:cBhvr>
                                      <p:tavLst>
                                        <p:tav tm="0">
                                          <p:val>
                                            <p:strVal val="#ppt_x"/>
                                          </p:val>
                                        </p:tav>
                                        <p:tav tm="100000">
                                          <p:val>
                                            <p:strVal val="#ppt_x"/>
                                          </p:val>
                                        </p:tav>
                                      </p:tavLst>
                                    </p:anim>
                                    <p:anim calcmode="lin" valueType="num">
                                      <p:cBhvr>
                                        <p:cTn id="23" dur="600" fill="hold"/>
                                        <p:tgtEl>
                                          <p:spTgt spid="45"/>
                                        </p:tgtEl>
                                        <p:attrNameLst>
                                          <p:attrName>ppt_y</p:attrName>
                                        </p:attrNameLst>
                                      </p:cBhvr>
                                      <p:tavLst>
                                        <p:tav tm="0">
                                          <p:val>
                                            <p:strVal val="#ppt_y+.08"/>
                                          </p:val>
                                        </p:tav>
                                        <p:tav tm="100000">
                                          <p:val>
                                            <p:strVal val="#ppt_y"/>
                                          </p:val>
                                        </p:tav>
                                      </p:tavLst>
                                    </p:anim>
                                  </p:childTnLst>
                                </p:cTn>
                              </p:par>
                              <p:par>
                                <p:cTn id="24" presetID="42" presetClass="entr" presetSubtype="0" fill="hold" nodeType="withEffect">
                                  <p:stCondLst>
                                    <p:cond delay="890"/>
                                  </p:stCondLst>
                                  <p:childTnLst>
                                    <p:set>
                                      <p:cBhvr>
                                        <p:cTn id="25" dur="1" fill="hold">
                                          <p:stCondLst>
                                            <p:cond delay="0"/>
                                          </p:stCondLst>
                                        </p:cTn>
                                        <p:tgtEl>
                                          <p:spTgt spid="51"/>
                                        </p:tgtEl>
                                        <p:attrNameLst>
                                          <p:attrName>style.visibility</p:attrName>
                                        </p:attrNameLst>
                                      </p:cBhvr>
                                      <p:to>
                                        <p:strVal val="visible"/>
                                      </p:to>
                                    </p:set>
                                    <p:animEffect transition="in" filter="fade">
                                      <p:cBhvr>
                                        <p:cTn id="26" dur="600"/>
                                        <p:tgtEl>
                                          <p:spTgt spid="51"/>
                                        </p:tgtEl>
                                      </p:cBhvr>
                                    </p:animEffect>
                                    <p:anim calcmode="lin" valueType="num">
                                      <p:cBhvr>
                                        <p:cTn id="27" dur="600" fill="hold"/>
                                        <p:tgtEl>
                                          <p:spTgt spid="51"/>
                                        </p:tgtEl>
                                        <p:attrNameLst>
                                          <p:attrName>ppt_x</p:attrName>
                                        </p:attrNameLst>
                                      </p:cBhvr>
                                      <p:tavLst>
                                        <p:tav tm="0">
                                          <p:val>
                                            <p:strVal val="#ppt_x"/>
                                          </p:val>
                                        </p:tav>
                                        <p:tav tm="100000">
                                          <p:val>
                                            <p:strVal val="#ppt_x"/>
                                          </p:val>
                                        </p:tav>
                                      </p:tavLst>
                                    </p:anim>
                                    <p:anim calcmode="lin" valueType="num">
                                      <p:cBhvr>
                                        <p:cTn id="28" dur="600" fill="hold"/>
                                        <p:tgtEl>
                                          <p:spTgt spid="51"/>
                                        </p:tgtEl>
                                        <p:attrNameLst>
                                          <p:attrName>ppt_y</p:attrName>
                                        </p:attrNameLst>
                                      </p:cBhvr>
                                      <p:tavLst>
                                        <p:tav tm="0">
                                          <p:val>
                                            <p:strVal val="#ppt_y+.08"/>
                                          </p:val>
                                        </p:tav>
                                        <p:tav tm="100000">
                                          <p:val>
                                            <p:strVal val="#ppt_y"/>
                                          </p:val>
                                        </p:tav>
                                      </p:tavLst>
                                    </p:anim>
                                  </p:childTnLst>
                                </p:cTn>
                              </p:par>
                              <p:par>
                                <p:cTn id="29" presetID="42" presetClass="entr" presetSubtype="0" fill="hold" nodeType="withEffect">
                                  <p:stCondLst>
                                    <p:cond delay="1050"/>
                                  </p:stCondLst>
                                  <p:childTnLst>
                                    <p:set>
                                      <p:cBhvr>
                                        <p:cTn id="30" dur="1" fill="hold">
                                          <p:stCondLst>
                                            <p:cond delay="0"/>
                                          </p:stCondLst>
                                        </p:cTn>
                                        <p:tgtEl>
                                          <p:spTgt spid="57"/>
                                        </p:tgtEl>
                                        <p:attrNameLst>
                                          <p:attrName>style.visibility</p:attrName>
                                        </p:attrNameLst>
                                      </p:cBhvr>
                                      <p:to>
                                        <p:strVal val="visible"/>
                                      </p:to>
                                    </p:set>
                                    <p:animEffect transition="in" filter="fade">
                                      <p:cBhvr>
                                        <p:cTn id="31" dur="600"/>
                                        <p:tgtEl>
                                          <p:spTgt spid="57"/>
                                        </p:tgtEl>
                                      </p:cBhvr>
                                    </p:animEffect>
                                    <p:anim calcmode="lin" valueType="num">
                                      <p:cBhvr>
                                        <p:cTn id="32" dur="600" fill="hold"/>
                                        <p:tgtEl>
                                          <p:spTgt spid="57"/>
                                        </p:tgtEl>
                                        <p:attrNameLst>
                                          <p:attrName>ppt_x</p:attrName>
                                        </p:attrNameLst>
                                      </p:cBhvr>
                                      <p:tavLst>
                                        <p:tav tm="0">
                                          <p:val>
                                            <p:strVal val="#ppt_x"/>
                                          </p:val>
                                        </p:tav>
                                        <p:tav tm="100000">
                                          <p:val>
                                            <p:strVal val="#ppt_x"/>
                                          </p:val>
                                        </p:tav>
                                      </p:tavLst>
                                    </p:anim>
                                    <p:anim calcmode="lin" valueType="num">
                                      <p:cBhvr>
                                        <p:cTn id="33" dur="600" fill="hold"/>
                                        <p:tgtEl>
                                          <p:spTgt spid="5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9217397" y="-2154508"/>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695926" y="4059024"/>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325880" y="4737418"/>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RESOURCE ALLOCATION</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Workload Placement: A Decision Funnel</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Resource Allocation</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lang="en-GB" sz="1000">
                <a:solidFill>
                  <a:srgbClr val="C9D2E3"/>
                </a:solidFill>
                <a:latin typeface="Segoe UI Semibold"/>
              </a:rPr>
              <a:t>27</a:t>
            </a:r>
            <a:r>
              <a:rPr sz="1000" b="0" i="0" dirty="0">
                <a:solidFill>
                  <a:srgbClr val="8C9AB5"/>
                </a:solidFill>
                <a:latin typeface="Segoe UI"/>
              </a:rPr>
              <a:t> / 30</a:t>
            </a:r>
          </a:p>
        </p:txBody>
      </p:sp>
      <p:grpSp>
        <p:nvGrpSpPr>
          <p:cNvPr id="36" name="Group 35"/>
          <p:cNvGrpSpPr/>
          <p:nvPr/>
        </p:nvGrpSpPr>
        <p:grpSpPr>
          <a:xfrm>
            <a:off x="612647" y="1645920"/>
            <a:ext cx="11027665" cy="658368"/>
            <a:chOff x="612647" y="1645920"/>
            <a:chExt cx="11027665" cy="658368"/>
          </a:xfrm>
        </p:grpSpPr>
        <p:sp>
          <p:nvSpPr>
            <p:cNvPr id="37" name="Rounded Rectangle 36"/>
            <p:cNvSpPr/>
            <p:nvPr/>
          </p:nvSpPr>
          <p:spPr>
            <a:xfrm>
              <a:off x="612647" y="1645920"/>
              <a:ext cx="4718304" cy="658368"/>
            </a:xfrm>
            <a:prstGeom prst="roundRect">
              <a:avLst>
                <a:gd name="adj" fmla="val 30000"/>
              </a:avLst>
            </a:prstGeom>
            <a:gradFill rotWithShape="1">
              <a:gsLst>
                <a:gs pos="0">
                  <a:srgbClr val="3987E5">
                    <a:alpha val="55000"/>
                  </a:srgbClr>
                </a:gs>
                <a:gs pos="100000">
                  <a:srgbClr val="7DB3F5">
                    <a:alpha val="35000"/>
                  </a:srgbClr>
                </a:gs>
              </a:gsLst>
              <a:lin ang="0" scaled="0"/>
            </a:gradFill>
            <a:ln w="12700">
              <a:solidFill>
                <a:srgbClr val="3987E5"/>
              </a:solidFill>
            </a:ln>
          </p:spPr>
          <p:txBody>
            <a:bodyPr wrap="square" lIns="27432" tIns="27432" rIns="27432" bIns="27432" rtlCol="0" anchor="ctr">
              <a:noAutofit/>
            </a:bodyPr>
            <a:lstStyle/>
            <a:p>
              <a:pPr algn="ctr">
                <a:lnSpc>
                  <a:spcPct val="112000"/>
                </a:lnSpc>
                <a:spcAft>
                  <a:spcPts val="0"/>
                </a:spcAft>
              </a:pPr>
              <a:r>
                <a:rPr sz="1250" b="0" i="0">
                  <a:solidFill>
                    <a:srgbClr val="FFFFFF"/>
                  </a:solidFill>
                  <a:latin typeface="Segoe UI Semibold"/>
                </a:rPr>
                <a:t>All regions × providers</a:t>
              </a:r>
            </a:p>
          </p:txBody>
        </p:sp>
        <p:cxnSp>
          <p:nvCxnSpPr>
            <p:cNvPr id="38" name="Connector 37"/>
            <p:cNvCxnSpPr/>
            <p:nvPr/>
          </p:nvCxnSpPr>
          <p:spPr>
            <a:xfrm>
              <a:off x="5404104" y="1975104"/>
              <a:ext cx="265176" cy="0"/>
            </a:xfrm>
            <a:prstGeom prst="line">
              <a:avLst/>
            </a:prstGeom>
            <a:ln w="12700">
              <a:solidFill>
                <a:srgbClr val="3987E5">
                  <a:alpha val="60000"/>
                </a:srgbClr>
              </a:solidFill>
              <a:prstDash val="sysDot"/>
            </a:ln>
          </p:spPr>
        </p:cxnSp>
        <p:sp>
          <p:nvSpPr>
            <p:cNvPr id="39" name="Oval 38"/>
            <p:cNvSpPr/>
            <p:nvPr/>
          </p:nvSpPr>
          <p:spPr>
            <a:xfrm>
              <a:off x="5623560" y="1911095"/>
              <a:ext cx="128016" cy="128016"/>
            </a:xfrm>
            <a:prstGeom prst="ellipse">
              <a:avLst/>
            </a:prstGeom>
            <a:solidFill>
              <a:srgbClr val="3987E5"/>
            </a:solidFill>
            <a:ln>
              <a:noFill/>
            </a:ln>
          </p:spPr>
          <p:txBody>
            <a:bodyPr wrap="square" rtlCol="0" anchor="ctr"/>
            <a:lstStyle/>
            <a:p>
              <a:pPr algn="ctr"/>
              <a:endParaRPr/>
            </a:p>
          </p:txBody>
        </p:sp>
        <p:sp>
          <p:nvSpPr>
            <p:cNvPr id="40" name="TextBox 39"/>
            <p:cNvSpPr txBox="1"/>
            <p:nvPr/>
          </p:nvSpPr>
          <p:spPr>
            <a:xfrm>
              <a:off x="5897880" y="1664208"/>
              <a:ext cx="548640" cy="621792"/>
            </a:xfrm>
            <a:prstGeom prst="rect">
              <a:avLst/>
            </a:prstGeom>
            <a:noFill/>
          </p:spPr>
          <p:txBody>
            <a:bodyPr wrap="square" lIns="0" tIns="0" rIns="0" bIns="0" anchor="ctr">
              <a:noAutofit/>
            </a:bodyPr>
            <a:lstStyle/>
            <a:p>
              <a:pPr algn="l">
                <a:lnSpc>
                  <a:spcPct val="112000"/>
                </a:lnSpc>
                <a:spcAft>
                  <a:spcPts val="0"/>
                </a:spcAft>
              </a:pPr>
              <a:r>
                <a:rPr sz="2000" b="0" i="0">
                  <a:solidFill>
                    <a:srgbClr val="7DB3F5"/>
                  </a:solidFill>
                  <a:latin typeface="Segoe UI Semibold"/>
                </a:rPr>
                <a:t>1</a:t>
              </a:r>
            </a:p>
          </p:txBody>
        </p:sp>
        <p:sp>
          <p:nvSpPr>
            <p:cNvPr id="41" name="TextBox 40"/>
            <p:cNvSpPr txBox="1"/>
            <p:nvPr/>
          </p:nvSpPr>
          <p:spPr>
            <a:xfrm>
              <a:off x="6400800" y="1664208"/>
              <a:ext cx="5239512" cy="621792"/>
            </a:xfrm>
            <a:prstGeom prst="rect">
              <a:avLst/>
            </a:prstGeom>
            <a:noFill/>
          </p:spPr>
          <p:txBody>
            <a:bodyPr wrap="square" lIns="0" tIns="0" rIns="0" bIns="0" anchor="ctr">
              <a:noAutofit/>
            </a:bodyPr>
            <a:lstStyle/>
            <a:p>
              <a:pPr algn="l">
                <a:lnSpc>
                  <a:spcPct val="110000"/>
                </a:lnSpc>
                <a:spcAft>
                  <a:spcPts val="0"/>
                </a:spcAft>
              </a:pPr>
              <a:r>
                <a:rPr sz="1250" b="0" i="0">
                  <a:solidFill>
                    <a:srgbClr val="C9D2E3"/>
                  </a:solidFill>
                  <a:latin typeface="Segoe UI"/>
                </a:rPr>
                <a:t>100+ candidate locations across hyperscalers, sovereign and edge clouds</a:t>
              </a:r>
            </a:p>
          </p:txBody>
        </p:sp>
      </p:grpSp>
      <p:grpSp>
        <p:nvGrpSpPr>
          <p:cNvPr id="42" name="Group 41"/>
          <p:cNvGrpSpPr/>
          <p:nvPr/>
        </p:nvGrpSpPr>
        <p:grpSpPr>
          <a:xfrm>
            <a:off x="1005840" y="2432304"/>
            <a:ext cx="10634472" cy="658368"/>
            <a:chOff x="1005840" y="2432304"/>
            <a:chExt cx="10634472" cy="658368"/>
          </a:xfrm>
        </p:grpSpPr>
        <p:sp>
          <p:nvSpPr>
            <p:cNvPr id="43" name="Rounded Rectangle 42"/>
            <p:cNvSpPr/>
            <p:nvPr/>
          </p:nvSpPr>
          <p:spPr>
            <a:xfrm>
              <a:off x="1005840" y="2432304"/>
              <a:ext cx="3931920" cy="658368"/>
            </a:xfrm>
            <a:prstGeom prst="roundRect">
              <a:avLst>
                <a:gd name="adj" fmla="val 30000"/>
              </a:avLst>
            </a:prstGeom>
            <a:gradFill rotWithShape="1">
              <a:gsLst>
                <a:gs pos="0">
                  <a:srgbClr val="9085E9">
                    <a:alpha val="63000"/>
                  </a:srgbClr>
                </a:gs>
                <a:gs pos="100000">
                  <a:srgbClr val="B5ADF5">
                    <a:alpha val="43000"/>
                  </a:srgbClr>
                </a:gs>
              </a:gsLst>
              <a:lin ang="0" scaled="0"/>
            </a:gradFill>
            <a:ln w="12700">
              <a:solidFill>
                <a:srgbClr val="9085E9"/>
              </a:solidFill>
            </a:ln>
          </p:spPr>
          <p:txBody>
            <a:bodyPr wrap="square" lIns="27432" tIns="27432" rIns="27432" bIns="27432" rtlCol="0" anchor="ctr">
              <a:noAutofit/>
            </a:bodyPr>
            <a:lstStyle/>
            <a:p>
              <a:pPr algn="ctr">
                <a:lnSpc>
                  <a:spcPct val="112000"/>
                </a:lnSpc>
                <a:spcAft>
                  <a:spcPts val="0"/>
                </a:spcAft>
              </a:pPr>
              <a:r>
                <a:rPr sz="1250" b="0" i="0">
                  <a:solidFill>
                    <a:srgbClr val="FFFFFF"/>
                  </a:solidFill>
                  <a:latin typeface="Segoe UI Semibold"/>
                </a:rPr>
                <a:t>Hard constraints</a:t>
              </a:r>
            </a:p>
          </p:txBody>
        </p:sp>
        <p:cxnSp>
          <p:nvCxnSpPr>
            <p:cNvPr id="44" name="Connector 43"/>
            <p:cNvCxnSpPr/>
            <p:nvPr/>
          </p:nvCxnSpPr>
          <p:spPr>
            <a:xfrm>
              <a:off x="5010912" y="2761488"/>
              <a:ext cx="658368" cy="0"/>
            </a:xfrm>
            <a:prstGeom prst="line">
              <a:avLst/>
            </a:prstGeom>
            <a:ln w="12700">
              <a:solidFill>
                <a:srgbClr val="9085E9">
                  <a:alpha val="60000"/>
                </a:srgbClr>
              </a:solidFill>
              <a:prstDash val="sysDot"/>
            </a:ln>
          </p:spPr>
        </p:cxnSp>
        <p:sp>
          <p:nvSpPr>
            <p:cNvPr id="45" name="Oval 44"/>
            <p:cNvSpPr/>
            <p:nvPr/>
          </p:nvSpPr>
          <p:spPr>
            <a:xfrm>
              <a:off x="5623560" y="2697480"/>
              <a:ext cx="128016" cy="128016"/>
            </a:xfrm>
            <a:prstGeom prst="ellipse">
              <a:avLst/>
            </a:prstGeom>
            <a:solidFill>
              <a:srgbClr val="9085E9"/>
            </a:solidFill>
            <a:ln>
              <a:noFill/>
            </a:ln>
          </p:spPr>
          <p:txBody>
            <a:bodyPr wrap="square" rtlCol="0" anchor="ctr"/>
            <a:lstStyle/>
            <a:p>
              <a:pPr algn="ctr"/>
              <a:endParaRPr/>
            </a:p>
          </p:txBody>
        </p:sp>
        <p:sp>
          <p:nvSpPr>
            <p:cNvPr id="46" name="TextBox 45"/>
            <p:cNvSpPr txBox="1"/>
            <p:nvPr/>
          </p:nvSpPr>
          <p:spPr>
            <a:xfrm>
              <a:off x="5897880" y="2450592"/>
              <a:ext cx="548640" cy="621792"/>
            </a:xfrm>
            <a:prstGeom prst="rect">
              <a:avLst/>
            </a:prstGeom>
            <a:noFill/>
          </p:spPr>
          <p:txBody>
            <a:bodyPr wrap="square" lIns="0" tIns="0" rIns="0" bIns="0" anchor="ctr">
              <a:noAutofit/>
            </a:bodyPr>
            <a:lstStyle/>
            <a:p>
              <a:pPr algn="l">
                <a:lnSpc>
                  <a:spcPct val="112000"/>
                </a:lnSpc>
                <a:spcAft>
                  <a:spcPts val="0"/>
                </a:spcAft>
              </a:pPr>
              <a:r>
                <a:rPr sz="2000" b="0" i="0">
                  <a:solidFill>
                    <a:srgbClr val="B5ADF5"/>
                  </a:solidFill>
                  <a:latin typeface="Segoe UI Semibold"/>
                </a:rPr>
                <a:t>2</a:t>
              </a:r>
            </a:p>
          </p:txBody>
        </p:sp>
        <p:sp>
          <p:nvSpPr>
            <p:cNvPr id="47" name="TextBox 46"/>
            <p:cNvSpPr txBox="1"/>
            <p:nvPr/>
          </p:nvSpPr>
          <p:spPr>
            <a:xfrm>
              <a:off x="6400800" y="2450592"/>
              <a:ext cx="5239512" cy="621792"/>
            </a:xfrm>
            <a:prstGeom prst="rect">
              <a:avLst/>
            </a:prstGeom>
            <a:noFill/>
          </p:spPr>
          <p:txBody>
            <a:bodyPr wrap="square" lIns="0" tIns="0" rIns="0" bIns="0" anchor="ctr">
              <a:noAutofit/>
            </a:bodyPr>
            <a:lstStyle/>
            <a:p>
              <a:pPr algn="l">
                <a:lnSpc>
                  <a:spcPct val="110000"/>
                </a:lnSpc>
                <a:spcAft>
                  <a:spcPts val="0"/>
                </a:spcAft>
              </a:pPr>
              <a:r>
                <a:rPr sz="1250" b="0" i="0">
                  <a:solidFill>
                    <a:srgbClr val="C9D2E3"/>
                  </a:solidFill>
                  <a:latin typeface="Segoe UI"/>
                </a:rPr>
                <a:t>Data residency, compliance (GDPR, HIPAA), sovereignty → eliminate</a:t>
              </a:r>
            </a:p>
          </p:txBody>
        </p:sp>
      </p:grpSp>
      <p:grpSp>
        <p:nvGrpSpPr>
          <p:cNvPr id="48" name="Group 47"/>
          <p:cNvGrpSpPr/>
          <p:nvPr/>
        </p:nvGrpSpPr>
        <p:grpSpPr>
          <a:xfrm>
            <a:off x="1399032" y="3218688"/>
            <a:ext cx="10241280" cy="658368"/>
            <a:chOff x="1399032" y="3218688"/>
            <a:chExt cx="10241280" cy="658368"/>
          </a:xfrm>
        </p:grpSpPr>
        <p:sp>
          <p:nvSpPr>
            <p:cNvPr id="49" name="Rounded Rectangle 48"/>
            <p:cNvSpPr/>
            <p:nvPr/>
          </p:nvSpPr>
          <p:spPr>
            <a:xfrm>
              <a:off x="1399032" y="3218688"/>
              <a:ext cx="3145536" cy="658368"/>
            </a:xfrm>
            <a:prstGeom prst="roundRect">
              <a:avLst>
                <a:gd name="adj" fmla="val 30000"/>
              </a:avLst>
            </a:prstGeom>
            <a:gradFill rotWithShape="1">
              <a:gsLst>
                <a:gs pos="0">
                  <a:srgbClr val="199E70">
                    <a:alpha val="71000"/>
                  </a:srgbClr>
                </a:gs>
                <a:gs pos="100000">
                  <a:srgbClr val="4FD1A1">
                    <a:alpha val="51000"/>
                  </a:srgbClr>
                </a:gs>
              </a:gsLst>
              <a:lin ang="0" scaled="0"/>
            </a:gradFill>
            <a:ln w="12700">
              <a:solidFill>
                <a:srgbClr val="199E70"/>
              </a:solidFill>
            </a:ln>
          </p:spPr>
          <p:txBody>
            <a:bodyPr wrap="square" lIns="27432" tIns="27432" rIns="27432" bIns="27432" rtlCol="0" anchor="ctr">
              <a:noAutofit/>
            </a:bodyPr>
            <a:lstStyle/>
            <a:p>
              <a:pPr algn="ctr">
                <a:lnSpc>
                  <a:spcPct val="112000"/>
                </a:lnSpc>
                <a:spcAft>
                  <a:spcPts val="0"/>
                </a:spcAft>
              </a:pPr>
              <a:r>
                <a:rPr sz="1250" b="0" i="0">
                  <a:solidFill>
                    <a:srgbClr val="FFFFFF"/>
                  </a:solidFill>
                  <a:latin typeface="Segoe UI Semibold"/>
                </a:rPr>
                <a:t>Capability fit</a:t>
              </a:r>
            </a:p>
          </p:txBody>
        </p:sp>
        <p:cxnSp>
          <p:nvCxnSpPr>
            <p:cNvPr id="50" name="Connector 49"/>
            <p:cNvCxnSpPr/>
            <p:nvPr/>
          </p:nvCxnSpPr>
          <p:spPr>
            <a:xfrm>
              <a:off x="4617720" y="3547872"/>
              <a:ext cx="1051560" cy="0"/>
            </a:xfrm>
            <a:prstGeom prst="line">
              <a:avLst/>
            </a:prstGeom>
            <a:ln w="12700">
              <a:solidFill>
                <a:srgbClr val="199E70">
                  <a:alpha val="60000"/>
                </a:srgbClr>
              </a:solidFill>
              <a:prstDash val="sysDot"/>
            </a:ln>
          </p:spPr>
        </p:cxnSp>
        <p:sp>
          <p:nvSpPr>
            <p:cNvPr id="51" name="Oval 50"/>
            <p:cNvSpPr/>
            <p:nvPr/>
          </p:nvSpPr>
          <p:spPr>
            <a:xfrm>
              <a:off x="5623560" y="3483864"/>
              <a:ext cx="128016" cy="128016"/>
            </a:xfrm>
            <a:prstGeom prst="ellipse">
              <a:avLst/>
            </a:prstGeom>
            <a:solidFill>
              <a:srgbClr val="199E70"/>
            </a:solidFill>
            <a:ln>
              <a:noFill/>
            </a:ln>
          </p:spPr>
          <p:txBody>
            <a:bodyPr wrap="square" rtlCol="0" anchor="ctr"/>
            <a:lstStyle/>
            <a:p>
              <a:pPr algn="ctr"/>
              <a:endParaRPr/>
            </a:p>
          </p:txBody>
        </p:sp>
        <p:sp>
          <p:nvSpPr>
            <p:cNvPr id="52" name="TextBox 51"/>
            <p:cNvSpPr txBox="1"/>
            <p:nvPr/>
          </p:nvSpPr>
          <p:spPr>
            <a:xfrm>
              <a:off x="5897880" y="3236976"/>
              <a:ext cx="548640" cy="621792"/>
            </a:xfrm>
            <a:prstGeom prst="rect">
              <a:avLst/>
            </a:prstGeom>
            <a:noFill/>
          </p:spPr>
          <p:txBody>
            <a:bodyPr wrap="square" lIns="0" tIns="0" rIns="0" bIns="0" anchor="ctr">
              <a:noAutofit/>
            </a:bodyPr>
            <a:lstStyle/>
            <a:p>
              <a:pPr algn="l">
                <a:lnSpc>
                  <a:spcPct val="112000"/>
                </a:lnSpc>
                <a:spcAft>
                  <a:spcPts val="0"/>
                </a:spcAft>
              </a:pPr>
              <a:r>
                <a:rPr sz="2000" b="0" i="0">
                  <a:solidFill>
                    <a:srgbClr val="4FD1A1"/>
                  </a:solidFill>
                  <a:latin typeface="Segoe UI Semibold"/>
                </a:rPr>
                <a:t>3</a:t>
              </a:r>
            </a:p>
          </p:txBody>
        </p:sp>
        <p:sp>
          <p:nvSpPr>
            <p:cNvPr id="53" name="TextBox 52"/>
            <p:cNvSpPr txBox="1"/>
            <p:nvPr/>
          </p:nvSpPr>
          <p:spPr>
            <a:xfrm>
              <a:off x="6400800" y="3236976"/>
              <a:ext cx="5239512" cy="621792"/>
            </a:xfrm>
            <a:prstGeom prst="rect">
              <a:avLst/>
            </a:prstGeom>
            <a:noFill/>
          </p:spPr>
          <p:txBody>
            <a:bodyPr wrap="square" lIns="0" tIns="0" rIns="0" bIns="0" anchor="ctr">
              <a:noAutofit/>
            </a:bodyPr>
            <a:lstStyle/>
            <a:p>
              <a:pPr algn="l">
                <a:lnSpc>
                  <a:spcPct val="110000"/>
                </a:lnSpc>
                <a:spcAft>
                  <a:spcPts val="0"/>
                </a:spcAft>
              </a:pPr>
              <a:r>
                <a:rPr sz="1250" b="0" i="0">
                  <a:solidFill>
                    <a:srgbClr val="C9D2E3"/>
                  </a:solidFill>
                  <a:latin typeface="Segoe UI"/>
                </a:rPr>
                <a:t>Required GPUs / TPUs, managed services, quotas and SKUs available</a:t>
              </a:r>
            </a:p>
          </p:txBody>
        </p:sp>
      </p:grpSp>
      <p:grpSp>
        <p:nvGrpSpPr>
          <p:cNvPr id="54" name="Group 53"/>
          <p:cNvGrpSpPr/>
          <p:nvPr/>
        </p:nvGrpSpPr>
        <p:grpSpPr>
          <a:xfrm>
            <a:off x="1792224" y="4005072"/>
            <a:ext cx="9848088" cy="658368"/>
            <a:chOff x="1792224" y="4005072"/>
            <a:chExt cx="9848088" cy="658368"/>
          </a:xfrm>
        </p:grpSpPr>
        <p:sp>
          <p:nvSpPr>
            <p:cNvPr id="55" name="Rounded Rectangle 54"/>
            <p:cNvSpPr/>
            <p:nvPr/>
          </p:nvSpPr>
          <p:spPr>
            <a:xfrm>
              <a:off x="1792224" y="4005072"/>
              <a:ext cx="2359152" cy="658368"/>
            </a:xfrm>
            <a:prstGeom prst="roundRect">
              <a:avLst>
                <a:gd name="adj" fmla="val 30000"/>
              </a:avLst>
            </a:prstGeom>
            <a:gradFill rotWithShape="1">
              <a:gsLst>
                <a:gs pos="0">
                  <a:srgbClr val="D95926">
                    <a:alpha val="79000"/>
                  </a:srgbClr>
                </a:gs>
                <a:gs pos="100000">
                  <a:srgbClr val="F4925F">
                    <a:alpha val="59000"/>
                  </a:srgbClr>
                </a:gs>
              </a:gsLst>
              <a:lin ang="0" scaled="0"/>
            </a:gradFill>
            <a:ln w="12700">
              <a:solidFill>
                <a:srgbClr val="D95926"/>
              </a:solidFill>
            </a:ln>
          </p:spPr>
          <p:txBody>
            <a:bodyPr wrap="square" lIns="27432" tIns="27432" rIns="27432" bIns="27432" rtlCol="0" anchor="ctr">
              <a:noAutofit/>
            </a:bodyPr>
            <a:lstStyle/>
            <a:p>
              <a:pPr algn="ctr">
                <a:lnSpc>
                  <a:spcPct val="112000"/>
                </a:lnSpc>
                <a:spcAft>
                  <a:spcPts val="0"/>
                </a:spcAft>
              </a:pPr>
              <a:r>
                <a:rPr sz="1250" b="0" i="0">
                  <a:solidFill>
                    <a:srgbClr val="FFFFFF"/>
                  </a:solidFill>
                  <a:latin typeface="Segoe UI Semibold"/>
                </a:rPr>
                <a:t>Latency &amp; data gravity</a:t>
              </a:r>
            </a:p>
          </p:txBody>
        </p:sp>
        <p:cxnSp>
          <p:nvCxnSpPr>
            <p:cNvPr id="56" name="Connector 55"/>
            <p:cNvCxnSpPr/>
            <p:nvPr/>
          </p:nvCxnSpPr>
          <p:spPr>
            <a:xfrm>
              <a:off x="4224528" y="4334256"/>
              <a:ext cx="1444752" cy="0"/>
            </a:xfrm>
            <a:prstGeom prst="line">
              <a:avLst/>
            </a:prstGeom>
            <a:ln w="12700">
              <a:solidFill>
                <a:srgbClr val="D95926">
                  <a:alpha val="60000"/>
                </a:srgbClr>
              </a:solidFill>
              <a:prstDash val="sysDot"/>
            </a:ln>
          </p:spPr>
        </p:cxnSp>
        <p:sp>
          <p:nvSpPr>
            <p:cNvPr id="57" name="Oval 56"/>
            <p:cNvSpPr/>
            <p:nvPr/>
          </p:nvSpPr>
          <p:spPr>
            <a:xfrm>
              <a:off x="5623560" y="4270248"/>
              <a:ext cx="128016" cy="128016"/>
            </a:xfrm>
            <a:prstGeom prst="ellipse">
              <a:avLst/>
            </a:prstGeom>
            <a:solidFill>
              <a:srgbClr val="D95926"/>
            </a:solidFill>
            <a:ln>
              <a:noFill/>
            </a:ln>
          </p:spPr>
          <p:txBody>
            <a:bodyPr wrap="square" rtlCol="0" anchor="ctr"/>
            <a:lstStyle/>
            <a:p>
              <a:pPr algn="ctr"/>
              <a:endParaRPr/>
            </a:p>
          </p:txBody>
        </p:sp>
        <p:sp>
          <p:nvSpPr>
            <p:cNvPr id="58" name="TextBox 57"/>
            <p:cNvSpPr txBox="1"/>
            <p:nvPr/>
          </p:nvSpPr>
          <p:spPr>
            <a:xfrm>
              <a:off x="5897880" y="4023359"/>
              <a:ext cx="548640" cy="621792"/>
            </a:xfrm>
            <a:prstGeom prst="rect">
              <a:avLst/>
            </a:prstGeom>
            <a:noFill/>
          </p:spPr>
          <p:txBody>
            <a:bodyPr wrap="square" lIns="0" tIns="0" rIns="0" bIns="0" anchor="ctr">
              <a:noAutofit/>
            </a:bodyPr>
            <a:lstStyle/>
            <a:p>
              <a:pPr algn="l">
                <a:lnSpc>
                  <a:spcPct val="112000"/>
                </a:lnSpc>
                <a:spcAft>
                  <a:spcPts val="0"/>
                </a:spcAft>
              </a:pPr>
              <a:r>
                <a:rPr sz="2000" b="0" i="0">
                  <a:solidFill>
                    <a:srgbClr val="F4925F"/>
                  </a:solidFill>
                  <a:latin typeface="Segoe UI Semibold"/>
                </a:rPr>
                <a:t>4</a:t>
              </a:r>
            </a:p>
          </p:txBody>
        </p:sp>
        <p:sp>
          <p:nvSpPr>
            <p:cNvPr id="59" name="TextBox 58"/>
            <p:cNvSpPr txBox="1"/>
            <p:nvPr/>
          </p:nvSpPr>
          <p:spPr>
            <a:xfrm>
              <a:off x="6400800" y="4023359"/>
              <a:ext cx="5239512" cy="621792"/>
            </a:xfrm>
            <a:prstGeom prst="rect">
              <a:avLst/>
            </a:prstGeom>
            <a:noFill/>
          </p:spPr>
          <p:txBody>
            <a:bodyPr wrap="square" lIns="0" tIns="0" rIns="0" bIns="0" anchor="ctr">
              <a:noAutofit/>
            </a:bodyPr>
            <a:lstStyle/>
            <a:p>
              <a:pPr algn="l">
                <a:lnSpc>
                  <a:spcPct val="110000"/>
                </a:lnSpc>
                <a:spcAft>
                  <a:spcPts val="0"/>
                </a:spcAft>
              </a:pPr>
              <a:r>
                <a:rPr sz="1250" b="0" i="0">
                  <a:solidFill>
                    <a:srgbClr val="C9D2E3"/>
                  </a:solidFill>
                  <a:latin typeface="Segoe UI"/>
                </a:rPr>
                <a:t>Proximity to users and data; avoid cross-cloud egress fees</a:t>
              </a:r>
            </a:p>
          </p:txBody>
        </p:sp>
      </p:grpSp>
      <p:grpSp>
        <p:nvGrpSpPr>
          <p:cNvPr id="60" name="Group 59"/>
          <p:cNvGrpSpPr/>
          <p:nvPr/>
        </p:nvGrpSpPr>
        <p:grpSpPr>
          <a:xfrm>
            <a:off x="2185416" y="4791456"/>
            <a:ext cx="9454896" cy="658368"/>
            <a:chOff x="2185416" y="4791456"/>
            <a:chExt cx="9454896" cy="658368"/>
          </a:xfrm>
        </p:grpSpPr>
        <p:sp>
          <p:nvSpPr>
            <p:cNvPr id="61" name="Rounded Rectangle 60"/>
            <p:cNvSpPr/>
            <p:nvPr/>
          </p:nvSpPr>
          <p:spPr>
            <a:xfrm>
              <a:off x="2185416" y="4791456"/>
              <a:ext cx="1572768" cy="658368"/>
            </a:xfrm>
            <a:prstGeom prst="roundRect">
              <a:avLst>
                <a:gd name="adj" fmla="val 30000"/>
              </a:avLst>
            </a:prstGeom>
            <a:gradFill rotWithShape="1">
              <a:gsLst>
                <a:gs pos="0">
                  <a:srgbClr val="3987E5">
                    <a:alpha val="87000"/>
                  </a:srgbClr>
                </a:gs>
                <a:gs pos="100000">
                  <a:srgbClr val="7DB3F5">
                    <a:alpha val="67000"/>
                  </a:srgbClr>
                </a:gs>
              </a:gsLst>
              <a:lin ang="0" scaled="0"/>
            </a:gradFill>
            <a:ln w="12700">
              <a:solidFill>
                <a:srgbClr val="3987E5"/>
              </a:solidFill>
            </a:ln>
          </p:spPr>
          <p:txBody>
            <a:bodyPr wrap="square" lIns="27432" tIns="27432" rIns="27432" bIns="27432" rtlCol="0" anchor="ctr">
              <a:noAutofit/>
            </a:bodyPr>
            <a:lstStyle/>
            <a:p>
              <a:pPr algn="ctr">
                <a:lnSpc>
                  <a:spcPct val="112000"/>
                </a:lnSpc>
                <a:spcAft>
                  <a:spcPts val="0"/>
                </a:spcAft>
              </a:pPr>
              <a:r>
                <a:rPr sz="1250" b="0" i="0">
                  <a:solidFill>
                    <a:srgbClr val="FFFFFF"/>
                  </a:solidFill>
                  <a:latin typeface="Segoe UI Semibold"/>
                </a:rPr>
                <a:t>Cost &amp; carbon scoring</a:t>
              </a:r>
            </a:p>
          </p:txBody>
        </p:sp>
        <p:cxnSp>
          <p:nvCxnSpPr>
            <p:cNvPr id="62" name="Connector 61"/>
            <p:cNvCxnSpPr/>
            <p:nvPr/>
          </p:nvCxnSpPr>
          <p:spPr>
            <a:xfrm>
              <a:off x="3831336" y="5120640"/>
              <a:ext cx="1837944" cy="0"/>
            </a:xfrm>
            <a:prstGeom prst="line">
              <a:avLst/>
            </a:prstGeom>
            <a:ln w="12700">
              <a:solidFill>
                <a:srgbClr val="3987E5">
                  <a:alpha val="60000"/>
                </a:srgbClr>
              </a:solidFill>
              <a:prstDash val="sysDot"/>
            </a:ln>
          </p:spPr>
        </p:cxnSp>
        <p:sp>
          <p:nvSpPr>
            <p:cNvPr id="63" name="Oval 62"/>
            <p:cNvSpPr/>
            <p:nvPr/>
          </p:nvSpPr>
          <p:spPr>
            <a:xfrm>
              <a:off x="5623560" y="5056632"/>
              <a:ext cx="128016" cy="128016"/>
            </a:xfrm>
            <a:prstGeom prst="ellipse">
              <a:avLst/>
            </a:prstGeom>
            <a:solidFill>
              <a:srgbClr val="3987E5"/>
            </a:solidFill>
            <a:ln>
              <a:noFill/>
            </a:ln>
          </p:spPr>
          <p:txBody>
            <a:bodyPr wrap="square" rtlCol="0" anchor="ctr"/>
            <a:lstStyle/>
            <a:p>
              <a:pPr algn="ctr"/>
              <a:endParaRPr/>
            </a:p>
          </p:txBody>
        </p:sp>
        <p:sp>
          <p:nvSpPr>
            <p:cNvPr id="64" name="TextBox 63"/>
            <p:cNvSpPr txBox="1"/>
            <p:nvPr/>
          </p:nvSpPr>
          <p:spPr>
            <a:xfrm>
              <a:off x="5897880" y="4809744"/>
              <a:ext cx="548640" cy="621792"/>
            </a:xfrm>
            <a:prstGeom prst="rect">
              <a:avLst/>
            </a:prstGeom>
            <a:noFill/>
          </p:spPr>
          <p:txBody>
            <a:bodyPr wrap="square" lIns="0" tIns="0" rIns="0" bIns="0" anchor="ctr">
              <a:noAutofit/>
            </a:bodyPr>
            <a:lstStyle/>
            <a:p>
              <a:pPr algn="l">
                <a:lnSpc>
                  <a:spcPct val="112000"/>
                </a:lnSpc>
                <a:spcAft>
                  <a:spcPts val="0"/>
                </a:spcAft>
              </a:pPr>
              <a:r>
                <a:rPr sz="2000" b="0" i="0">
                  <a:solidFill>
                    <a:srgbClr val="7DB3F5"/>
                  </a:solidFill>
                  <a:latin typeface="Segoe UI Semibold"/>
                </a:rPr>
                <a:t>5</a:t>
              </a:r>
            </a:p>
          </p:txBody>
        </p:sp>
        <p:sp>
          <p:nvSpPr>
            <p:cNvPr id="65" name="TextBox 64"/>
            <p:cNvSpPr txBox="1"/>
            <p:nvPr/>
          </p:nvSpPr>
          <p:spPr>
            <a:xfrm>
              <a:off x="6400800" y="4809744"/>
              <a:ext cx="5239512" cy="621792"/>
            </a:xfrm>
            <a:prstGeom prst="rect">
              <a:avLst/>
            </a:prstGeom>
            <a:noFill/>
          </p:spPr>
          <p:txBody>
            <a:bodyPr wrap="square" lIns="0" tIns="0" rIns="0" bIns="0" anchor="ctr">
              <a:noAutofit/>
            </a:bodyPr>
            <a:lstStyle/>
            <a:p>
              <a:pPr algn="l">
                <a:lnSpc>
                  <a:spcPct val="110000"/>
                </a:lnSpc>
                <a:spcAft>
                  <a:spcPts val="0"/>
                </a:spcAft>
              </a:pPr>
              <a:r>
                <a:rPr sz="1250" b="0" i="0">
                  <a:solidFill>
                    <a:srgbClr val="C9D2E3"/>
                  </a:solidFill>
                  <a:latin typeface="Segoe UI"/>
                </a:rPr>
                <a:t>Rank by $ per unit of work and grid carbon intensity</a:t>
              </a:r>
            </a:p>
          </p:txBody>
        </p:sp>
      </p:grpSp>
      <p:sp>
        <p:nvSpPr>
          <p:cNvPr id="66" name="Rounded Rectangle 65"/>
          <p:cNvSpPr/>
          <p:nvPr/>
        </p:nvSpPr>
        <p:spPr>
          <a:xfrm>
            <a:off x="1965960" y="5623560"/>
            <a:ext cx="2011680" cy="411480"/>
          </a:xfrm>
          <a:prstGeom prst="roundRect">
            <a:avLst>
              <a:gd name="adj" fmla="val 50000"/>
            </a:avLst>
          </a:prstGeom>
          <a:gradFill rotWithShape="1">
            <a:gsLst>
              <a:gs pos="0">
                <a:srgbClr val="199E70"/>
              </a:gs>
              <a:gs pos="100000">
                <a:srgbClr val="3987E5"/>
              </a:gs>
            </a:gsLst>
            <a:lin ang="0" scaled="0"/>
          </a:gradFill>
          <a:ln w="15875">
            <a:solidFill>
              <a:srgbClr val="4FD1A1"/>
            </a:solidFill>
          </a:ln>
          <a:effectLst>
            <a:outerShdw blurRad="228600" dir="5400000" algn="t" rotWithShape="0">
              <a:srgbClr val="000000">
                <a:alpha val="50000"/>
              </a:srgbClr>
            </a:outerShdw>
          </a:effectLst>
        </p:spPr>
        <p:txBody>
          <a:bodyPr wrap="square" lIns="0" tIns="0" rIns="0" bIns="0" rtlCol="0" anchor="ctr">
            <a:noAutofit/>
          </a:bodyPr>
          <a:lstStyle/>
          <a:p>
            <a:pPr algn="ctr">
              <a:lnSpc>
                <a:spcPct val="112000"/>
              </a:lnSpc>
              <a:spcAft>
                <a:spcPts val="0"/>
              </a:spcAft>
            </a:pPr>
            <a:r>
              <a:rPr sz="1200" b="0" i="0">
                <a:solidFill>
                  <a:srgbClr val="FFFFFF"/>
                </a:solidFill>
                <a:latin typeface="Segoe UI Semibold"/>
              </a:rPr>
              <a:t>Placement + fallback</a:t>
            </a:r>
          </a:p>
        </p:txBody>
      </p:sp>
      <p:grpSp>
        <p:nvGrpSpPr>
          <p:cNvPr id="67" name="Group 66"/>
          <p:cNvGrpSpPr/>
          <p:nvPr/>
        </p:nvGrpSpPr>
        <p:grpSpPr>
          <a:xfrm>
            <a:off x="5897880" y="5623560"/>
            <a:ext cx="5742432" cy="411480"/>
            <a:chOff x="5897880" y="5623560"/>
            <a:chExt cx="5742432" cy="411480"/>
          </a:xfrm>
        </p:grpSpPr>
        <p:sp>
          <p:nvSpPr>
            <p:cNvPr id="68" name="Rounded Rectangle 67"/>
            <p:cNvSpPr/>
            <p:nvPr/>
          </p:nvSpPr>
          <p:spPr>
            <a:xfrm>
              <a:off x="5897880" y="5623560"/>
              <a:ext cx="5742432" cy="411480"/>
            </a:xfrm>
            <a:prstGeom prst="roundRect">
              <a:avLst>
                <a:gd name="adj" fmla="val 50000"/>
              </a:avLst>
            </a:prstGeom>
            <a:solidFill>
              <a:srgbClr val="D95926">
                <a:alpha val="14000"/>
              </a:srgbClr>
            </a:solidFill>
            <a:ln w="9525">
              <a:solidFill>
                <a:srgbClr val="D95926">
                  <a:alpha val="50000"/>
                </a:srgbClr>
              </a:solidFill>
            </a:ln>
          </p:spPr>
          <p:txBody>
            <a:bodyPr wrap="square" lIns="164592" tIns="164592" rIns="164592" bIns="164592" rtlCol="0" anchor="ctr">
              <a:noAutofit/>
            </a:bodyPr>
            <a:lstStyle/>
            <a:p>
              <a:pPr algn="l">
                <a:lnSpc>
                  <a:spcPct val="112000"/>
                </a:lnSpc>
                <a:spcAft>
                  <a:spcPts val="0"/>
                </a:spcAft>
              </a:pPr>
              <a:r>
                <a:rPr sz="1200" b="0" i="0">
                  <a:solidFill>
                    <a:srgbClr val="F4925F"/>
                  </a:solidFill>
                  <a:latin typeface="Segoe UI Semibold"/>
                </a:rPr>
                <a:t>Rule of thumb:</a:t>
              </a:r>
              <a:r>
                <a:rPr sz="1200" b="0" i="0">
                  <a:solidFill>
                    <a:srgbClr val="C9D2E3"/>
                  </a:solidFill>
                  <a:latin typeface="Segoe UI"/>
                </a:rPr>
                <a:t> move compute to the data, not data to the compute.</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600"/>
                                        <p:tgtEl>
                                          <p:spTgt spid="36"/>
                                        </p:tgtEl>
                                      </p:cBhvr>
                                    </p:animEffect>
                                    <p:anim calcmode="lin" valueType="num">
                                      <p:cBhvr>
                                        <p:cTn id="8" dur="600" fill="hold"/>
                                        <p:tgtEl>
                                          <p:spTgt spid="36"/>
                                        </p:tgtEl>
                                        <p:attrNameLst>
                                          <p:attrName>ppt_x</p:attrName>
                                        </p:attrNameLst>
                                      </p:cBhvr>
                                      <p:tavLst>
                                        <p:tav tm="0">
                                          <p:val>
                                            <p:strVal val="#ppt_x"/>
                                          </p:val>
                                        </p:tav>
                                        <p:tav tm="100000">
                                          <p:val>
                                            <p:strVal val="#ppt_x"/>
                                          </p:val>
                                        </p:tav>
                                      </p:tavLst>
                                    </p:anim>
                                    <p:anim calcmode="lin" valueType="num">
                                      <p:cBhvr>
                                        <p:cTn id="9" dur="600" fill="hold"/>
                                        <p:tgtEl>
                                          <p:spTgt spid="36"/>
                                        </p:tgtEl>
                                        <p:attrNameLst>
                                          <p:attrName>ppt_y</p:attrName>
                                        </p:attrNameLst>
                                      </p:cBhvr>
                                      <p:tavLst>
                                        <p:tav tm="0">
                                          <p:val>
                                            <p:strVal val="#ppt_y+.08"/>
                                          </p:val>
                                        </p:tav>
                                        <p:tav tm="100000">
                                          <p:val>
                                            <p:strVal val="#ppt_y"/>
                                          </p:val>
                                        </p:tav>
                                      </p:tavLst>
                                    </p:anim>
                                  </p:childTnLst>
                                </p:cTn>
                              </p:par>
                              <p:par>
                                <p:cTn id="10" presetID="42" presetClass="entr" presetSubtype="0" fill="hold" nodeType="withEffect">
                                  <p:stCondLst>
                                    <p:cond delay="41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600"/>
                                        <p:tgtEl>
                                          <p:spTgt spid="42"/>
                                        </p:tgtEl>
                                      </p:cBhvr>
                                    </p:animEffect>
                                    <p:anim calcmode="lin" valueType="num">
                                      <p:cBhvr>
                                        <p:cTn id="13" dur="600" fill="hold"/>
                                        <p:tgtEl>
                                          <p:spTgt spid="42"/>
                                        </p:tgtEl>
                                        <p:attrNameLst>
                                          <p:attrName>ppt_x</p:attrName>
                                        </p:attrNameLst>
                                      </p:cBhvr>
                                      <p:tavLst>
                                        <p:tav tm="0">
                                          <p:val>
                                            <p:strVal val="#ppt_x"/>
                                          </p:val>
                                        </p:tav>
                                        <p:tav tm="100000">
                                          <p:val>
                                            <p:strVal val="#ppt_x"/>
                                          </p:val>
                                        </p:tav>
                                      </p:tavLst>
                                    </p:anim>
                                    <p:anim calcmode="lin" valueType="num">
                                      <p:cBhvr>
                                        <p:cTn id="14" dur="600" fill="hold"/>
                                        <p:tgtEl>
                                          <p:spTgt spid="42"/>
                                        </p:tgtEl>
                                        <p:attrNameLst>
                                          <p:attrName>ppt_y</p:attrName>
                                        </p:attrNameLst>
                                      </p:cBhvr>
                                      <p:tavLst>
                                        <p:tav tm="0">
                                          <p:val>
                                            <p:strVal val="#ppt_y+.08"/>
                                          </p:val>
                                        </p:tav>
                                        <p:tav tm="100000">
                                          <p:val>
                                            <p:strVal val="#ppt_y"/>
                                          </p:val>
                                        </p:tav>
                                      </p:tavLst>
                                    </p:anim>
                                  </p:childTnLst>
                                </p:cTn>
                              </p:par>
                              <p:par>
                                <p:cTn id="15" presetID="42" presetClass="entr" presetSubtype="0" fill="hold" nodeType="withEffect">
                                  <p:stCondLst>
                                    <p:cond delay="570"/>
                                  </p:stCondLst>
                                  <p:childTnLst>
                                    <p:set>
                                      <p:cBhvr>
                                        <p:cTn id="16" dur="1" fill="hold">
                                          <p:stCondLst>
                                            <p:cond delay="0"/>
                                          </p:stCondLst>
                                        </p:cTn>
                                        <p:tgtEl>
                                          <p:spTgt spid="48"/>
                                        </p:tgtEl>
                                        <p:attrNameLst>
                                          <p:attrName>style.visibility</p:attrName>
                                        </p:attrNameLst>
                                      </p:cBhvr>
                                      <p:to>
                                        <p:strVal val="visible"/>
                                      </p:to>
                                    </p:set>
                                    <p:animEffect transition="in" filter="fade">
                                      <p:cBhvr>
                                        <p:cTn id="17" dur="600"/>
                                        <p:tgtEl>
                                          <p:spTgt spid="48"/>
                                        </p:tgtEl>
                                      </p:cBhvr>
                                    </p:animEffect>
                                    <p:anim calcmode="lin" valueType="num">
                                      <p:cBhvr>
                                        <p:cTn id="18" dur="600" fill="hold"/>
                                        <p:tgtEl>
                                          <p:spTgt spid="48"/>
                                        </p:tgtEl>
                                        <p:attrNameLst>
                                          <p:attrName>ppt_x</p:attrName>
                                        </p:attrNameLst>
                                      </p:cBhvr>
                                      <p:tavLst>
                                        <p:tav tm="0">
                                          <p:val>
                                            <p:strVal val="#ppt_x"/>
                                          </p:val>
                                        </p:tav>
                                        <p:tav tm="100000">
                                          <p:val>
                                            <p:strVal val="#ppt_x"/>
                                          </p:val>
                                        </p:tav>
                                      </p:tavLst>
                                    </p:anim>
                                    <p:anim calcmode="lin" valueType="num">
                                      <p:cBhvr>
                                        <p:cTn id="19" dur="600" fill="hold"/>
                                        <p:tgtEl>
                                          <p:spTgt spid="48"/>
                                        </p:tgtEl>
                                        <p:attrNameLst>
                                          <p:attrName>ppt_y</p:attrName>
                                        </p:attrNameLst>
                                      </p:cBhvr>
                                      <p:tavLst>
                                        <p:tav tm="0">
                                          <p:val>
                                            <p:strVal val="#ppt_y+.08"/>
                                          </p:val>
                                        </p:tav>
                                        <p:tav tm="100000">
                                          <p:val>
                                            <p:strVal val="#ppt_y"/>
                                          </p:val>
                                        </p:tav>
                                      </p:tavLst>
                                    </p:anim>
                                  </p:childTnLst>
                                </p:cTn>
                              </p:par>
                              <p:par>
                                <p:cTn id="20" presetID="42" presetClass="entr" presetSubtype="0" fill="hold" nodeType="withEffect">
                                  <p:stCondLst>
                                    <p:cond delay="730"/>
                                  </p:stCondLst>
                                  <p:childTnLst>
                                    <p:set>
                                      <p:cBhvr>
                                        <p:cTn id="21" dur="1" fill="hold">
                                          <p:stCondLst>
                                            <p:cond delay="0"/>
                                          </p:stCondLst>
                                        </p:cTn>
                                        <p:tgtEl>
                                          <p:spTgt spid="54"/>
                                        </p:tgtEl>
                                        <p:attrNameLst>
                                          <p:attrName>style.visibility</p:attrName>
                                        </p:attrNameLst>
                                      </p:cBhvr>
                                      <p:to>
                                        <p:strVal val="visible"/>
                                      </p:to>
                                    </p:set>
                                    <p:animEffect transition="in" filter="fade">
                                      <p:cBhvr>
                                        <p:cTn id="22" dur="600"/>
                                        <p:tgtEl>
                                          <p:spTgt spid="54"/>
                                        </p:tgtEl>
                                      </p:cBhvr>
                                    </p:animEffect>
                                    <p:anim calcmode="lin" valueType="num">
                                      <p:cBhvr>
                                        <p:cTn id="23" dur="600" fill="hold"/>
                                        <p:tgtEl>
                                          <p:spTgt spid="54"/>
                                        </p:tgtEl>
                                        <p:attrNameLst>
                                          <p:attrName>ppt_x</p:attrName>
                                        </p:attrNameLst>
                                      </p:cBhvr>
                                      <p:tavLst>
                                        <p:tav tm="0">
                                          <p:val>
                                            <p:strVal val="#ppt_x"/>
                                          </p:val>
                                        </p:tav>
                                        <p:tav tm="100000">
                                          <p:val>
                                            <p:strVal val="#ppt_x"/>
                                          </p:val>
                                        </p:tav>
                                      </p:tavLst>
                                    </p:anim>
                                    <p:anim calcmode="lin" valueType="num">
                                      <p:cBhvr>
                                        <p:cTn id="24" dur="600" fill="hold"/>
                                        <p:tgtEl>
                                          <p:spTgt spid="54"/>
                                        </p:tgtEl>
                                        <p:attrNameLst>
                                          <p:attrName>ppt_y</p:attrName>
                                        </p:attrNameLst>
                                      </p:cBhvr>
                                      <p:tavLst>
                                        <p:tav tm="0">
                                          <p:val>
                                            <p:strVal val="#ppt_y+.08"/>
                                          </p:val>
                                        </p:tav>
                                        <p:tav tm="100000">
                                          <p:val>
                                            <p:strVal val="#ppt_y"/>
                                          </p:val>
                                        </p:tav>
                                      </p:tavLst>
                                    </p:anim>
                                  </p:childTnLst>
                                </p:cTn>
                              </p:par>
                              <p:par>
                                <p:cTn id="25" presetID="42" presetClass="entr" presetSubtype="0" fill="hold" nodeType="withEffect">
                                  <p:stCondLst>
                                    <p:cond delay="890"/>
                                  </p:stCondLst>
                                  <p:childTnLst>
                                    <p:set>
                                      <p:cBhvr>
                                        <p:cTn id="26" dur="1" fill="hold">
                                          <p:stCondLst>
                                            <p:cond delay="0"/>
                                          </p:stCondLst>
                                        </p:cTn>
                                        <p:tgtEl>
                                          <p:spTgt spid="60"/>
                                        </p:tgtEl>
                                        <p:attrNameLst>
                                          <p:attrName>style.visibility</p:attrName>
                                        </p:attrNameLst>
                                      </p:cBhvr>
                                      <p:to>
                                        <p:strVal val="visible"/>
                                      </p:to>
                                    </p:set>
                                    <p:animEffect transition="in" filter="fade">
                                      <p:cBhvr>
                                        <p:cTn id="27" dur="600"/>
                                        <p:tgtEl>
                                          <p:spTgt spid="60"/>
                                        </p:tgtEl>
                                      </p:cBhvr>
                                    </p:animEffect>
                                    <p:anim calcmode="lin" valueType="num">
                                      <p:cBhvr>
                                        <p:cTn id="28" dur="600" fill="hold"/>
                                        <p:tgtEl>
                                          <p:spTgt spid="60"/>
                                        </p:tgtEl>
                                        <p:attrNameLst>
                                          <p:attrName>ppt_x</p:attrName>
                                        </p:attrNameLst>
                                      </p:cBhvr>
                                      <p:tavLst>
                                        <p:tav tm="0">
                                          <p:val>
                                            <p:strVal val="#ppt_x"/>
                                          </p:val>
                                        </p:tav>
                                        <p:tav tm="100000">
                                          <p:val>
                                            <p:strVal val="#ppt_x"/>
                                          </p:val>
                                        </p:tav>
                                      </p:tavLst>
                                    </p:anim>
                                    <p:anim calcmode="lin" valueType="num">
                                      <p:cBhvr>
                                        <p:cTn id="29" dur="600" fill="hold"/>
                                        <p:tgtEl>
                                          <p:spTgt spid="60"/>
                                        </p:tgtEl>
                                        <p:attrNameLst>
                                          <p:attrName>ppt_y</p:attrName>
                                        </p:attrNameLst>
                                      </p:cBhvr>
                                      <p:tavLst>
                                        <p:tav tm="0">
                                          <p:val>
                                            <p:strVal val="#ppt_y+.08"/>
                                          </p:val>
                                        </p:tav>
                                        <p:tav tm="100000">
                                          <p:val>
                                            <p:strVal val="#ppt_y"/>
                                          </p:val>
                                        </p:tav>
                                      </p:tavLst>
                                    </p:anim>
                                  </p:childTnLst>
                                </p:cTn>
                              </p:par>
                              <p:par>
                                <p:cTn id="30" presetID="53" presetClass="entr" presetSubtype="16" fill="hold" grpId="0" nodeType="withEffect">
                                  <p:stCondLst>
                                    <p:cond delay="1050"/>
                                  </p:stCondLst>
                                  <p:childTnLst>
                                    <p:set>
                                      <p:cBhvr>
                                        <p:cTn id="31" dur="1" fill="hold">
                                          <p:stCondLst>
                                            <p:cond delay="0"/>
                                          </p:stCondLst>
                                        </p:cTn>
                                        <p:tgtEl>
                                          <p:spTgt spid="66"/>
                                        </p:tgtEl>
                                        <p:attrNameLst>
                                          <p:attrName>style.visibility</p:attrName>
                                        </p:attrNameLst>
                                      </p:cBhvr>
                                      <p:to>
                                        <p:strVal val="visible"/>
                                      </p:to>
                                    </p:set>
                                    <p:anim calcmode="lin" valueType="num">
                                      <p:cBhvr>
                                        <p:cTn id="32" dur="600" fill="hold"/>
                                        <p:tgtEl>
                                          <p:spTgt spid="66"/>
                                        </p:tgtEl>
                                        <p:attrNameLst>
                                          <p:attrName>ppt_w</p:attrName>
                                        </p:attrNameLst>
                                      </p:cBhvr>
                                      <p:tavLst>
                                        <p:tav tm="0">
                                          <p:val>
                                            <p:fltVal val="0"/>
                                          </p:val>
                                        </p:tav>
                                        <p:tav tm="100000">
                                          <p:val>
                                            <p:strVal val="#ppt_w"/>
                                          </p:val>
                                        </p:tav>
                                      </p:tavLst>
                                    </p:anim>
                                    <p:anim calcmode="lin" valueType="num">
                                      <p:cBhvr>
                                        <p:cTn id="33" dur="600" fill="hold"/>
                                        <p:tgtEl>
                                          <p:spTgt spid="66"/>
                                        </p:tgtEl>
                                        <p:attrNameLst>
                                          <p:attrName>ppt_h</p:attrName>
                                        </p:attrNameLst>
                                      </p:cBhvr>
                                      <p:tavLst>
                                        <p:tav tm="0">
                                          <p:val>
                                            <p:fltVal val="0"/>
                                          </p:val>
                                        </p:tav>
                                        <p:tav tm="100000">
                                          <p:val>
                                            <p:strVal val="#ppt_h"/>
                                          </p:val>
                                        </p:tav>
                                      </p:tavLst>
                                    </p:anim>
                                    <p:animEffect transition="in" filter="fade">
                                      <p:cBhvr>
                                        <p:cTn id="34" dur="600"/>
                                        <p:tgtEl>
                                          <p:spTgt spid="66"/>
                                        </p:tgtEl>
                                      </p:cBhvr>
                                    </p:animEffect>
                                  </p:childTnLst>
                                </p:cTn>
                              </p:par>
                              <p:par>
                                <p:cTn id="35" presetID="10" presetClass="entr" presetSubtype="0" fill="hold" nodeType="withEffect">
                                  <p:stCondLst>
                                    <p:cond delay="1210"/>
                                  </p:stCondLst>
                                  <p:childTnLst>
                                    <p:set>
                                      <p:cBhvr>
                                        <p:cTn id="36" dur="1" fill="hold">
                                          <p:stCondLst>
                                            <p:cond delay="0"/>
                                          </p:stCondLst>
                                        </p:cTn>
                                        <p:tgtEl>
                                          <p:spTgt spid="67"/>
                                        </p:tgtEl>
                                        <p:attrNameLst>
                                          <p:attrName>style.visibility</p:attrName>
                                        </p:attrNameLst>
                                      </p:cBhvr>
                                      <p:to>
                                        <p:strVal val="visible"/>
                                      </p:to>
                                    </p:set>
                                    <p:animEffect transition="in" filter="fade">
                                      <p:cBhvr>
                                        <p:cTn id="37" dur="6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639254" y="-2524209"/>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407811" y="4530703"/>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089560" y="4700909"/>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CASE STUDY</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Case Study: Global Retailer on Three Clouds</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Wrap-up</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lang="en-GB" sz="1000">
                <a:solidFill>
                  <a:srgbClr val="C9D2E3"/>
                </a:solidFill>
                <a:latin typeface="Segoe UI Semibold"/>
              </a:rPr>
              <a:t>28</a:t>
            </a:r>
            <a:r>
              <a:rPr sz="1000" b="0" i="0" dirty="0">
                <a:solidFill>
                  <a:srgbClr val="8C9AB5"/>
                </a:solidFill>
                <a:latin typeface="Segoe UI"/>
              </a:rPr>
              <a:t> / 30</a:t>
            </a:r>
          </a:p>
        </p:txBody>
      </p:sp>
      <p:grpSp>
        <p:nvGrpSpPr>
          <p:cNvPr id="36" name="Group 35"/>
          <p:cNvGrpSpPr/>
          <p:nvPr/>
        </p:nvGrpSpPr>
        <p:grpSpPr>
          <a:xfrm>
            <a:off x="548640" y="1627632"/>
            <a:ext cx="4526280" cy="1463040"/>
            <a:chOff x="548640" y="1627632"/>
            <a:chExt cx="4526280" cy="1463040"/>
          </a:xfrm>
        </p:grpSpPr>
        <p:sp>
          <p:nvSpPr>
            <p:cNvPr id="37" name="Rounded Rectangle 36"/>
            <p:cNvSpPr/>
            <p:nvPr/>
          </p:nvSpPr>
          <p:spPr>
            <a:xfrm>
              <a:off x="548640" y="1627632"/>
              <a:ext cx="4526280" cy="1463040"/>
            </a:xfrm>
            <a:prstGeom prst="roundRect">
              <a:avLst>
                <a:gd name="adj" fmla="val 11249"/>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38" name="Rectangle 37"/>
            <p:cNvSpPr/>
            <p:nvPr/>
          </p:nvSpPr>
          <p:spPr>
            <a:xfrm>
              <a:off x="548640" y="1883664"/>
              <a:ext cx="45720" cy="384048"/>
            </a:xfrm>
            <a:prstGeom prst="rect">
              <a:avLst/>
            </a:prstGeom>
            <a:solidFill>
              <a:srgbClr val="9085E9"/>
            </a:solidFill>
            <a:ln>
              <a:noFill/>
            </a:ln>
          </p:spPr>
          <p:txBody>
            <a:bodyPr wrap="square" rtlCol="0" anchor="ctr"/>
            <a:lstStyle/>
            <a:p>
              <a:pPr algn="ctr"/>
              <a:endParaRPr/>
            </a:p>
          </p:txBody>
        </p:sp>
        <p:sp>
          <p:nvSpPr>
            <p:cNvPr id="39" name="TextBox 38"/>
            <p:cNvSpPr txBox="1"/>
            <p:nvPr/>
          </p:nvSpPr>
          <p:spPr>
            <a:xfrm>
              <a:off x="804672" y="1828800"/>
              <a:ext cx="4087368" cy="411480"/>
            </a:xfrm>
            <a:prstGeom prst="rect">
              <a:avLst/>
            </a:prstGeom>
            <a:noFill/>
          </p:spPr>
          <p:txBody>
            <a:bodyPr wrap="square" lIns="0" tIns="0" rIns="0" bIns="0" anchor="t">
              <a:noAutofit/>
            </a:bodyPr>
            <a:lstStyle/>
            <a:p>
              <a:pPr algn="l">
                <a:lnSpc>
                  <a:spcPct val="112000"/>
                </a:lnSpc>
                <a:spcAft>
                  <a:spcPts val="0"/>
                </a:spcAft>
              </a:pPr>
              <a:r>
                <a:rPr sz="1500" b="0" i="0">
                  <a:solidFill>
                    <a:srgbClr val="FFFFFF"/>
                  </a:solidFill>
                  <a:latin typeface="Segoe UI Semibold"/>
                </a:rPr>
                <a:t>Context</a:t>
              </a:r>
            </a:p>
          </p:txBody>
        </p:sp>
        <p:sp>
          <p:nvSpPr>
            <p:cNvPr id="40" name="TextBox 39"/>
            <p:cNvSpPr txBox="1"/>
            <p:nvPr/>
          </p:nvSpPr>
          <p:spPr>
            <a:xfrm>
              <a:off x="822959" y="2231136"/>
              <a:ext cx="4023360" cy="722375"/>
            </a:xfrm>
            <a:prstGeom prst="rect">
              <a:avLst/>
            </a:prstGeom>
            <a:noFill/>
          </p:spPr>
          <p:txBody>
            <a:bodyPr wrap="square" lIns="0" tIns="0" rIns="0" bIns="0" anchor="t">
              <a:noAutofit/>
            </a:bodyPr>
            <a:lstStyle/>
            <a:p>
              <a:pPr algn="l">
                <a:lnSpc>
                  <a:spcPct val="115000"/>
                </a:lnSpc>
                <a:spcAft>
                  <a:spcPts val="400"/>
                </a:spcAft>
              </a:pPr>
              <a:r>
                <a:rPr sz="1250" b="0" i="0">
                  <a:solidFill>
                    <a:srgbClr val="C9D2E3"/>
                  </a:solidFill>
                  <a:latin typeface="Segoe UI"/>
                </a:rPr>
                <a:t>~1,200 workloads on AWS, Azure &amp; Google Cloud; siloed tools, no unified cost view, frequent over-provisioning.</a:t>
              </a:r>
            </a:p>
          </p:txBody>
        </p:sp>
      </p:grpSp>
      <p:grpSp>
        <p:nvGrpSpPr>
          <p:cNvPr id="41" name="Group 40"/>
          <p:cNvGrpSpPr/>
          <p:nvPr/>
        </p:nvGrpSpPr>
        <p:grpSpPr>
          <a:xfrm>
            <a:off x="548640" y="3218688"/>
            <a:ext cx="4526280" cy="2770632"/>
            <a:chOff x="548640" y="3218688"/>
            <a:chExt cx="4526280" cy="2770632"/>
          </a:xfrm>
        </p:grpSpPr>
        <p:sp>
          <p:nvSpPr>
            <p:cNvPr id="42" name="Rounded Rectangle 41"/>
            <p:cNvSpPr/>
            <p:nvPr/>
          </p:nvSpPr>
          <p:spPr>
            <a:xfrm>
              <a:off x="548640" y="3218688"/>
              <a:ext cx="4526280" cy="2770632"/>
            </a:xfrm>
            <a:prstGeom prst="roundRect">
              <a:avLst>
                <a:gd name="adj" fmla="val 594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43" name="Rectangle 42"/>
            <p:cNvSpPr/>
            <p:nvPr/>
          </p:nvSpPr>
          <p:spPr>
            <a:xfrm>
              <a:off x="548640" y="3474720"/>
              <a:ext cx="45720" cy="384048"/>
            </a:xfrm>
            <a:prstGeom prst="rect">
              <a:avLst/>
            </a:prstGeom>
            <a:solidFill>
              <a:srgbClr val="199E70"/>
            </a:solidFill>
            <a:ln>
              <a:noFill/>
            </a:ln>
          </p:spPr>
          <p:txBody>
            <a:bodyPr wrap="square" rtlCol="0" anchor="ctr"/>
            <a:lstStyle/>
            <a:p>
              <a:pPr algn="ctr"/>
              <a:endParaRPr/>
            </a:p>
          </p:txBody>
        </p:sp>
        <p:sp>
          <p:nvSpPr>
            <p:cNvPr id="44" name="TextBox 43"/>
            <p:cNvSpPr txBox="1"/>
            <p:nvPr/>
          </p:nvSpPr>
          <p:spPr>
            <a:xfrm>
              <a:off x="804672" y="3419856"/>
              <a:ext cx="4087368" cy="411480"/>
            </a:xfrm>
            <a:prstGeom prst="rect">
              <a:avLst/>
            </a:prstGeom>
            <a:noFill/>
          </p:spPr>
          <p:txBody>
            <a:bodyPr wrap="square" lIns="0" tIns="0" rIns="0" bIns="0" anchor="t">
              <a:noAutofit/>
            </a:bodyPr>
            <a:lstStyle/>
            <a:p>
              <a:pPr algn="l">
                <a:lnSpc>
                  <a:spcPct val="112000"/>
                </a:lnSpc>
                <a:spcAft>
                  <a:spcPts val="0"/>
                </a:spcAft>
              </a:pPr>
              <a:r>
                <a:rPr sz="1500" b="0" i="0">
                  <a:solidFill>
                    <a:srgbClr val="FFFFFF"/>
                  </a:solidFill>
                  <a:latin typeface="Segoe UI Semibold"/>
                </a:rPr>
                <a:t>Actions</a:t>
              </a:r>
            </a:p>
          </p:txBody>
        </p:sp>
        <p:sp>
          <p:nvSpPr>
            <p:cNvPr id="45" name="TextBox 44"/>
            <p:cNvSpPr txBox="1"/>
            <p:nvPr/>
          </p:nvSpPr>
          <p:spPr>
            <a:xfrm>
              <a:off x="822959" y="3840480"/>
              <a:ext cx="4023360" cy="2011679"/>
            </a:xfrm>
            <a:prstGeom prst="rect">
              <a:avLst/>
            </a:prstGeom>
            <a:noFill/>
          </p:spPr>
          <p:txBody>
            <a:bodyPr wrap="square" lIns="0" tIns="0" rIns="0" bIns="0" anchor="t">
              <a:noAutofit/>
            </a:bodyPr>
            <a:lstStyle/>
            <a:p>
              <a:pPr marL="237744" indent="-237744" algn="l">
                <a:lnSpc>
                  <a:spcPct val="112000"/>
                </a:lnSpc>
                <a:spcAft>
                  <a:spcPts val="500"/>
                </a:spcAft>
                <a:buClr>
                  <a:srgbClr val="4FD1A1"/>
                </a:buClr>
                <a:buSzPct val="100000"/>
                <a:buFont typeface="Arial"/>
                <a:buChar char="•"/>
              </a:pPr>
              <a:r>
                <a:rPr sz="1250" b="0" i="0">
                  <a:solidFill>
                    <a:srgbClr val="C9D2E3"/>
                  </a:solidFill>
                  <a:latin typeface="Segoe UI"/>
                </a:rPr>
                <a:t>Unified control plane: </a:t>
              </a:r>
              <a:r>
                <a:rPr sz="1250" b="0" i="0">
                  <a:solidFill>
                    <a:srgbClr val="FFFFFF"/>
                  </a:solidFill>
                  <a:latin typeface="Segoe UI Semibold"/>
                </a:rPr>
                <a:t>Terraform + K8s fleet</a:t>
              </a:r>
            </a:p>
            <a:p>
              <a:pPr marL="237744" indent="-237744" algn="l">
                <a:lnSpc>
                  <a:spcPct val="112000"/>
                </a:lnSpc>
                <a:spcAft>
                  <a:spcPts val="500"/>
                </a:spcAft>
                <a:buClr>
                  <a:srgbClr val="4FD1A1"/>
                </a:buClr>
                <a:buSzPct val="100000"/>
                <a:buFont typeface="Arial"/>
                <a:buChar char="•"/>
              </a:pPr>
              <a:r>
                <a:rPr sz="1250" b="0" i="0">
                  <a:solidFill>
                    <a:srgbClr val="FFFFFF"/>
                  </a:solidFill>
                  <a:latin typeface="Segoe UI Semibold"/>
                </a:rPr>
                <a:t>FOCUS</a:t>
              </a:r>
              <a:r>
                <a:rPr sz="1250" b="0" i="0">
                  <a:solidFill>
                    <a:srgbClr val="C9D2E3"/>
                  </a:solidFill>
                  <a:latin typeface="Segoe UI"/>
                </a:rPr>
                <a:t>-based cost allocation &amp; showback</a:t>
              </a:r>
            </a:p>
            <a:p>
              <a:pPr marL="237744" indent="-237744" algn="l">
                <a:lnSpc>
                  <a:spcPct val="112000"/>
                </a:lnSpc>
                <a:spcAft>
                  <a:spcPts val="500"/>
                </a:spcAft>
                <a:buClr>
                  <a:srgbClr val="4FD1A1"/>
                </a:buClr>
                <a:buSzPct val="100000"/>
                <a:buFont typeface="Arial"/>
                <a:buChar char="•"/>
              </a:pPr>
              <a:r>
                <a:rPr sz="1250" b="0" i="0">
                  <a:solidFill>
                    <a:srgbClr val="C9D2E3"/>
                  </a:solidFill>
                  <a:latin typeface="Segoe UI"/>
                </a:rPr>
                <a:t>Policy-driven placement with </a:t>
              </a:r>
              <a:r>
                <a:rPr sz="1250" b="0" i="0">
                  <a:solidFill>
                    <a:srgbClr val="FFFFFF"/>
                  </a:solidFill>
                  <a:latin typeface="Segoe UI Semibold"/>
                </a:rPr>
                <a:t>NSGA-II</a:t>
              </a:r>
              <a:r>
                <a:rPr sz="1250" b="0" i="0">
                  <a:solidFill>
                    <a:srgbClr val="C9D2E3"/>
                  </a:solidFill>
                  <a:latin typeface="Segoe UI"/>
                </a:rPr>
                <a:t> scheduler</a:t>
              </a:r>
            </a:p>
            <a:p>
              <a:pPr marL="237744" indent="-237744" algn="l">
                <a:lnSpc>
                  <a:spcPct val="112000"/>
                </a:lnSpc>
                <a:spcAft>
                  <a:spcPts val="500"/>
                </a:spcAft>
                <a:buClr>
                  <a:srgbClr val="4FD1A1"/>
                </a:buClr>
                <a:buSzPct val="100000"/>
                <a:buFont typeface="Arial"/>
                <a:buChar char="•"/>
              </a:pPr>
              <a:r>
                <a:rPr sz="1250" b="0" i="0">
                  <a:solidFill>
                    <a:srgbClr val="FFFFFF"/>
                  </a:solidFill>
                  <a:latin typeface="Segoe UI Semibold"/>
                </a:rPr>
                <a:t>Spot</a:t>
              </a:r>
              <a:r>
                <a:rPr sz="1250" b="0" i="0">
                  <a:solidFill>
                    <a:srgbClr val="C9D2E3"/>
                  </a:solidFill>
                  <a:latin typeface="Segoe UI"/>
                </a:rPr>
                <a:t> for batch, </a:t>
              </a:r>
              <a:r>
                <a:rPr sz="1250" b="0" i="0">
                  <a:solidFill>
                    <a:srgbClr val="FFFFFF"/>
                  </a:solidFill>
                  <a:latin typeface="Segoe UI Semibold"/>
                </a:rPr>
                <a:t>predictive</a:t>
              </a:r>
              <a:r>
                <a:rPr sz="1250" b="0" i="0">
                  <a:solidFill>
                    <a:srgbClr val="C9D2E3"/>
                  </a:solidFill>
                  <a:latin typeface="Segoe UI"/>
                </a:rPr>
                <a:t> autoscaling</a:t>
              </a:r>
            </a:p>
            <a:p>
              <a:pPr marL="237744" indent="-237744" algn="l">
                <a:lnSpc>
                  <a:spcPct val="112000"/>
                </a:lnSpc>
                <a:spcAft>
                  <a:spcPts val="500"/>
                </a:spcAft>
                <a:buClr>
                  <a:srgbClr val="4FD1A1"/>
                </a:buClr>
                <a:buSzPct val="100000"/>
                <a:buFont typeface="Arial"/>
                <a:buChar char="•"/>
              </a:pPr>
              <a:r>
                <a:rPr sz="1250" b="0" i="0">
                  <a:solidFill>
                    <a:srgbClr val="C9D2E3"/>
                  </a:solidFill>
                  <a:latin typeface="Segoe UI"/>
                </a:rPr>
                <a:t>Rightsizing &amp; off-hours scheduling</a:t>
              </a:r>
            </a:p>
          </p:txBody>
        </p:sp>
      </p:grpSp>
      <p:sp>
        <p:nvSpPr>
          <p:cNvPr id="46" name="Rounded Rectangle 45"/>
          <p:cNvSpPr/>
          <p:nvPr/>
        </p:nvSpPr>
        <p:spPr>
          <a:xfrm>
            <a:off x="5303520" y="1627632"/>
            <a:ext cx="6336792" cy="2990088"/>
          </a:xfrm>
          <a:prstGeom prst="roundRect">
            <a:avLst>
              <a:gd name="adj" fmla="val 6000"/>
            </a:avLst>
          </a:prstGeom>
          <a:gradFill rotWithShape="1">
            <a:gsLst>
              <a:gs pos="0">
                <a:srgbClr val="182A4C"/>
              </a:gs>
              <a:gs pos="100000">
                <a:srgbClr val="13213D"/>
              </a:gs>
            </a:gsLst>
            <a:lin ang="5400000" scaled="0"/>
          </a:gradFill>
          <a:ln w="9525">
            <a:solidFill>
              <a:srgbClr val="2A3F69"/>
            </a:solidFill>
          </a:ln>
        </p:spPr>
        <p:txBody>
          <a:bodyPr wrap="square" rtlCol="0" anchor="ctr"/>
          <a:lstStyle/>
          <a:p>
            <a:pPr algn="ctr"/>
            <a:endParaRPr/>
          </a:p>
        </p:txBody>
      </p:sp>
      <p:sp>
        <p:nvSpPr>
          <p:cNvPr id="47" name="TextBox 46"/>
          <p:cNvSpPr txBox="1"/>
          <p:nvPr/>
        </p:nvSpPr>
        <p:spPr>
          <a:xfrm>
            <a:off x="5532120" y="1719072"/>
            <a:ext cx="5852160" cy="320040"/>
          </a:xfrm>
          <a:prstGeom prst="rect">
            <a:avLst/>
          </a:prstGeom>
          <a:noFill/>
        </p:spPr>
        <p:txBody>
          <a:bodyPr wrap="square" lIns="0" tIns="0" rIns="0" bIns="0" anchor="t">
            <a:noAutofit/>
          </a:bodyPr>
          <a:lstStyle/>
          <a:p>
            <a:pPr algn="l">
              <a:lnSpc>
                <a:spcPct val="112000"/>
              </a:lnSpc>
              <a:spcAft>
                <a:spcPts val="0"/>
              </a:spcAft>
            </a:pPr>
            <a:r>
              <a:rPr sz="1300" b="0" i="0">
                <a:solidFill>
                  <a:srgbClr val="FFFFFF"/>
                </a:solidFill>
                <a:latin typeface="Segoe UI Semibold"/>
              </a:rPr>
              <a:t>Monthly cloud spend by category ($k, illustrative)</a:t>
            </a:r>
          </a:p>
        </p:txBody>
      </p:sp>
      <p:graphicFrame>
        <p:nvGraphicFramePr>
          <p:cNvPr id="48" name="Chart 47"/>
          <p:cNvGraphicFramePr>
            <a:graphicFrameLocks noGrp="1"/>
          </p:cNvGraphicFramePr>
          <p:nvPr/>
        </p:nvGraphicFramePr>
        <p:xfrm>
          <a:off x="5394960" y="1993392"/>
          <a:ext cx="6172200" cy="2578608"/>
        </p:xfrm>
        <a:graphic>
          <a:graphicData uri="http://schemas.openxmlformats.org/drawingml/2006/chart">
            <c:chart xmlns:c="http://schemas.openxmlformats.org/drawingml/2006/chart" xmlns:r="http://schemas.openxmlformats.org/officeDocument/2006/relationships" r:id="rId3"/>
          </a:graphicData>
        </a:graphic>
      </p:graphicFrame>
      <p:grpSp>
        <p:nvGrpSpPr>
          <p:cNvPr id="49" name="Group 48"/>
          <p:cNvGrpSpPr/>
          <p:nvPr/>
        </p:nvGrpSpPr>
        <p:grpSpPr>
          <a:xfrm>
            <a:off x="5303520" y="4754880"/>
            <a:ext cx="2020824" cy="1234440"/>
            <a:chOff x="5303520" y="4754880"/>
            <a:chExt cx="2020824" cy="1234440"/>
          </a:xfrm>
        </p:grpSpPr>
        <p:sp>
          <p:nvSpPr>
            <p:cNvPr id="50" name="Rounded Rectangle 49"/>
            <p:cNvSpPr/>
            <p:nvPr/>
          </p:nvSpPr>
          <p:spPr>
            <a:xfrm>
              <a:off x="5303520" y="4754880"/>
              <a:ext cx="2020824" cy="1234440"/>
            </a:xfrm>
            <a:prstGeom prst="roundRect">
              <a:avLst>
                <a:gd name="adj" fmla="val 10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51" name="Rectangle 50"/>
            <p:cNvSpPr/>
            <p:nvPr/>
          </p:nvSpPr>
          <p:spPr>
            <a:xfrm>
              <a:off x="5303520" y="4983480"/>
              <a:ext cx="45720" cy="777240"/>
            </a:xfrm>
            <a:prstGeom prst="rect">
              <a:avLst/>
            </a:prstGeom>
            <a:solidFill>
              <a:srgbClr val="199E70"/>
            </a:solidFill>
            <a:ln>
              <a:noFill/>
            </a:ln>
          </p:spPr>
          <p:txBody>
            <a:bodyPr wrap="square" rtlCol="0" anchor="ctr"/>
            <a:lstStyle/>
            <a:p>
              <a:pPr algn="ctr"/>
              <a:endParaRPr/>
            </a:p>
          </p:txBody>
        </p:sp>
        <p:sp>
          <p:nvSpPr>
            <p:cNvPr id="52" name="TextBox 51"/>
            <p:cNvSpPr txBox="1"/>
            <p:nvPr/>
          </p:nvSpPr>
          <p:spPr>
            <a:xfrm>
              <a:off x="5577840" y="4864608"/>
              <a:ext cx="1563624" cy="685800"/>
            </a:xfrm>
            <a:prstGeom prst="rect">
              <a:avLst/>
            </a:prstGeom>
            <a:noFill/>
          </p:spPr>
          <p:txBody>
            <a:bodyPr wrap="square" lIns="0" tIns="0" rIns="0" bIns="0" anchor="ctr">
              <a:noAutofit/>
            </a:bodyPr>
            <a:lstStyle/>
            <a:p>
              <a:pPr algn="l">
                <a:lnSpc>
                  <a:spcPct val="112000"/>
                </a:lnSpc>
                <a:spcAft>
                  <a:spcPts val="0"/>
                </a:spcAft>
              </a:pPr>
              <a:r>
                <a:rPr sz="3600" b="0" i="0">
                  <a:gradFill>
                    <a:gsLst>
                      <a:gs pos="0">
                        <a:srgbClr val="FFFFFF"/>
                      </a:gs>
                      <a:gs pos="100000">
                        <a:srgbClr val="4FD1A1"/>
                      </a:gs>
                    </a:gsLst>
                    <a:lin ang="0" scaled="0"/>
                  </a:gradFill>
                  <a:latin typeface="Segoe UI Semibold"/>
                </a:rPr>
                <a:t>−32%</a:t>
              </a:r>
            </a:p>
          </p:txBody>
        </p:sp>
        <p:sp>
          <p:nvSpPr>
            <p:cNvPr id="53" name="TextBox 52"/>
            <p:cNvSpPr txBox="1"/>
            <p:nvPr/>
          </p:nvSpPr>
          <p:spPr>
            <a:xfrm>
              <a:off x="5577840" y="5541264"/>
              <a:ext cx="1563624" cy="365760"/>
            </a:xfrm>
            <a:prstGeom prst="rect">
              <a:avLst/>
            </a:prstGeom>
            <a:noFill/>
          </p:spPr>
          <p:txBody>
            <a:bodyPr wrap="square" lIns="0" tIns="0" rIns="0" bIns="0" anchor="t">
              <a:noAutofit/>
            </a:bodyPr>
            <a:lstStyle/>
            <a:p>
              <a:pPr algn="l">
                <a:lnSpc>
                  <a:spcPct val="110000"/>
                </a:lnSpc>
                <a:spcAft>
                  <a:spcPts val="0"/>
                </a:spcAft>
              </a:pPr>
              <a:r>
                <a:rPr sz="1200" b="0" i="0">
                  <a:solidFill>
                    <a:srgbClr val="C9D2E3"/>
                  </a:solidFill>
                  <a:latin typeface="Segoe UI"/>
                </a:rPr>
                <a:t>monthly cloud spend</a:t>
              </a:r>
            </a:p>
          </p:txBody>
        </p:sp>
      </p:grpSp>
      <p:grpSp>
        <p:nvGrpSpPr>
          <p:cNvPr id="54" name="Group 53"/>
          <p:cNvGrpSpPr/>
          <p:nvPr/>
        </p:nvGrpSpPr>
        <p:grpSpPr>
          <a:xfrm>
            <a:off x="7461504" y="4754880"/>
            <a:ext cx="2020824" cy="1234440"/>
            <a:chOff x="7461504" y="4754880"/>
            <a:chExt cx="2020824" cy="1234440"/>
          </a:xfrm>
        </p:grpSpPr>
        <p:sp>
          <p:nvSpPr>
            <p:cNvPr id="55" name="Rounded Rectangle 54"/>
            <p:cNvSpPr/>
            <p:nvPr/>
          </p:nvSpPr>
          <p:spPr>
            <a:xfrm>
              <a:off x="7461504" y="4754880"/>
              <a:ext cx="2020824" cy="1234440"/>
            </a:xfrm>
            <a:prstGeom prst="roundRect">
              <a:avLst>
                <a:gd name="adj" fmla="val 10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56" name="Rectangle 55"/>
            <p:cNvSpPr/>
            <p:nvPr/>
          </p:nvSpPr>
          <p:spPr>
            <a:xfrm>
              <a:off x="7461504" y="4983480"/>
              <a:ext cx="45720" cy="777240"/>
            </a:xfrm>
            <a:prstGeom prst="rect">
              <a:avLst/>
            </a:prstGeom>
            <a:solidFill>
              <a:srgbClr val="3987E5"/>
            </a:solidFill>
            <a:ln>
              <a:noFill/>
            </a:ln>
          </p:spPr>
          <p:txBody>
            <a:bodyPr wrap="square" rtlCol="0" anchor="ctr"/>
            <a:lstStyle/>
            <a:p>
              <a:pPr algn="ctr"/>
              <a:endParaRPr/>
            </a:p>
          </p:txBody>
        </p:sp>
        <p:sp>
          <p:nvSpPr>
            <p:cNvPr id="57" name="TextBox 56"/>
            <p:cNvSpPr txBox="1"/>
            <p:nvPr/>
          </p:nvSpPr>
          <p:spPr>
            <a:xfrm>
              <a:off x="7735824" y="4864608"/>
              <a:ext cx="1563624" cy="685800"/>
            </a:xfrm>
            <a:prstGeom prst="rect">
              <a:avLst/>
            </a:prstGeom>
            <a:noFill/>
          </p:spPr>
          <p:txBody>
            <a:bodyPr wrap="square" lIns="0" tIns="0" rIns="0" bIns="0" anchor="ctr">
              <a:noAutofit/>
            </a:bodyPr>
            <a:lstStyle/>
            <a:p>
              <a:pPr algn="l">
                <a:lnSpc>
                  <a:spcPct val="112000"/>
                </a:lnSpc>
                <a:spcAft>
                  <a:spcPts val="0"/>
                </a:spcAft>
              </a:pPr>
              <a:r>
                <a:rPr sz="3600" b="0" i="0">
                  <a:gradFill>
                    <a:gsLst>
                      <a:gs pos="0">
                        <a:srgbClr val="FFFFFF"/>
                      </a:gs>
                      <a:gs pos="100000">
                        <a:srgbClr val="7DB3F5"/>
                      </a:gs>
                    </a:gsLst>
                    <a:lin ang="0" scaled="0"/>
                  </a:gradFill>
                  <a:latin typeface="Segoe UI Semibold"/>
                </a:rPr>
                <a:t>−38%</a:t>
              </a:r>
            </a:p>
          </p:txBody>
        </p:sp>
        <p:sp>
          <p:nvSpPr>
            <p:cNvPr id="58" name="TextBox 57"/>
            <p:cNvSpPr txBox="1"/>
            <p:nvPr/>
          </p:nvSpPr>
          <p:spPr>
            <a:xfrm>
              <a:off x="7735824" y="5541264"/>
              <a:ext cx="1563624" cy="365760"/>
            </a:xfrm>
            <a:prstGeom prst="rect">
              <a:avLst/>
            </a:prstGeom>
            <a:noFill/>
          </p:spPr>
          <p:txBody>
            <a:bodyPr wrap="square" lIns="0" tIns="0" rIns="0" bIns="0" anchor="t">
              <a:noAutofit/>
            </a:bodyPr>
            <a:lstStyle/>
            <a:p>
              <a:pPr algn="l">
                <a:lnSpc>
                  <a:spcPct val="110000"/>
                </a:lnSpc>
                <a:spcAft>
                  <a:spcPts val="0"/>
                </a:spcAft>
              </a:pPr>
              <a:r>
                <a:rPr sz="1200" b="0" i="0">
                  <a:solidFill>
                    <a:srgbClr val="C9D2E3"/>
                  </a:solidFill>
                  <a:latin typeface="Segoe UI"/>
                </a:rPr>
                <a:t>p95 latency for EU &amp; APAC</a:t>
              </a:r>
            </a:p>
          </p:txBody>
        </p:sp>
      </p:grpSp>
      <p:grpSp>
        <p:nvGrpSpPr>
          <p:cNvPr id="59" name="Group 58"/>
          <p:cNvGrpSpPr/>
          <p:nvPr/>
        </p:nvGrpSpPr>
        <p:grpSpPr>
          <a:xfrm>
            <a:off x="9619488" y="4754880"/>
            <a:ext cx="2020824" cy="1234440"/>
            <a:chOff x="9619488" y="4754880"/>
            <a:chExt cx="2020824" cy="1234440"/>
          </a:xfrm>
        </p:grpSpPr>
        <p:sp>
          <p:nvSpPr>
            <p:cNvPr id="60" name="Rounded Rectangle 59"/>
            <p:cNvSpPr/>
            <p:nvPr/>
          </p:nvSpPr>
          <p:spPr>
            <a:xfrm>
              <a:off x="9619488" y="4754880"/>
              <a:ext cx="2020824" cy="1234440"/>
            </a:xfrm>
            <a:prstGeom prst="roundRect">
              <a:avLst>
                <a:gd name="adj" fmla="val 10000"/>
              </a:avLst>
            </a:prstGeom>
            <a:gradFill rotWithShape="1">
              <a:gsLst>
                <a:gs pos="0">
                  <a:srgbClr val="182A4C"/>
                </a:gs>
                <a:gs pos="100000">
                  <a:srgbClr val="13213D"/>
                </a:gs>
              </a:gsLst>
              <a:lin ang="5400000" scaled="0"/>
            </a:gradFill>
            <a:ln w="9525">
              <a:solidFill>
                <a:srgbClr val="2A3F69"/>
              </a:solidFill>
            </a:ln>
            <a:effectLst>
              <a:outerShdw blurRad="203200" dist="50800" dir="5400000" algn="t" rotWithShape="0">
                <a:srgbClr val="000000">
                  <a:alpha val="30000"/>
                </a:srgbClr>
              </a:outerShdw>
            </a:effectLst>
          </p:spPr>
          <p:txBody>
            <a:bodyPr wrap="square" rtlCol="0" anchor="ctr"/>
            <a:lstStyle/>
            <a:p>
              <a:pPr algn="ctr"/>
              <a:endParaRPr/>
            </a:p>
          </p:txBody>
        </p:sp>
        <p:sp>
          <p:nvSpPr>
            <p:cNvPr id="61" name="Rectangle 60"/>
            <p:cNvSpPr/>
            <p:nvPr/>
          </p:nvSpPr>
          <p:spPr>
            <a:xfrm>
              <a:off x="9619488" y="4983480"/>
              <a:ext cx="45720" cy="777240"/>
            </a:xfrm>
            <a:prstGeom prst="rect">
              <a:avLst/>
            </a:prstGeom>
            <a:solidFill>
              <a:srgbClr val="9085E9"/>
            </a:solidFill>
            <a:ln>
              <a:noFill/>
            </a:ln>
          </p:spPr>
          <p:txBody>
            <a:bodyPr wrap="square" rtlCol="0" anchor="ctr"/>
            <a:lstStyle/>
            <a:p>
              <a:pPr algn="ctr"/>
              <a:endParaRPr/>
            </a:p>
          </p:txBody>
        </p:sp>
        <p:sp>
          <p:nvSpPr>
            <p:cNvPr id="62" name="TextBox 61"/>
            <p:cNvSpPr txBox="1"/>
            <p:nvPr/>
          </p:nvSpPr>
          <p:spPr>
            <a:xfrm>
              <a:off x="9893808" y="4864608"/>
              <a:ext cx="1563624" cy="685800"/>
            </a:xfrm>
            <a:prstGeom prst="rect">
              <a:avLst/>
            </a:prstGeom>
            <a:noFill/>
          </p:spPr>
          <p:txBody>
            <a:bodyPr wrap="square" lIns="0" tIns="0" rIns="0" bIns="0" anchor="ctr">
              <a:noAutofit/>
            </a:bodyPr>
            <a:lstStyle/>
            <a:p>
              <a:pPr algn="l">
                <a:lnSpc>
                  <a:spcPct val="112000"/>
                </a:lnSpc>
                <a:spcAft>
                  <a:spcPts val="0"/>
                </a:spcAft>
              </a:pPr>
              <a:r>
                <a:rPr sz="3600" b="0" i="0">
                  <a:gradFill>
                    <a:gsLst>
                      <a:gs pos="0">
                        <a:srgbClr val="FFFFFF"/>
                      </a:gs>
                      <a:gs pos="100000">
                        <a:srgbClr val="B5ADF5"/>
                      </a:gs>
                    </a:gsLst>
                    <a:lin ang="0" scaled="0"/>
                  </a:gradFill>
                  <a:latin typeface="Segoe UI Semibold"/>
                </a:rPr>
                <a:t>99.99%</a:t>
              </a:r>
            </a:p>
          </p:txBody>
        </p:sp>
        <p:sp>
          <p:nvSpPr>
            <p:cNvPr id="63" name="TextBox 62"/>
            <p:cNvSpPr txBox="1"/>
            <p:nvPr/>
          </p:nvSpPr>
          <p:spPr>
            <a:xfrm>
              <a:off x="9893808" y="5541264"/>
              <a:ext cx="1563624" cy="365760"/>
            </a:xfrm>
            <a:prstGeom prst="rect">
              <a:avLst/>
            </a:prstGeom>
            <a:noFill/>
          </p:spPr>
          <p:txBody>
            <a:bodyPr wrap="square" lIns="0" tIns="0" rIns="0" bIns="0" anchor="t">
              <a:noAutofit/>
            </a:bodyPr>
            <a:lstStyle/>
            <a:p>
              <a:pPr algn="l">
                <a:lnSpc>
                  <a:spcPct val="110000"/>
                </a:lnSpc>
                <a:spcAft>
                  <a:spcPts val="0"/>
                </a:spcAft>
              </a:pPr>
              <a:r>
                <a:rPr sz="1200" b="0" i="0">
                  <a:solidFill>
                    <a:srgbClr val="C9D2E3"/>
                  </a:solidFill>
                  <a:latin typeface="Segoe UI"/>
                </a:rPr>
                <a:t>availability (from 99.95%)</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600"/>
                                        <p:tgtEl>
                                          <p:spTgt spid="36"/>
                                        </p:tgtEl>
                                      </p:cBhvr>
                                    </p:animEffect>
                                    <p:anim calcmode="lin" valueType="num">
                                      <p:cBhvr>
                                        <p:cTn id="8" dur="600" fill="hold"/>
                                        <p:tgtEl>
                                          <p:spTgt spid="36"/>
                                        </p:tgtEl>
                                        <p:attrNameLst>
                                          <p:attrName>ppt_x</p:attrName>
                                        </p:attrNameLst>
                                      </p:cBhvr>
                                      <p:tavLst>
                                        <p:tav tm="0">
                                          <p:val>
                                            <p:strVal val="#ppt_x"/>
                                          </p:val>
                                        </p:tav>
                                        <p:tav tm="100000">
                                          <p:val>
                                            <p:strVal val="#ppt_x"/>
                                          </p:val>
                                        </p:tav>
                                      </p:tavLst>
                                    </p:anim>
                                    <p:anim calcmode="lin" valueType="num">
                                      <p:cBhvr>
                                        <p:cTn id="9" dur="600" fill="hold"/>
                                        <p:tgtEl>
                                          <p:spTgt spid="36"/>
                                        </p:tgtEl>
                                        <p:attrNameLst>
                                          <p:attrName>ppt_y</p:attrName>
                                        </p:attrNameLst>
                                      </p:cBhvr>
                                      <p:tavLst>
                                        <p:tav tm="0">
                                          <p:val>
                                            <p:strVal val="#ppt_y+.08"/>
                                          </p:val>
                                        </p:tav>
                                        <p:tav tm="100000">
                                          <p:val>
                                            <p:strVal val="#ppt_y"/>
                                          </p:val>
                                        </p:tav>
                                      </p:tavLst>
                                    </p:anim>
                                  </p:childTnLst>
                                </p:cTn>
                              </p:par>
                              <p:par>
                                <p:cTn id="10" presetID="42" presetClass="entr" presetSubtype="0" fill="hold" nodeType="withEffect">
                                  <p:stCondLst>
                                    <p:cond delay="410"/>
                                  </p:stCondLst>
                                  <p:childTnLst>
                                    <p:set>
                                      <p:cBhvr>
                                        <p:cTn id="11" dur="1" fill="hold">
                                          <p:stCondLst>
                                            <p:cond delay="0"/>
                                          </p:stCondLst>
                                        </p:cTn>
                                        <p:tgtEl>
                                          <p:spTgt spid="41"/>
                                        </p:tgtEl>
                                        <p:attrNameLst>
                                          <p:attrName>style.visibility</p:attrName>
                                        </p:attrNameLst>
                                      </p:cBhvr>
                                      <p:to>
                                        <p:strVal val="visible"/>
                                      </p:to>
                                    </p:set>
                                    <p:animEffect transition="in" filter="fade">
                                      <p:cBhvr>
                                        <p:cTn id="12" dur="600"/>
                                        <p:tgtEl>
                                          <p:spTgt spid="41"/>
                                        </p:tgtEl>
                                      </p:cBhvr>
                                    </p:animEffect>
                                    <p:anim calcmode="lin" valueType="num">
                                      <p:cBhvr>
                                        <p:cTn id="13" dur="600" fill="hold"/>
                                        <p:tgtEl>
                                          <p:spTgt spid="41"/>
                                        </p:tgtEl>
                                        <p:attrNameLst>
                                          <p:attrName>ppt_x</p:attrName>
                                        </p:attrNameLst>
                                      </p:cBhvr>
                                      <p:tavLst>
                                        <p:tav tm="0">
                                          <p:val>
                                            <p:strVal val="#ppt_x"/>
                                          </p:val>
                                        </p:tav>
                                        <p:tav tm="100000">
                                          <p:val>
                                            <p:strVal val="#ppt_x"/>
                                          </p:val>
                                        </p:tav>
                                      </p:tavLst>
                                    </p:anim>
                                    <p:anim calcmode="lin" valueType="num">
                                      <p:cBhvr>
                                        <p:cTn id="14" dur="600" fill="hold"/>
                                        <p:tgtEl>
                                          <p:spTgt spid="41"/>
                                        </p:tgtEl>
                                        <p:attrNameLst>
                                          <p:attrName>ppt_y</p:attrName>
                                        </p:attrNameLst>
                                      </p:cBhvr>
                                      <p:tavLst>
                                        <p:tav tm="0">
                                          <p:val>
                                            <p:strVal val="#ppt_y+.08"/>
                                          </p:val>
                                        </p:tav>
                                        <p:tav tm="100000">
                                          <p:val>
                                            <p:strVal val="#ppt_y"/>
                                          </p:val>
                                        </p:tav>
                                      </p:tavLst>
                                    </p:anim>
                                  </p:childTnLst>
                                </p:cTn>
                              </p:par>
                              <p:par>
                                <p:cTn id="15" presetID="10" presetClass="entr" presetSubtype="0" fill="hold" grpId="0" nodeType="withEffect">
                                  <p:stCondLst>
                                    <p:cond delay="570"/>
                                  </p:stCondLst>
                                  <p:childTnLst>
                                    <p:set>
                                      <p:cBhvr>
                                        <p:cTn id="16" dur="1" fill="hold">
                                          <p:stCondLst>
                                            <p:cond delay="0"/>
                                          </p:stCondLst>
                                        </p:cTn>
                                        <p:tgtEl>
                                          <p:spTgt spid="46"/>
                                        </p:tgtEl>
                                        <p:attrNameLst>
                                          <p:attrName>style.visibility</p:attrName>
                                        </p:attrNameLst>
                                      </p:cBhvr>
                                      <p:to>
                                        <p:strVal val="visible"/>
                                      </p:to>
                                    </p:set>
                                    <p:animEffect transition="in" filter="fade">
                                      <p:cBhvr>
                                        <p:cTn id="17" dur="600"/>
                                        <p:tgtEl>
                                          <p:spTgt spid="46"/>
                                        </p:tgtEl>
                                      </p:cBhvr>
                                    </p:animEffect>
                                  </p:childTnLst>
                                </p:cTn>
                              </p:par>
                              <p:par>
                                <p:cTn id="18" presetID="10" presetClass="entr" presetSubtype="0" fill="hold" grpId="0" nodeType="withEffect">
                                  <p:stCondLst>
                                    <p:cond delay="570"/>
                                  </p:stCondLst>
                                  <p:childTnLst>
                                    <p:set>
                                      <p:cBhvr>
                                        <p:cTn id="19" dur="1" fill="hold">
                                          <p:stCondLst>
                                            <p:cond delay="0"/>
                                          </p:stCondLst>
                                        </p:cTn>
                                        <p:tgtEl>
                                          <p:spTgt spid="47"/>
                                        </p:tgtEl>
                                        <p:attrNameLst>
                                          <p:attrName>style.visibility</p:attrName>
                                        </p:attrNameLst>
                                      </p:cBhvr>
                                      <p:to>
                                        <p:strVal val="visible"/>
                                      </p:to>
                                    </p:set>
                                    <p:animEffect transition="in" filter="fade">
                                      <p:cBhvr>
                                        <p:cTn id="20" dur="600"/>
                                        <p:tgtEl>
                                          <p:spTgt spid="47"/>
                                        </p:tgtEl>
                                      </p:cBhvr>
                                    </p:animEffect>
                                  </p:childTnLst>
                                </p:cTn>
                              </p:par>
                              <p:par>
                                <p:cTn id="21" presetID="22" presetClass="entr" presetSubtype="4" fill="hold" nodeType="withEffect">
                                  <p:stCondLst>
                                    <p:cond delay="730"/>
                                  </p:stCondLst>
                                  <p:childTnLst>
                                    <p:set>
                                      <p:cBhvr>
                                        <p:cTn id="22" dur="1" fill="hold">
                                          <p:stCondLst>
                                            <p:cond delay="0"/>
                                          </p:stCondLst>
                                        </p:cTn>
                                        <p:tgtEl>
                                          <p:spTgt spid="48"/>
                                        </p:tgtEl>
                                        <p:attrNameLst>
                                          <p:attrName>style.visibility</p:attrName>
                                        </p:attrNameLst>
                                      </p:cBhvr>
                                      <p:to>
                                        <p:strVal val="visible"/>
                                      </p:to>
                                    </p:set>
                                    <p:animEffect transition="in" filter="wipe(down)">
                                      <p:cBhvr>
                                        <p:cTn id="23" dur="900"/>
                                        <p:tgtEl>
                                          <p:spTgt spid="48"/>
                                        </p:tgtEl>
                                      </p:cBhvr>
                                    </p:animEffect>
                                  </p:childTnLst>
                                </p:cTn>
                              </p:par>
                              <p:par>
                                <p:cTn id="24" presetID="42" presetClass="entr" presetSubtype="0" fill="hold" nodeType="withEffect">
                                  <p:stCondLst>
                                    <p:cond delay="890"/>
                                  </p:stCondLst>
                                  <p:childTnLst>
                                    <p:set>
                                      <p:cBhvr>
                                        <p:cTn id="25" dur="1" fill="hold">
                                          <p:stCondLst>
                                            <p:cond delay="0"/>
                                          </p:stCondLst>
                                        </p:cTn>
                                        <p:tgtEl>
                                          <p:spTgt spid="49"/>
                                        </p:tgtEl>
                                        <p:attrNameLst>
                                          <p:attrName>style.visibility</p:attrName>
                                        </p:attrNameLst>
                                      </p:cBhvr>
                                      <p:to>
                                        <p:strVal val="visible"/>
                                      </p:to>
                                    </p:set>
                                    <p:animEffect transition="in" filter="fade">
                                      <p:cBhvr>
                                        <p:cTn id="26" dur="600"/>
                                        <p:tgtEl>
                                          <p:spTgt spid="49"/>
                                        </p:tgtEl>
                                      </p:cBhvr>
                                    </p:animEffect>
                                    <p:anim calcmode="lin" valueType="num">
                                      <p:cBhvr>
                                        <p:cTn id="27" dur="600" fill="hold"/>
                                        <p:tgtEl>
                                          <p:spTgt spid="49"/>
                                        </p:tgtEl>
                                        <p:attrNameLst>
                                          <p:attrName>ppt_x</p:attrName>
                                        </p:attrNameLst>
                                      </p:cBhvr>
                                      <p:tavLst>
                                        <p:tav tm="0">
                                          <p:val>
                                            <p:strVal val="#ppt_x"/>
                                          </p:val>
                                        </p:tav>
                                        <p:tav tm="100000">
                                          <p:val>
                                            <p:strVal val="#ppt_x"/>
                                          </p:val>
                                        </p:tav>
                                      </p:tavLst>
                                    </p:anim>
                                    <p:anim calcmode="lin" valueType="num">
                                      <p:cBhvr>
                                        <p:cTn id="28" dur="600" fill="hold"/>
                                        <p:tgtEl>
                                          <p:spTgt spid="49"/>
                                        </p:tgtEl>
                                        <p:attrNameLst>
                                          <p:attrName>ppt_y</p:attrName>
                                        </p:attrNameLst>
                                      </p:cBhvr>
                                      <p:tavLst>
                                        <p:tav tm="0">
                                          <p:val>
                                            <p:strVal val="#ppt_y+.08"/>
                                          </p:val>
                                        </p:tav>
                                        <p:tav tm="100000">
                                          <p:val>
                                            <p:strVal val="#ppt_y"/>
                                          </p:val>
                                        </p:tav>
                                      </p:tavLst>
                                    </p:anim>
                                  </p:childTnLst>
                                </p:cTn>
                              </p:par>
                              <p:par>
                                <p:cTn id="29" presetID="42" presetClass="entr" presetSubtype="0" fill="hold" nodeType="withEffect">
                                  <p:stCondLst>
                                    <p:cond delay="1050"/>
                                  </p:stCondLst>
                                  <p:childTnLst>
                                    <p:set>
                                      <p:cBhvr>
                                        <p:cTn id="30" dur="1" fill="hold">
                                          <p:stCondLst>
                                            <p:cond delay="0"/>
                                          </p:stCondLst>
                                        </p:cTn>
                                        <p:tgtEl>
                                          <p:spTgt spid="54"/>
                                        </p:tgtEl>
                                        <p:attrNameLst>
                                          <p:attrName>style.visibility</p:attrName>
                                        </p:attrNameLst>
                                      </p:cBhvr>
                                      <p:to>
                                        <p:strVal val="visible"/>
                                      </p:to>
                                    </p:set>
                                    <p:animEffect transition="in" filter="fade">
                                      <p:cBhvr>
                                        <p:cTn id="31" dur="600"/>
                                        <p:tgtEl>
                                          <p:spTgt spid="54"/>
                                        </p:tgtEl>
                                      </p:cBhvr>
                                    </p:animEffect>
                                    <p:anim calcmode="lin" valueType="num">
                                      <p:cBhvr>
                                        <p:cTn id="32" dur="600" fill="hold"/>
                                        <p:tgtEl>
                                          <p:spTgt spid="54"/>
                                        </p:tgtEl>
                                        <p:attrNameLst>
                                          <p:attrName>ppt_x</p:attrName>
                                        </p:attrNameLst>
                                      </p:cBhvr>
                                      <p:tavLst>
                                        <p:tav tm="0">
                                          <p:val>
                                            <p:strVal val="#ppt_x"/>
                                          </p:val>
                                        </p:tav>
                                        <p:tav tm="100000">
                                          <p:val>
                                            <p:strVal val="#ppt_x"/>
                                          </p:val>
                                        </p:tav>
                                      </p:tavLst>
                                    </p:anim>
                                    <p:anim calcmode="lin" valueType="num">
                                      <p:cBhvr>
                                        <p:cTn id="33" dur="600" fill="hold"/>
                                        <p:tgtEl>
                                          <p:spTgt spid="54"/>
                                        </p:tgtEl>
                                        <p:attrNameLst>
                                          <p:attrName>ppt_y</p:attrName>
                                        </p:attrNameLst>
                                      </p:cBhvr>
                                      <p:tavLst>
                                        <p:tav tm="0">
                                          <p:val>
                                            <p:strVal val="#ppt_y+.08"/>
                                          </p:val>
                                        </p:tav>
                                        <p:tav tm="100000">
                                          <p:val>
                                            <p:strVal val="#ppt_y"/>
                                          </p:val>
                                        </p:tav>
                                      </p:tavLst>
                                    </p:anim>
                                  </p:childTnLst>
                                </p:cTn>
                              </p:par>
                              <p:par>
                                <p:cTn id="34" presetID="42" presetClass="entr" presetSubtype="0" fill="hold" nodeType="withEffect">
                                  <p:stCondLst>
                                    <p:cond delay="1210"/>
                                  </p:stCondLst>
                                  <p:childTnLst>
                                    <p:set>
                                      <p:cBhvr>
                                        <p:cTn id="35" dur="1" fill="hold">
                                          <p:stCondLst>
                                            <p:cond delay="0"/>
                                          </p:stCondLst>
                                        </p:cTn>
                                        <p:tgtEl>
                                          <p:spTgt spid="59"/>
                                        </p:tgtEl>
                                        <p:attrNameLst>
                                          <p:attrName>style.visibility</p:attrName>
                                        </p:attrNameLst>
                                      </p:cBhvr>
                                      <p:to>
                                        <p:strVal val="visible"/>
                                      </p:to>
                                    </p:set>
                                    <p:animEffect transition="in" filter="fade">
                                      <p:cBhvr>
                                        <p:cTn id="36" dur="600"/>
                                        <p:tgtEl>
                                          <p:spTgt spid="59"/>
                                        </p:tgtEl>
                                      </p:cBhvr>
                                    </p:animEffect>
                                    <p:anim calcmode="lin" valueType="num">
                                      <p:cBhvr>
                                        <p:cTn id="37" dur="600" fill="hold"/>
                                        <p:tgtEl>
                                          <p:spTgt spid="59"/>
                                        </p:tgtEl>
                                        <p:attrNameLst>
                                          <p:attrName>ppt_x</p:attrName>
                                        </p:attrNameLst>
                                      </p:cBhvr>
                                      <p:tavLst>
                                        <p:tav tm="0">
                                          <p:val>
                                            <p:strVal val="#ppt_x"/>
                                          </p:val>
                                        </p:tav>
                                        <p:tav tm="100000">
                                          <p:val>
                                            <p:strVal val="#ppt_x"/>
                                          </p:val>
                                        </p:tav>
                                      </p:tavLst>
                                    </p:anim>
                                    <p:anim calcmode="lin" valueType="num">
                                      <p:cBhvr>
                                        <p:cTn id="38" dur="600" fill="hold"/>
                                        <p:tgtEl>
                                          <p:spTgt spid="5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607334" y="-2455552"/>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581526" y="4361943"/>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9794791" y="4897093"/>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ROADMAP</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Adoption Roadmap &amp; Best Practices</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Wrap-up</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lang="en-GB" sz="1000">
                <a:solidFill>
                  <a:srgbClr val="C9D2E3"/>
                </a:solidFill>
                <a:latin typeface="Segoe UI Semibold"/>
              </a:rPr>
              <a:t>29</a:t>
            </a:r>
            <a:r>
              <a:rPr sz="1000" b="0" i="0" dirty="0">
                <a:solidFill>
                  <a:srgbClr val="8C9AB5"/>
                </a:solidFill>
                <a:latin typeface="Segoe UI"/>
              </a:rPr>
              <a:t> / 30</a:t>
            </a:r>
          </a:p>
        </p:txBody>
      </p:sp>
      <p:grpSp>
        <p:nvGrpSpPr>
          <p:cNvPr id="36" name="Group 35"/>
          <p:cNvGrpSpPr/>
          <p:nvPr/>
        </p:nvGrpSpPr>
        <p:grpSpPr>
          <a:xfrm>
            <a:off x="548640" y="3886200"/>
            <a:ext cx="2103120" cy="2194560"/>
            <a:chOff x="548640" y="3886200"/>
            <a:chExt cx="2103120" cy="2194560"/>
          </a:xfrm>
        </p:grpSpPr>
        <p:sp>
          <p:nvSpPr>
            <p:cNvPr id="37" name="Rounded Rectangle 36"/>
            <p:cNvSpPr/>
            <p:nvPr/>
          </p:nvSpPr>
          <p:spPr>
            <a:xfrm>
              <a:off x="548640" y="3886200"/>
              <a:ext cx="2103120" cy="2103120"/>
            </a:xfrm>
            <a:prstGeom prst="roundRect">
              <a:avLst>
                <a:gd name="adj" fmla="val 7000"/>
              </a:avLst>
            </a:prstGeom>
            <a:gradFill rotWithShape="1">
              <a:gsLst>
                <a:gs pos="0">
                  <a:srgbClr val="3987E5">
                    <a:alpha val="32000"/>
                  </a:srgbClr>
                </a:gs>
                <a:gs pos="35000">
                  <a:srgbClr val="182A4C"/>
                </a:gs>
                <a:gs pos="100000">
                  <a:srgbClr val="13213D"/>
                </a:gs>
              </a:gsLst>
              <a:lin ang="5400000" scaled="0"/>
            </a:gradFill>
            <a:ln w="12700">
              <a:solidFill>
                <a:srgbClr val="3987E5">
                  <a:alpha val="55000"/>
                </a:srgbClr>
              </a:solidFill>
            </a:ln>
            <a:effectLst>
              <a:outerShdw blurRad="203200" dist="50800" dir="5400000" algn="t" rotWithShape="0">
                <a:srgbClr val="000000">
                  <a:alpha val="35000"/>
                </a:srgbClr>
              </a:outerShdw>
            </a:effectLst>
          </p:spPr>
          <p:txBody>
            <a:bodyPr wrap="square" rtlCol="0" anchor="ctr"/>
            <a:lstStyle/>
            <a:p>
              <a:pPr algn="ctr"/>
              <a:endParaRPr/>
            </a:p>
          </p:txBody>
        </p:sp>
        <p:sp>
          <p:nvSpPr>
            <p:cNvPr id="38" name="TextBox 37"/>
            <p:cNvSpPr txBox="1"/>
            <p:nvPr/>
          </p:nvSpPr>
          <p:spPr>
            <a:xfrm>
              <a:off x="749808" y="4023360"/>
              <a:ext cx="1737360" cy="274320"/>
            </a:xfrm>
            <a:prstGeom prst="rect">
              <a:avLst/>
            </a:prstGeom>
            <a:noFill/>
          </p:spPr>
          <p:txBody>
            <a:bodyPr wrap="square" lIns="0" tIns="0" rIns="0" bIns="0" anchor="t">
              <a:noAutofit/>
            </a:bodyPr>
            <a:lstStyle/>
            <a:p>
              <a:pPr algn="l">
                <a:lnSpc>
                  <a:spcPct val="112000"/>
                </a:lnSpc>
                <a:spcAft>
                  <a:spcPts val="0"/>
                </a:spcAft>
              </a:pPr>
              <a:r>
                <a:rPr sz="1050" b="0" i="0" spc="250">
                  <a:solidFill>
                    <a:srgbClr val="7DB3F5"/>
                  </a:solidFill>
                  <a:latin typeface="Segoe UI Semibold"/>
                </a:rPr>
                <a:t>LEVEL 1</a:t>
              </a:r>
            </a:p>
          </p:txBody>
        </p:sp>
        <p:sp>
          <p:nvSpPr>
            <p:cNvPr id="39" name="TextBox 38"/>
            <p:cNvSpPr txBox="1"/>
            <p:nvPr/>
          </p:nvSpPr>
          <p:spPr>
            <a:xfrm>
              <a:off x="749808" y="4297680"/>
              <a:ext cx="1783080" cy="411480"/>
            </a:xfrm>
            <a:prstGeom prst="rect">
              <a:avLst/>
            </a:prstGeom>
            <a:noFill/>
          </p:spPr>
          <p:txBody>
            <a:bodyPr wrap="square" lIns="0" tIns="0" rIns="0" bIns="0" anchor="t">
              <a:noAutofit/>
            </a:bodyPr>
            <a:lstStyle/>
            <a:p>
              <a:pPr algn="l">
                <a:lnSpc>
                  <a:spcPct val="112000"/>
                </a:lnSpc>
                <a:spcAft>
                  <a:spcPts val="0"/>
                </a:spcAft>
              </a:pPr>
              <a:r>
                <a:rPr sz="1800" b="0" i="0">
                  <a:solidFill>
                    <a:srgbClr val="FFFFFF"/>
                  </a:solidFill>
                  <a:latin typeface="Segoe UI Semibold"/>
                </a:rPr>
                <a:t>Assess</a:t>
              </a:r>
            </a:p>
          </p:txBody>
        </p:sp>
        <p:sp>
          <p:nvSpPr>
            <p:cNvPr id="40" name="TextBox 39"/>
            <p:cNvSpPr txBox="1"/>
            <p:nvPr/>
          </p:nvSpPr>
          <p:spPr>
            <a:xfrm>
              <a:off x="749808" y="4800600"/>
              <a:ext cx="1783080" cy="1280160"/>
            </a:xfrm>
            <a:prstGeom prst="rect">
              <a:avLst/>
            </a:prstGeom>
            <a:noFill/>
          </p:spPr>
          <p:txBody>
            <a:bodyPr wrap="square" lIns="0" tIns="0" rIns="0" bIns="0" anchor="t">
              <a:noAutofit/>
            </a:bodyPr>
            <a:lstStyle/>
            <a:p>
              <a:pPr marL="237744" indent="-237744" algn="l">
                <a:lnSpc>
                  <a:spcPct val="112000"/>
                </a:lnSpc>
                <a:spcAft>
                  <a:spcPts val="500"/>
                </a:spcAft>
                <a:buClr>
                  <a:srgbClr val="7DB3F5"/>
                </a:buClr>
                <a:buSzPct val="100000"/>
                <a:buFont typeface="Arial"/>
                <a:buChar char="•"/>
              </a:pPr>
              <a:r>
                <a:rPr sz="1150" b="0" i="0">
                  <a:solidFill>
                    <a:srgbClr val="C9D2E3"/>
                  </a:solidFill>
                  <a:latin typeface="Segoe UI"/>
                </a:rPr>
                <a:t>Inventory accounts &amp; workloads</a:t>
              </a:r>
            </a:p>
            <a:p>
              <a:pPr marL="237744" indent="-237744" algn="l">
                <a:lnSpc>
                  <a:spcPct val="112000"/>
                </a:lnSpc>
                <a:spcAft>
                  <a:spcPts val="500"/>
                </a:spcAft>
                <a:buClr>
                  <a:srgbClr val="7DB3F5"/>
                </a:buClr>
                <a:buSzPct val="100000"/>
                <a:buFont typeface="Arial"/>
                <a:buChar char="•"/>
              </a:pPr>
              <a:r>
                <a:rPr sz="1150" b="0" i="0">
                  <a:solidFill>
                    <a:srgbClr val="C9D2E3"/>
                  </a:solidFill>
                  <a:latin typeface="Segoe UI"/>
                </a:rPr>
                <a:t>Baseline costs &amp; SLAs</a:t>
              </a:r>
            </a:p>
            <a:p>
              <a:pPr marL="237744" indent="-237744" algn="l">
                <a:lnSpc>
                  <a:spcPct val="112000"/>
                </a:lnSpc>
                <a:spcAft>
                  <a:spcPts val="500"/>
                </a:spcAft>
                <a:buClr>
                  <a:srgbClr val="7DB3F5"/>
                </a:buClr>
                <a:buSzPct val="100000"/>
                <a:buFont typeface="Arial"/>
                <a:buChar char="•"/>
              </a:pPr>
              <a:r>
                <a:rPr sz="1150" b="0" i="0">
                  <a:solidFill>
                    <a:srgbClr val="C9D2E3"/>
                  </a:solidFill>
                  <a:latin typeface="Segoe UI"/>
                </a:rPr>
                <a:t>Identify data gravity</a:t>
              </a:r>
            </a:p>
          </p:txBody>
        </p:sp>
      </p:grpSp>
      <p:grpSp>
        <p:nvGrpSpPr>
          <p:cNvPr id="41" name="Group 40"/>
          <p:cNvGrpSpPr/>
          <p:nvPr/>
        </p:nvGrpSpPr>
        <p:grpSpPr>
          <a:xfrm>
            <a:off x="2788920" y="3502152"/>
            <a:ext cx="2103120" cy="2487168"/>
            <a:chOff x="2788920" y="3502152"/>
            <a:chExt cx="2103120" cy="2487168"/>
          </a:xfrm>
        </p:grpSpPr>
        <p:sp>
          <p:nvSpPr>
            <p:cNvPr id="42" name="Rounded Rectangle 41"/>
            <p:cNvSpPr/>
            <p:nvPr/>
          </p:nvSpPr>
          <p:spPr>
            <a:xfrm>
              <a:off x="2788920" y="3502152"/>
              <a:ext cx="2103120" cy="2487168"/>
            </a:xfrm>
            <a:prstGeom prst="roundRect">
              <a:avLst>
                <a:gd name="adj" fmla="val 7000"/>
              </a:avLst>
            </a:prstGeom>
            <a:gradFill rotWithShape="1">
              <a:gsLst>
                <a:gs pos="0">
                  <a:srgbClr val="9085E9">
                    <a:alpha val="32000"/>
                  </a:srgbClr>
                </a:gs>
                <a:gs pos="35000">
                  <a:srgbClr val="182A4C"/>
                </a:gs>
                <a:gs pos="100000">
                  <a:srgbClr val="13213D"/>
                </a:gs>
              </a:gsLst>
              <a:lin ang="5400000" scaled="0"/>
            </a:gradFill>
            <a:ln w="12700">
              <a:solidFill>
                <a:srgbClr val="9085E9">
                  <a:alpha val="55000"/>
                </a:srgbClr>
              </a:solidFill>
            </a:ln>
            <a:effectLst>
              <a:outerShdw blurRad="203200" dist="50800" dir="5400000" algn="t" rotWithShape="0">
                <a:srgbClr val="000000">
                  <a:alpha val="35000"/>
                </a:srgbClr>
              </a:outerShdw>
            </a:effectLst>
          </p:spPr>
          <p:txBody>
            <a:bodyPr wrap="square" rtlCol="0" anchor="ctr"/>
            <a:lstStyle/>
            <a:p>
              <a:pPr algn="ctr"/>
              <a:endParaRPr/>
            </a:p>
          </p:txBody>
        </p:sp>
        <p:sp>
          <p:nvSpPr>
            <p:cNvPr id="43" name="TextBox 42"/>
            <p:cNvSpPr txBox="1"/>
            <p:nvPr/>
          </p:nvSpPr>
          <p:spPr>
            <a:xfrm>
              <a:off x="2990088" y="3639312"/>
              <a:ext cx="1737360" cy="274320"/>
            </a:xfrm>
            <a:prstGeom prst="rect">
              <a:avLst/>
            </a:prstGeom>
            <a:noFill/>
          </p:spPr>
          <p:txBody>
            <a:bodyPr wrap="square" lIns="0" tIns="0" rIns="0" bIns="0" anchor="t">
              <a:noAutofit/>
            </a:bodyPr>
            <a:lstStyle/>
            <a:p>
              <a:pPr algn="l">
                <a:lnSpc>
                  <a:spcPct val="112000"/>
                </a:lnSpc>
                <a:spcAft>
                  <a:spcPts val="0"/>
                </a:spcAft>
              </a:pPr>
              <a:r>
                <a:rPr sz="1050" b="0" i="0" spc="250">
                  <a:solidFill>
                    <a:srgbClr val="B5ADF5"/>
                  </a:solidFill>
                  <a:latin typeface="Segoe UI Semibold"/>
                </a:rPr>
                <a:t>LEVEL 2</a:t>
              </a:r>
            </a:p>
          </p:txBody>
        </p:sp>
        <p:sp>
          <p:nvSpPr>
            <p:cNvPr id="44" name="TextBox 43"/>
            <p:cNvSpPr txBox="1"/>
            <p:nvPr/>
          </p:nvSpPr>
          <p:spPr>
            <a:xfrm>
              <a:off x="2990088" y="3913632"/>
              <a:ext cx="1783080" cy="411480"/>
            </a:xfrm>
            <a:prstGeom prst="rect">
              <a:avLst/>
            </a:prstGeom>
            <a:noFill/>
          </p:spPr>
          <p:txBody>
            <a:bodyPr wrap="square" lIns="0" tIns="0" rIns="0" bIns="0" anchor="t">
              <a:noAutofit/>
            </a:bodyPr>
            <a:lstStyle/>
            <a:p>
              <a:pPr algn="l">
                <a:lnSpc>
                  <a:spcPct val="112000"/>
                </a:lnSpc>
                <a:spcAft>
                  <a:spcPts val="0"/>
                </a:spcAft>
              </a:pPr>
              <a:r>
                <a:rPr sz="1800" b="0" i="0">
                  <a:solidFill>
                    <a:srgbClr val="FFFFFF"/>
                  </a:solidFill>
                  <a:latin typeface="Segoe UI Semibold"/>
                </a:rPr>
                <a:t>Standardize</a:t>
              </a:r>
            </a:p>
          </p:txBody>
        </p:sp>
        <p:sp>
          <p:nvSpPr>
            <p:cNvPr id="45" name="TextBox 44"/>
            <p:cNvSpPr txBox="1"/>
            <p:nvPr/>
          </p:nvSpPr>
          <p:spPr>
            <a:xfrm>
              <a:off x="2990088" y="4416552"/>
              <a:ext cx="1783080" cy="1280160"/>
            </a:xfrm>
            <a:prstGeom prst="rect">
              <a:avLst/>
            </a:prstGeom>
            <a:noFill/>
          </p:spPr>
          <p:txBody>
            <a:bodyPr wrap="square" lIns="0" tIns="0" rIns="0" bIns="0" anchor="t">
              <a:noAutofit/>
            </a:bodyPr>
            <a:lstStyle/>
            <a:p>
              <a:pPr marL="237744" indent="-237744" algn="l">
                <a:lnSpc>
                  <a:spcPct val="112000"/>
                </a:lnSpc>
                <a:spcAft>
                  <a:spcPts val="500"/>
                </a:spcAft>
                <a:buClr>
                  <a:srgbClr val="B5ADF5"/>
                </a:buClr>
                <a:buSzPct val="100000"/>
                <a:buFont typeface="Arial"/>
                <a:buChar char="•"/>
              </a:pPr>
              <a:r>
                <a:rPr sz="1150" b="0" i="0">
                  <a:solidFill>
                    <a:srgbClr val="C9D2E3"/>
                  </a:solidFill>
                  <a:latin typeface="Segoe UI"/>
                </a:rPr>
                <a:t>Landing zones per cloud</a:t>
              </a:r>
            </a:p>
            <a:p>
              <a:pPr marL="237744" indent="-237744" algn="l">
                <a:lnSpc>
                  <a:spcPct val="112000"/>
                </a:lnSpc>
                <a:spcAft>
                  <a:spcPts val="500"/>
                </a:spcAft>
                <a:buClr>
                  <a:srgbClr val="B5ADF5"/>
                </a:buClr>
                <a:buSzPct val="100000"/>
                <a:buFont typeface="Arial"/>
                <a:buChar char="•"/>
              </a:pPr>
              <a:r>
                <a:rPr sz="1150" b="0" i="0">
                  <a:solidFill>
                    <a:srgbClr val="C9D2E3"/>
                  </a:solidFill>
                  <a:latin typeface="Segoe UI"/>
                </a:rPr>
                <a:t>Tagging &amp; naming policy</a:t>
              </a:r>
            </a:p>
            <a:p>
              <a:pPr marL="237744" indent="-237744" algn="l">
                <a:lnSpc>
                  <a:spcPct val="112000"/>
                </a:lnSpc>
                <a:spcAft>
                  <a:spcPts val="500"/>
                </a:spcAft>
                <a:buClr>
                  <a:srgbClr val="B5ADF5"/>
                </a:buClr>
                <a:buSzPct val="100000"/>
                <a:buFont typeface="Arial"/>
                <a:buChar char="•"/>
              </a:pPr>
              <a:r>
                <a:rPr sz="1150" b="0" i="0">
                  <a:solidFill>
                    <a:srgbClr val="C9D2E3"/>
                  </a:solidFill>
                  <a:latin typeface="Segoe UI"/>
                </a:rPr>
                <a:t>IaC for everything</a:t>
              </a:r>
            </a:p>
          </p:txBody>
        </p:sp>
      </p:grpSp>
      <p:grpSp>
        <p:nvGrpSpPr>
          <p:cNvPr id="46" name="Group 45"/>
          <p:cNvGrpSpPr/>
          <p:nvPr/>
        </p:nvGrpSpPr>
        <p:grpSpPr>
          <a:xfrm>
            <a:off x="5029200" y="3118104"/>
            <a:ext cx="2103120" cy="2871215"/>
            <a:chOff x="5029200" y="3118104"/>
            <a:chExt cx="2103120" cy="2871215"/>
          </a:xfrm>
        </p:grpSpPr>
        <p:sp>
          <p:nvSpPr>
            <p:cNvPr id="47" name="Rounded Rectangle 46"/>
            <p:cNvSpPr/>
            <p:nvPr/>
          </p:nvSpPr>
          <p:spPr>
            <a:xfrm>
              <a:off x="5029200" y="3118104"/>
              <a:ext cx="2103120" cy="2871215"/>
            </a:xfrm>
            <a:prstGeom prst="roundRect">
              <a:avLst>
                <a:gd name="adj" fmla="val 7000"/>
              </a:avLst>
            </a:prstGeom>
            <a:gradFill rotWithShape="1">
              <a:gsLst>
                <a:gs pos="0">
                  <a:srgbClr val="199E70">
                    <a:alpha val="32000"/>
                  </a:srgbClr>
                </a:gs>
                <a:gs pos="35000">
                  <a:srgbClr val="182A4C"/>
                </a:gs>
                <a:gs pos="100000">
                  <a:srgbClr val="13213D"/>
                </a:gs>
              </a:gsLst>
              <a:lin ang="5400000" scaled="0"/>
            </a:gradFill>
            <a:ln w="12700">
              <a:solidFill>
                <a:srgbClr val="199E70">
                  <a:alpha val="55000"/>
                </a:srgbClr>
              </a:solidFill>
            </a:ln>
            <a:effectLst>
              <a:outerShdw blurRad="203200" dist="50800" dir="5400000" algn="t" rotWithShape="0">
                <a:srgbClr val="000000">
                  <a:alpha val="35000"/>
                </a:srgbClr>
              </a:outerShdw>
            </a:effectLst>
          </p:spPr>
          <p:txBody>
            <a:bodyPr wrap="square" rtlCol="0" anchor="ctr"/>
            <a:lstStyle/>
            <a:p>
              <a:pPr algn="ctr"/>
              <a:endParaRPr/>
            </a:p>
          </p:txBody>
        </p:sp>
        <p:sp>
          <p:nvSpPr>
            <p:cNvPr id="48" name="TextBox 47"/>
            <p:cNvSpPr txBox="1"/>
            <p:nvPr/>
          </p:nvSpPr>
          <p:spPr>
            <a:xfrm>
              <a:off x="5230368" y="3255264"/>
              <a:ext cx="1737360" cy="274320"/>
            </a:xfrm>
            <a:prstGeom prst="rect">
              <a:avLst/>
            </a:prstGeom>
            <a:noFill/>
          </p:spPr>
          <p:txBody>
            <a:bodyPr wrap="square" lIns="0" tIns="0" rIns="0" bIns="0" anchor="t">
              <a:noAutofit/>
            </a:bodyPr>
            <a:lstStyle/>
            <a:p>
              <a:pPr algn="l">
                <a:lnSpc>
                  <a:spcPct val="112000"/>
                </a:lnSpc>
                <a:spcAft>
                  <a:spcPts val="0"/>
                </a:spcAft>
              </a:pPr>
              <a:r>
                <a:rPr sz="1050" b="0" i="0" spc="250">
                  <a:solidFill>
                    <a:srgbClr val="4FD1A1"/>
                  </a:solidFill>
                  <a:latin typeface="Segoe UI Semibold"/>
                </a:rPr>
                <a:t>LEVEL 3</a:t>
              </a:r>
            </a:p>
          </p:txBody>
        </p:sp>
        <p:sp>
          <p:nvSpPr>
            <p:cNvPr id="49" name="TextBox 48"/>
            <p:cNvSpPr txBox="1"/>
            <p:nvPr/>
          </p:nvSpPr>
          <p:spPr>
            <a:xfrm>
              <a:off x="5230368" y="3529584"/>
              <a:ext cx="1783080" cy="411480"/>
            </a:xfrm>
            <a:prstGeom prst="rect">
              <a:avLst/>
            </a:prstGeom>
            <a:noFill/>
          </p:spPr>
          <p:txBody>
            <a:bodyPr wrap="square" lIns="0" tIns="0" rIns="0" bIns="0" anchor="t">
              <a:noAutofit/>
            </a:bodyPr>
            <a:lstStyle/>
            <a:p>
              <a:pPr algn="l">
                <a:lnSpc>
                  <a:spcPct val="112000"/>
                </a:lnSpc>
                <a:spcAft>
                  <a:spcPts val="0"/>
                </a:spcAft>
              </a:pPr>
              <a:r>
                <a:rPr sz="1800" b="0" i="0">
                  <a:solidFill>
                    <a:srgbClr val="FFFFFF"/>
                  </a:solidFill>
                  <a:latin typeface="Segoe UI Semibold"/>
                </a:rPr>
                <a:t>Automate</a:t>
              </a:r>
            </a:p>
          </p:txBody>
        </p:sp>
        <p:sp>
          <p:nvSpPr>
            <p:cNvPr id="50" name="TextBox 49"/>
            <p:cNvSpPr txBox="1"/>
            <p:nvPr/>
          </p:nvSpPr>
          <p:spPr>
            <a:xfrm>
              <a:off x="5230368" y="4032504"/>
              <a:ext cx="1783080" cy="1280160"/>
            </a:xfrm>
            <a:prstGeom prst="rect">
              <a:avLst/>
            </a:prstGeom>
            <a:noFill/>
          </p:spPr>
          <p:txBody>
            <a:bodyPr wrap="square" lIns="0" tIns="0" rIns="0" bIns="0" anchor="t">
              <a:noAutofit/>
            </a:bodyPr>
            <a:lstStyle/>
            <a:p>
              <a:pPr marL="237744" indent="-237744" algn="l">
                <a:lnSpc>
                  <a:spcPct val="112000"/>
                </a:lnSpc>
                <a:spcAft>
                  <a:spcPts val="500"/>
                </a:spcAft>
                <a:buClr>
                  <a:srgbClr val="4FD1A1"/>
                </a:buClr>
                <a:buSzPct val="100000"/>
                <a:buFont typeface="Arial"/>
                <a:buChar char="•"/>
              </a:pPr>
              <a:r>
                <a:rPr sz="1150" b="0" i="0">
                  <a:solidFill>
                    <a:srgbClr val="C9D2E3"/>
                  </a:solidFill>
                  <a:latin typeface="Segoe UI"/>
                </a:rPr>
                <a:t>GitOps pipelines</a:t>
              </a:r>
            </a:p>
            <a:p>
              <a:pPr marL="237744" indent="-237744" algn="l">
                <a:lnSpc>
                  <a:spcPct val="112000"/>
                </a:lnSpc>
                <a:spcAft>
                  <a:spcPts val="500"/>
                </a:spcAft>
                <a:buClr>
                  <a:srgbClr val="4FD1A1"/>
                </a:buClr>
                <a:buSzPct val="100000"/>
                <a:buFont typeface="Arial"/>
                <a:buChar char="•"/>
              </a:pPr>
              <a:r>
                <a:rPr sz="1150" b="0" i="0">
                  <a:solidFill>
                    <a:srgbClr val="C9D2E3"/>
                  </a:solidFill>
                  <a:latin typeface="Segoe UI"/>
                </a:rPr>
                <a:t>Policy as code guardrails</a:t>
              </a:r>
            </a:p>
            <a:p>
              <a:pPr marL="237744" indent="-237744" algn="l">
                <a:lnSpc>
                  <a:spcPct val="112000"/>
                </a:lnSpc>
                <a:spcAft>
                  <a:spcPts val="500"/>
                </a:spcAft>
                <a:buClr>
                  <a:srgbClr val="4FD1A1"/>
                </a:buClr>
                <a:buSzPct val="100000"/>
                <a:buFont typeface="Arial"/>
                <a:buChar char="•"/>
              </a:pPr>
              <a:r>
                <a:rPr sz="1150" b="0" i="0">
                  <a:solidFill>
                    <a:srgbClr val="C9D2E3"/>
                  </a:solidFill>
                  <a:latin typeface="Segoe UI"/>
                </a:rPr>
                <a:t>Reactive autoscaling</a:t>
              </a:r>
            </a:p>
          </p:txBody>
        </p:sp>
      </p:grpSp>
      <p:grpSp>
        <p:nvGrpSpPr>
          <p:cNvPr id="51" name="Group 50"/>
          <p:cNvGrpSpPr/>
          <p:nvPr/>
        </p:nvGrpSpPr>
        <p:grpSpPr>
          <a:xfrm>
            <a:off x="7269480" y="2734056"/>
            <a:ext cx="2103120" cy="3255263"/>
            <a:chOff x="7269480" y="2734056"/>
            <a:chExt cx="2103120" cy="3255263"/>
          </a:xfrm>
        </p:grpSpPr>
        <p:sp>
          <p:nvSpPr>
            <p:cNvPr id="52" name="Rounded Rectangle 51"/>
            <p:cNvSpPr/>
            <p:nvPr/>
          </p:nvSpPr>
          <p:spPr>
            <a:xfrm>
              <a:off x="7269480" y="2734056"/>
              <a:ext cx="2103120" cy="3255263"/>
            </a:xfrm>
            <a:prstGeom prst="roundRect">
              <a:avLst>
                <a:gd name="adj" fmla="val 7000"/>
              </a:avLst>
            </a:prstGeom>
            <a:gradFill rotWithShape="1">
              <a:gsLst>
                <a:gs pos="0">
                  <a:srgbClr val="D95926">
                    <a:alpha val="32000"/>
                  </a:srgbClr>
                </a:gs>
                <a:gs pos="35000">
                  <a:srgbClr val="182A4C"/>
                </a:gs>
                <a:gs pos="100000">
                  <a:srgbClr val="13213D"/>
                </a:gs>
              </a:gsLst>
              <a:lin ang="5400000" scaled="0"/>
            </a:gradFill>
            <a:ln w="12700">
              <a:solidFill>
                <a:srgbClr val="D95926">
                  <a:alpha val="55000"/>
                </a:srgbClr>
              </a:solidFill>
            </a:ln>
            <a:effectLst>
              <a:outerShdw blurRad="203200" dist="50800" dir="5400000" algn="t" rotWithShape="0">
                <a:srgbClr val="000000">
                  <a:alpha val="35000"/>
                </a:srgbClr>
              </a:outerShdw>
            </a:effectLst>
          </p:spPr>
          <p:txBody>
            <a:bodyPr wrap="square" rtlCol="0" anchor="ctr"/>
            <a:lstStyle/>
            <a:p>
              <a:pPr algn="ctr"/>
              <a:endParaRPr/>
            </a:p>
          </p:txBody>
        </p:sp>
        <p:sp>
          <p:nvSpPr>
            <p:cNvPr id="53" name="TextBox 52"/>
            <p:cNvSpPr txBox="1"/>
            <p:nvPr/>
          </p:nvSpPr>
          <p:spPr>
            <a:xfrm>
              <a:off x="7470648" y="2871216"/>
              <a:ext cx="1737360" cy="274320"/>
            </a:xfrm>
            <a:prstGeom prst="rect">
              <a:avLst/>
            </a:prstGeom>
            <a:noFill/>
          </p:spPr>
          <p:txBody>
            <a:bodyPr wrap="square" lIns="0" tIns="0" rIns="0" bIns="0" anchor="t">
              <a:noAutofit/>
            </a:bodyPr>
            <a:lstStyle/>
            <a:p>
              <a:pPr algn="l">
                <a:lnSpc>
                  <a:spcPct val="112000"/>
                </a:lnSpc>
                <a:spcAft>
                  <a:spcPts val="0"/>
                </a:spcAft>
              </a:pPr>
              <a:r>
                <a:rPr sz="1050" b="0" i="0" spc="250">
                  <a:solidFill>
                    <a:srgbClr val="F4925F"/>
                  </a:solidFill>
                  <a:latin typeface="Segoe UI Semibold"/>
                </a:rPr>
                <a:t>LEVEL 4</a:t>
              </a:r>
            </a:p>
          </p:txBody>
        </p:sp>
        <p:sp>
          <p:nvSpPr>
            <p:cNvPr id="54" name="TextBox 53"/>
            <p:cNvSpPr txBox="1"/>
            <p:nvPr/>
          </p:nvSpPr>
          <p:spPr>
            <a:xfrm>
              <a:off x="7470648" y="3145536"/>
              <a:ext cx="1783080" cy="411480"/>
            </a:xfrm>
            <a:prstGeom prst="rect">
              <a:avLst/>
            </a:prstGeom>
            <a:noFill/>
          </p:spPr>
          <p:txBody>
            <a:bodyPr wrap="square" lIns="0" tIns="0" rIns="0" bIns="0" anchor="t">
              <a:noAutofit/>
            </a:bodyPr>
            <a:lstStyle/>
            <a:p>
              <a:pPr algn="l">
                <a:lnSpc>
                  <a:spcPct val="112000"/>
                </a:lnSpc>
                <a:spcAft>
                  <a:spcPts val="0"/>
                </a:spcAft>
              </a:pPr>
              <a:r>
                <a:rPr sz="1800" b="0" i="0">
                  <a:solidFill>
                    <a:srgbClr val="FFFFFF"/>
                  </a:solidFill>
                  <a:latin typeface="Segoe UI Semibold"/>
                </a:rPr>
                <a:t>Optimize</a:t>
              </a:r>
            </a:p>
          </p:txBody>
        </p:sp>
        <p:sp>
          <p:nvSpPr>
            <p:cNvPr id="55" name="TextBox 54"/>
            <p:cNvSpPr txBox="1"/>
            <p:nvPr/>
          </p:nvSpPr>
          <p:spPr>
            <a:xfrm>
              <a:off x="7470648" y="3648456"/>
              <a:ext cx="1783080" cy="1280160"/>
            </a:xfrm>
            <a:prstGeom prst="rect">
              <a:avLst/>
            </a:prstGeom>
            <a:noFill/>
          </p:spPr>
          <p:txBody>
            <a:bodyPr wrap="square" lIns="0" tIns="0" rIns="0" bIns="0" anchor="t">
              <a:noAutofit/>
            </a:bodyPr>
            <a:lstStyle/>
            <a:p>
              <a:pPr marL="237744" indent="-237744" algn="l">
                <a:lnSpc>
                  <a:spcPct val="112000"/>
                </a:lnSpc>
                <a:spcAft>
                  <a:spcPts val="500"/>
                </a:spcAft>
                <a:buClr>
                  <a:srgbClr val="F4925F"/>
                </a:buClr>
                <a:buSzPct val="100000"/>
                <a:buFont typeface="Arial"/>
                <a:buChar char="•"/>
              </a:pPr>
              <a:r>
                <a:rPr sz="1150" b="0" i="0">
                  <a:solidFill>
                    <a:srgbClr val="C9D2E3"/>
                  </a:solidFill>
                  <a:latin typeface="Segoe UI"/>
                </a:rPr>
                <a:t>FinOps with FOCUS data</a:t>
              </a:r>
            </a:p>
            <a:p>
              <a:pPr marL="237744" indent="-237744" algn="l">
                <a:lnSpc>
                  <a:spcPct val="112000"/>
                </a:lnSpc>
                <a:spcAft>
                  <a:spcPts val="500"/>
                </a:spcAft>
                <a:buClr>
                  <a:srgbClr val="F4925F"/>
                </a:buClr>
                <a:buSzPct val="100000"/>
                <a:buFont typeface="Arial"/>
                <a:buChar char="•"/>
              </a:pPr>
              <a:r>
                <a:rPr sz="1150" b="0" i="0">
                  <a:solidFill>
                    <a:srgbClr val="C9D2E3"/>
                  </a:solidFill>
                  <a:latin typeface="Segoe UI"/>
                </a:rPr>
                <a:t>Commitments &amp; spot mix</a:t>
              </a:r>
            </a:p>
            <a:p>
              <a:pPr marL="237744" indent="-237744" algn="l">
                <a:lnSpc>
                  <a:spcPct val="112000"/>
                </a:lnSpc>
                <a:spcAft>
                  <a:spcPts val="500"/>
                </a:spcAft>
                <a:buClr>
                  <a:srgbClr val="F4925F"/>
                </a:buClr>
                <a:buSzPct val="100000"/>
                <a:buFont typeface="Arial"/>
                <a:buChar char="•"/>
              </a:pPr>
              <a:r>
                <a:rPr sz="1150" b="0" i="0">
                  <a:solidFill>
                    <a:srgbClr val="C9D2E3"/>
                  </a:solidFill>
                  <a:latin typeface="Segoe UI"/>
                </a:rPr>
                <a:t>Multi-objective placement</a:t>
              </a:r>
            </a:p>
          </p:txBody>
        </p:sp>
      </p:grpSp>
      <p:grpSp>
        <p:nvGrpSpPr>
          <p:cNvPr id="56" name="Group 55"/>
          <p:cNvGrpSpPr/>
          <p:nvPr/>
        </p:nvGrpSpPr>
        <p:grpSpPr>
          <a:xfrm>
            <a:off x="9509760" y="2350008"/>
            <a:ext cx="2103120" cy="3639311"/>
            <a:chOff x="9509760" y="2350008"/>
            <a:chExt cx="2103120" cy="3639311"/>
          </a:xfrm>
        </p:grpSpPr>
        <p:sp>
          <p:nvSpPr>
            <p:cNvPr id="57" name="Rounded Rectangle 56"/>
            <p:cNvSpPr/>
            <p:nvPr/>
          </p:nvSpPr>
          <p:spPr>
            <a:xfrm>
              <a:off x="9509760" y="2350008"/>
              <a:ext cx="2103120" cy="3639311"/>
            </a:xfrm>
            <a:prstGeom prst="roundRect">
              <a:avLst>
                <a:gd name="adj" fmla="val 7000"/>
              </a:avLst>
            </a:prstGeom>
            <a:gradFill rotWithShape="1">
              <a:gsLst>
                <a:gs pos="0">
                  <a:srgbClr val="3987E5">
                    <a:alpha val="32000"/>
                  </a:srgbClr>
                </a:gs>
                <a:gs pos="35000">
                  <a:srgbClr val="182A4C"/>
                </a:gs>
                <a:gs pos="100000">
                  <a:srgbClr val="13213D"/>
                </a:gs>
              </a:gsLst>
              <a:lin ang="5400000" scaled="0"/>
            </a:gradFill>
            <a:ln w="12700">
              <a:solidFill>
                <a:srgbClr val="3987E5">
                  <a:alpha val="55000"/>
                </a:srgbClr>
              </a:solidFill>
            </a:ln>
            <a:effectLst>
              <a:outerShdw blurRad="203200" dist="50800" dir="5400000" algn="t" rotWithShape="0">
                <a:srgbClr val="000000">
                  <a:alpha val="35000"/>
                </a:srgbClr>
              </a:outerShdw>
            </a:effectLst>
          </p:spPr>
          <p:txBody>
            <a:bodyPr wrap="square" rtlCol="0" anchor="ctr"/>
            <a:lstStyle/>
            <a:p>
              <a:pPr algn="ctr"/>
              <a:endParaRPr/>
            </a:p>
          </p:txBody>
        </p:sp>
        <p:sp>
          <p:nvSpPr>
            <p:cNvPr id="58" name="TextBox 57"/>
            <p:cNvSpPr txBox="1"/>
            <p:nvPr/>
          </p:nvSpPr>
          <p:spPr>
            <a:xfrm>
              <a:off x="9710928" y="2487168"/>
              <a:ext cx="1737360" cy="274320"/>
            </a:xfrm>
            <a:prstGeom prst="rect">
              <a:avLst/>
            </a:prstGeom>
            <a:noFill/>
          </p:spPr>
          <p:txBody>
            <a:bodyPr wrap="square" lIns="0" tIns="0" rIns="0" bIns="0" anchor="t">
              <a:noAutofit/>
            </a:bodyPr>
            <a:lstStyle/>
            <a:p>
              <a:pPr algn="l">
                <a:lnSpc>
                  <a:spcPct val="112000"/>
                </a:lnSpc>
                <a:spcAft>
                  <a:spcPts val="0"/>
                </a:spcAft>
              </a:pPr>
              <a:r>
                <a:rPr sz="1050" b="0" i="0" spc="250">
                  <a:solidFill>
                    <a:srgbClr val="7DB3F5"/>
                  </a:solidFill>
                  <a:latin typeface="Segoe UI Semibold"/>
                </a:rPr>
                <a:t>LEVEL 5</a:t>
              </a:r>
            </a:p>
          </p:txBody>
        </p:sp>
        <p:sp>
          <p:nvSpPr>
            <p:cNvPr id="59" name="TextBox 58"/>
            <p:cNvSpPr txBox="1"/>
            <p:nvPr/>
          </p:nvSpPr>
          <p:spPr>
            <a:xfrm>
              <a:off x="9710928" y="2761488"/>
              <a:ext cx="1783080" cy="411480"/>
            </a:xfrm>
            <a:prstGeom prst="rect">
              <a:avLst/>
            </a:prstGeom>
            <a:noFill/>
          </p:spPr>
          <p:txBody>
            <a:bodyPr wrap="square" lIns="0" tIns="0" rIns="0" bIns="0" anchor="t">
              <a:noAutofit/>
            </a:bodyPr>
            <a:lstStyle/>
            <a:p>
              <a:pPr algn="l">
                <a:lnSpc>
                  <a:spcPct val="112000"/>
                </a:lnSpc>
                <a:spcAft>
                  <a:spcPts val="0"/>
                </a:spcAft>
              </a:pPr>
              <a:r>
                <a:rPr sz="1800" b="0" i="0">
                  <a:solidFill>
                    <a:srgbClr val="FFFFFF"/>
                  </a:solidFill>
                  <a:latin typeface="Segoe UI Semibold"/>
                </a:rPr>
                <a:t>Autonomous</a:t>
              </a:r>
            </a:p>
          </p:txBody>
        </p:sp>
        <p:sp>
          <p:nvSpPr>
            <p:cNvPr id="60" name="TextBox 59"/>
            <p:cNvSpPr txBox="1"/>
            <p:nvPr/>
          </p:nvSpPr>
          <p:spPr>
            <a:xfrm>
              <a:off x="9710928" y="3264408"/>
              <a:ext cx="1783080" cy="1280160"/>
            </a:xfrm>
            <a:prstGeom prst="rect">
              <a:avLst/>
            </a:prstGeom>
            <a:noFill/>
          </p:spPr>
          <p:txBody>
            <a:bodyPr wrap="square" lIns="0" tIns="0" rIns="0" bIns="0" anchor="t">
              <a:noAutofit/>
            </a:bodyPr>
            <a:lstStyle/>
            <a:p>
              <a:pPr marL="237744" indent="-237744" algn="l">
                <a:lnSpc>
                  <a:spcPct val="112000"/>
                </a:lnSpc>
                <a:spcAft>
                  <a:spcPts val="500"/>
                </a:spcAft>
                <a:buClr>
                  <a:srgbClr val="7DB3F5"/>
                </a:buClr>
                <a:buSzPct val="100000"/>
                <a:buFont typeface="Arial"/>
                <a:buChar char="•"/>
              </a:pPr>
              <a:r>
                <a:rPr sz="1150" b="0" i="0">
                  <a:solidFill>
                    <a:srgbClr val="C9D2E3"/>
                  </a:solidFill>
                  <a:latin typeface="Segoe UI"/>
                </a:rPr>
                <a:t>Predictive scaling</a:t>
              </a:r>
            </a:p>
            <a:p>
              <a:pPr marL="237744" indent="-237744" algn="l">
                <a:lnSpc>
                  <a:spcPct val="112000"/>
                </a:lnSpc>
                <a:spcAft>
                  <a:spcPts val="500"/>
                </a:spcAft>
                <a:buClr>
                  <a:srgbClr val="7DB3F5"/>
                </a:buClr>
                <a:buSzPct val="100000"/>
                <a:buFont typeface="Arial"/>
                <a:buChar char="•"/>
              </a:pPr>
              <a:r>
                <a:rPr sz="1150" b="0" i="0">
                  <a:solidFill>
                    <a:srgbClr val="C9D2E3"/>
                  </a:solidFill>
                  <a:latin typeface="Segoe UI"/>
                </a:rPr>
                <a:t>AI-driven allocation</a:t>
              </a:r>
            </a:p>
            <a:p>
              <a:pPr marL="237744" indent="-237744" algn="l">
                <a:lnSpc>
                  <a:spcPct val="112000"/>
                </a:lnSpc>
                <a:spcAft>
                  <a:spcPts val="500"/>
                </a:spcAft>
                <a:buClr>
                  <a:srgbClr val="7DB3F5"/>
                </a:buClr>
                <a:buSzPct val="100000"/>
                <a:buFont typeface="Arial"/>
                <a:buChar char="•"/>
              </a:pPr>
              <a:r>
                <a:rPr sz="1150" b="0" i="0">
                  <a:solidFill>
                    <a:srgbClr val="C9D2E3"/>
                  </a:solidFill>
                  <a:latin typeface="Segoe UI"/>
                </a:rPr>
                <a:t>Self-healing within guardrails</a:t>
              </a:r>
            </a:p>
          </p:txBody>
        </p:sp>
      </p:grpSp>
      <p:sp>
        <p:nvSpPr>
          <p:cNvPr id="61" name="TextBox 60"/>
          <p:cNvSpPr txBox="1"/>
          <p:nvPr/>
        </p:nvSpPr>
        <p:spPr>
          <a:xfrm>
            <a:off x="548640" y="2240280"/>
            <a:ext cx="4846320" cy="1097280"/>
          </a:xfrm>
          <a:prstGeom prst="rect">
            <a:avLst/>
          </a:prstGeom>
          <a:noFill/>
        </p:spPr>
        <p:txBody>
          <a:bodyPr wrap="square" lIns="0" tIns="0" rIns="0" bIns="0" anchor="t">
            <a:noAutofit/>
          </a:bodyPr>
          <a:lstStyle/>
          <a:p>
            <a:pPr algn="l">
              <a:lnSpc>
                <a:spcPct val="120000"/>
              </a:lnSpc>
              <a:spcAft>
                <a:spcPts val="0"/>
              </a:spcAft>
            </a:pPr>
            <a:r>
              <a:rPr sz="1500" b="0" i="0">
                <a:solidFill>
                  <a:srgbClr val="C9D2E3"/>
                </a:solidFill>
                <a:latin typeface="Segoe UI Light"/>
              </a:rPr>
              <a:t>Each level builds on the previous one — skipping </a:t>
            </a:r>
            <a:r>
              <a:rPr sz="1500" b="0" i="0">
                <a:solidFill>
                  <a:srgbClr val="FFFFFF"/>
                </a:solidFill>
                <a:latin typeface="Segoe UI Light"/>
              </a:rPr>
              <a:t>standardization</a:t>
            </a:r>
            <a:r>
              <a:rPr sz="1500" b="0" i="0">
                <a:solidFill>
                  <a:srgbClr val="C9D2E3"/>
                </a:solidFill>
                <a:latin typeface="Segoe UI Light"/>
              </a:rPr>
              <a:t> makes automation fragile; skipping </a:t>
            </a:r>
            <a:r>
              <a:rPr sz="1500" b="0" i="0">
                <a:solidFill>
                  <a:srgbClr val="FFFFFF"/>
                </a:solidFill>
                <a:latin typeface="Segoe UI Light"/>
              </a:rPr>
              <a:t>visibility</a:t>
            </a:r>
            <a:r>
              <a:rPr sz="1500" b="0" i="0">
                <a:solidFill>
                  <a:srgbClr val="C9D2E3"/>
                </a:solidFill>
                <a:latin typeface="Segoe UI Light"/>
              </a:rPr>
              <a:t> makes optimization guesswork.</a:t>
            </a:r>
          </a:p>
        </p:txBody>
      </p:sp>
      <p:grpSp>
        <p:nvGrpSpPr>
          <p:cNvPr id="62" name="Group 61"/>
          <p:cNvGrpSpPr/>
          <p:nvPr/>
        </p:nvGrpSpPr>
        <p:grpSpPr>
          <a:xfrm>
            <a:off x="685800" y="1536192"/>
            <a:ext cx="5623560" cy="338327"/>
            <a:chOff x="685800" y="1536192"/>
            <a:chExt cx="5623560" cy="338327"/>
          </a:xfrm>
        </p:grpSpPr>
        <p:cxnSp>
          <p:nvCxnSpPr>
            <p:cNvPr id="63" name="Connector 62"/>
            <p:cNvCxnSpPr/>
            <p:nvPr/>
          </p:nvCxnSpPr>
          <p:spPr>
            <a:xfrm>
              <a:off x="685800" y="1874519"/>
              <a:ext cx="5623560" cy="0"/>
            </a:xfrm>
            <a:prstGeom prst="line">
              <a:avLst/>
            </a:prstGeom>
            <a:ln w="22225">
              <a:solidFill>
                <a:srgbClr val="7DB3F5">
                  <a:alpha val="70000"/>
                </a:srgbClr>
              </a:solidFill>
              <a:tailEnd type="triangle" w="med" len="med"/>
            </a:ln>
          </p:spPr>
        </p:cxnSp>
        <p:sp>
          <p:nvSpPr>
            <p:cNvPr id="64" name="TextBox 63"/>
            <p:cNvSpPr txBox="1"/>
            <p:nvPr/>
          </p:nvSpPr>
          <p:spPr>
            <a:xfrm>
              <a:off x="685800" y="1536192"/>
              <a:ext cx="5486400" cy="320040"/>
            </a:xfrm>
            <a:prstGeom prst="rect">
              <a:avLst/>
            </a:prstGeom>
            <a:noFill/>
          </p:spPr>
          <p:txBody>
            <a:bodyPr wrap="square" lIns="0" tIns="0" rIns="0" bIns="0" anchor="t">
              <a:noAutofit/>
            </a:bodyPr>
            <a:lstStyle/>
            <a:p>
              <a:pPr algn="l">
                <a:lnSpc>
                  <a:spcPct val="112000"/>
                </a:lnSpc>
                <a:spcAft>
                  <a:spcPts val="0"/>
                </a:spcAft>
              </a:pPr>
              <a:r>
                <a:rPr sz="1050" b="0" i="0" spc="250">
                  <a:solidFill>
                    <a:srgbClr val="8C9AB5"/>
                  </a:solidFill>
                  <a:latin typeface="Segoe UI Semibold"/>
                </a:rPr>
                <a:t>INCREASING MATURITY &amp; AUTOMATION</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650"/>
                                        <p:tgtEl>
                                          <p:spTgt spid="36"/>
                                        </p:tgtEl>
                                      </p:cBhvr>
                                    </p:animEffect>
                                    <p:anim calcmode="lin" valueType="num">
                                      <p:cBhvr>
                                        <p:cTn id="8" dur="650" fill="hold"/>
                                        <p:tgtEl>
                                          <p:spTgt spid="36"/>
                                        </p:tgtEl>
                                        <p:attrNameLst>
                                          <p:attrName>ppt_x</p:attrName>
                                        </p:attrNameLst>
                                      </p:cBhvr>
                                      <p:tavLst>
                                        <p:tav tm="0">
                                          <p:val>
                                            <p:strVal val="#ppt_x"/>
                                          </p:val>
                                        </p:tav>
                                        <p:tav tm="100000">
                                          <p:val>
                                            <p:strVal val="#ppt_x"/>
                                          </p:val>
                                        </p:tav>
                                      </p:tavLst>
                                    </p:anim>
                                    <p:anim calcmode="lin" valueType="num">
                                      <p:cBhvr>
                                        <p:cTn id="9" dur="650" fill="hold"/>
                                        <p:tgtEl>
                                          <p:spTgt spid="36"/>
                                        </p:tgtEl>
                                        <p:attrNameLst>
                                          <p:attrName>ppt_y</p:attrName>
                                        </p:attrNameLst>
                                      </p:cBhvr>
                                      <p:tavLst>
                                        <p:tav tm="0">
                                          <p:val>
                                            <p:strVal val="#ppt_y+.04"/>
                                          </p:val>
                                        </p:tav>
                                        <p:tav tm="100000">
                                          <p:val>
                                            <p:strVal val="#ppt_y"/>
                                          </p:val>
                                        </p:tav>
                                      </p:tavLst>
                                    </p:anim>
                                  </p:childTnLst>
                                </p:cTn>
                              </p:par>
                              <p:par>
                                <p:cTn id="10" presetID="42" presetClass="entr" presetSubtype="0" fill="hold" nodeType="withEffect">
                                  <p:stCondLst>
                                    <p:cond delay="410"/>
                                  </p:stCondLst>
                                  <p:childTnLst>
                                    <p:set>
                                      <p:cBhvr>
                                        <p:cTn id="11" dur="1" fill="hold">
                                          <p:stCondLst>
                                            <p:cond delay="0"/>
                                          </p:stCondLst>
                                        </p:cTn>
                                        <p:tgtEl>
                                          <p:spTgt spid="41"/>
                                        </p:tgtEl>
                                        <p:attrNameLst>
                                          <p:attrName>style.visibility</p:attrName>
                                        </p:attrNameLst>
                                      </p:cBhvr>
                                      <p:to>
                                        <p:strVal val="visible"/>
                                      </p:to>
                                    </p:set>
                                    <p:animEffect transition="in" filter="fade">
                                      <p:cBhvr>
                                        <p:cTn id="12" dur="650"/>
                                        <p:tgtEl>
                                          <p:spTgt spid="41"/>
                                        </p:tgtEl>
                                      </p:cBhvr>
                                    </p:animEffect>
                                    <p:anim calcmode="lin" valueType="num">
                                      <p:cBhvr>
                                        <p:cTn id="13" dur="650" fill="hold"/>
                                        <p:tgtEl>
                                          <p:spTgt spid="41"/>
                                        </p:tgtEl>
                                        <p:attrNameLst>
                                          <p:attrName>ppt_x</p:attrName>
                                        </p:attrNameLst>
                                      </p:cBhvr>
                                      <p:tavLst>
                                        <p:tav tm="0">
                                          <p:val>
                                            <p:strVal val="#ppt_x"/>
                                          </p:val>
                                        </p:tav>
                                        <p:tav tm="100000">
                                          <p:val>
                                            <p:strVal val="#ppt_x"/>
                                          </p:val>
                                        </p:tav>
                                      </p:tavLst>
                                    </p:anim>
                                    <p:anim calcmode="lin" valueType="num">
                                      <p:cBhvr>
                                        <p:cTn id="14" dur="650" fill="hold"/>
                                        <p:tgtEl>
                                          <p:spTgt spid="41"/>
                                        </p:tgtEl>
                                        <p:attrNameLst>
                                          <p:attrName>ppt_y</p:attrName>
                                        </p:attrNameLst>
                                      </p:cBhvr>
                                      <p:tavLst>
                                        <p:tav tm="0">
                                          <p:val>
                                            <p:strVal val="#ppt_y+.04"/>
                                          </p:val>
                                        </p:tav>
                                        <p:tav tm="100000">
                                          <p:val>
                                            <p:strVal val="#ppt_y"/>
                                          </p:val>
                                        </p:tav>
                                      </p:tavLst>
                                    </p:anim>
                                  </p:childTnLst>
                                </p:cTn>
                              </p:par>
                              <p:par>
                                <p:cTn id="15" presetID="42" presetClass="entr" presetSubtype="0" fill="hold" nodeType="withEffect">
                                  <p:stCondLst>
                                    <p:cond delay="570"/>
                                  </p:stCondLst>
                                  <p:childTnLst>
                                    <p:set>
                                      <p:cBhvr>
                                        <p:cTn id="16" dur="1" fill="hold">
                                          <p:stCondLst>
                                            <p:cond delay="0"/>
                                          </p:stCondLst>
                                        </p:cTn>
                                        <p:tgtEl>
                                          <p:spTgt spid="46"/>
                                        </p:tgtEl>
                                        <p:attrNameLst>
                                          <p:attrName>style.visibility</p:attrName>
                                        </p:attrNameLst>
                                      </p:cBhvr>
                                      <p:to>
                                        <p:strVal val="visible"/>
                                      </p:to>
                                    </p:set>
                                    <p:animEffect transition="in" filter="fade">
                                      <p:cBhvr>
                                        <p:cTn id="17" dur="650"/>
                                        <p:tgtEl>
                                          <p:spTgt spid="46"/>
                                        </p:tgtEl>
                                      </p:cBhvr>
                                    </p:animEffect>
                                    <p:anim calcmode="lin" valueType="num">
                                      <p:cBhvr>
                                        <p:cTn id="18" dur="650" fill="hold"/>
                                        <p:tgtEl>
                                          <p:spTgt spid="46"/>
                                        </p:tgtEl>
                                        <p:attrNameLst>
                                          <p:attrName>ppt_x</p:attrName>
                                        </p:attrNameLst>
                                      </p:cBhvr>
                                      <p:tavLst>
                                        <p:tav tm="0">
                                          <p:val>
                                            <p:strVal val="#ppt_x"/>
                                          </p:val>
                                        </p:tav>
                                        <p:tav tm="100000">
                                          <p:val>
                                            <p:strVal val="#ppt_x"/>
                                          </p:val>
                                        </p:tav>
                                      </p:tavLst>
                                    </p:anim>
                                    <p:anim calcmode="lin" valueType="num">
                                      <p:cBhvr>
                                        <p:cTn id="19" dur="650" fill="hold"/>
                                        <p:tgtEl>
                                          <p:spTgt spid="46"/>
                                        </p:tgtEl>
                                        <p:attrNameLst>
                                          <p:attrName>ppt_y</p:attrName>
                                        </p:attrNameLst>
                                      </p:cBhvr>
                                      <p:tavLst>
                                        <p:tav tm="0">
                                          <p:val>
                                            <p:strVal val="#ppt_y+.04"/>
                                          </p:val>
                                        </p:tav>
                                        <p:tav tm="100000">
                                          <p:val>
                                            <p:strVal val="#ppt_y"/>
                                          </p:val>
                                        </p:tav>
                                      </p:tavLst>
                                    </p:anim>
                                  </p:childTnLst>
                                </p:cTn>
                              </p:par>
                              <p:par>
                                <p:cTn id="20" presetID="42" presetClass="entr" presetSubtype="0" fill="hold" nodeType="withEffect">
                                  <p:stCondLst>
                                    <p:cond delay="730"/>
                                  </p:stCondLst>
                                  <p:childTnLst>
                                    <p:set>
                                      <p:cBhvr>
                                        <p:cTn id="21" dur="1" fill="hold">
                                          <p:stCondLst>
                                            <p:cond delay="0"/>
                                          </p:stCondLst>
                                        </p:cTn>
                                        <p:tgtEl>
                                          <p:spTgt spid="51"/>
                                        </p:tgtEl>
                                        <p:attrNameLst>
                                          <p:attrName>style.visibility</p:attrName>
                                        </p:attrNameLst>
                                      </p:cBhvr>
                                      <p:to>
                                        <p:strVal val="visible"/>
                                      </p:to>
                                    </p:set>
                                    <p:animEffect transition="in" filter="fade">
                                      <p:cBhvr>
                                        <p:cTn id="22" dur="650"/>
                                        <p:tgtEl>
                                          <p:spTgt spid="51"/>
                                        </p:tgtEl>
                                      </p:cBhvr>
                                    </p:animEffect>
                                    <p:anim calcmode="lin" valueType="num">
                                      <p:cBhvr>
                                        <p:cTn id="23" dur="650" fill="hold"/>
                                        <p:tgtEl>
                                          <p:spTgt spid="51"/>
                                        </p:tgtEl>
                                        <p:attrNameLst>
                                          <p:attrName>ppt_x</p:attrName>
                                        </p:attrNameLst>
                                      </p:cBhvr>
                                      <p:tavLst>
                                        <p:tav tm="0">
                                          <p:val>
                                            <p:strVal val="#ppt_x"/>
                                          </p:val>
                                        </p:tav>
                                        <p:tav tm="100000">
                                          <p:val>
                                            <p:strVal val="#ppt_x"/>
                                          </p:val>
                                        </p:tav>
                                      </p:tavLst>
                                    </p:anim>
                                    <p:anim calcmode="lin" valueType="num">
                                      <p:cBhvr>
                                        <p:cTn id="24" dur="650" fill="hold"/>
                                        <p:tgtEl>
                                          <p:spTgt spid="51"/>
                                        </p:tgtEl>
                                        <p:attrNameLst>
                                          <p:attrName>ppt_y</p:attrName>
                                        </p:attrNameLst>
                                      </p:cBhvr>
                                      <p:tavLst>
                                        <p:tav tm="0">
                                          <p:val>
                                            <p:strVal val="#ppt_y+.04"/>
                                          </p:val>
                                        </p:tav>
                                        <p:tav tm="100000">
                                          <p:val>
                                            <p:strVal val="#ppt_y"/>
                                          </p:val>
                                        </p:tav>
                                      </p:tavLst>
                                    </p:anim>
                                  </p:childTnLst>
                                </p:cTn>
                              </p:par>
                              <p:par>
                                <p:cTn id="25" presetID="42" presetClass="entr" presetSubtype="0" fill="hold" nodeType="withEffect">
                                  <p:stCondLst>
                                    <p:cond delay="890"/>
                                  </p:stCondLst>
                                  <p:childTnLst>
                                    <p:set>
                                      <p:cBhvr>
                                        <p:cTn id="26" dur="1" fill="hold">
                                          <p:stCondLst>
                                            <p:cond delay="0"/>
                                          </p:stCondLst>
                                        </p:cTn>
                                        <p:tgtEl>
                                          <p:spTgt spid="56"/>
                                        </p:tgtEl>
                                        <p:attrNameLst>
                                          <p:attrName>style.visibility</p:attrName>
                                        </p:attrNameLst>
                                      </p:cBhvr>
                                      <p:to>
                                        <p:strVal val="visible"/>
                                      </p:to>
                                    </p:set>
                                    <p:animEffect transition="in" filter="fade">
                                      <p:cBhvr>
                                        <p:cTn id="27" dur="650"/>
                                        <p:tgtEl>
                                          <p:spTgt spid="56"/>
                                        </p:tgtEl>
                                      </p:cBhvr>
                                    </p:animEffect>
                                    <p:anim calcmode="lin" valueType="num">
                                      <p:cBhvr>
                                        <p:cTn id="28" dur="650" fill="hold"/>
                                        <p:tgtEl>
                                          <p:spTgt spid="56"/>
                                        </p:tgtEl>
                                        <p:attrNameLst>
                                          <p:attrName>ppt_x</p:attrName>
                                        </p:attrNameLst>
                                      </p:cBhvr>
                                      <p:tavLst>
                                        <p:tav tm="0">
                                          <p:val>
                                            <p:strVal val="#ppt_x"/>
                                          </p:val>
                                        </p:tav>
                                        <p:tav tm="100000">
                                          <p:val>
                                            <p:strVal val="#ppt_x"/>
                                          </p:val>
                                        </p:tav>
                                      </p:tavLst>
                                    </p:anim>
                                    <p:anim calcmode="lin" valueType="num">
                                      <p:cBhvr>
                                        <p:cTn id="29" dur="650" fill="hold"/>
                                        <p:tgtEl>
                                          <p:spTgt spid="56"/>
                                        </p:tgtEl>
                                        <p:attrNameLst>
                                          <p:attrName>ppt_y</p:attrName>
                                        </p:attrNameLst>
                                      </p:cBhvr>
                                      <p:tavLst>
                                        <p:tav tm="0">
                                          <p:val>
                                            <p:strVal val="#ppt_y+.04"/>
                                          </p:val>
                                        </p:tav>
                                        <p:tav tm="100000">
                                          <p:val>
                                            <p:strVal val="#ppt_y"/>
                                          </p:val>
                                        </p:tav>
                                      </p:tavLst>
                                    </p:anim>
                                  </p:childTnLst>
                                </p:cTn>
                              </p:par>
                              <p:par>
                                <p:cTn id="30" presetID="10" presetClass="entr" presetSubtype="0" fill="hold" grpId="0" nodeType="withEffect">
                                  <p:stCondLst>
                                    <p:cond delay="1210"/>
                                  </p:stCondLst>
                                  <p:childTnLst>
                                    <p:set>
                                      <p:cBhvr>
                                        <p:cTn id="31" dur="1" fill="hold">
                                          <p:stCondLst>
                                            <p:cond delay="0"/>
                                          </p:stCondLst>
                                        </p:cTn>
                                        <p:tgtEl>
                                          <p:spTgt spid="61"/>
                                        </p:tgtEl>
                                        <p:attrNameLst>
                                          <p:attrName>style.visibility</p:attrName>
                                        </p:attrNameLst>
                                      </p:cBhvr>
                                      <p:to>
                                        <p:strVal val="visible"/>
                                      </p:to>
                                    </p:set>
                                    <p:animEffect transition="in" filter="fade">
                                      <p:cBhvr>
                                        <p:cTn id="32" dur="600"/>
                                        <p:tgtEl>
                                          <p:spTgt spid="61"/>
                                        </p:tgtEl>
                                      </p:cBhvr>
                                    </p:animEffect>
                                  </p:childTnLst>
                                </p:cTn>
                              </p:par>
                              <p:par>
                                <p:cTn id="33" presetID="22" presetClass="entr" presetSubtype="8" fill="hold" nodeType="withEffect">
                                  <p:stCondLst>
                                    <p:cond delay="1050"/>
                                  </p:stCondLst>
                                  <p:childTnLst>
                                    <p:set>
                                      <p:cBhvr>
                                        <p:cTn id="34" dur="1" fill="hold">
                                          <p:stCondLst>
                                            <p:cond delay="0"/>
                                          </p:stCondLst>
                                        </p:cTn>
                                        <p:tgtEl>
                                          <p:spTgt spid="62"/>
                                        </p:tgtEl>
                                        <p:attrNameLst>
                                          <p:attrName>style.visibility</p:attrName>
                                        </p:attrNameLst>
                                      </p:cBhvr>
                                      <p:to>
                                        <p:strVal val="visible"/>
                                      </p:to>
                                    </p:set>
                                    <p:animEffect transition="in" filter="wipe(left)">
                                      <p:cBhvr>
                                        <p:cTn id="35" dur="9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8239089" y="-2520022"/>
            <a:ext cx="4937760" cy="4937760"/>
          </a:xfrm>
          <a:prstGeom prst="ellipse">
            <a:avLst/>
          </a:prstGeom>
          <a:gradFill rotWithShape="1">
            <a:gsLst>
              <a:gs pos="0">
                <a:srgbClr val="3987E5">
                  <a:alpha val="30000"/>
                </a:srgbClr>
              </a:gs>
              <a:gs pos="55000">
                <a:srgbClr val="3987E5">
                  <a:alpha val="10500"/>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161602" y="4456426"/>
            <a:ext cx="4389120" cy="4389120"/>
          </a:xfrm>
          <a:prstGeom prst="ellipse">
            <a:avLst/>
          </a:prstGeom>
          <a:gradFill rotWithShape="1">
            <a:gsLst>
              <a:gs pos="0">
                <a:srgbClr val="199E70">
                  <a:alpha val="16000"/>
                </a:srgbClr>
              </a:gs>
              <a:gs pos="55000">
                <a:srgbClr val="199E70">
                  <a:alpha val="55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10603184" y="5100237"/>
            <a:ext cx="3291840" cy="3291840"/>
          </a:xfrm>
          <a:prstGeom prst="ellipse">
            <a:avLst/>
          </a:prstGeom>
          <a:gradFill rotWithShape="1">
            <a:gsLst>
              <a:gs pos="0">
                <a:srgbClr val="9085E9">
                  <a:alpha val="14000"/>
                </a:srgbClr>
              </a:gs>
              <a:gs pos="55000">
                <a:srgbClr val="9085E9">
                  <a:alpha val="4900"/>
                </a:srgbClr>
              </a:gs>
              <a:gs pos="100000">
                <a:srgbClr val="9085E9">
                  <a:alpha val="0"/>
                </a:srgbClr>
              </a:gs>
            </a:gsLst>
            <a:path path="circle">
              <a:fillToRect l="50000" t="50000" r="50000" b="50000"/>
            </a:path>
          </a:gradFill>
          <a:ln>
            <a:noFill/>
          </a:ln>
        </p:spPr>
        <p:txBody>
          <a:bodyPr wrap="square" rtlCol="0" anchor="ctr"/>
          <a:lstStyle/>
          <a:p>
            <a:pPr algn="ctr"/>
            <a:endParaRPr/>
          </a:p>
        </p:txBody>
      </p:sp>
      <p:grpSp>
        <p:nvGrpSpPr>
          <p:cNvPr id="5" name="!!dots"/>
          <p:cNvGrpSpPr/>
          <p:nvPr/>
        </p:nvGrpSpPr>
        <p:grpSpPr>
          <a:xfrm>
            <a:off x="10561320" y="384048"/>
            <a:ext cx="955548" cy="589788"/>
            <a:chOff x="10561320" y="384048"/>
            <a:chExt cx="955548" cy="589788"/>
          </a:xfrm>
        </p:grpSpPr>
        <p:sp>
          <p:nvSpPr>
            <p:cNvPr id="6" name="Oval 5"/>
            <p:cNvSpPr/>
            <p:nvPr/>
          </p:nvSpPr>
          <p:spPr>
            <a:xfrm>
              <a:off x="105613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7" name="Oval 6"/>
            <p:cNvSpPr/>
            <p:nvPr/>
          </p:nvSpPr>
          <p:spPr>
            <a:xfrm>
              <a:off x="1074420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8" name="Oval 7"/>
            <p:cNvSpPr/>
            <p:nvPr/>
          </p:nvSpPr>
          <p:spPr>
            <a:xfrm>
              <a:off x="1092708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9" name="Oval 8"/>
            <p:cNvSpPr/>
            <p:nvPr/>
          </p:nvSpPr>
          <p:spPr>
            <a:xfrm>
              <a:off x="1110996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0" name="Oval 9"/>
            <p:cNvSpPr/>
            <p:nvPr/>
          </p:nvSpPr>
          <p:spPr>
            <a:xfrm>
              <a:off x="1129284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1" name="Oval 10"/>
            <p:cNvSpPr/>
            <p:nvPr/>
          </p:nvSpPr>
          <p:spPr>
            <a:xfrm>
              <a:off x="11475720" y="384048"/>
              <a:ext cx="41148" cy="41148"/>
            </a:xfrm>
            <a:prstGeom prst="ellipse">
              <a:avLst/>
            </a:prstGeom>
            <a:solidFill>
              <a:srgbClr val="7DB3F5">
                <a:alpha val="35000"/>
              </a:srgbClr>
            </a:solidFill>
            <a:ln>
              <a:noFill/>
            </a:ln>
          </p:spPr>
          <p:txBody>
            <a:bodyPr wrap="square" rtlCol="0" anchor="ctr"/>
            <a:lstStyle/>
            <a:p>
              <a:pPr algn="ctr"/>
              <a:endParaRPr/>
            </a:p>
          </p:txBody>
        </p:sp>
        <p:sp>
          <p:nvSpPr>
            <p:cNvPr id="12" name="Oval 11"/>
            <p:cNvSpPr/>
            <p:nvPr/>
          </p:nvSpPr>
          <p:spPr>
            <a:xfrm>
              <a:off x="105613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3" name="Oval 12"/>
            <p:cNvSpPr/>
            <p:nvPr/>
          </p:nvSpPr>
          <p:spPr>
            <a:xfrm>
              <a:off x="1074420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4" name="Oval 13"/>
            <p:cNvSpPr/>
            <p:nvPr/>
          </p:nvSpPr>
          <p:spPr>
            <a:xfrm>
              <a:off x="1092708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5" name="Oval 14"/>
            <p:cNvSpPr/>
            <p:nvPr/>
          </p:nvSpPr>
          <p:spPr>
            <a:xfrm>
              <a:off x="1110996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6" name="Oval 15"/>
            <p:cNvSpPr/>
            <p:nvPr/>
          </p:nvSpPr>
          <p:spPr>
            <a:xfrm>
              <a:off x="1129284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7" name="Oval 16"/>
            <p:cNvSpPr/>
            <p:nvPr/>
          </p:nvSpPr>
          <p:spPr>
            <a:xfrm>
              <a:off x="11475720" y="566928"/>
              <a:ext cx="41148" cy="41148"/>
            </a:xfrm>
            <a:prstGeom prst="ellipse">
              <a:avLst/>
            </a:prstGeom>
            <a:solidFill>
              <a:srgbClr val="7DB3F5">
                <a:alpha val="35000"/>
              </a:srgbClr>
            </a:solidFill>
            <a:ln>
              <a:noFill/>
            </a:ln>
          </p:spPr>
          <p:txBody>
            <a:bodyPr wrap="square" rtlCol="0" anchor="ctr"/>
            <a:lstStyle/>
            <a:p>
              <a:pPr algn="ctr"/>
              <a:endParaRPr/>
            </a:p>
          </p:txBody>
        </p:sp>
        <p:sp>
          <p:nvSpPr>
            <p:cNvPr id="18" name="Oval 17"/>
            <p:cNvSpPr/>
            <p:nvPr/>
          </p:nvSpPr>
          <p:spPr>
            <a:xfrm>
              <a:off x="105613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19" name="Oval 18"/>
            <p:cNvSpPr/>
            <p:nvPr/>
          </p:nvSpPr>
          <p:spPr>
            <a:xfrm>
              <a:off x="1074420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0" name="Oval 19"/>
            <p:cNvSpPr/>
            <p:nvPr/>
          </p:nvSpPr>
          <p:spPr>
            <a:xfrm>
              <a:off x="1092708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1" name="Oval 20"/>
            <p:cNvSpPr/>
            <p:nvPr/>
          </p:nvSpPr>
          <p:spPr>
            <a:xfrm>
              <a:off x="1110996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2" name="Oval 21"/>
            <p:cNvSpPr/>
            <p:nvPr/>
          </p:nvSpPr>
          <p:spPr>
            <a:xfrm>
              <a:off x="1129284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3" name="Oval 22"/>
            <p:cNvSpPr/>
            <p:nvPr/>
          </p:nvSpPr>
          <p:spPr>
            <a:xfrm>
              <a:off x="11475720" y="749808"/>
              <a:ext cx="41148" cy="41148"/>
            </a:xfrm>
            <a:prstGeom prst="ellipse">
              <a:avLst/>
            </a:prstGeom>
            <a:solidFill>
              <a:srgbClr val="7DB3F5">
                <a:alpha val="35000"/>
              </a:srgbClr>
            </a:solidFill>
            <a:ln>
              <a:noFill/>
            </a:ln>
          </p:spPr>
          <p:txBody>
            <a:bodyPr wrap="square" rtlCol="0" anchor="ctr"/>
            <a:lstStyle/>
            <a:p>
              <a:pPr algn="ctr"/>
              <a:endParaRPr/>
            </a:p>
          </p:txBody>
        </p:sp>
        <p:sp>
          <p:nvSpPr>
            <p:cNvPr id="24" name="Oval 23"/>
            <p:cNvSpPr/>
            <p:nvPr/>
          </p:nvSpPr>
          <p:spPr>
            <a:xfrm>
              <a:off x="1056132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5" name="Oval 24"/>
            <p:cNvSpPr/>
            <p:nvPr/>
          </p:nvSpPr>
          <p:spPr>
            <a:xfrm>
              <a:off x="1074420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6" name="Oval 25"/>
            <p:cNvSpPr/>
            <p:nvPr/>
          </p:nvSpPr>
          <p:spPr>
            <a:xfrm>
              <a:off x="1092708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7" name="Oval 26"/>
            <p:cNvSpPr/>
            <p:nvPr/>
          </p:nvSpPr>
          <p:spPr>
            <a:xfrm>
              <a:off x="1110996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8" name="Oval 27"/>
            <p:cNvSpPr/>
            <p:nvPr/>
          </p:nvSpPr>
          <p:spPr>
            <a:xfrm>
              <a:off x="11292840" y="932688"/>
              <a:ext cx="41148" cy="41148"/>
            </a:xfrm>
            <a:prstGeom prst="ellipse">
              <a:avLst/>
            </a:prstGeom>
            <a:solidFill>
              <a:srgbClr val="7DB3F5">
                <a:alpha val="35000"/>
              </a:srgbClr>
            </a:solidFill>
            <a:ln>
              <a:noFill/>
            </a:ln>
          </p:spPr>
          <p:txBody>
            <a:bodyPr wrap="square" rtlCol="0" anchor="ctr"/>
            <a:lstStyle/>
            <a:p>
              <a:pPr algn="ctr"/>
              <a:endParaRPr/>
            </a:p>
          </p:txBody>
        </p:sp>
        <p:sp>
          <p:nvSpPr>
            <p:cNvPr id="29" name="Oval 28"/>
            <p:cNvSpPr/>
            <p:nvPr/>
          </p:nvSpPr>
          <p:spPr>
            <a:xfrm>
              <a:off x="11475720" y="932688"/>
              <a:ext cx="41148" cy="41148"/>
            </a:xfrm>
            <a:prstGeom prst="ellipse">
              <a:avLst/>
            </a:prstGeom>
            <a:solidFill>
              <a:srgbClr val="7DB3F5">
                <a:alpha val="35000"/>
              </a:srgbClr>
            </a:solidFill>
            <a:ln>
              <a:noFill/>
            </a:ln>
          </p:spPr>
          <p:txBody>
            <a:bodyPr wrap="square" rtlCol="0" anchor="ctr"/>
            <a:lstStyle/>
            <a:p>
              <a:pPr algn="ctr"/>
              <a:endParaRPr/>
            </a:p>
          </p:txBody>
        </p:sp>
      </p:grpSp>
      <p:sp>
        <p:nvSpPr>
          <p:cNvPr id="30" name="!!kicker"/>
          <p:cNvSpPr txBox="1"/>
          <p:nvPr/>
        </p:nvSpPr>
        <p:spPr>
          <a:xfrm>
            <a:off x="548640" y="347472"/>
            <a:ext cx="8686800" cy="274320"/>
          </a:xfrm>
          <a:prstGeom prst="rect">
            <a:avLst/>
          </a:prstGeom>
          <a:noFill/>
        </p:spPr>
        <p:txBody>
          <a:bodyPr wrap="square" lIns="0" tIns="0" rIns="0" bIns="0" anchor="t">
            <a:noAutofit/>
          </a:bodyPr>
          <a:lstStyle/>
          <a:p>
            <a:pPr algn="l">
              <a:lnSpc>
                <a:spcPct val="112000"/>
              </a:lnSpc>
              <a:spcAft>
                <a:spcPts val="0"/>
              </a:spcAft>
            </a:pPr>
            <a:r>
              <a:rPr sz="1150" b="0" i="0" spc="300">
                <a:solidFill>
                  <a:srgbClr val="4FD1A1"/>
                </a:solidFill>
                <a:latin typeface="Segoe UI Semibold"/>
              </a:rPr>
              <a:t>WRAP-UP</a:t>
            </a:r>
          </a:p>
        </p:txBody>
      </p:sp>
      <p:sp>
        <p:nvSpPr>
          <p:cNvPr id="31" name="!!title"/>
          <p:cNvSpPr txBox="1"/>
          <p:nvPr/>
        </p:nvSpPr>
        <p:spPr>
          <a:xfrm>
            <a:off x="548640" y="603504"/>
            <a:ext cx="10058400" cy="685800"/>
          </a:xfrm>
          <a:prstGeom prst="rect">
            <a:avLst/>
          </a:prstGeom>
          <a:noFill/>
        </p:spPr>
        <p:txBody>
          <a:bodyPr wrap="square" lIns="0" tIns="0" rIns="0" bIns="0" anchor="t">
            <a:noAutofit/>
          </a:bodyPr>
          <a:lstStyle/>
          <a:p>
            <a:pPr algn="l">
              <a:lnSpc>
                <a:spcPct val="112000"/>
              </a:lnSpc>
              <a:spcAft>
                <a:spcPts val="0"/>
              </a:spcAft>
            </a:pPr>
            <a:r>
              <a:rPr sz="3000" b="0" i="0">
                <a:solidFill>
                  <a:srgbClr val="FFFFFF"/>
                </a:solidFill>
                <a:latin typeface="Segoe UI Semibold"/>
              </a:rPr>
              <a:t>Key Takeaways</a:t>
            </a:r>
          </a:p>
        </p:txBody>
      </p:sp>
      <p:sp>
        <p:nvSpPr>
          <p:cNvPr id="32" name="!!accent"/>
          <p:cNvSpPr/>
          <p:nvPr/>
        </p:nvSpPr>
        <p:spPr>
          <a:xfrm>
            <a:off x="566928" y="1298448"/>
            <a:ext cx="685800" cy="50292"/>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cxnSp>
        <p:nvCxnSpPr>
          <p:cNvPr id="33" name="!!footline"/>
          <p:cNvCxnSpPr/>
          <p:nvPr/>
        </p:nvCxnSpPr>
        <p:spPr>
          <a:xfrm>
            <a:off x="548640" y="6400800"/>
            <a:ext cx="11094415" cy="0"/>
          </a:xfrm>
          <a:prstGeom prst="line">
            <a:avLst/>
          </a:prstGeom>
          <a:ln w="9525">
            <a:solidFill>
              <a:srgbClr val="2A3F69">
                <a:alpha val="70000"/>
              </a:srgbClr>
            </a:solidFill>
          </a:ln>
        </p:spPr>
      </p:cxnSp>
      <p:sp>
        <p:nvSpPr>
          <p:cNvPr id="34" name="!!foot"/>
          <p:cNvSpPr txBox="1"/>
          <p:nvPr/>
        </p:nvSpPr>
        <p:spPr>
          <a:xfrm>
            <a:off x="548640" y="6455664"/>
            <a:ext cx="5486400" cy="256032"/>
          </a:xfrm>
          <a:prstGeom prst="rect">
            <a:avLst/>
          </a:prstGeom>
          <a:noFill/>
        </p:spPr>
        <p:txBody>
          <a:bodyPr wrap="square" lIns="0" tIns="0" rIns="0" bIns="0" anchor="t">
            <a:noAutofit/>
          </a:bodyPr>
          <a:lstStyle/>
          <a:p>
            <a:pPr algn="l">
              <a:lnSpc>
                <a:spcPct val="112000"/>
              </a:lnSpc>
              <a:spcAft>
                <a:spcPts val="0"/>
              </a:spcAft>
            </a:pPr>
            <a:r>
              <a:rPr sz="1000" b="0" i="0">
                <a:solidFill>
                  <a:srgbClr val="8C9AB5"/>
                </a:solidFill>
                <a:latin typeface="Segoe UI"/>
              </a:rPr>
              <a:t>Multi-Cloud Resource Management   ·   Wrap-up</a:t>
            </a:r>
          </a:p>
        </p:txBody>
      </p:sp>
      <p:sp>
        <p:nvSpPr>
          <p:cNvPr id="35" name="!!page"/>
          <p:cNvSpPr txBox="1"/>
          <p:nvPr/>
        </p:nvSpPr>
        <p:spPr>
          <a:xfrm>
            <a:off x="9814255" y="6455664"/>
            <a:ext cx="1828800" cy="256032"/>
          </a:xfrm>
          <a:prstGeom prst="rect">
            <a:avLst/>
          </a:prstGeom>
          <a:noFill/>
        </p:spPr>
        <p:txBody>
          <a:bodyPr wrap="square" lIns="0" tIns="0" rIns="0" bIns="0" anchor="t">
            <a:noAutofit/>
          </a:bodyPr>
          <a:lstStyle/>
          <a:p>
            <a:pPr algn="r">
              <a:lnSpc>
                <a:spcPct val="112000"/>
              </a:lnSpc>
              <a:spcAft>
                <a:spcPts val="0"/>
              </a:spcAft>
            </a:pPr>
            <a:r>
              <a:rPr lang="en-GB" sz="1000">
                <a:solidFill>
                  <a:srgbClr val="8C9AB5"/>
                </a:solidFill>
                <a:latin typeface="Segoe UI"/>
              </a:rPr>
              <a:t>30</a:t>
            </a:r>
            <a:r>
              <a:rPr sz="1000" b="0" i="0">
                <a:solidFill>
                  <a:srgbClr val="8C9AB5"/>
                </a:solidFill>
                <a:latin typeface="Segoe UI"/>
              </a:rPr>
              <a:t>/ 30</a:t>
            </a:r>
          </a:p>
        </p:txBody>
      </p:sp>
      <p:grpSp>
        <p:nvGrpSpPr>
          <p:cNvPr id="36" name="Group 35"/>
          <p:cNvGrpSpPr/>
          <p:nvPr/>
        </p:nvGrpSpPr>
        <p:grpSpPr>
          <a:xfrm>
            <a:off x="548640" y="1645920"/>
            <a:ext cx="3931920" cy="4343400"/>
            <a:chOff x="548640" y="1645920"/>
            <a:chExt cx="3931920" cy="4343400"/>
          </a:xfrm>
        </p:grpSpPr>
        <p:sp>
          <p:nvSpPr>
            <p:cNvPr id="37" name="Rounded Rectangle 36"/>
            <p:cNvSpPr/>
            <p:nvPr/>
          </p:nvSpPr>
          <p:spPr>
            <a:xfrm>
              <a:off x="548640" y="1645920"/>
              <a:ext cx="3931920" cy="4343400"/>
            </a:xfrm>
            <a:prstGeom prst="roundRect">
              <a:avLst>
                <a:gd name="adj" fmla="val 6000"/>
              </a:avLst>
            </a:prstGeom>
            <a:gradFill rotWithShape="1">
              <a:gsLst>
                <a:gs pos="0">
                  <a:srgbClr val="3987E5">
                    <a:alpha val="45000"/>
                  </a:srgbClr>
                </a:gs>
                <a:gs pos="100000">
                  <a:srgbClr val="9085E9">
                    <a:alpha val="25000"/>
                  </a:srgbClr>
                </a:gs>
              </a:gsLst>
              <a:lin ang="2700000" scaled="0"/>
            </a:gradFill>
            <a:ln w="12700">
              <a:solidFill>
                <a:srgbClr val="7DB3F5">
                  <a:alpha val="40000"/>
                </a:srgbClr>
              </a:solidFill>
            </a:ln>
            <a:effectLst>
              <a:outerShdw blurRad="254000" dist="50800" dir="5400000" algn="t" rotWithShape="0">
                <a:srgbClr val="000000">
                  <a:alpha val="40000"/>
                </a:srgbClr>
              </a:outerShdw>
            </a:effectLst>
          </p:spPr>
          <p:txBody>
            <a:bodyPr wrap="square" rtlCol="0" anchor="ctr"/>
            <a:lstStyle/>
            <a:p>
              <a:pPr algn="ctr"/>
              <a:endParaRPr/>
            </a:p>
          </p:txBody>
        </p:sp>
        <p:sp>
          <p:nvSpPr>
            <p:cNvPr id="38" name="TextBox 37"/>
            <p:cNvSpPr txBox="1"/>
            <p:nvPr/>
          </p:nvSpPr>
          <p:spPr>
            <a:xfrm>
              <a:off x="822960" y="1737360"/>
              <a:ext cx="914400" cy="914400"/>
            </a:xfrm>
            <a:prstGeom prst="rect">
              <a:avLst/>
            </a:prstGeom>
            <a:noFill/>
          </p:spPr>
          <p:txBody>
            <a:bodyPr wrap="square" lIns="0" tIns="0" rIns="0" bIns="0" anchor="t">
              <a:noAutofit/>
            </a:bodyPr>
            <a:lstStyle/>
            <a:p>
              <a:pPr algn="l">
                <a:lnSpc>
                  <a:spcPct val="112000"/>
                </a:lnSpc>
                <a:spcAft>
                  <a:spcPts val="0"/>
                </a:spcAft>
              </a:pPr>
              <a:r>
                <a:rPr sz="8000" b="0" i="0">
                  <a:solidFill>
                    <a:srgbClr val="FFFFFF"/>
                  </a:solidFill>
                  <a:latin typeface="Segoe UI Semibold"/>
                </a:rPr>
                <a:t>“</a:t>
              </a:r>
            </a:p>
          </p:txBody>
        </p:sp>
        <p:sp>
          <p:nvSpPr>
            <p:cNvPr id="39" name="TextBox 38"/>
            <p:cNvSpPr txBox="1"/>
            <p:nvPr/>
          </p:nvSpPr>
          <p:spPr>
            <a:xfrm>
              <a:off x="868680" y="5257800"/>
              <a:ext cx="3383280" cy="365760"/>
            </a:xfrm>
            <a:prstGeom prst="rect">
              <a:avLst/>
            </a:prstGeom>
            <a:noFill/>
          </p:spPr>
          <p:txBody>
            <a:bodyPr wrap="square" lIns="0" tIns="0" rIns="0" bIns="0" anchor="t">
              <a:noAutofit/>
            </a:bodyPr>
            <a:lstStyle/>
            <a:p>
              <a:pPr algn="l">
                <a:lnSpc>
                  <a:spcPct val="112000"/>
                </a:lnSpc>
                <a:spcAft>
                  <a:spcPts val="0"/>
                </a:spcAft>
              </a:pPr>
              <a:r>
                <a:rPr sz="1200" b="0" i="0">
                  <a:solidFill>
                    <a:srgbClr val="7DB3F5"/>
                  </a:solidFill>
                  <a:latin typeface="Segoe UI"/>
                </a:rPr>
                <a:t>— the core idea of this talk</a:t>
              </a:r>
            </a:p>
          </p:txBody>
        </p:sp>
        <p:sp>
          <p:nvSpPr>
            <p:cNvPr id="40" name="TextBox 39"/>
            <p:cNvSpPr txBox="1"/>
            <p:nvPr/>
          </p:nvSpPr>
          <p:spPr>
            <a:xfrm>
              <a:off x="868680" y="2743200"/>
              <a:ext cx="3383280" cy="2377440"/>
            </a:xfrm>
            <a:prstGeom prst="rect">
              <a:avLst/>
            </a:prstGeom>
            <a:noFill/>
          </p:spPr>
          <p:txBody>
            <a:bodyPr wrap="square" lIns="0" tIns="0" rIns="0" bIns="0" anchor="t">
              <a:noAutofit/>
            </a:bodyPr>
            <a:lstStyle/>
            <a:p>
              <a:pPr algn="l">
                <a:lnSpc>
                  <a:spcPct val="120000"/>
                </a:lnSpc>
                <a:spcAft>
                  <a:spcPts val="0"/>
                </a:spcAft>
              </a:pPr>
              <a:r>
                <a:rPr sz="1900" b="0" i="0">
                  <a:solidFill>
                    <a:srgbClr val="FFFFFF"/>
                  </a:solidFill>
                  <a:latin typeface="Segoe UI Light"/>
                </a:rPr>
                <a:t>Multi-cloud is not about using more clouds — it is about making every workload run in the right place, at the right cost, automatically.</a:t>
              </a:r>
            </a:p>
          </p:txBody>
        </p:sp>
      </p:grpSp>
      <p:grpSp>
        <p:nvGrpSpPr>
          <p:cNvPr id="41" name="Group 40"/>
          <p:cNvGrpSpPr/>
          <p:nvPr/>
        </p:nvGrpSpPr>
        <p:grpSpPr>
          <a:xfrm>
            <a:off x="4709160" y="1645920"/>
            <a:ext cx="6931152" cy="777240"/>
            <a:chOff x="4709160" y="1645920"/>
            <a:chExt cx="6931152" cy="777240"/>
          </a:xfrm>
        </p:grpSpPr>
        <p:sp>
          <p:nvSpPr>
            <p:cNvPr id="42" name="Rounded Rectangle 41"/>
            <p:cNvSpPr/>
            <p:nvPr/>
          </p:nvSpPr>
          <p:spPr>
            <a:xfrm>
              <a:off x="4709160" y="1645920"/>
              <a:ext cx="6931152" cy="777240"/>
            </a:xfrm>
            <a:prstGeom prst="roundRect">
              <a:avLst>
                <a:gd name="adj" fmla="val 15000"/>
              </a:avLst>
            </a:prstGeom>
            <a:gradFill rotWithShape="1">
              <a:gsLst>
                <a:gs pos="0">
                  <a:srgbClr val="182A4C"/>
                </a:gs>
                <a:gs pos="100000">
                  <a:srgbClr val="13213D"/>
                </a:gs>
              </a:gsLst>
              <a:lin ang="0" scaled="0"/>
            </a:gradFill>
            <a:ln w="9525">
              <a:solidFill>
                <a:srgbClr val="2A3F69"/>
              </a:solidFill>
            </a:ln>
          </p:spPr>
          <p:txBody>
            <a:bodyPr wrap="square" rtlCol="0" anchor="ctr"/>
            <a:lstStyle/>
            <a:p>
              <a:pPr algn="ctr"/>
              <a:endParaRPr/>
            </a:p>
          </p:txBody>
        </p:sp>
        <p:sp>
          <p:nvSpPr>
            <p:cNvPr id="43" name="Oval 42"/>
            <p:cNvSpPr/>
            <p:nvPr/>
          </p:nvSpPr>
          <p:spPr>
            <a:xfrm>
              <a:off x="4873752" y="1783080"/>
              <a:ext cx="502920" cy="502920"/>
            </a:xfrm>
            <a:prstGeom prst="ellipse">
              <a:avLst/>
            </a:prstGeom>
            <a:gradFill rotWithShape="1">
              <a:gsLst>
                <a:gs pos="0">
                  <a:srgbClr val="7DB3F5"/>
                </a:gs>
                <a:gs pos="100000">
                  <a:srgbClr val="3987E5"/>
                </a:gs>
              </a:gsLst>
              <a:lin ang="2700000" scaled="0"/>
            </a:gradFill>
            <a:ln>
              <a:noFill/>
            </a:ln>
          </p:spPr>
          <p:txBody>
            <a:bodyPr wrap="square" lIns="0" tIns="0" rIns="0" bIns="0" rtlCol="0" anchor="ctr">
              <a:noAutofit/>
            </a:bodyPr>
            <a:lstStyle/>
            <a:p>
              <a:pPr algn="ctr">
                <a:lnSpc>
                  <a:spcPct val="112000"/>
                </a:lnSpc>
                <a:spcAft>
                  <a:spcPts val="0"/>
                </a:spcAft>
              </a:pPr>
              <a:r>
                <a:rPr sz="1400" b="0" i="0">
                  <a:solidFill>
                    <a:srgbClr val="FFFFFF"/>
                  </a:solidFill>
                  <a:latin typeface="Segoe UI Semibold"/>
                </a:rPr>
                <a:t>1</a:t>
              </a:r>
            </a:p>
          </p:txBody>
        </p:sp>
        <p:sp>
          <p:nvSpPr>
            <p:cNvPr id="44" name="TextBox 43"/>
            <p:cNvSpPr txBox="1"/>
            <p:nvPr/>
          </p:nvSpPr>
          <p:spPr>
            <a:xfrm>
              <a:off x="5577840" y="1709928"/>
              <a:ext cx="5943600" cy="347472"/>
            </a:xfrm>
            <a:prstGeom prst="rect">
              <a:avLst/>
            </a:prstGeom>
            <a:noFill/>
          </p:spPr>
          <p:txBody>
            <a:bodyPr wrap="square" lIns="0" tIns="0" rIns="0" bIns="0" anchor="t">
              <a:noAutofit/>
            </a:bodyPr>
            <a:lstStyle/>
            <a:p>
              <a:pPr algn="l">
                <a:lnSpc>
                  <a:spcPct val="112000"/>
                </a:lnSpc>
                <a:spcAft>
                  <a:spcPts val="0"/>
                </a:spcAft>
              </a:pPr>
              <a:r>
                <a:rPr sz="1500" b="0" i="0">
                  <a:solidFill>
                    <a:srgbClr val="FFFFFF"/>
                  </a:solidFill>
                  <a:latin typeface="Segoe UI Semibold"/>
                </a:rPr>
                <a:t>Multi-cloud is the default</a:t>
              </a:r>
            </a:p>
          </p:txBody>
        </p:sp>
        <p:sp>
          <p:nvSpPr>
            <p:cNvPr id="45" name="TextBox 44"/>
            <p:cNvSpPr txBox="1"/>
            <p:nvPr/>
          </p:nvSpPr>
          <p:spPr>
            <a:xfrm>
              <a:off x="5577840" y="2048256"/>
              <a:ext cx="5943600" cy="320040"/>
            </a:xfrm>
            <a:prstGeom prst="rect">
              <a:avLst/>
            </a:prstGeom>
            <a:noFill/>
          </p:spPr>
          <p:txBody>
            <a:bodyPr wrap="square" lIns="0" tIns="0" rIns="0" bIns="0" anchor="t">
              <a:noAutofit/>
            </a:bodyPr>
            <a:lstStyle/>
            <a:p>
              <a:pPr algn="l">
                <a:lnSpc>
                  <a:spcPct val="112000"/>
                </a:lnSpc>
                <a:spcAft>
                  <a:spcPts val="0"/>
                </a:spcAft>
              </a:pPr>
              <a:r>
                <a:rPr sz="1200" b="0" i="0">
                  <a:solidFill>
                    <a:srgbClr val="C9D2E3"/>
                  </a:solidFill>
                  <a:latin typeface="Segoe UI"/>
                </a:rPr>
                <a:t>Management must be deliberate, not accidental.</a:t>
              </a:r>
            </a:p>
          </p:txBody>
        </p:sp>
      </p:grpSp>
      <p:grpSp>
        <p:nvGrpSpPr>
          <p:cNvPr id="46" name="Group 45"/>
          <p:cNvGrpSpPr/>
          <p:nvPr/>
        </p:nvGrpSpPr>
        <p:grpSpPr>
          <a:xfrm>
            <a:off x="4709160" y="2532888"/>
            <a:ext cx="6931152" cy="777240"/>
            <a:chOff x="4709160" y="2532888"/>
            <a:chExt cx="6931152" cy="777240"/>
          </a:xfrm>
        </p:grpSpPr>
        <p:sp>
          <p:nvSpPr>
            <p:cNvPr id="47" name="Rounded Rectangle 46"/>
            <p:cNvSpPr/>
            <p:nvPr/>
          </p:nvSpPr>
          <p:spPr>
            <a:xfrm>
              <a:off x="4709160" y="2532888"/>
              <a:ext cx="6931152" cy="777240"/>
            </a:xfrm>
            <a:prstGeom prst="roundRect">
              <a:avLst>
                <a:gd name="adj" fmla="val 15000"/>
              </a:avLst>
            </a:prstGeom>
            <a:gradFill rotWithShape="1">
              <a:gsLst>
                <a:gs pos="0">
                  <a:srgbClr val="182A4C"/>
                </a:gs>
                <a:gs pos="100000">
                  <a:srgbClr val="13213D"/>
                </a:gs>
              </a:gsLst>
              <a:lin ang="0" scaled="0"/>
            </a:gradFill>
            <a:ln w="9525">
              <a:solidFill>
                <a:srgbClr val="2A3F69"/>
              </a:solidFill>
            </a:ln>
          </p:spPr>
          <p:txBody>
            <a:bodyPr wrap="square" rtlCol="0" anchor="ctr"/>
            <a:lstStyle/>
            <a:p>
              <a:pPr algn="ctr"/>
              <a:endParaRPr/>
            </a:p>
          </p:txBody>
        </p:sp>
        <p:sp>
          <p:nvSpPr>
            <p:cNvPr id="48" name="Oval 47"/>
            <p:cNvSpPr/>
            <p:nvPr/>
          </p:nvSpPr>
          <p:spPr>
            <a:xfrm>
              <a:off x="4873752" y="2670048"/>
              <a:ext cx="502920" cy="502920"/>
            </a:xfrm>
            <a:prstGeom prst="ellipse">
              <a:avLst/>
            </a:prstGeom>
            <a:gradFill rotWithShape="1">
              <a:gsLst>
                <a:gs pos="0">
                  <a:srgbClr val="4FD1A1"/>
                </a:gs>
                <a:gs pos="100000">
                  <a:srgbClr val="199E70"/>
                </a:gs>
              </a:gsLst>
              <a:lin ang="2700000" scaled="0"/>
            </a:gradFill>
            <a:ln>
              <a:noFill/>
            </a:ln>
          </p:spPr>
          <p:txBody>
            <a:bodyPr wrap="square" lIns="0" tIns="0" rIns="0" bIns="0" rtlCol="0" anchor="ctr">
              <a:noAutofit/>
            </a:bodyPr>
            <a:lstStyle/>
            <a:p>
              <a:pPr algn="ctr">
                <a:lnSpc>
                  <a:spcPct val="112000"/>
                </a:lnSpc>
                <a:spcAft>
                  <a:spcPts val="0"/>
                </a:spcAft>
              </a:pPr>
              <a:r>
                <a:rPr sz="1400" b="0" i="0">
                  <a:solidFill>
                    <a:srgbClr val="FFFFFF"/>
                  </a:solidFill>
                  <a:latin typeface="Segoe UI Semibold"/>
                </a:rPr>
                <a:t>2</a:t>
              </a:r>
            </a:p>
          </p:txBody>
        </p:sp>
        <p:sp>
          <p:nvSpPr>
            <p:cNvPr id="49" name="TextBox 48"/>
            <p:cNvSpPr txBox="1"/>
            <p:nvPr/>
          </p:nvSpPr>
          <p:spPr>
            <a:xfrm>
              <a:off x="5577840" y="2596896"/>
              <a:ext cx="5943600" cy="347472"/>
            </a:xfrm>
            <a:prstGeom prst="rect">
              <a:avLst/>
            </a:prstGeom>
            <a:noFill/>
          </p:spPr>
          <p:txBody>
            <a:bodyPr wrap="square" lIns="0" tIns="0" rIns="0" bIns="0" anchor="t">
              <a:noAutofit/>
            </a:bodyPr>
            <a:lstStyle/>
            <a:p>
              <a:pPr algn="l">
                <a:lnSpc>
                  <a:spcPct val="112000"/>
                </a:lnSpc>
                <a:spcAft>
                  <a:spcPts val="0"/>
                </a:spcAft>
              </a:pPr>
              <a:r>
                <a:rPr sz="1500" b="0" i="0">
                  <a:solidFill>
                    <a:srgbClr val="FFFFFF"/>
                  </a:solidFill>
                  <a:latin typeface="Segoe UI Semibold"/>
                </a:rPr>
                <a:t>Unify on open standards</a:t>
              </a:r>
            </a:p>
          </p:txBody>
        </p:sp>
        <p:sp>
          <p:nvSpPr>
            <p:cNvPr id="50" name="TextBox 49"/>
            <p:cNvSpPr txBox="1"/>
            <p:nvPr/>
          </p:nvSpPr>
          <p:spPr>
            <a:xfrm>
              <a:off x="5577840" y="2935224"/>
              <a:ext cx="5943600" cy="320040"/>
            </a:xfrm>
            <a:prstGeom prst="rect">
              <a:avLst/>
            </a:prstGeom>
            <a:noFill/>
          </p:spPr>
          <p:txBody>
            <a:bodyPr wrap="square" lIns="0" tIns="0" rIns="0" bIns="0" anchor="t">
              <a:noAutofit/>
            </a:bodyPr>
            <a:lstStyle/>
            <a:p>
              <a:pPr algn="l">
                <a:lnSpc>
                  <a:spcPct val="112000"/>
                </a:lnSpc>
                <a:spcAft>
                  <a:spcPts val="0"/>
                </a:spcAft>
              </a:pPr>
              <a:r>
                <a:rPr sz="1200" b="0" i="0">
                  <a:solidFill>
                    <a:srgbClr val="C9D2E3"/>
                  </a:solidFill>
                  <a:latin typeface="Segoe UI"/>
                </a:rPr>
                <a:t>Terraform/OpenTofu, Kubernetes, OpenTelemetry, FOCUS.</a:t>
              </a:r>
            </a:p>
          </p:txBody>
        </p:sp>
      </p:grpSp>
      <p:grpSp>
        <p:nvGrpSpPr>
          <p:cNvPr id="51" name="Group 50"/>
          <p:cNvGrpSpPr/>
          <p:nvPr/>
        </p:nvGrpSpPr>
        <p:grpSpPr>
          <a:xfrm>
            <a:off x="4709160" y="3419856"/>
            <a:ext cx="6931152" cy="777240"/>
            <a:chOff x="4709160" y="3419856"/>
            <a:chExt cx="6931152" cy="777240"/>
          </a:xfrm>
        </p:grpSpPr>
        <p:sp>
          <p:nvSpPr>
            <p:cNvPr id="52" name="Rounded Rectangle 51"/>
            <p:cNvSpPr/>
            <p:nvPr/>
          </p:nvSpPr>
          <p:spPr>
            <a:xfrm>
              <a:off x="4709160" y="3419856"/>
              <a:ext cx="6931152" cy="777240"/>
            </a:xfrm>
            <a:prstGeom prst="roundRect">
              <a:avLst>
                <a:gd name="adj" fmla="val 15000"/>
              </a:avLst>
            </a:prstGeom>
            <a:gradFill rotWithShape="1">
              <a:gsLst>
                <a:gs pos="0">
                  <a:srgbClr val="182A4C"/>
                </a:gs>
                <a:gs pos="100000">
                  <a:srgbClr val="13213D"/>
                </a:gs>
              </a:gsLst>
              <a:lin ang="0" scaled="0"/>
            </a:gradFill>
            <a:ln w="9525">
              <a:solidFill>
                <a:srgbClr val="2A3F69"/>
              </a:solidFill>
            </a:ln>
          </p:spPr>
          <p:txBody>
            <a:bodyPr wrap="square" rtlCol="0" anchor="ctr"/>
            <a:lstStyle/>
            <a:p>
              <a:pPr algn="ctr"/>
              <a:endParaRPr/>
            </a:p>
          </p:txBody>
        </p:sp>
        <p:sp>
          <p:nvSpPr>
            <p:cNvPr id="53" name="Oval 52"/>
            <p:cNvSpPr/>
            <p:nvPr/>
          </p:nvSpPr>
          <p:spPr>
            <a:xfrm>
              <a:off x="4873752" y="3557016"/>
              <a:ext cx="502920" cy="502920"/>
            </a:xfrm>
            <a:prstGeom prst="ellipse">
              <a:avLst/>
            </a:prstGeom>
            <a:gradFill rotWithShape="1">
              <a:gsLst>
                <a:gs pos="0">
                  <a:srgbClr val="F4925F"/>
                </a:gs>
                <a:gs pos="100000">
                  <a:srgbClr val="D95926"/>
                </a:gs>
              </a:gsLst>
              <a:lin ang="2700000" scaled="0"/>
            </a:gradFill>
            <a:ln>
              <a:noFill/>
            </a:ln>
          </p:spPr>
          <p:txBody>
            <a:bodyPr wrap="square" lIns="0" tIns="0" rIns="0" bIns="0" rtlCol="0" anchor="ctr">
              <a:noAutofit/>
            </a:bodyPr>
            <a:lstStyle/>
            <a:p>
              <a:pPr algn="ctr">
                <a:lnSpc>
                  <a:spcPct val="112000"/>
                </a:lnSpc>
                <a:spcAft>
                  <a:spcPts val="0"/>
                </a:spcAft>
              </a:pPr>
              <a:r>
                <a:rPr sz="1400" b="0" i="0">
                  <a:solidFill>
                    <a:srgbClr val="FFFFFF"/>
                  </a:solidFill>
                  <a:latin typeface="Segoe UI Semibold"/>
                </a:rPr>
                <a:t>3</a:t>
              </a:r>
            </a:p>
          </p:txBody>
        </p:sp>
        <p:sp>
          <p:nvSpPr>
            <p:cNvPr id="54" name="TextBox 53"/>
            <p:cNvSpPr txBox="1"/>
            <p:nvPr/>
          </p:nvSpPr>
          <p:spPr>
            <a:xfrm>
              <a:off x="5577840" y="3483864"/>
              <a:ext cx="5943600" cy="347472"/>
            </a:xfrm>
            <a:prstGeom prst="rect">
              <a:avLst/>
            </a:prstGeom>
            <a:noFill/>
          </p:spPr>
          <p:txBody>
            <a:bodyPr wrap="square" lIns="0" tIns="0" rIns="0" bIns="0" anchor="t">
              <a:noAutofit/>
            </a:bodyPr>
            <a:lstStyle/>
            <a:p>
              <a:pPr algn="l">
                <a:lnSpc>
                  <a:spcPct val="112000"/>
                </a:lnSpc>
                <a:spcAft>
                  <a:spcPts val="0"/>
                </a:spcAft>
              </a:pPr>
              <a:r>
                <a:rPr sz="1500" b="0" i="0">
                  <a:solidFill>
                    <a:srgbClr val="FFFFFF"/>
                  </a:solidFill>
                  <a:latin typeface="Segoe UI Semibold"/>
                </a:rPr>
                <a:t>Allocation is NP-hard &amp; multi-objective</a:t>
              </a:r>
            </a:p>
          </p:txBody>
        </p:sp>
        <p:sp>
          <p:nvSpPr>
            <p:cNvPr id="55" name="TextBox 54"/>
            <p:cNvSpPr txBox="1"/>
            <p:nvPr/>
          </p:nvSpPr>
          <p:spPr>
            <a:xfrm>
              <a:off x="5577840" y="3822192"/>
              <a:ext cx="5943600" cy="320040"/>
            </a:xfrm>
            <a:prstGeom prst="rect">
              <a:avLst/>
            </a:prstGeom>
            <a:noFill/>
          </p:spPr>
          <p:txBody>
            <a:bodyPr wrap="square" lIns="0" tIns="0" rIns="0" bIns="0" anchor="t">
              <a:noAutofit/>
            </a:bodyPr>
            <a:lstStyle/>
            <a:p>
              <a:pPr algn="l">
                <a:lnSpc>
                  <a:spcPct val="112000"/>
                </a:lnSpc>
                <a:spcAft>
                  <a:spcPts val="0"/>
                </a:spcAft>
              </a:pPr>
              <a:r>
                <a:rPr sz="1200" b="0" i="0">
                  <a:solidFill>
                    <a:srgbClr val="C9D2E3"/>
                  </a:solidFill>
                  <a:latin typeface="Segoe UI"/>
                </a:rPr>
                <a:t>Make cost, latency, risk and carbon trade-offs explicit.</a:t>
              </a:r>
            </a:p>
          </p:txBody>
        </p:sp>
      </p:grpSp>
      <p:grpSp>
        <p:nvGrpSpPr>
          <p:cNvPr id="56" name="Group 55"/>
          <p:cNvGrpSpPr/>
          <p:nvPr/>
        </p:nvGrpSpPr>
        <p:grpSpPr>
          <a:xfrm>
            <a:off x="4709160" y="4306824"/>
            <a:ext cx="6931152" cy="777240"/>
            <a:chOff x="4709160" y="4306824"/>
            <a:chExt cx="6931152" cy="777240"/>
          </a:xfrm>
        </p:grpSpPr>
        <p:sp>
          <p:nvSpPr>
            <p:cNvPr id="57" name="Rounded Rectangle 56"/>
            <p:cNvSpPr/>
            <p:nvPr/>
          </p:nvSpPr>
          <p:spPr>
            <a:xfrm>
              <a:off x="4709160" y="4306824"/>
              <a:ext cx="6931152" cy="777240"/>
            </a:xfrm>
            <a:prstGeom prst="roundRect">
              <a:avLst>
                <a:gd name="adj" fmla="val 15000"/>
              </a:avLst>
            </a:prstGeom>
            <a:gradFill rotWithShape="1">
              <a:gsLst>
                <a:gs pos="0">
                  <a:srgbClr val="182A4C"/>
                </a:gs>
                <a:gs pos="100000">
                  <a:srgbClr val="13213D"/>
                </a:gs>
              </a:gsLst>
              <a:lin ang="0" scaled="0"/>
            </a:gradFill>
            <a:ln w="9525">
              <a:solidFill>
                <a:srgbClr val="2A3F69"/>
              </a:solidFill>
            </a:ln>
          </p:spPr>
          <p:txBody>
            <a:bodyPr wrap="square" rtlCol="0" anchor="ctr"/>
            <a:lstStyle/>
            <a:p>
              <a:pPr algn="ctr"/>
              <a:endParaRPr/>
            </a:p>
          </p:txBody>
        </p:sp>
        <p:sp>
          <p:nvSpPr>
            <p:cNvPr id="58" name="Oval 57"/>
            <p:cNvSpPr/>
            <p:nvPr/>
          </p:nvSpPr>
          <p:spPr>
            <a:xfrm>
              <a:off x="4873752" y="4443984"/>
              <a:ext cx="502920" cy="502920"/>
            </a:xfrm>
            <a:prstGeom prst="ellipse">
              <a:avLst/>
            </a:prstGeom>
            <a:gradFill rotWithShape="1">
              <a:gsLst>
                <a:gs pos="0">
                  <a:srgbClr val="B5ADF5"/>
                </a:gs>
                <a:gs pos="100000">
                  <a:srgbClr val="9085E9"/>
                </a:gs>
              </a:gsLst>
              <a:lin ang="2700000" scaled="0"/>
            </a:gradFill>
            <a:ln>
              <a:noFill/>
            </a:ln>
          </p:spPr>
          <p:txBody>
            <a:bodyPr wrap="square" lIns="0" tIns="0" rIns="0" bIns="0" rtlCol="0" anchor="ctr">
              <a:noAutofit/>
            </a:bodyPr>
            <a:lstStyle/>
            <a:p>
              <a:pPr algn="ctr">
                <a:lnSpc>
                  <a:spcPct val="112000"/>
                </a:lnSpc>
                <a:spcAft>
                  <a:spcPts val="0"/>
                </a:spcAft>
              </a:pPr>
              <a:r>
                <a:rPr sz="1400" b="0" i="0">
                  <a:solidFill>
                    <a:srgbClr val="FFFFFF"/>
                  </a:solidFill>
                  <a:latin typeface="Segoe UI Semibold"/>
                </a:rPr>
                <a:t>4</a:t>
              </a:r>
            </a:p>
          </p:txBody>
        </p:sp>
        <p:sp>
          <p:nvSpPr>
            <p:cNvPr id="59" name="TextBox 58"/>
            <p:cNvSpPr txBox="1"/>
            <p:nvPr/>
          </p:nvSpPr>
          <p:spPr>
            <a:xfrm>
              <a:off x="5577840" y="4370832"/>
              <a:ext cx="5943600" cy="347472"/>
            </a:xfrm>
            <a:prstGeom prst="rect">
              <a:avLst/>
            </a:prstGeom>
            <a:noFill/>
          </p:spPr>
          <p:txBody>
            <a:bodyPr wrap="square" lIns="0" tIns="0" rIns="0" bIns="0" anchor="t">
              <a:noAutofit/>
            </a:bodyPr>
            <a:lstStyle/>
            <a:p>
              <a:pPr algn="l">
                <a:lnSpc>
                  <a:spcPct val="112000"/>
                </a:lnSpc>
                <a:spcAft>
                  <a:spcPts val="0"/>
                </a:spcAft>
              </a:pPr>
              <a:r>
                <a:rPr sz="1500" b="0" i="0">
                  <a:solidFill>
                    <a:srgbClr val="FFFFFF"/>
                  </a:solidFill>
                  <a:latin typeface="Segoe UI Semibold"/>
                </a:rPr>
                <a:t>No single best algorithm</a:t>
              </a:r>
            </a:p>
          </p:txBody>
        </p:sp>
        <p:sp>
          <p:nvSpPr>
            <p:cNvPr id="60" name="TextBox 59"/>
            <p:cNvSpPr txBox="1"/>
            <p:nvPr/>
          </p:nvSpPr>
          <p:spPr>
            <a:xfrm>
              <a:off x="5577840" y="4709160"/>
              <a:ext cx="5943600" cy="320040"/>
            </a:xfrm>
            <a:prstGeom prst="rect">
              <a:avLst/>
            </a:prstGeom>
            <a:noFill/>
          </p:spPr>
          <p:txBody>
            <a:bodyPr wrap="square" lIns="0" tIns="0" rIns="0" bIns="0" anchor="t">
              <a:noAutofit/>
            </a:bodyPr>
            <a:lstStyle/>
            <a:p>
              <a:pPr algn="l">
                <a:lnSpc>
                  <a:spcPct val="112000"/>
                </a:lnSpc>
                <a:spcAft>
                  <a:spcPts val="0"/>
                </a:spcAft>
              </a:pPr>
              <a:r>
                <a:rPr sz="1200" b="0" i="0">
                  <a:solidFill>
                    <a:srgbClr val="C9D2E3"/>
                  </a:solidFill>
                  <a:latin typeface="Segoe UI"/>
                </a:rPr>
                <a:t>Combine fast heuristics with optimization and learning.</a:t>
              </a:r>
            </a:p>
          </p:txBody>
        </p:sp>
      </p:grpSp>
      <p:grpSp>
        <p:nvGrpSpPr>
          <p:cNvPr id="61" name="Group 60"/>
          <p:cNvGrpSpPr/>
          <p:nvPr/>
        </p:nvGrpSpPr>
        <p:grpSpPr>
          <a:xfrm>
            <a:off x="4709160" y="5193792"/>
            <a:ext cx="6931152" cy="777240"/>
            <a:chOff x="4709160" y="5193792"/>
            <a:chExt cx="6931152" cy="777240"/>
          </a:xfrm>
        </p:grpSpPr>
        <p:sp>
          <p:nvSpPr>
            <p:cNvPr id="62" name="Rounded Rectangle 61"/>
            <p:cNvSpPr/>
            <p:nvPr/>
          </p:nvSpPr>
          <p:spPr>
            <a:xfrm>
              <a:off x="4709160" y="5193792"/>
              <a:ext cx="6931152" cy="777240"/>
            </a:xfrm>
            <a:prstGeom prst="roundRect">
              <a:avLst>
                <a:gd name="adj" fmla="val 15000"/>
              </a:avLst>
            </a:prstGeom>
            <a:gradFill rotWithShape="1">
              <a:gsLst>
                <a:gs pos="0">
                  <a:srgbClr val="182A4C"/>
                </a:gs>
                <a:gs pos="100000">
                  <a:srgbClr val="13213D"/>
                </a:gs>
              </a:gsLst>
              <a:lin ang="0" scaled="0"/>
            </a:gradFill>
            <a:ln w="9525">
              <a:solidFill>
                <a:srgbClr val="2A3F69"/>
              </a:solidFill>
            </a:ln>
          </p:spPr>
          <p:txBody>
            <a:bodyPr wrap="square" rtlCol="0" anchor="ctr"/>
            <a:lstStyle/>
            <a:p>
              <a:pPr algn="ctr"/>
              <a:endParaRPr/>
            </a:p>
          </p:txBody>
        </p:sp>
        <p:sp>
          <p:nvSpPr>
            <p:cNvPr id="63" name="Oval 62"/>
            <p:cNvSpPr/>
            <p:nvPr/>
          </p:nvSpPr>
          <p:spPr>
            <a:xfrm>
              <a:off x="4873752" y="5330952"/>
              <a:ext cx="502920" cy="502920"/>
            </a:xfrm>
            <a:prstGeom prst="ellipse">
              <a:avLst/>
            </a:prstGeom>
            <a:gradFill rotWithShape="1">
              <a:gsLst>
                <a:gs pos="0">
                  <a:srgbClr val="7DB3F5"/>
                </a:gs>
                <a:gs pos="100000">
                  <a:srgbClr val="3987E5"/>
                </a:gs>
              </a:gsLst>
              <a:lin ang="2700000" scaled="0"/>
            </a:gradFill>
            <a:ln>
              <a:noFill/>
            </a:ln>
          </p:spPr>
          <p:txBody>
            <a:bodyPr wrap="square" lIns="0" tIns="0" rIns="0" bIns="0" rtlCol="0" anchor="ctr">
              <a:noAutofit/>
            </a:bodyPr>
            <a:lstStyle/>
            <a:p>
              <a:pPr algn="ctr">
                <a:lnSpc>
                  <a:spcPct val="112000"/>
                </a:lnSpc>
                <a:spcAft>
                  <a:spcPts val="0"/>
                </a:spcAft>
              </a:pPr>
              <a:r>
                <a:rPr sz="1400" b="0" i="0">
                  <a:solidFill>
                    <a:srgbClr val="FFFFFF"/>
                  </a:solidFill>
                  <a:latin typeface="Segoe UI Semibold"/>
                </a:rPr>
                <a:t>5</a:t>
              </a:r>
            </a:p>
          </p:txBody>
        </p:sp>
        <p:sp>
          <p:nvSpPr>
            <p:cNvPr id="64" name="TextBox 63"/>
            <p:cNvSpPr txBox="1"/>
            <p:nvPr/>
          </p:nvSpPr>
          <p:spPr>
            <a:xfrm>
              <a:off x="5577840" y="5257800"/>
              <a:ext cx="5943600" cy="347472"/>
            </a:xfrm>
            <a:prstGeom prst="rect">
              <a:avLst/>
            </a:prstGeom>
            <a:noFill/>
          </p:spPr>
          <p:txBody>
            <a:bodyPr wrap="square" lIns="0" tIns="0" rIns="0" bIns="0" anchor="t">
              <a:noAutofit/>
            </a:bodyPr>
            <a:lstStyle/>
            <a:p>
              <a:pPr algn="l">
                <a:lnSpc>
                  <a:spcPct val="112000"/>
                </a:lnSpc>
                <a:spcAft>
                  <a:spcPts val="0"/>
                </a:spcAft>
              </a:pPr>
              <a:r>
                <a:rPr sz="1500" b="0" i="0">
                  <a:solidFill>
                    <a:srgbClr val="FFFFFF"/>
                  </a:solidFill>
                  <a:latin typeface="Segoe UI Semibold"/>
                </a:rPr>
                <a:t>Toward autonomous operations</a:t>
              </a:r>
            </a:p>
          </p:txBody>
        </p:sp>
        <p:sp>
          <p:nvSpPr>
            <p:cNvPr id="65" name="TextBox 64"/>
            <p:cNvSpPr txBox="1"/>
            <p:nvPr/>
          </p:nvSpPr>
          <p:spPr>
            <a:xfrm>
              <a:off x="5577840" y="5596128"/>
              <a:ext cx="5943600" cy="320040"/>
            </a:xfrm>
            <a:prstGeom prst="rect">
              <a:avLst/>
            </a:prstGeom>
            <a:noFill/>
          </p:spPr>
          <p:txBody>
            <a:bodyPr wrap="square" lIns="0" tIns="0" rIns="0" bIns="0" anchor="t">
              <a:noAutofit/>
            </a:bodyPr>
            <a:lstStyle/>
            <a:p>
              <a:pPr algn="l">
                <a:lnSpc>
                  <a:spcPct val="112000"/>
                </a:lnSpc>
                <a:spcAft>
                  <a:spcPts val="0"/>
                </a:spcAft>
              </a:pPr>
              <a:r>
                <a:rPr sz="1200" b="0" i="0">
                  <a:solidFill>
                    <a:srgbClr val="C9D2E3"/>
                  </a:solidFill>
                  <a:latin typeface="Segoe UI"/>
                </a:rPr>
                <a:t>Intent-driven, predictive, carbon-aware — within guardrails.</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800"/>
                                        <p:tgtEl>
                                          <p:spTgt spid="36"/>
                                        </p:tgtEl>
                                      </p:cBhvr>
                                    </p:animEffect>
                                    <p:anim calcmode="lin" valueType="num">
                                      <p:cBhvr>
                                        <p:cTn id="8" dur="800" fill="hold"/>
                                        <p:tgtEl>
                                          <p:spTgt spid="36"/>
                                        </p:tgtEl>
                                        <p:attrNameLst>
                                          <p:attrName>ppt_x</p:attrName>
                                        </p:attrNameLst>
                                      </p:cBhvr>
                                      <p:tavLst>
                                        <p:tav tm="0">
                                          <p:val>
                                            <p:strVal val="#ppt_x"/>
                                          </p:val>
                                        </p:tav>
                                        <p:tav tm="100000">
                                          <p:val>
                                            <p:strVal val="#ppt_x"/>
                                          </p:val>
                                        </p:tav>
                                      </p:tavLst>
                                    </p:anim>
                                    <p:anim calcmode="lin" valueType="num">
                                      <p:cBhvr>
                                        <p:cTn id="9" dur="800" fill="hold"/>
                                        <p:tgtEl>
                                          <p:spTgt spid="36"/>
                                        </p:tgtEl>
                                        <p:attrNameLst>
                                          <p:attrName>ppt_y</p:attrName>
                                        </p:attrNameLst>
                                      </p:cBhvr>
                                      <p:tavLst>
                                        <p:tav tm="0">
                                          <p:val>
                                            <p:strVal val="#ppt_y+.08"/>
                                          </p:val>
                                        </p:tav>
                                        <p:tav tm="100000">
                                          <p:val>
                                            <p:strVal val="#ppt_y"/>
                                          </p:val>
                                        </p:tav>
                                      </p:tavLst>
                                    </p:anim>
                                  </p:childTnLst>
                                </p:cTn>
                              </p:par>
                              <p:par>
                                <p:cTn id="10" presetID="42" presetClass="entr" presetSubtype="0" fill="hold" nodeType="withEffect">
                                  <p:stCondLst>
                                    <p:cond delay="410"/>
                                  </p:stCondLst>
                                  <p:childTnLst>
                                    <p:set>
                                      <p:cBhvr>
                                        <p:cTn id="11" dur="1" fill="hold">
                                          <p:stCondLst>
                                            <p:cond delay="0"/>
                                          </p:stCondLst>
                                        </p:cTn>
                                        <p:tgtEl>
                                          <p:spTgt spid="41"/>
                                        </p:tgtEl>
                                        <p:attrNameLst>
                                          <p:attrName>style.visibility</p:attrName>
                                        </p:attrNameLst>
                                      </p:cBhvr>
                                      <p:to>
                                        <p:strVal val="visible"/>
                                      </p:to>
                                    </p:set>
                                    <p:animEffect transition="in" filter="fade">
                                      <p:cBhvr>
                                        <p:cTn id="12" dur="600"/>
                                        <p:tgtEl>
                                          <p:spTgt spid="41"/>
                                        </p:tgtEl>
                                      </p:cBhvr>
                                    </p:animEffect>
                                    <p:anim calcmode="lin" valueType="num">
                                      <p:cBhvr>
                                        <p:cTn id="13" dur="600" fill="hold"/>
                                        <p:tgtEl>
                                          <p:spTgt spid="41"/>
                                        </p:tgtEl>
                                        <p:attrNameLst>
                                          <p:attrName>ppt_x</p:attrName>
                                        </p:attrNameLst>
                                      </p:cBhvr>
                                      <p:tavLst>
                                        <p:tav tm="0">
                                          <p:val>
                                            <p:strVal val="#ppt_x"/>
                                          </p:val>
                                        </p:tav>
                                        <p:tav tm="100000">
                                          <p:val>
                                            <p:strVal val="#ppt_x"/>
                                          </p:val>
                                        </p:tav>
                                      </p:tavLst>
                                    </p:anim>
                                    <p:anim calcmode="lin" valueType="num">
                                      <p:cBhvr>
                                        <p:cTn id="14" dur="600" fill="hold"/>
                                        <p:tgtEl>
                                          <p:spTgt spid="41"/>
                                        </p:tgtEl>
                                        <p:attrNameLst>
                                          <p:attrName>ppt_y</p:attrName>
                                        </p:attrNameLst>
                                      </p:cBhvr>
                                      <p:tavLst>
                                        <p:tav tm="0">
                                          <p:val>
                                            <p:strVal val="#ppt_y+.08"/>
                                          </p:val>
                                        </p:tav>
                                        <p:tav tm="100000">
                                          <p:val>
                                            <p:strVal val="#ppt_y"/>
                                          </p:val>
                                        </p:tav>
                                      </p:tavLst>
                                    </p:anim>
                                  </p:childTnLst>
                                </p:cTn>
                              </p:par>
                              <p:par>
                                <p:cTn id="15" presetID="42" presetClass="entr" presetSubtype="0" fill="hold" nodeType="withEffect">
                                  <p:stCondLst>
                                    <p:cond delay="570"/>
                                  </p:stCondLst>
                                  <p:childTnLst>
                                    <p:set>
                                      <p:cBhvr>
                                        <p:cTn id="16" dur="1" fill="hold">
                                          <p:stCondLst>
                                            <p:cond delay="0"/>
                                          </p:stCondLst>
                                        </p:cTn>
                                        <p:tgtEl>
                                          <p:spTgt spid="46"/>
                                        </p:tgtEl>
                                        <p:attrNameLst>
                                          <p:attrName>style.visibility</p:attrName>
                                        </p:attrNameLst>
                                      </p:cBhvr>
                                      <p:to>
                                        <p:strVal val="visible"/>
                                      </p:to>
                                    </p:set>
                                    <p:animEffect transition="in" filter="fade">
                                      <p:cBhvr>
                                        <p:cTn id="17" dur="600"/>
                                        <p:tgtEl>
                                          <p:spTgt spid="46"/>
                                        </p:tgtEl>
                                      </p:cBhvr>
                                    </p:animEffect>
                                    <p:anim calcmode="lin" valueType="num">
                                      <p:cBhvr>
                                        <p:cTn id="18" dur="600" fill="hold"/>
                                        <p:tgtEl>
                                          <p:spTgt spid="46"/>
                                        </p:tgtEl>
                                        <p:attrNameLst>
                                          <p:attrName>ppt_x</p:attrName>
                                        </p:attrNameLst>
                                      </p:cBhvr>
                                      <p:tavLst>
                                        <p:tav tm="0">
                                          <p:val>
                                            <p:strVal val="#ppt_x"/>
                                          </p:val>
                                        </p:tav>
                                        <p:tav tm="100000">
                                          <p:val>
                                            <p:strVal val="#ppt_x"/>
                                          </p:val>
                                        </p:tav>
                                      </p:tavLst>
                                    </p:anim>
                                    <p:anim calcmode="lin" valueType="num">
                                      <p:cBhvr>
                                        <p:cTn id="19" dur="600" fill="hold"/>
                                        <p:tgtEl>
                                          <p:spTgt spid="46"/>
                                        </p:tgtEl>
                                        <p:attrNameLst>
                                          <p:attrName>ppt_y</p:attrName>
                                        </p:attrNameLst>
                                      </p:cBhvr>
                                      <p:tavLst>
                                        <p:tav tm="0">
                                          <p:val>
                                            <p:strVal val="#ppt_y+.08"/>
                                          </p:val>
                                        </p:tav>
                                        <p:tav tm="100000">
                                          <p:val>
                                            <p:strVal val="#ppt_y"/>
                                          </p:val>
                                        </p:tav>
                                      </p:tavLst>
                                    </p:anim>
                                  </p:childTnLst>
                                </p:cTn>
                              </p:par>
                              <p:par>
                                <p:cTn id="20" presetID="42" presetClass="entr" presetSubtype="0" fill="hold" nodeType="withEffect">
                                  <p:stCondLst>
                                    <p:cond delay="730"/>
                                  </p:stCondLst>
                                  <p:childTnLst>
                                    <p:set>
                                      <p:cBhvr>
                                        <p:cTn id="21" dur="1" fill="hold">
                                          <p:stCondLst>
                                            <p:cond delay="0"/>
                                          </p:stCondLst>
                                        </p:cTn>
                                        <p:tgtEl>
                                          <p:spTgt spid="51"/>
                                        </p:tgtEl>
                                        <p:attrNameLst>
                                          <p:attrName>style.visibility</p:attrName>
                                        </p:attrNameLst>
                                      </p:cBhvr>
                                      <p:to>
                                        <p:strVal val="visible"/>
                                      </p:to>
                                    </p:set>
                                    <p:animEffect transition="in" filter="fade">
                                      <p:cBhvr>
                                        <p:cTn id="22" dur="600"/>
                                        <p:tgtEl>
                                          <p:spTgt spid="51"/>
                                        </p:tgtEl>
                                      </p:cBhvr>
                                    </p:animEffect>
                                    <p:anim calcmode="lin" valueType="num">
                                      <p:cBhvr>
                                        <p:cTn id="23" dur="600" fill="hold"/>
                                        <p:tgtEl>
                                          <p:spTgt spid="51"/>
                                        </p:tgtEl>
                                        <p:attrNameLst>
                                          <p:attrName>ppt_x</p:attrName>
                                        </p:attrNameLst>
                                      </p:cBhvr>
                                      <p:tavLst>
                                        <p:tav tm="0">
                                          <p:val>
                                            <p:strVal val="#ppt_x"/>
                                          </p:val>
                                        </p:tav>
                                        <p:tav tm="100000">
                                          <p:val>
                                            <p:strVal val="#ppt_x"/>
                                          </p:val>
                                        </p:tav>
                                      </p:tavLst>
                                    </p:anim>
                                    <p:anim calcmode="lin" valueType="num">
                                      <p:cBhvr>
                                        <p:cTn id="24" dur="600" fill="hold"/>
                                        <p:tgtEl>
                                          <p:spTgt spid="51"/>
                                        </p:tgtEl>
                                        <p:attrNameLst>
                                          <p:attrName>ppt_y</p:attrName>
                                        </p:attrNameLst>
                                      </p:cBhvr>
                                      <p:tavLst>
                                        <p:tav tm="0">
                                          <p:val>
                                            <p:strVal val="#ppt_y+.08"/>
                                          </p:val>
                                        </p:tav>
                                        <p:tav tm="100000">
                                          <p:val>
                                            <p:strVal val="#ppt_y"/>
                                          </p:val>
                                        </p:tav>
                                      </p:tavLst>
                                    </p:anim>
                                  </p:childTnLst>
                                </p:cTn>
                              </p:par>
                              <p:par>
                                <p:cTn id="25" presetID="42" presetClass="entr" presetSubtype="0" fill="hold" nodeType="withEffect">
                                  <p:stCondLst>
                                    <p:cond delay="890"/>
                                  </p:stCondLst>
                                  <p:childTnLst>
                                    <p:set>
                                      <p:cBhvr>
                                        <p:cTn id="26" dur="1" fill="hold">
                                          <p:stCondLst>
                                            <p:cond delay="0"/>
                                          </p:stCondLst>
                                        </p:cTn>
                                        <p:tgtEl>
                                          <p:spTgt spid="56"/>
                                        </p:tgtEl>
                                        <p:attrNameLst>
                                          <p:attrName>style.visibility</p:attrName>
                                        </p:attrNameLst>
                                      </p:cBhvr>
                                      <p:to>
                                        <p:strVal val="visible"/>
                                      </p:to>
                                    </p:set>
                                    <p:animEffect transition="in" filter="fade">
                                      <p:cBhvr>
                                        <p:cTn id="27" dur="600"/>
                                        <p:tgtEl>
                                          <p:spTgt spid="56"/>
                                        </p:tgtEl>
                                      </p:cBhvr>
                                    </p:animEffect>
                                    <p:anim calcmode="lin" valueType="num">
                                      <p:cBhvr>
                                        <p:cTn id="28" dur="600" fill="hold"/>
                                        <p:tgtEl>
                                          <p:spTgt spid="56"/>
                                        </p:tgtEl>
                                        <p:attrNameLst>
                                          <p:attrName>ppt_x</p:attrName>
                                        </p:attrNameLst>
                                      </p:cBhvr>
                                      <p:tavLst>
                                        <p:tav tm="0">
                                          <p:val>
                                            <p:strVal val="#ppt_x"/>
                                          </p:val>
                                        </p:tav>
                                        <p:tav tm="100000">
                                          <p:val>
                                            <p:strVal val="#ppt_x"/>
                                          </p:val>
                                        </p:tav>
                                      </p:tavLst>
                                    </p:anim>
                                    <p:anim calcmode="lin" valueType="num">
                                      <p:cBhvr>
                                        <p:cTn id="29" dur="600" fill="hold"/>
                                        <p:tgtEl>
                                          <p:spTgt spid="56"/>
                                        </p:tgtEl>
                                        <p:attrNameLst>
                                          <p:attrName>ppt_y</p:attrName>
                                        </p:attrNameLst>
                                      </p:cBhvr>
                                      <p:tavLst>
                                        <p:tav tm="0">
                                          <p:val>
                                            <p:strVal val="#ppt_y+.08"/>
                                          </p:val>
                                        </p:tav>
                                        <p:tav tm="100000">
                                          <p:val>
                                            <p:strVal val="#ppt_y"/>
                                          </p:val>
                                        </p:tav>
                                      </p:tavLst>
                                    </p:anim>
                                  </p:childTnLst>
                                </p:cTn>
                              </p:par>
                              <p:par>
                                <p:cTn id="30" presetID="42" presetClass="entr" presetSubtype="0" fill="hold" nodeType="withEffect">
                                  <p:stCondLst>
                                    <p:cond delay="1050"/>
                                  </p:stCondLst>
                                  <p:childTnLst>
                                    <p:set>
                                      <p:cBhvr>
                                        <p:cTn id="31" dur="1" fill="hold">
                                          <p:stCondLst>
                                            <p:cond delay="0"/>
                                          </p:stCondLst>
                                        </p:cTn>
                                        <p:tgtEl>
                                          <p:spTgt spid="61"/>
                                        </p:tgtEl>
                                        <p:attrNameLst>
                                          <p:attrName>style.visibility</p:attrName>
                                        </p:attrNameLst>
                                      </p:cBhvr>
                                      <p:to>
                                        <p:strVal val="visible"/>
                                      </p:to>
                                    </p:set>
                                    <p:animEffect transition="in" filter="fade">
                                      <p:cBhvr>
                                        <p:cTn id="32" dur="600"/>
                                        <p:tgtEl>
                                          <p:spTgt spid="61"/>
                                        </p:tgtEl>
                                      </p:cBhvr>
                                    </p:animEffect>
                                    <p:anim calcmode="lin" valueType="num">
                                      <p:cBhvr>
                                        <p:cTn id="33" dur="600" fill="hold"/>
                                        <p:tgtEl>
                                          <p:spTgt spid="61"/>
                                        </p:tgtEl>
                                        <p:attrNameLst>
                                          <p:attrName>ppt_x</p:attrName>
                                        </p:attrNameLst>
                                      </p:cBhvr>
                                      <p:tavLst>
                                        <p:tav tm="0">
                                          <p:val>
                                            <p:strVal val="#ppt_x"/>
                                          </p:val>
                                        </p:tav>
                                        <p:tav tm="100000">
                                          <p:val>
                                            <p:strVal val="#ppt_x"/>
                                          </p:val>
                                        </p:tav>
                                      </p:tavLst>
                                    </p:anim>
                                    <p:anim calcmode="lin" valueType="num">
                                      <p:cBhvr>
                                        <p:cTn id="34" dur="600" fill="hold"/>
                                        <p:tgtEl>
                                          <p:spTgt spid="6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101F"/>
            </a:gs>
            <a:gs pos="100000">
              <a:srgbClr val="12213D"/>
            </a:gs>
          </a:gsLst>
          <a:lin ang="2100000" scaled="0"/>
        </a:gradFill>
        <a:effectLst/>
      </p:bgPr>
    </p:bg>
    <p:spTree>
      <p:nvGrpSpPr>
        <p:cNvPr id="1" name=""/>
        <p:cNvGrpSpPr/>
        <p:nvPr/>
      </p:nvGrpSpPr>
      <p:grpSpPr>
        <a:xfrm>
          <a:off x="0" y="0"/>
          <a:ext cx="0" cy="0"/>
          <a:chOff x="0" y="0"/>
          <a:chExt cx="0" cy="0"/>
        </a:xfrm>
      </p:grpSpPr>
      <p:sp>
        <p:nvSpPr>
          <p:cNvPr id="2" name="!!orbA"/>
          <p:cNvSpPr/>
          <p:nvPr/>
        </p:nvSpPr>
        <p:spPr>
          <a:xfrm>
            <a:off x="6035040" y="-1828800"/>
            <a:ext cx="7498079" cy="7498079"/>
          </a:xfrm>
          <a:prstGeom prst="ellipse">
            <a:avLst/>
          </a:prstGeom>
          <a:gradFill rotWithShape="1">
            <a:gsLst>
              <a:gs pos="0">
                <a:srgbClr val="3987E5">
                  <a:alpha val="40000"/>
                </a:srgbClr>
              </a:gs>
              <a:gs pos="55000">
                <a:srgbClr val="3987E5">
                  <a:alpha val="13999"/>
                </a:srgbClr>
              </a:gs>
              <a:gs pos="100000">
                <a:srgbClr val="3987E5">
                  <a:alpha val="0"/>
                </a:srgbClr>
              </a:gs>
            </a:gsLst>
            <a:path path="circle">
              <a:fillToRect l="50000" t="50000" r="50000" b="50000"/>
            </a:path>
          </a:gradFill>
          <a:ln>
            <a:noFill/>
          </a:ln>
        </p:spPr>
        <p:txBody>
          <a:bodyPr wrap="square" rtlCol="0" anchor="ctr"/>
          <a:lstStyle/>
          <a:p>
            <a:pPr algn="ctr"/>
            <a:endParaRPr/>
          </a:p>
        </p:txBody>
      </p:sp>
      <p:sp>
        <p:nvSpPr>
          <p:cNvPr id="3" name="!!orbB"/>
          <p:cNvSpPr/>
          <p:nvPr/>
        </p:nvSpPr>
        <p:spPr>
          <a:xfrm>
            <a:off x="-2743200" y="3474720"/>
            <a:ext cx="5852160" cy="5852160"/>
          </a:xfrm>
          <a:prstGeom prst="ellipse">
            <a:avLst/>
          </a:prstGeom>
          <a:gradFill rotWithShape="1">
            <a:gsLst>
              <a:gs pos="0">
                <a:srgbClr val="199E70">
                  <a:alpha val="20000"/>
                </a:srgbClr>
              </a:gs>
              <a:gs pos="55000">
                <a:srgbClr val="199E70">
                  <a:alpha val="6999"/>
                </a:srgbClr>
              </a:gs>
              <a:gs pos="100000">
                <a:srgbClr val="199E70">
                  <a:alpha val="0"/>
                </a:srgbClr>
              </a:gs>
            </a:gsLst>
            <a:path path="circle">
              <a:fillToRect l="50000" t="50000" r="50000" b="50000"/>
            </a:path>
          </a:gradFill>
          <a:ln>
            <a:noFill/>
          </a:ln>
        </p:spPr>
        <p:txBody>
          <a:bodyPr wrap="square" rtlCol="0" anchor="ctr"/>
          <a:lstStyle/>
          <a:p>
            <a:pPr algn="ctr"/>
            <a:endParaRPr/>
          </a:p>
        </p:txBody>
      </p:sp>
      <p:sp>
        <p:nvSpPr>
          <p:cNvPr id="4" name="!!orbC"/>
          <p:cNvSpPr/>
          <p:nvPr/>
        </p:nvSpPr>
        <p:spPr>
          <a:xfrm>
            <a:off x="9509760" y="3657600"/>
            <a:ext cx="4754880" cy="4754880"/>
          </a:xfrm>
          <a:prstGeom prst="ellipse">
            <a:avLst/>
          </a:prstGeom>
          <a:gradFill rotWithShape="1">
            <a:gsLst>
              <a:gs pos="0">
                <a:srgbClr val="9085E9">
                  <a:alpha val="22000"/>
                </a:srgbClr>
              </a:gs>
              <a:gs pos="55000">
                <a:srgbClr val="9085E9">
                  <a:alpha val="7700"/>
                </a:srgbClr>
              </a:gs>
              <a:gs pos="100000">
                <a:srgbClr val="9085E9">
                  <a:alpha val="0"/>
                </a:srgbClr>
              </a:gs>
            </a:gsLst>
            <a:path path="circle">
              <a:fillToRect l="50000" t="50000" r="50000" b="50000"/>
            </a:path>
          </a:gradFill>
          <a:ln>
            <a:noFill/>
          </a:ln>
        </p:spPr>
        <p:txBody>
          <a:bodyPr wrap="square" rtlCol="0" anchor="ctr"/>
          <a:lstStyle/>
          <a:p>
            <a:pPr algn="ctr"/>
            <a:endParaRPr/>
          </a:p>
        </p:txBody>
      </p:sp>
      <p:sp>
        <p:nvSpPr>
          <p:cNvPr id="5" name="!!title"/>
          <p:cNvSpPr txBox="1"/>
          <p:nvPr/>
        </p:nvSpPr>
        <p:spPr>
          <a:xfrm>
            <a:off x="731520" y="1554480"/>
            <a:ext cx="6217920" cy="1280160"/>
          </a:xfrm>
          <a:prstGeom prst="rect">
            <a:avLst/>
          </a:prstGeom>
          <a:noFill/>
        </p:spPr>
        <p:txBody>
          <a:bodyPr wrap="square" lIns="0" tIns="0" rIns="0" bIns="0" anchor="t">
            <a:noAutofit/>
          </a:bodyPr>
          <a:lstStyle/>
          <a:p>
            <a:pPr algn="l">
              <a:lnSpc>
                <a:spcPct val="112000"/>
              </a:lnSpc>
              <a:spcAft>
                <a:spcPts val="0"/>
              </a:spcAft>
            </a:pPr>
            <a:r>
              <a:rPr sz="6600" b="0" i="0">
                <a:gradFill>
                  <a:gsLst>
                    <a:gs pos="0">
                      <a:srgbClr val="FFFFFF"/>
                    </a:gs>
                    <a:gs pos="100000">
                      <a:srgbClr val="7DB3F5"/>
                    </a:gs>
                  </a:gsLst>
                  <a:lin ang="0" scaled="0"/>
                </a:gradFill>
                <a:latin typeface="Segoe UI Semibold"/>
              </a:rPr>
              <a:t>Thank you</a:t>
            </a:r>
          </a:p>
        </p:txBody>
      </p:sp>
      <p:sp>
        <p:nvSpPr>
          <p:cNvPr id="6" name="!!accent"/>
          <p:cNvSpPr/>
          <p:nvPr/>
        </p:nvSpPr>
        <p:spPr>
          <a:xfrm>
            <a:off x="786384" y="2926080"/>
            <a:ext cx="1188720" cy="64008"/>
          </a:xfrm>
          <a:prstGeom prst="rect">
            <a:avLst/>
          </a:prstGeom>
          <a:gradFill rotWithShape="1">
            <a:gsLst>
              <a:gs pos="0">
                <a:srgbClr val="3987E5"/>
              </a:gs>
              <a:gs pos="100000">
                <a:srgbClr val="199E70"/>
              </a:gs>
            </a:gsLst>
            <a:lin ang="0" scaled="0"/>
          </a:gradFill>
          <a:ln>
            <a:noFill/>
          </a:ln>
        </p:spPr>
        <p:txBody>
          <a:bodyPr wrap="square" rtlCol="0" anchor="ctr"/>
          <a:lstStyle/>
          <a:p>
            <a:pPr algn="ctr"/>
            <a:endParaRPr/>
          </a:p>
        </p:txBody>
      </p:sp>
      <p:sp>
        <p:nvSpPr>
          <p:cNvPr id="7" name="TextBox 6"/>
          <p:cNvSpPr txBox="1"/>
          <p:nvPr/>
        </p:nvSpPr>
        <p:spPr>
          <a:xfrm>
            <a:off x="731520" y="3154680"/>
            <a:ext cx="5943600" cy="548640"/>
          </a:xfrm>
          <a:prstGeom prst="rect">
            <a:avLst/>
          </a:prstGeom>
          <a:noFill/>
        </p:spPr>
        <p:txBody>
          <a:bodyPr wrap="square" lIns="0" tIns="0" rIns="0" bIns="0" anchor="t">
            <a:noAutofit/>
          </a:bodyPr>
          <a:lstStyle/>
          <a:p>
            <a:pPr algn="l">
              <a:lnSpc>
                <a:spcPct val="112000"/>
              </a:lnSpc>
              <a:spcAft>
                <a:spcPts val="0"/>
              </a:spcAft>
            </a:pPr>
            <a:r>
              <a:rPr sz="2600" b="0" i="0">
                <a:solidFill>
                  <a:srgbClr val="C9D2E3"/>
                </a:solidFill>
                <a:latin typeface="Segoe UI Light"/>
              </a:rPr>
              <a:t>Questions &amp; discussion</a:t>
            </a:r>
          </a:p>
        </p:txBody>
      </p:sp>
      <p:sp>
        <p:nvSpPr>
          <p:cNvPr id="8" name="TextBox 7"/>
          <p:cNvSpPr txBox="1"/>
          <p:nvPr/>
        </p:nvSpPr>
        <p:spPr>
          <a:xfrm>
            <a:off x="731520" y="4023360"/>
            <a:ext cx="5486400" cy="1097280"/>
          </a:xfrm>
          <a:prstGeom prst="rect">
            <a:avLst/>
          </a:prstGeom>
          <a:noFill/>
        </p:spPr>
        <p:txBody>
          <a:bodyPr wrap="square" lIns="0" tIns="0" rIns="0" bIns="0" anchor="t">
            <a:noAutofit/>
          </a:bodyPr>
          <a:lstStyle/>
          <a:p>
            <a:pPr algn="l">
              <a:lnSpc>
                <a:spcPct val="112000"/>
              </a:lnSpc>
              <a:spcAft>
                <a:spcPts val="400"/>
              </a:spcAft>
            </a:pPr>
            <a:r>
              <a:rPr sz="1300" b="0" i="0">
                <a:solidFill>
                  <a:srgbClr val="FFFFFF"/>
                </a:solidFill>
                <a:latin typeface="Segoe UI Semibold"/>
              </a:rPr>
              <a:t>Presenter Name</a:t>
            </a:r>
          </a:p>
          <a:p>
            <a:pPr>
              <a:lnSpc>
                <a:spcPct val="112000"/>
              </a:lnSpc>
            </a:pPr>
            <a:r>
              <a:rPr lang="en-GB" sz="1300" dirty="0">
                <a:solidFill>
                  <a:srgbClr val="8C9AB5"/>
                </a:solidFill>
                <a:latin typeface="Segoe UI"/>
              </a:rPr>
              <a:t>Shefket </a:t>
            </a:r>
            <a:r>
              <a:rPr lang="en-GB" sz="1300" dirty="0" err="1">
                <a:solidFill>
                  <a:srgbClr val="8C9AB5"/>
                </a:solidFill>
                <a:latin typeface="Segoe UI"/>
              </a:rPr>
              <a:t>Bylygbashi</a:t>
            </a:r>
            <a:r>
              <a:rPr lang="en-GB" sz="1300" dirty="0">
                <a:solidFill>
                  <a:srgbClr val="8C9AB5"/>
                </a:solidFill>
                <a:latin typeface="Segoe UI"/>
              </a:rPr>
              <a:t>, Muhamed Zahiri</a:t>
            </a:r>
            <a:endParaRPr sz="1300" b="0" i="0" dirty="0">
              <a:solidFill>
                <a:srgbClr val="8C9AB5"/>
              </a:solidFill>
              <a:latin typeface="Segoe UI"/>
              <a:cs typeface="Segoe UI"/>
            </a:endParaRPr>
          </a:p>
        </p:txBody>
      </p:sp>
      <p:grpSp>
        <p:nvGrpSpPr>
          <p:cNvPr id="9" name="Group 8"/>
          <p:cNvGrpSpPr/>
          <p:nvPr/>
        </p:nvGrpSpPr>
        <p:grpSpPr>
          <a:xfrm>
            <a:off x="7086600" y="1463040"/>
            <a:ext cx="4553712" cy="4343399"/>
            <a:chOff x="7086600" y="1463040"/>
            <a:chExt cx="4553712" cy="4343399"/>
          </a:xfrm>
        </p:grpSpPr>
        <p:sp>
          <p:nvSpPr>
            <p:cNvPr id="10" name="Rounded Rectangle 9"/>
            <p:cNvSpPr/>
            <p:nvPr/>
          </p:nvSpPr>
          <p:spPr>
            <a:xfrm>
              <a:off x="7086600" y="1463040"/>
              <a:ext cx="4553712" cy="3977639"/>
            </a:xfrm>
            <a:prstGeom prst="roundRect">
              <a:avLst>
                <a:gd name="adj" fmla="val 5000"/>
              </a:avLst>
            </a:prstGeom>
            <a:gradFill rotWithShape="1">
              <a:gsLst>
                <a:gs pos="0">
                  <a:srgbClr val="182A4C">
                    <a:alpha val="95000"/>
                  </a:srgbClr>
                </a:gs>
                <a:gs pos="100000">
                  <a:srgbClr val="13213D">
                    <a:alpha val="90000"/>
                  </a:srgbClr>
                </a:gs>
              </a:gsLst>
              <a:lin ang="5400000" scaled="0"/>
            </a:gradFill>
            <a:ln w="9525">
              <a:solidFill>
                <a:srgbClr val="2A3F69"/>
              </a:solidFill>
            </a:ln>
            <a:effectLst>
              <a:outerShdw blurRad="254000" dist="50800" dir="5400000" algn="t" rotWithShape="0">
                <a:srgbClr val="000000">
                  <a:alpha val="40000"/>
                </a:srgbClr>
              </a:outerShdw>
            </a:effectLst>
          </p:spPr>
          <p:txBody>
            <a:bodyPr wrap="square" rtlCol="0" anchor="ctr"/>
            <a:lstStyle/>
            <a:p>
              <a:pPr algn="ctr"/>
              <a:endParaRPr/>
            </a:p>
          </p:txBody>
        </p:sp>
        <p:sp>
          <p:nvSpPr>
            <p:cNvPr id="11" name="TextBox 10"/>
            <p:cNvSpPr txBox="1"/>
            <p:nvPr/>
          </p:nvSpPr>
          <p:spPr>
            <a:xfrm>
              <a:off x="7360920" y="1645920"/>
              <a:ext cx="4023360" cy="320040"/>
            </a:xfrm>
            <a:prstGeom prst="rect">
              <a:avLst/>
            </a:prstGeom>
            <a:noFill/>
          </p:spPr>
          <p:txBody>
            <a:bodyPr wrap="square" lIns="0" tIns="0" rIns="0" bIns="0" anchor="t">
              <a:noAutofit/>
            </a:bodyPr>
            <a:lstStyle/>
            <a:p>
              <a:pPr algn="l">
                <a:lnSpc>
                  <a:spcPct val="112000"/>
                </a:lnSpc>
                <a:spcAft>
                  <a:spcPts val="0"/>
                </a:spcAft>
              </a:pPr>
              <a:r>
                <a:rPr sz="1050" b="0" i="0" spc="300">
                  <a:solidFill>
                    <a:srgbClr val="4FD1A1"/>
                  </a:solidFill>
                  <a:latin typeface="Segoe UI Semibold"/>
                </a:rPr>
                <a:t>KEY REFERENCES</a:t>
              </a:r>
            </a:p>
          </p:txBody>
        </p:sp>
        <p:sp>
          <p:nvSpPr>
            <p:cNvPr id="12" name="TextBox 11"/>
            <p:cNvSpPr txBox="1"/>
            <p:nvPr/>
          </p:nvSpPr>
          <p:spPr>
            <a:xfrm>
              <a:off x="7360920" y="2057400"/>
              <a:ext cx="4069080" cy="3749039"/>
            </a:xfrm>
            <a:prstGeom prst="rect">
              <a:avLst/>
            </a:prstGeom>
            <a:noFill/>
          </p:spPr>
          <p:txBody>
            <a:bodyPr wrap="square" lIns="0" tIns="0" rIns="0" bIns="0" anchor="t">
              <a:noAutofit/>
            </a:bodyPr>
            <a:lstStyle/>
            <a:p>
              <a:pPr marL="237744" indent="-237744" algn="l">
                <a:lnSpc>
                  <a:spcPct val="110000"/>
                </a:lnSpc>
                <a:spcAft>
                  <a:spcPts val="800"/>
                </a:spcAft>
                <a:buClr>
                  <a:srgbClr val="4FD1A1"/>
                </a:buClr>
                <a:buSzPct val="100000"/>
                <a:buFont typeface="Arial"/>
                <a:buChar char="•"/>
              </a:pPr>
              <a:r>
                <a:rPr sz="1150" b="0" i="0">
                  <a:solidFill>
                    <a:srgbClr val="C9D2E3"/>
                  </a:solidFill>
                  <a:latin typeface="Segoe UI"/>
                </a:rPr>
                <a:t>Stoica &amp; Shenker, “From Cloud Computing to Sky Computing”, HotOS 2021</a:t>
              </a:r>
            </a:p>
            <a:p>
              <a:pPr marL="237744" indent="-237744" algn="l">
                <a:lnSpc>
                  <a:spcPct val="110000"/>
                </a:lnSpc>
                <a:spcAft>
                  <a:spcPts val="800"/>
                </a:spcAft>
                <a:buClr>
                  <a:srgbClr val="4FD1A1"/>
                </a:buClr>
                <a:buSzPct val="100000"/>
                <a:buFont typeface="Arial"/>
                <a:buChar char="•"/>
              </a:pPr>
              <a:r>
                <a:rPr sz="1150" b="0" i="0">
                  <a:solidFill>
                    <a:srgbClr val="C9D2E3"/>
                  </a:solidFill>
                  <a:latin typeface="Segoe UI"/>
                </a:rPr>
                <a:t>Yang et al., “SkyPilot: An Intercloud Broker for Sky Computing”, NSDI 2023</a:t>
              </a:r>
            </a:p>
            <a:p>
              <a:pPr marL="237744" indent="-237744" algn="l">
                <a:lnSpc>
                  <a:spcPct val="110000"/>
                </a:lnSpc>
                <a:spcAft>
                  <a:spcPts val="800"/>
                </a:spcAft>
                <a:buClr>
                  <a:srgbClr val="4FD1A1"/>
                </a:buClr>
                <a:buSzPct val="100000"/>
                <a:buFont typeface="Arial"/>
                <a:buChar char="•"/>
              </a:pPr>
              <a:r>
                <a:rPr sz="1150" b="0" i="0">
                  <a:solidFill>
                    <a:srgbClr val="C9D2E3"/>
                  </a:solidFill>
                  <a:latin typeface="Segoe UI"/>
                </a:rPr>
                <a:t>NIST SP 800-145 (2011) — Definition of Cloud Computing</a:t>
              </a:r>
            </a:p>
            <a:p>
              <a:pPr marL="237744" indent="-237744" algn="l">
                <a:lnSpc>
                  <a:spcPct val="110000"/>
                </a:lnSpc>
                <a:spcAft>
                  <a:spcPts val="800"/>
                </a:spcAft>
                <a:buClr>
                  <a:srgbClr val="4FD1A1"/>
                </a:buClr>
                <a:buSzPct val="100000"/>
                <a:buFont typeface="Arial"/>
                <a:buChar char="•"/>
              </a:pPr>
              <a:r>
                <a:rPr sz="1150" b="0" i="0">
                  <a:solidFill>
                    <a:srgbClr val="C9D2E3"/>
                  </a:solidFill>
                  <a:latin typeface="Segoe UI"/>
                </a:rPr>
                <a:t>NIST SP 500-292 (2011) — Cloud Computing Reference Architecture</a:t>
              </a:r>
            </a:p>
            <a:p>
              <a:pPr marL="237744" indent="-237744" algn="l">
                <a:lnSpc>
                  <a:spcPct val="110000"/>
                </a:lnSpc>
                <a:spcAft>
                  <a:spcPts val="800"/>
                </a:spcAft>
                <a:buClr>
                  <a:srgbClr val="4FD1A1"/>
                </a:buClr>
                <a:buSzPct val="100000"/>
                <a:buFont typeface="Arial"/>
                <a:buChar char="•"/>
              </a:pPr>
              <a:r>
                <a:rPr sz="1150" b="0" i="0">
                  <a:solidFill>
                    <a:srgbClr val="C9D2E3"/>
                  </a:solidFill>
                  <a:latin typeface="Segoe UI"/>
                </a:rPr>
                <a:t>FinOps Foundation — FinOps Framework &amp; FOCUS specification</a:t>
              </a:r>
            </a:p>
            <a:p>
              <a:pPr marL="237744" indent="-237744" algn="l">
                <a:lnSpc>
                  <a:spcPct val="110000"/>
                </a:lnSpc>
                <a:spcAft>
                  <a:spcPts val="800"/>
                </a:spcAft>
                <a:buClr>
                  <a:srgbClr val="4FD1A1"/>
                </a:buClr>
                <a:buSzPct val="100000"/>
                <a:buFont typeface="Arial"/>
                <a:buChar char="•"/>
              </a:pPr>
              <a:r>
                <a:rPr sz="1150" b="0" i="0">
                  <a:solidFill>
                    <a:srgbClr val="C9D2E3"/>
                  </a:solidFill>
                  <a:latin typeface="Segoe UI"/>
                </a:rPr>
                <a:t>Flexera — State of the Cloud Report 2024</a:t>
              </a:r>
            </a:p>
            <a:p>
              <a:pPr marL="237744" indent="-237744" algn="l">
                <a:lnSpc>
                  <a:spcPct val="110000"/>
                </a:lnSpc>
                <a:spcAft>
                  <a:spcPts val="800"/>
                </a:spcAft>
                <a:buClr>
                  <a:srgbClr val="4FD1A1"/>
                </a:buClr>
                <a:buSzPct val="100000"/>
                <a:buFont typeface="Arial"/>
                <a:buChar char="•"/>
              </a:pPr>
              <a:r>
                <a:rPr sz="1150" b="0" i="0">
                  <a:solidFill>
                    <a:srgbClr val="C9D2E3"/>
                  </a:solidFill>
                  <a:latin typeface="Segoe UI"/>
                </a:rPr>
                <a:t>CNCF — Karmada, Crossplane &amp; OpenTelemetry projects</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800"/>
                                        <p:tgtEl>
                                          <p:spTgt spid="5"/>
                                        </p:tgtEl>
                                      </p:cBhvr>
                                    </p:animEffect>
                                    <p:anim calcmode="lin" valueType="num">
                                      <p:cBhvr>
                                        <p:cTn id="8" dur="800" fill="hold"/>
                                        <p:tgtEl>
                                          <p:spTgt spid="5"/>
                                        </p:tgtEl>
                                        <p:attrNameLst>
                                          <p:attrName>ppt_x</p:attrName>
                                        </p:attrNameLst>
                                      </p:cBhvr>
                                      <p:tavLst>
                                        <p:tav tm="0">
                                          <p:val>
                                            <p:strVal val="#ppt_x"/>
                                          </p:val>
                                        </p:tav>
                                        <p:tav tm="100000">
                                          <p:val>
                                            <p:strVal val="#ppt_x"/>
                                          </p:val>
                                        </p:tav>
                                      </p:tavLst>
                                    </p:anim>
                                    <p:anim calcmode="lin" valueType="num">
                                      <p:cBhvr>
                                        <p:cTn id="9" dur="800" fill="hold"/>
                                        <p:tgtEl>
                                          <p:spTgt spid="5"/>
                                        </p:tgtEl>
                                        <p:attrNameLst>
                                          <p:attrName>ppt_y</p:attrName>
                                        </p:attrNameLst>
                                      </p:cBhvr>
                                      <p:tavLst>
                                        <p:tav tm="0">
                                          <p:val>
                                            <p:strVal val="#ppt_y+.08"/>
                                          </p:val>
                                        </p:tav>
                                        <p:tav tm="100000">
                                          <p:val>
                                            <p:strVal val="#ppt_y"/>
                                          </p:val>
                                        </p:tav>
                                      </p:tavLst>
                                    </p:anim>
                                  </p:childTnLst>
                                </p:cTn>
                              </p:par>
                              <p:par>
                                <p:cTn id="10" presetID="22" presetClass="entr" presetSubtype="8" fill="hold" grpId="0" nodeType="withEffect">
                                  <p:stCondLst>
                                    <p:cond delay="41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600"/>
                                        <p:tgtEl>
                                          <p:spTgt spid="6"/>
                                        </p:tgtEl>
                                      </p:cBhvr>
                                    </p:animEffect>
                                  </p:childTnLst>
                                </p:cTn>
                              </p:par>
                              <p:par>
                                <p:cTn id="13" presetID="42" presetClass="entr" presetSubtype="0" fill="hold" grpId="0" nodeType="withEffect">
                                  <p:stCondLst>
                                    <p:cond delay="57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00"/>
                                        <p:tgtEl>
                                          <p:spTgt spid="7"/>
                                        </p:tgtEl>
                                      </p:cBhvr>
                                    </p:animEffect>
                                    <p:anim calcmode="lin" valueType="num">
                                      <p:cBhvr>
                                        <p:cTn id="16" dur="600" fill="hold"/>
                                        <p:tgtEl>
                                          <p:spTgt spid="7"/>
                                        </p:tgtEl>
                                        <p:attrNameLst>
                                          <p:attrName>ppt_x</p:attrName>
                                        </p:attrNameLst>
                                      </p:cBhvr>
                                      <p:tavLst>
                                        <p:tav tm="0">
                                          <p:val>
                                            <p:strVal val="#ppt_x"/>
                                          </p:val>
                                        </p:tav>
                                        <p:tav tm="100000">
                                          <p:val>
                                            <p:strVal val="#ppt_x"/>
                                          </p:val>
                                        </p:tav>
                                      </p:tavLst>
                                    </p:anim>
                                    <p:anim calcmode="lin" valueType="num">
                                      <p:cBhvr>
                                        <p:cTn id="17" dur="600" fill="hold"/>
                                        <p:tgtEl>
                                          <p:spTgt spid="7"/>
                                        </p:tgtEl>
                                        <p:attrNameLst>
                                          <p:attrName>ppt_y</p:attrName>
                                        </p:attrNameLst>
                                      </p:cBhvr>
                                      <p:tavLst>
                                        <p:tav tm="0">
                                          <p:val>
                                            <p:strVal val="#ppt_y+.08"/>
                                          </p:val>
                                        </p:tav>
                                        <p:tav tm="100000">
                                          <p:val>
                                            <p:strVal val="#ppt_y"/>
                                          </p:val>
                                        </p:tav>
                                      </p:tavLst>
                                    </p:anim>
                                  </p:childTnLst>
                                </p:cTn>
                              </p:par>
                              <p:par>
                                <p:cTn id="18" presetID="10" presetClass="entr" presetSubtype="0" fill="hold" grpId="0" nodeType="withEffect">
                                  <p:stCondLst>
                                    <p:cond delay="73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00"/>
                                        <p:tgtEl>
                                          <p:spTgt spid="8"/>
                                        </p:tgtEl>
                                      </p:cBhvr>
                                    </p:animEffect>
                                  </p:childTnLst>
                                </p:cTn>
                              </p:par>
                              <p:par>
                                <p:cTn id="21" presetID="42" presetClass="entr" presetSubtype="0" fill="hold" nodeType="withEffect">
                                  <p:stCondLst>
                                    <p:cond delay="57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800"/>
                                        <p:tgtEl>
                                          <p:spTgt spid="9"/>
                                        </p:tgtEl>
                                      </p:cBhvr>
                                    </p:animEffect>
                                    <p:anim calcmode="lin" valueType="num">
                                      <p:cBhvr>
                                        <p:cTn id="24" dur="800" fill="hold"/>
                                        <p:tgtEl>
                                          <p:spTgt spid="9"/>
                                        </p:tgtEl>
                                        <p:attrNameLst>
                                          <p:attrName>ppt_x</p:attrName>
                                        </p:attrNameLst>
                                      </p:cBhvr>
                                      <p:tavLst>
                                        <p:tav tm="0">
                                          <p:val>
                                            <p:strVal val="#ppt_x"/>
                                          </p:val>
                                        </p:tav>
                                        <p:tav tm="100000">
                                          <p:val>
                                            <p:strVal val="#ppt_x"/>
                                          </p:val>
                                        </p:tav>
                                      </p:tavLst>
                                    </p:anim>
                                    <p:anim calcmode="lin" valueType="num">
                                      <p:cBhvr>
                                        <p:cTn id="25" dur="800" fill="hold"/>
                                        <p:tgtEl>
                                          <p:spTgt spid="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31</Slides>
  <Notes>31</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39</cp:revision>
  <dcterms:created xsi:type="dcterms:W3CDTF">2013-01-27T09:14:16Z</dcterms:created>
  <dcterms:modified xsi:type="dcterms:W3CDTF">2026-10-19T21:05:10Z</dcterms:modified>
  <cp:category/>
</cp:coreProperties>
</file>